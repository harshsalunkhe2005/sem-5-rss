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5" r:id="rId28"/>
    <p:sldId id="286" r:id="rId29"/>
    <p:sldId id="287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4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Roadmap: we start from the intuition of fitting a line, build the full mathematical machinery (least squares, matrix algebra, gradient descent, MLE, regularization), then show how the same linear core extends into logistic regression for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regression is prediction of a continuous target. Emphasize interpretability and that it is the conceptual base for everything later, including logistic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each symbol. Stress 'linear in parameters' — the single most common misconception. Polynomial and interaction terms keep the model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= observed minus predicted. Key pedagogical trap: raw sum of residuals cancels, so it cannot measure fit. Motivates squaring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for squaring: sign removal, heavy penalty on outliers, and smooth convex objective with closed form. The squares figure makes 'least squares' literal.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Differentiate, set to zero, solve. The slope is cov(x,y)/var(x); the intercept centers the line on the means. The line always passes through (x-bar, y-bar).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Geometric view: fitting = orthogonal projection of y onto col(X). The residual is perpendicular to the fitted space — this is what 'best' means geometrically and it gives the normal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Orthogonality condition X^T(y - X beta) = 0 rearranges into the normal equations. Bridge slide into Part 2's matrix derivation. Note collinearity breaks invertibility.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observations into the design matrix X (include a 1s column for intercept). The entire model is y = X beta + epsilon. Dimensions matter — walk through the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algebraic steps to the normal equations. Emphasize this is the same answer geometry gave. Sets up the question: if closed-form exists, why gradient descent?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convex bowl. Closed form is exact but O(p^3) and memory-heavy. For large-scale problems we iterate. Contour = top-down view we'll use for the descent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rule: beta &lt;- beta - alpha * grad. Convexity guarantees convergence to global min. Mention SGD / mini-batch as the scalable variants used in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rate is the key hyperparameter. Too small = slow; too large = overshoot/diverge. In practice: try a few, or use adaptive methods (Adam, RMSProp).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MLE justifies least squares. Assume Gaussian noise; then y_i ~ N(x_i^T beta, sigma^2). Likelihood = product of Gaussians. Next slide: maximizing it = minimizing 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Log-likelihood: the -1/(2 sigma^2) * SSE term is the only beta-dependent piece. Hence argmax likelihood = argmin SSE. This is the deep justification for least squares.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Norms quantify coefficient size. The GEOMETRY of the unit ball (round L2 vs pointed L1) is what produces shrinkage vs sparsity — set up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lambda * penalty. The SSE contours meet the constraint region: Lasso's diamond corners give exact zeros (feature selection); Ridge's circle shrinks smoothly. lambda tunes bias-variance.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shrinks and keeps all; Lasso selects. Ridge has closed form with lambda*I (also fixes non-invertibility). Elastic Net blends both. Choose by whether you expect a sparse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LINE: Linearity, Independence, Normality, Equal variance. Least squares runs regardless, but valid p-values and CIs depend on these holding. Check them — don't assume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Diagnostics are visual. Residuals vs fitted should be a structureless band. Patterns point to specific violations and specific fixes. This is where good modelling actually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tension of ML. Simple = biased; complex = high variance. Regularization (Part 2) deliberately adds a little bias to cut variance and generalize better. Test error is the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A linear fit on 0/1 labels predicts outside [0,1] and is outlier-sensitive. We need a bounded, probability-valued output. Enter the sigmoid.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sigmoid is the single idea that turns regression into classification. z stays linear; sigma(z) bounds it to (0,1). z=0 is the 0.5 threshold. The linear core is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MLE = maximize the Bernoulli log-likelihood = minimize cross-entropy. Convex, so gradient descent (Part 2) solves it. The whole MLE-then-optimize pattern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Boundary is where z=0, i.e. a line/hyperplane — logistic regression is a LINEAR classifier. Threshold tuning trades precision vs recall. Feature engineering yields nonlinear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the two models differ only in link function and loss. Both are linear in the parameters. This table is the summary of the whole arc from line to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68680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PPT has been made via the use of AI Tools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3794760"/>
            <a:ext cx="2194560" cy="411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5029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5233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1389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543153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Least Squares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5029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5233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51389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543153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MLE &amp; Norms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5029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5233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51389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21040" y="543153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→ Logistic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20116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Foundations, Geometry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the Least-Squares Idea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25880" y="379476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 — the prediction problem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model and its assumptions of form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Residuals: measuring how wrong a line is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least-squares criterion and its geometry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solution as an orthogonal projection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Linear Regression?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 &amp; LEAST SQUARES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623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answers a everyday question: given inputs, predict a continuous number.</a:t>
            </a:r>
            <a:endParaRPr lang="en-US" sz="1550" dirty="0"/>
          </a:p>
          <a:p>
            <a:pPr marL="0" lvl="1" indent="0" algn="l">
              <a:spcAft>
                <a:spcPts val="900"/>
              </a:spcAft>
              <a:buNone/>
            </a:pPr>
            <a:r>
              <a:rPr lang="en-US" sz="14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→ exam score. Size → house price. Ad spend → sales.</a:t>
            </a:r>
            <a:endParaRPr lang="en-US" sz="15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foundational model of statistics &amp; machine learning:</a:t>
            </a:r>
            <a:endParaRPr lang="en-US" sz="1550" dirty="0"/>
          </a:p>
          <a:p>
            <a:pPr marL="660400" lvl="1" indent="-330200" algn="l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— every coefficient has a clear meaning</a:t>
            </a:r>
            <a:endParaRPr lang="en-US" sz="1550" dirty="0"/>
          </a:p>
          <a:p>
            <a:pPr marL="660400" lvl="1" indent="-330200" algn="l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a closed-form exact solution exists</a:t>
            </a:r>
            <a:endParaRPr lang="en-US" sz="1550" dirty="0"/>
          </a:p>
          <a:p>
            <a:pPr marL="660400" lvl="1" indent="-330200" algn="l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for GLMs, neural nets, and logistic regression</a:t>
            </a:r>
            <a:endParaRPr lang="en-US" sz="15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this one model and most of supervised learning rhymes with it.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720840" y="1481328"/>
            <a:ext cx="4892040" cy="4754880"/>
          </a:xfrm>
          <a:prstGeom prst="roundRect">
            <a:avLst>
              <a:gd name="adj" fmla="val 1731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126405"/>
            <a:ext cx="4434840" cy="31538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5742432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of points with an apparent linear trend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Linear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 &amp; LEAST SQUARES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eq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77065"/>
            <a:ext cx="6163056" cy="4978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8036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the response (target) we want to predict</a:t>
            </a:r>
            <a:endParaRPr lang="en-US" sz="15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… xₚ — the features (predictors, covariates)</a:t>
            </a:r>
            <a:endParaRPr lang="en-US" sz="15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— intercept;  βⱼ — slope / weight on feature j</a:t>
            </a:r>
            <a:endParaRPr lang="en-US" sz="15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— irreducible noise the model cannot explain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“Linear” means linear in the parameters β — not necessarily in x.</a:t>
            </a:r>
            <a:endParaRPr lang="en-US" sz="1450" dirty="0"/>
          </a:p>
          <a:p>
            <a:pPr marL="0" lvl="1" indent="0" algn="l">
              <a:spcAft>
                <a:spcPts val="700"/>
              </a:spcAft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x², log x, x₁x₂ are all fine features; the model stays linear.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635240" y="1600200"/>
            <a:ext cx="3977640" cy="4617720"/>
          </a:xfrm>
          <a:prstGeom prst="roundRect">
            <a:avLst>
              <a:gd name="adj" fmla="val 2069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simple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565842"/>
            <a:ext cx="3520440" cy="25035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587044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feature: a line through the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Line “Good”?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 &amp; LEAST SQUARES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46520" y="1481328"/>
            <a:ext cx="5166360" cy="4754880"/>
          </a:xfrm>
          <a:prstGeom prst="roundRect">
            <a:avLst>
              <a:gd name="adj" fmla="val 1731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51724"/>
            <a:ext cx="4709160" cy="33489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577900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segments = residuals (vertical misses)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160020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candidate line, each point has a residual: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14884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E8F0F8"/>
          </a:solidFill>
          <a:ln/>
        </p:spPr>
      </p:sp>
      <p:pic>
        <p:nvPicPr>
          <p:cNvPr id="11" name="Image 1" descr="figs/eq_res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704" y="2404872"/>
            <a:ext cx="1278991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2004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residual → point sits above the line</a:t>
            </a:r>
            <a:endParaRPr lang="en-US" sz="145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residual → point sits below the line</a:t>
            </a:r>
            <a:endParaRPr lang="en-US" sz="14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line makes residuals collectively small.</a:t>
            </a:r>
            <a:endParaRPr lang="en-US" sz="14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small how? Sum of residuals can cancel to zero even for a terrible line — positives and negatives offset.</a:t>
            </a:r>
            <a:endParaRPr lang="en-US" sz="14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measure that punishes every miss, regardless of sign.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Least-Squares Criterion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 &amp; LEAST SQUARES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720840" cy="123444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5240">
            <a:solidFill>
              <a:srgbClr val="1C7293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eq_sse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633" y="1810512"/>
            <a:ext cx="3747175" cy="7223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71800"/>
            <a:ext cx="6629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each residual, then add them up — the cost J(β).</a:t>
            </a:r>
            <a:endParaRPr lang="en-US" sz="1500" dirty="0"/>
          </a:p>
          <a:p>
            <a:pPr marL="0" lvl="1" indent="0" algn="l">
              <a:spcAft>
                <a:spcPts val="900"/>
              </a:spcAft>
              <a:buNone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removes sign, so misses never cancel out.</a:t>
            </a:r>
            <a:endParaRPr lang="en-US" sz="1500" dirty="0"/>
          </a:p>
          <a:p>
            <a:pPr marL="0" lvl="1" indent="0" algn="l">
              <a:spcAft>
                <a:spcPts val="900"/>
              </a:spcAft>
              <a:buNone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penalizes big errors far more than small ones.</a:t>
            </a:r>
            <a:endParaRPr lang="en-US" sz="1500" dirty="0"/>
          </a:p>
          <a:p>
            <a:pPr marL="0" lvl="1" indent="0" algn="l">
              <a:spcAft>
                <a:spcPts val="900"/>
              </a:spcAft>
              <a:buNone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is smooth and convex → a single, findable minimum.</a:t>
            </a:r>
            <a:endParaRPr lang="en-US" sz="15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= choose β that minimizes this total squared error.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35240" y="1554480"/>
            <a:ext cx="3977640" cy="4663440"/>
          </a:xfrm>
          <a:prstGeom prst="roundRect">
            <a:avLst>
              <a:gd name="adj" fmla="val 2069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0" name="Image 1" descr="figs/squa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808610"/>
            <a:ext cx="3611880" cy="40180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587044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error is literally a square of area e²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Simple Regression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 &amp; LEAST SQUARES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derivatives of J with respect to β₀ and β₁ to zero.</a:t>
            </a:r>
            <a:endParaRPr lang="en-US" sz="1550" dirty="0"/>
          </a:p>
          <a:p>
            <a:pPr marL="0" lvl="1" indent="0" algn="l">
              <a:spcAft>
                <a:spcPts val="700"/>
              </a:spcAft>
              <a:buNone/>
            </a:pPr>
            <a:r>
              <a:rPr lang="en-US" sz="14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equations, two unknowns → solve exactly. No search needed.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10515600" cy="1554480"/>
          </a:xfrm>
          <a:prstGeom prst="roundRect">
            <a:avLst>
              <a:gd name="adj" fmla="val 5294"/>
            </a:avLst>
          </a:prstGeom>
          <a:solidFill>
            <a:srgbClr val="F2F6FB"/>
          </a:solidFill>
          <a:ln w="15240">
            <a:solidFill>
              <a:srgbClr val="1C7293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901" y="2679192"/>
            <a:ext cx="6819717" cy="10424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429768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24128" y="49926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1508760" y="4407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β₁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508760" y="4754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of x and y divided by the variance of x — how strongly y moves with x.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429768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36008" y="49926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4407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β₀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120640" y="4754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line through the mean point (x̄, ȳ).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429768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47888" y="4992624"/>
            <a:ext cx="347472" cy="34747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8732520" y="4407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732520" y="4754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fitted line always passes through the centroid of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Geometry of Least Squares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 &amp; LEAST SQUARES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12080" cy="4800600"/>
          </a:xfrm>
          <a:prstGeom prst="roundRect">
            <a:avLst>
              <a:gd name="adj" fmla="val 1714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00200"/>
            <a:ext cx="4297680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58064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projected onto the column space of 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164592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the data: y is a vector in ℝⁿ.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Xβ sweeps out the column space of X — a flat subspace.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usually does not lie in that subspace (noise pushes it off).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picks ŷ = Xβ̂ as the closest point in the subspace to y.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“Closest” = drop a perpendicular. The residual e = y − ŷ is orthogonal to the subspace.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Orthogonality → Normal Equations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 &amp; LEAST SQUARES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being orthogonal to every column of X is the whole story.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2240280"/>
            <a:ext cx="4389120" cy="1097280"/>
          </a:xfrm>
          <a:prstGeom prst="roundRect">
            <a:avLst>
              <a:gd name="adj" fmla="val 7500"/>
            </a:avLst>
          </a:prstGeom>
          <a:solidFill>
            <a:srgbClr val="F2F6FB"/>
          </a:solidFill>
          <a:ln w="15240">
            <a:solidFill>
              <a:srgbClr val="1C7293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ort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663" y="2496312"/>
            <a:ext cx="2739875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0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directly into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611880"/>
            <a:ext cx="9235440" cy="123444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651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eq_norm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868" y="3867912"/>
            <a:ext cx="7617783" cy="7223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5074920"/>
            <a:ext cx="10424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normal equations — the exact least-squares solution for any number of features.</a:t>
            </a:r>
            <a:endParaRPr lang="en-US" sz="1450" dirty="0"/>
          </a:p>
          <a:p>
            <a:pPr marL="0" lvl="1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(XᵀX)⁻¹ exists whenever the features are not perfectly collinear.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201168" cy="13716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Optimization, Likelihood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Regularization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25880" y="379476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formulation and the normal equations, derived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when n is large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— where least squares comes from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estimation: bias, variance, uncertainty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and L₂ norms → Lasso and Ridge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Formulation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features get unwieldy in scalar form. Vectorize everything.</a:t>
            </a:r>
            <a:endParaRPr lang="en-US" sz="15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matrix X — one row per observation, one column per feature (plus a column of 1s for the intercept).</a:t>
            </a:r>
            <a:endParaRPr lang="en-US" sz="15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— the vector of all coefficients.  y — the vector of targets.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17320" y="3383280"/>
            <a:ext cx="4937760" cy="1051560"/>
          </a:xfrm>
          <a:prstGeom prst="roundRect">
            <a:avLst>
              <a:gd name="adj" fmla="val 7826"/>
            </a:avLst>
          </a:prstGeom>
          <a:solidFill>
            <a:srgbClr val="F2F6FB"/>
          </a:solidFill>
          <a:ln w="1651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vec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125" y="3639312"/>
            <a:ext cx="2140149" cy="5394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46177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collapse to a single matrix product: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148840" y="5074920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E8F0F8"/>
          </a:solidFill>
          <a:ln/>
        </p:spPr>
      </p:sp>
      <p:pic>
        <p:nvPicPr>
          <p:cNvPr id="11" name="Image 1" descr="figs/eq_pre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095" y="5330952"/>
            <a:ext cx="734209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Deriving the Normal Equations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6720840" cy="1024128"/>
          </a:xfrm>
          <a:prstGeom prst="roundRect">
            <a:avLst>
              <a:gd name="adj" fmla="val 8036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84708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847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36192" y="17007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cost as a squared norm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36192" y="207568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65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J(β) = ‖y − Xβ‖² = (y − Xβ)ᵀ(y − Xβ)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6720840" cy="1024128"/>
          </a:xfrm>
          <a:prstGeom prst="roundRect">
            <a:avLst>
              <a:gd name="adj" fmla="val 8036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017520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36192" y="28712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gradient with respect to 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36192" y="32461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65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∇J = −2Xᵀ(y − Xβ)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3913632"/>
            <a:ext cx="6720840" cy="1024128"/>
          </a:xfrm>
          <a:prstGeom prst="roundRect">
            <a:avLst>
              <a:gd name="adj" fmla="val 8036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18795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87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36192" y="40416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gradient to zero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36192" y="441655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65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XᵀXβ = Xᵀy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084064"/>
            <a:ext cx="6720840" cy="1024128"/>
          </a:xfrm>
          <a:prstGeom prst="roundRect">
            <a:avLst>
              <a:gd name="adj" fmla="val 8036"/>
            </a:avLst>
          </a:prstGeom>
          <a:solidFill>
            <a:srgbClr val="E8F0F8"/>
          </a:solidFill>
          <a:ln w="1524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5358384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358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36192" y="52120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β (if XᵀX invertible)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36192" y="55869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β̂ = (XᵀX)⁻¹Xᵀy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680960" y="1572768"/>
            <a:ext cx="3931920" cy="4709160"/>
          </a:xfrm>
          <a:prstGeom prst="roundRect">
            <a:avLst>
              <a:gd name="adj" fmla="val 2093"/>
            </a:avLst>
          </a:prstGeom>
          <a:solidFill>
            <a:srgbClr val="15233F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0956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punchline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2286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and geometry agree: the least-squares estimator is exact and closed-form.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09560" y="3429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iteration. No tuning. One matrix inverse.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09560" y="5212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why ever iterate?  →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Surface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J(β) is a bowl over parameter space — convex, one bottom.</a:t>
            </a:r>
            <a:endParaRPr lang="en-US" sz="1500" dirty="0"/>
          </a:p>
          <a:p>
            <a:pPr marL="0" lvl="1" indent="0" algn="l">
              <a:spcAft>
                <a:spcPts val="1000"/>
              </a:spcAft>
              <a:buNone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form jumps straight to the bottom.</a:t>
            </a:r>
            <a:endParaRPr lang="en-US" sz="15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(XᵀX)⁻¹ costs ~O(p³) and needs all data in memory.</a:t>
            </a:r>
            <a:endParaRPr lang="en-US" sz="1500" dirty="0"/>
          </a:p>
          <a:p>
            <a:pPr marL="0" lvl="1" indent="0" algn="l">
              <a:spcAft>
                <a:spcPts val="1000"/>
              </a:spcAft>
              <a:buNone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millions of rows or thousands of features, that inverse is impractical.</a:t>
            </a:r>
            <a:endParaRPr lang="en-US" sz="15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Instead: start somewhere and walk downhill. That's gradient descent.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1481328"/>
            <a:ext cx="2880360" cy="4754880"/>
          </a:xfrm>
          <a:prstGeom prst="roundRect">
            <a:avLst>
              <a:gd name="adj" fmla="val 285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cost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535469"/>
            <a:ext cx="2606040" cy="24728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0" y="57790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bowl in (β₀, β₁)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32520" y="1481328"/>
            <a:ext cx="2880360" cy="4754880"/>
          </a:xfrm>
          <a:prstGeom prst="roundRect">
            <a:avLst>
              <a:gd name="adj" fmla="val 285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cost_con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669609"/>
            <a:ext cx="2606040" cy="22045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32520" y="57790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surface, seen from above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7223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points uphill. So step the opposite way.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4297680" cy="914400"/>
          </a:xfrm>
          <a:prstGeom prst="roundRect">
            <a:avLst>
              <a:gd name="adj" fmla="val 9000"/>
            </a:avLst>
          </a:prstGeom>
          <a:solidFill>
            <a:srgbClr val="F2F6FB"/>
          </a:solidFill>
          <a:ln/>
        </p:spPr>
      </p:sp>
      <p:pic>
        <p:nvPicPr>
          <p:cNvPr id="8" name="Image 0" descr="figs/eq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989" y="2404872"/>
            <a:ext cx="3129621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0" y="214884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8F0F8"/>
          </a:solidFill>
          <a:ln w="15240">
            <a:solidFill>
              <a:srgbClr val="E76F51"/>
            </a:solidFill>
            <a:prstDash val="solid"/>
          </a:ln>
        </p:spPr>
      </p:sp>
      <p:pic>
        <p:nvPicPr>
          <p:cNvPr id="10" name="Image 1" descr="figs/eq_gdup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2431720"/>
            <a:ext cx="2048256" cy="3486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3291840"/>
            <a:ext cx="7178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the learning rate — the size of each downhill step.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gradient ≈ 0 (the bottom of the bowl).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J is convex, gradient descent is guaranteed to reach the global minimum.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batch (all data), stochastic (one point), mini-batch (a handful) — the engine behind modern ML.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138160" y="1508760"/>
            <a:ext cx="3474720" cy="4709160"/>
          </a:xfrm>
          <a:prstGeom prst="roundRect">
            <a:avLst>
              <a:gd name="adj" fmla="val 236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3" name="Image 2" descr="figs/gd_p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395350"/>
            <a:ext cx="3200400" cy="27073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58521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the contours to the minimum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Learning Rate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36192"/>
            <a:ext cx="10927080" cy="3246120"/>
          </a:xfrm>
          <a:prstGeom prst="roundRect">
            <a:avLst>
              <a:gd name="adj" fmla="val 2535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lr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06" y="1783080"/>
            <a:ext cx="6212067" cy="2697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98348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6968" y="5426964"/>
            <a:ext cx="347472" cy="34747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50932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71600" y="5440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direction, but painfully slow — many wasted iterations.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498348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36008" y="542696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50932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120640" y="5440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smooth convergence to the minimum.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83880" y="498348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85048" y="5426964"/>
            <a:ext cx="347472" cy="34747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5"/>
          <p:cNvSpPr/>
          <p:nvPr/>
        </p:nvSpPr>
        <p:spPr>
          <a:xfrm>
            <a:off x="8869680" y="50932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869680" y="5440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Overshoots, oscillates, can diverge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Likelihood Estimation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least squares looked like an arbitrary choice. It isn't.</a:t>
            </a:r>
            <a:endParaRPr lang="en-US" sz="15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noise is Gaussian: ε ~ 𝒩(0, σ²).</a:t>
            </a:r>
            <a:endParaRPr lang="en-US" sz="15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each yᵢ is normally distributed around the line.</a:t>
            </a:r>
            <a:endParaRPr lang="en-US" sz="150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asks: which β makes the observed data most probable?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 w="1524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l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55" y="4233672"/>
            <a:ext cx="3902930" cy="8595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4406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the joint probability (likelihood) of all points.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46520" y="1536192"/>
            <a:ext cx="5166360" cy="4709160"/>
          </a:xfrm>
          <a:prstGeom prst="roundRect">
            <a:avLst>
              <a:gd name="adj" fmla="val 174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mle_gauss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067027"/>
            <a:ext cx="4800600" cy="34554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587044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yᵢ drawn from a Gaussian centered on the line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MLE Recovers Least Squares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hard to differentiate — take the log (monotonic, so the argmax is unchanged).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645920" y="2331720"/>
            <a:ext cx="6949440" cy="1143000"/>
          </a:xfrm>
          <a:prstGeom prst="roundRect">
            <a:avLst>
              <a:gd name="adj" fmla="val 7200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logl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194" y="2587752"/>
            <a:ext cx="3072892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6118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sum-of-squares term depends on β. Maximizing the log-likelihood is exactly minimizing SSE: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188720" y="4343400"/>
            <a:ext cx="9692640" cy="1188720"/>
          </a:xfrm>
          <a:prstGeom prst="roundRect">
            <a:avLst>
              <a:gd name="adj" fmla="val 6923"/>
            </a:avLst>
          </a:prstGeom>
          <a:solidFill>
            <a:srgbClr val="E8F0F8"/>
          </a:solidFill>
          <a:ln w="1778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eq_mle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138" y="4599432"/>
            <a:ext cx="7941805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57150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is the maximum-likelihood estimator under Gaussian noise — a principled result, not a convenient guess.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L₁ and L₂ Norms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7223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 measures the “size” of the coefficient vector β.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6400800" cy="123444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normd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430" y="2542032"/>
            <a:ext cx="4213860" cy="7223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703320"/>
            <a:ext cx="7178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(Euclidean) — sum of squares. Smooth; shrinks coefficients.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(Manhattan) — sum of absolute values. Cornered; zeroes coefficients.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001000" y="1536192"/>
            <a:ext cx="3611880" cy="4709160"/>
          </a:xfrm>
          <a:prstGeom prst="roundRect">
            <a:avLst>
              <a:gd name="adj" fmla="val 227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norm_ba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46109"/>
            <a:ext cx="3200400" cy="31430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1000" y="58704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balls: circle, diamond, square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&amp; Lasso: Penalized Regression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36192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2F6FB"/>
          </a:solidFill>
          <a:ln w="16510">
            <a:solidFill>
              <a:srgbClr val="1C7293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eq_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49078"/>
            <a:ext cx="4974336" cy="5172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536192"/>
            <a:ext cx="5257800" cy="1143000"/>
          </a:xfrm>
          <a:prstGeom prst="roundRect">
            <a:avLst>
              <a:gd name="adj" fmla="val 7200"/>
            </a:avLst>
          </a:prstGeom>
          <a:solidFill>
            <a:srgbClr val="F2F6FB"/>
          </a:solidFill>
          <a:ln w="1651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9" name="Image 1" descr="figs/eq_las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860645"/>
            <a:ext cx="4745736" cy="4940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2880360"/>
            <a:ext cx="10927080" cy="2788920"/>
          </a:xfrm>
          <a:prstGeom prst="roundRect">
            <a:avLst>
              <a:gd name="adj" fmla="val 2951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2" descr="figs/l1_l2_constra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602" y="3063240"/>
            <a:ext cx="5379475" cy="2423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5806440"/>
            <a:ext cx="10927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penalty on β to the cost. λ controls how hard we push coefficients toward zero — trading a little bias for much less variance.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vs Lasso: What Each Does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OPTIMIZATION, MLE &amp; NORMS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36192"/>
            <a:ext cx="10927080" cy="2788920"/>
          </a:xfrm>
          <a:prstGeom prst="roundRect">
            <a:avLst>
              <a:gd name="adj" fmla="val 2951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reg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39" y="1737360"/>
            <a:ext cx="5085003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48056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2F6FB"/>
          </a:solidFill>
          <a:ln w="16510">
            <a:solidFill>
              <a:srgbClr val="1C7293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46451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(L₂)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5074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 smoothly toward zero; keeps every feature. Best when many features each matter a little. Has a closed form: (XᵀX + λI)⁻¹Xᵀy.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09360" y="448056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2F6FB"/>
          </a:solidFill>
          <a:ln w="1651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46451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(L₁)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583680" y="5074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some coefficients to exactly zero — automatic feature selection. Best when only a few features truly matter. No closed form; solved numerically.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201168" cy="1371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Assumptions, Evaluation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the Leap to Logistic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25880" y="379476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assumptions behind valid inference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Diagnostics: reading the residuals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R², RMSE, and honest error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 and why we regularize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line to a probability: logistic regression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Behind the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always gives an answer. These assumptions decide whether that answer is trustworthy.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2526030" cy="3383280"/>
          </a:xfrm>
          <a:prstGeom prst="roundRect">
            <a:avLst>
              <a:gd name="adj" fmla="val 325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91615" y="260604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491615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21602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X and the mean of y is linear.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86150" y="2377440"/>
            <a:ext cx="2526030" cy="3383280"/>
          </a:xfrm>
          <a:prstGeom prst="roundRect">
            <a:avLst>
              <a:gd name="adj" fmla="val 325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1965" y="260604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1965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623310" y="370332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69030" y="4206240"/>
            <a:ext cx="21602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(and their errors) don't influence each other.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86500" y="2377440"/>
            <a:ext cx="2526030" cy="3383280"/>
          </a:xfrm>
          <a:prstGeom prst="roundRect">
            <a:avLst>
              <a:gd name="adj" fmla="val 325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92315" y="260604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7092315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423660" y="370332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9380" y="4206240"/>
            <a:ext cx="21602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approximately normally distributed.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86850" y="2377440"/>
            <a:ext cx="2526030" cy="3383280"/>
          </a:xfrm>
          <a:prstGeom prst="roundRect">
            <a:avLst>
              <a:gd name="adj" fmla="val 325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92665" y="260604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892665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224010" y="370332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variance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9730" y="4206240"/>
            <a:ext cx="216027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spread is constant across all x (homoscedasticity).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5989320"/>
            <a:ext cx="10927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Mnemonic:  L · I · N · E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Diagnostics: Read the Residuals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35040" y="1481328"/>
            <a:ext cx="5577840" cy="4800600"/>
          </a:xfrm>
          <a:prstGeom prst="roundRect">
            <a:avLst>
              <a:gd name="adj" fmla="val 1714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32659"/>
            <a:ext cx="5212080" cy="35607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580644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&amp; Q–Q plots reveal assumption breaks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1645920"/>
            <a:ext cx="5074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the model's confession — plot them.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cloud around 0 → assumptions look fine.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→ the true relationship isn't linear.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shape → variance grows with x (heteroscedasticity).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Q–Q plot off the line → non-normal errors.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transform y, add features, or use robust / weighted methods.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Bias–Variance Trade-off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36192"/>
            <a:ext cx="10927080" cy="3200400"/>
          </a:xfrm>
          <a:prstGeom prst="roundRect">
            <a:avLst>
              <a:gd name="adj" fmla="val 2571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bias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249" y="1737360"/>
            <a:ext cx="6662183" cy="2697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920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 w="15240">
            <a:solidFill>
              <a:srgbClr val="C1666B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50292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54132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 — high bias. Misses real structure; poor on train and test.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48920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 w="15240">
            <a:solidFill>
              <a:srgbClr val="2A9D8F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50292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63440" y="54132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signal, ignores the noise. The goal — regularization lives here.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83880" y="48920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 w="1524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0" y="50292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412480" y="54132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flexible — high variance. Memorizes noise; great on train, awful on test.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Target Is a Category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suppose y is not a number but a class: spam / not-spam, pass / fail, 0 / 1.</a:t>
            </a:r>
            <a:endParaRPr lang="en-US" sz="15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force a straight line through 0/1 labels and it breaks:</a:t>
            </a:r>
            <a:endParaRPr lang="en-US" sz="1500" dirty="0"/>
          </a:p>
          <a:p>
            <a:pPr marL="660400" lvl="1" indent="-330200" algn="l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run below 0 and above 1 — impossible as probabilities</a:t>
            </a:r>
            <a:endParaRPr lang="en-US" sz="1500" dirty="0"/>
          </a:p>
          <a:p>
            <a:pPr marL="660400" lvl="1" indent="-330200" algn="l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 is dragged around by extreme points</a:t>
            </a:r>
            <a:endParaRPr lang="en-US" sz="1500" dirty="0"/>
          </a:p>
          <a:p>
            <a:pPr marL="660400" lvl="1" indent="-330200" algn="l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“distance” from the line stops meaning anything sensible</a:t>
            </a:r>
            <a:endParaRPr lang="en-US" sz="15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output bounded to [0, 1] that we can read as a probability.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1536192"/>
            <a:ext cx="5166360" cy="4709160"/>
          </a:xfrm>
          <a:prstGeom prst="roundRect">
            <a:avLst>
              <a:gd name="adj" fmla="val 174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why_linear_f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30520"/>
            <a:ext cx="4800600" cy="3528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587044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escapes [0,1] — nonsense probabilities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Bridge: the Sigmoid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familiar linear score z = β₀ + βᵀx.</a:t>
            </a:r>
            <a:endParaRPr lang="en-US" sz="15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squash it through the sigmoid σ(z) into (0, 1).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2F6FB"/>
          </a:solidFill>
          <a:ln w="17780">
            <a:solidFill>
              <a:srgbClr val="E76F51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sigmoid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088843"/>
            <a:ext cx="4974336" cy="4974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114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 algn="l">
              <a:spcAft>
                <a:spcPts val="900"/>
              </a:spcAft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positive z → probability near 1</a:t>
            </a:r>
            <a:endParaRPr lang="en-US" sz="1300" dirty="0"/>
          </a:p>
          <a:p>
            <a:pPr marL="0" lvl="1" indent="0" algn="l">
              <a:spcAft>
                <a:spcPts val="900"/>
              </a:spcAft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negative z → probability near 0</a:t>
            </a:r>
            <a:endParaRPr lang="en-US" sz="1300" dirty="0"/>
          </a:p>
          <a:p>
            <a:pPr marL="0" lvl="1" indent="0" algn="l">
              <a:spcAft>
                <a:spcPts val="900"/>
              </a:spcAft>
              <a:buNone/>
            </a:pPr>
            <a:r>
              <a:rPr lang="en-US" sz="1300" dirty="0">
                <a:solidFill>
                  <a:srgbClr val="46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 → probability 0.5 (the decision threshold)</a:t>
            </a:r>
            <a:endParaRPr lang="en-US" sz="13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model lives on inside; only the output is transformed.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46520" y="1536192"/>
            <a:ext cx="5166360" cy="4709160"/>
          </a:xfrm>
          <a:prstGeom prst="roundRect">
            <a:avLst>
              <a:gd name="adj" fmla="val 174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sigm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28646"/>
            <a:ext cx="4800600" cy="33322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587044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S-curve maps any real score to a probability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Fitting: MLE Returns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/ 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form here — but the logic of Part 2 carries straight over.</a:t>
            </a:r>
            <a:endParaRPr lang="en-US" sz="15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likelihood of the 0/1 labels and maximize its log: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2F6FB"/>
          </a:solidFill>
          <a:ln w="16510">
            <a:solidFill>
              <a:srgbClr val="2A9D8F"/>
            </a:solidFill>
            <a:prstDash val="solid"/>
          </a:ln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8" name="Image 0" descr="figs/eq_ce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61" y="3136392"/>
            <a:ext cx="4858918" cy="768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3434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log-loss / binary cross-entropy.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convex — gradient descent finds the global optimum.</a:t>
            </a:r>
            <a:endParaRPr lang="en-US" sz="14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recipe: model → likelihood → log → optimize.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46520" y="1536192"/>
            <a:ext cx="5166360" cy="4709160"/>
          </a:xfrm>
          <a:prstGeom prst="roundRect">
            <a:avLst>
              <a:gd name="adj" fmla="val 1748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11" name="Image 1" descr="figs/logistic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94535"/>
            <a:ext cx="4800600" cy="3600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587044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curve fits the classes and stays in [0,1]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Boundary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303520" cy="4800600"/>
          </a:xfrm>
          <a:prstGeom prst="roundRect">
            <a:avLst>
              <a:gd name="adj" fmla="val 1714"/>
            </a:avLst>
          </a:prstGeom>
          <a:solidFill>
            <a:srgbClr val="F2F6FB"/>
          </a:solidFill>
          <a:ln/>
          <a:effectLst>
            <a:outerShdw blurRad="88900" dist="38100" dir="5400000" algn="bl" rotWithShape="0">
              <a:srgbClr val="9DB0C6">
                <a:alpha val="35000"/>
              </a:srgbClr>
            </a:outerShdw>
          </a:effectLst>
        </p:spPr>
      </p:sp>
      <p:pic>
        <p:nvPicPr>
          <p:cNvPr id="7" name="Image 0" descr="figs/decision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79064"/>
            <a:ext cx="4846320" cy="42313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580644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σ(z)=0.5 draws a straight line between classes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16459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class 1 when the probability exceeds 0.5.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threshold is where z = 0 — a straight line (or hyperplane) in feature space.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logistic regression is still a linear classifier: the boundary is linear, only the probability curve bends.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threshold to trade precision against recall for your problem.</a:t>
            </a:r>
            <a:endParaRPr lang="en-US" sz="1450" dirty="0"/>
          </a:p>
          <a:p>
            <a:pPr marL="203200" indent="-203200" algn="l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boundaries? Add polynomial or interaction features — the model stays linear in β.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vs Logistic: One Family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1248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EVALUATION → LOGISTIC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607040" y="5486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/  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9164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69164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78040" y="1691640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42632" y="169164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295144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E8F0F8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95144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7520" y="2295144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295144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number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2295144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2295144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probability ∈ (0,1)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2898648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E8F0F8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89864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17520" y="2898648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898648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+ βᵀx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78040" y="2898648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632" y="2898648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σ(β₀ + βᵀx)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3502152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E8F0F8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50215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17520" y="3502152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3502152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78040" y="3502152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3502152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(log-odds)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105656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E8F0F8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105656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017520" y="4105656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4105656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error (SSE)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178040" y="4105656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4105656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(log-loss)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4709160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E8F0F8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70916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by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017520" y="4709160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470916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equations / GD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178040" y="4709160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42632" y="470916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(MLE)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2960" y="5312664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E8F0F8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5312664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017520" y="5312664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5312664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178040" y="5312664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42632" y="5312664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 feature space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link, different loss — identical linear heart.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3208</Words>
  <Application>Microsoft Office PowerPoint</Application>
  <PresentationFormat>Widescreen</PresentationFormat>
  <Paragraphs>342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Tanveer Ahmed</cp:lastModifiedBy>
  <cp:revision>4</cp:revision>
  <dcterms:created xsi:type="dcterms:W3CDTF">2026-07-26T10:26:04Z</dcterms:created>
  <dcterms:modified xsi:type="dcterms:W3CDTF">2026-07-27T03:35:58Z</dcterms:modified>
</cp:coreProperties>
</file>