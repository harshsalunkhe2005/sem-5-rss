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114" y="-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865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28016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377440" y="82296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23774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109728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246888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0" y="73152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566928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60350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76072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0" y="612648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1280160"/>
            <a:ext cx="1280160" cy="0"/>
          </a:xfrm>
          <a:prstGeom prst="line">
            <a:avLst/>
          </a:prstGeom>
          <a:noFill/>
          <a:ln w="12700">
            <a:solidFill>
              <a:srgbClr val="2E31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2377440"/>
            <a:ext cx="457200" cy="0"/>
          </a:xfrm>
          <a:prstGeom prst="line">
            <a:avLst/>
          </a:prstGeom>
          <a:noFill/>
          <a:ln w="12700">
            <a:solidFill>
              <a:srgbClr val="2E31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0" y="1097280"/>
            <a:ext cx="548640" cy="1371600"/>
          </a:xfrm>
          <a:prstGeom prst="line">
            <a:avLst/>
          </a:prstGeom>
          <a:noFill/>
          <a:ln w="12700">
            <a:solidFill>
              <a:srgbClr val="2E31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  •  THE FIRST NEURON MODEL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242316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McCulloch–Pitts Neuron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1097280" y="356616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Mankind’s first mathematical model of a biological neuron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480560" y="4526280"/>
            <a:ext cx="3227832" cy="45720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4526280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visual walkthrough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deep learning began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blurRad="101600" dist="38100" dir="5400000" algn="bl" rotWithShape="0">
              <a:srgbClr val="BFC6D4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1943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Warren McCulloch (neuroscientist) &amp; Walter Pitts (logician) proposed the first computational model of a neuron.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blurRad="101600" dist="38100" dir="5400000" algn="bl" rotWithShape="0">
              <a:srgbClr val="BFC6D4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286000"/>
            <a:ext cx="640080" cy="64008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what a brain cell does — take inputs, add them up, and decide whether to “fire.”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201168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blurRad="101600" dist="38100" dir="5400000" algn="bl" rotWithShape="0">
              <a:srgbClr val="BFC6D4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286000"/>
            <a:ext cx="640080" cy="6400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4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care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12480" y="356616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artificial neuron and perceptron used in modern AI traces back to this one idea.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INSPIRATION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biological neuron</a:t>
            </a:r>
            <a:endParaRPr lang="en-US" sz="3400" dirty="0"/>
          </a:p>
        </p:txBody>
      </p:sp>
      <p:pic>
        <p:nvPicPr>
          <p:cNvPr id="5" name="Image 0" descr="fig/bio_neu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6766560" cy="3822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201168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Dendrite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0" y="227685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signals from other neurons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0" y="29443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2852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Soma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0" y="32095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the information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0" y="3877056"/>
            <a:ext cx="310896" cy="310896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0" y="378561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Axon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9600" y="41422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this neuron’s output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0" y="480974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471830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Synapse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29600" y="5074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point to other neurons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INSPIRATION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a neuron really does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away the biology and every neuron follows the same three-step rhythm:</a:t>
            </a:r>
            <a:endParaRPr lang="en-US" sz="1600" dirty="0"/>
          </a:p>
        </p:txBody>
      </p:sp>
      <p:pic>
        <p:nvPicPr>
          <p:cNvPr id="6" name="Image 0" descr="fig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651760"/>
            <a:ext cx="818388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0" y="5394960"/>
            <a:ext cx="8138160" cy="640080"/>
          </a:xfrm>
          <a:prstGeom prst="roundRect">
            <a:avLst>
              <a:gd name="adj" fmla="val 21429"/>
            </a:avLst>
          </a:prstGeom>
          <a:solidFill>
            <a:srgbClr val="EEF2F8"/>
          </a:solidFill>
          <a:ln/>
        </p:spPr>
      </p:sp>
      <p:sp>
        <p:nvSpPr>
          <p:cNvPr id="8" name="Text 5"/>
          <p:cNvSpPr/>
          <p:nvPr/>
        </p:nvSpPr>
        <p:spPr>
          <a:xfrm>
            <a:off x="2011680" y="53949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Friends? Your “laugh or not” neurons fire only when their criteria are met.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31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McCulloch–Pitts neuron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simple parts, one on/off decision</a:t>
            </a:r>
            <a:endParaRPr lang="en-US" sz="1800" dirty="0"/>
          </a:p>
        </p:txBody>
      </p:sp>
      <p:pic>
        <p:nvPicPr>
          <p:cNvPr id="6" name="Image 0" descr="fig/mp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2880360"/>
            <a:ext cx="64922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73936" cy="329184"/>
          </a:xfrm>
          <a:prstGeom prst="roundRect">
            <a:avLst>
              <a:gd name="adj" fmla="val 50000"/>
            </a:avLst>
          </a:prstGeom>
          <a:solidFill>
            <a:srgbClr val="2E319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g and Part f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blurRad="101600" dist="38100" dir="5400000" algn="bl" rotWithShape="0">
              <a:srgbClr val="BFC6D4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2316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77440"/>
            <a:ext cx="1097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28600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Aggregation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all the inputs (the “dendrites”) and simply adds them together into one value.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01168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blurRad="101600" dist="38100" dir="5400000" algn="bl" rotWithShape="0">
              <a:srgbClr val="BFC6D4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423160"/>
            <a:ext cx="1097280" cy="109728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77440"/>
            <a:ext cx="1097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909560" y="2606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Decision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629400" y="3794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that total. If it clears a threshold, the neuron fires (1). If not, it stays silent (0).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Will I watch this football game?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input is a yes/no question (0 or 1). The output is a single yes/no decision.</a:t>
            </a:r>
            <a:endParaRPr lang="en-US" sz="1600" dirty="0"/>
          </a:p>
        </p:txBody>
      </p:sp>
      <p:pic>
        <p:nvPicPr>
          <p:cNvPr id="6" name="Image 0" descr="fig/footb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057400"/>
            <a:ext cx="777240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kinds of input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5400000" algn="bl" rotWithShape="0">
              <a:srgbClr val="BFC6D4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774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Excitatory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neuron toward firing. None can fire it alone — but together they can push the sum past the threshold.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  <a:effectLst>
            <a:outerShdw blurRad="101600" dist="38100" dir="5400000" algn="bl" rotWithShape="0">
              <a:srgbClr val="BFC6D4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3774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2377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Inhibitory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29400" y="32004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veto power. If an inhibitory input is 1, the neuron will NEVER fire — no matter what the others say.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“Not at home?” is inhibitory — if you’re out, you can’t watch, period.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73936" cy="329184"/>
          </a:xfrm>
          <a:prstGeom prst="roundRect">
            <a:avLst>
              <a:gd name="adj" fmla="val 50000"/>
            </a:avLst>
          </a:prstGeom>
          <a:solidFill>
            <a:srgbClr val="2E319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Thresholding logic — the math</a:t>
            </a:r>
            <a:endParaRPr lang="en-US" sz="3200" dirty="0"/>
          </a:p>
        </p:txBody>
      </p:sp>
      <p:pic>
        <p:nvPicPr>
          <p:cNvPr id="5" name="Image 0" descr="fig/math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874520"/>
            <a:ext cx="6839712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0" y="5486400"/>
            <a:ext cx="8503920" cy="640080"/>
          </a:xfrm>
          <a:prstGeom prst="roundRect">
            <a:avLst>
              <a:gd name="adj" fmla="val 21429"/>
            </a:avLst>
          </a:prstGeom>
          <a:solidFill>
            <a:srgbClr val="EEF2F8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54864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always watch when 2+ conditions are true, then θ = 2.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73936" cy="329184"/>
          </a:xfrm>
          <a:prstGeom prst="roundRect">
            <a:avLst>
              <a:gd name="adj" fmla="val 50000"/>
            </a:avLst>
          </a:prstGeom>
          <a:solidFill>
            <a:srgbClr val="2E319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concise way to draw it</a:t>
            </a:r>
            <a:endParaRPr lang="en-US" sz="3400" dirty="0"/>
          </a:p>
        </p:txBody>
      </p:sp>
      <p:pic>
        <p:nvPicPr>
          <p:cNvPr id="5" name="Image 0" descr="fig/concise_gene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4846320" cy="3922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to read it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92240" y="2624328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249631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x₁, x₂, x₃ are boolean — each is 0 or 1.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92240" y="3374136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7"/>
          <p:cNvSpPr/>
          <p:nvPr/>
        </p:nvSpPr>
        <p:spPr>
          <a:xfrm>
            <a:off x="6903720" y="32461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inside the neuron is the threshold θ.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92240" y="4123944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399592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sum of inputs ≥ θ, the neuron fires → y = 1.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92240" y="4873752"/>
            <a:ext cx="256032" cy="25603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1"/>
          <p:cNvSpPr/>
          <p:nvPr/>
        </p:nvSpPr>
        <p:spPr>
          <a:xfrm>
            <a:off x="6903720" y="474573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it stays silent → y = 0.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FUNCTIONS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neuron, many logic gates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inputs and output are all boolean, the M-P neuron is really just learning a boolean function. By choosing the right threshold, a single neuron can act as AND, OR, NOT, NOR and more.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2E319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48056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80360" y="448056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2E3192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448056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20640" y="448056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2E3192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448056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60920" y="448056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2E3192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448056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601200" y="448056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2E3192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448056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x₁ ∧ ¬x₂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944368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944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FUNCTIONS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function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138160" y="105156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051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2   (fires only if both ON)</a:t>
            </a:r>
            <a:endParaRPr lang="en-US" sz="1400" dirty="0"/>
          </a:p>
        </p:txBody>
      </p:sp>
      <p:pic>
        <p:nvPicPr>
          <p:cNvPr id="7" name="Image 0" descr="fig/concise_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4626864" cy="3749040"/>
          </a:xfrm>
          <a:prstGeom prst="rect">
            <a:avLst/>
          </a:prstGeom>
        </p:spPr>
      </p:pic>
      <p:pic>
        <p:nvPicPr>
          <p:cNvPr id="8" name="Image 1" descr="fig/tb_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011680"/>
            <a:ext cx="512064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50292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neuron fires only when every input is 1 — the sum reaches the threshold of 2 in just one case.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944368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944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FUNCTIONS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 function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138160" y="105156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051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1   (fires if either ON)</a:t>
            </a:r>
            <a:endParaRPr lang="en-US" sz="1400" dirty="0"/>
          </a:p>
        </p:txBody>
      </p:sp>
      <p:pic>
        <p:nvPicPr>
          <p:cNvPr id="7" name="Image 0" descr="fig/concise_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4626864" cy="3749040"/>
          </a:xfrm>
          <a:prstGeom prst="rect">
            <a:avLst/>
          </a:prstGeom>
        </p:spPr>
      </p:pic>
      <p:pic>
        <p:nvPicPr>
          <p:cNvPr id="8" name="Image 1" descr="fig/tb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011680"/>
            <a:ext cx="5120640" cy="2834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50292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threshold dropped to 1, a single active input is enough to make the neuron fire.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944368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944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FUNCTIONS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NOR and NOT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blurRad="101600" dist="38100" dir="5400000" algn="bl" rotWithShape="0">
              <a:srgbClr val="BFC6D4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NOR</a:t>
            </a:r>
            <a:endParaRPr lang="en-US" sz="2200" dirty="0"/>
          </a:p>
        </p:txBody>
      </p:sp>
      <p:pic>
        <p:nvPicPr>
          <p:cNvPr id="7" name="Image 0" descr="fig/concise_n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468880"/>
            <a:ext cx="3447288" cy="2788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only when ALL inputs are 0. All inputs inhibitory, θ = 0.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blurRad="101600" dist="38100" dir="5400000" algn="bl" rotWithShape="0">
              <a:srgbClr val="BFC6D4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</a:t>
            </a:r>
            <a:endParaRPr lang="en-US" sz="2200" dirty="0"/>
          </a:p>
        </p:txBody>
      </p:sp>
      <p:pic>
        <p:nvPicPr>
          <p:cNvPr id="11" name="Image 1" descr="fig/concise_n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2468880"/>
            <a:ext cx="3447288" cy="2788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inhibitory input with θ = 0: 1 becomes 0, and 0 becomes 1.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1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566160" cy="36576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the neuron does, geometrically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possible inputs as points. The threshold rule draws a straight line (a “decision boundary”) that splits them into two groups: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 above the line  →  output 1 (fires)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05840" y="48463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line  →  output 0 (silent)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05456" cy="329184"/>
          </a:xfrm>
          <a:prstGeom prst="roundRect">
            <a:avLst>
              <a:gd name="adj" fmla="val 50000"/>
            </a:avLst>
          </a:prstGeom>
          <a:solidFill>
            <a:srgbClr val="2E319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line splits the inputs in two</a:t>
            </a:r>
            <a:endParaRPr lang="en-US" sz="3200" dirty="0"/>
          </a:p>
        </p:txBody>
      </p:sp>
      <p:pic>
        <p:nvPicPr>
          <p:cNvPr id="5" name="Image 0" descr="fig/tb_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65960"/>
            <a:ext cx="4544568" cy="2514600"/>
          </a:xfrm>
          <a:prstGeom prst="rect">
            <a:avLst/>
          </a:prstGeom>
        </p:spPr>
      </p:pic>
      <p:pic>
        <p:nvPicPr>
          <p:cNvPr id="6" name="Image 1" descr="fig/tb_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65960"/>
            <a:ext cx="4544568" cy="2514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280160" y="4846320"/>
            <a:ext cx="9601200" cy="960120"/>
          </a:xfrm>
          <a:prstGeom prst="roundRect">
            <a:avLst>
              <a:gd name="adj" fmla="val 13333"/>
            </a:avLst>
          </a:prstGeom>
          <a:solidFill>
            <a:srgbClr val="EEF2F8"/>
          </a:solidFill>
          <a:ln/>
        </p:spPr>
      </p:sp>
      <p:sp>
        <p:nvSpPr>
          <p:cNvPr id="8" name="Text 4"/>
          <p:cNvSpPr/>
          <p:nvPr/>
        </p:nvSpPr>
        <p:spPr>
          <a:xfrm>
            <a:off x="1554480" y="4846320"/>
            <a:ext cx="9052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neuron, different threshold → the boundary line just shifts. Yellow points fire, red points stay silent — and one straight line always separates them.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05456" cy="329184"/>
          </a:xfrm>
          <a:prstGeom prst="roundRect">
            <a:avLst>
              <a:gd name="adj" fmla="val 50000"/>
            </a:avLst>
          </a:prstGeom>
          <a:solidFill>
            <a:srgbClr val="2E319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More inputs? The line becomes a plane</a:t>
            </a:r>
            <a:endParaRPr lang="en-US" sz="3000" dirty="0"/>
          </a:p>
        </p:txBody>
      </p:sp>
      <p:pic>
        <p:nvPicPr>
          <p:cNvPr id="5" name="Image 0" descr="fig/or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83080"/>
            <a:ext cx="41148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0" y="2103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inputs, three dimensions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040880" y="283464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3-input OR has 8 possible corner points.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x₁ + x₂ + x₃ = 1 is now a flat plane.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on or above the plane fire (yellow).</a:t>
            </a:r>
            <a:endParaRPr lang="en-US" sz="15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origin (0,0,0) stays below → silent.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73936" cy="329184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Powerful — but only up to a point</a:t>
            </a:r>
            <a:endParaRPr lang="en-US" sz="3100" dirty="0"/>
          </a:p>
        </p:txBody>
      </p:sp>
      <p:pic>
        <p:nvPicPr>
          <p:cNvPr id="5" name="Image 0" descr="fig/separ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5129784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7091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M-P neuron only works for linearly separable functions — ones a single straight line can split. XOR can’t be, so a single neuron can’t represent it.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Other limitations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858000" y="2542032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2542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96912" y="240487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must be boolean — no real-valued data.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858000" y="3383280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96912" y="32461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has to be hand-coded, not learned.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858000" y="4224528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96912" y="408736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count equally — no way to weight some as more important.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858000" y="5065776"/>
            <a:ext cx="274320" cy="2743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0" y="50657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296912" y="492861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handle non-separable functions like XOR.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02920" y="6291072"/>
            <a:ext cx="118872" cy="118872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McCulloch–Pitts Neuron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199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2801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377440" y="8229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237744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10972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24688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0" y="7315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56692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2103120" y="603504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57607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0" y="61264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40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2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seed of modern AI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4864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1943, McCulloch &amp; Pitts showed a simple threshold unit could compute logic — the first mathematical neuron.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2E3192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886200"/>
            <a:ext cx="411480" cy="4114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4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434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Its idea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inputs, fire past a threshold — still the core of every neuron today.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36118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2E319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3886200"/>
            <a:ext cx="411480" cy="4114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4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4434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Its limit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0" y="4892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thresholds, equal inputs, boolean-only, and no XOR.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55280" y="361188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2E3192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3886200"/>
            <a:ext cx="411480" cy="4114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4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0" y="4434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came next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29600" y="48920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1958 Rosenblatt’s perceptron added learnable weights &amp; thresholds — the artificial neuron.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A. L. Chandra, “McCulloch–Pitts Neuron” (TDS) • based on Prof. Mitesh Khapra’s NPTEL Deep Learning lectures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E4C41A7D48A744983DDED71551D35E" ma:contentTypeVersion="10" ma:contentTypeDescription="Create a new document." ma:contentTypeScope="" ma:versionID="335a219b628160a26a8ed8732b4a031f">
  <xsd:schema xmlns:xsd="http://www.w3.org/2001/XMLSchema" xmlns:xs="http://www.w3.org/2001/XMLSchema" xmlns:p="http://schemas.microsoft.com/office/2006/metadata/properties" xmlns:ns3="9343f5e2-aeef-4748-be21-2cd988da9d5e" targetNamespace="http://schemas.microsoft.com/office/2006/metadata/properties" ma:root="true" ma:fieldsID="60b1e2a20106318176fe3a4de0d1313f" ns3:_="">
    <xsd:import namespace="9343f5e2-aeef-4748-be21-2cd988da9d5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43f5e2-aeef-4748-be21-2cd988da9d5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343f5e2-aeef-4748-be21-2cd988da9d5e" xsi:nil="true"/>
  </documentManagement>
</p:properties>
</file>

<file path=customXml/itemProps1.xml><?xml version="1.0" encoding="utf-8"?>
<ds:datastoreItem xmlns:ds="http://schemas.openxmlformats.org/officeDocument/2006/customXml" ds:itemID="{75AF712F-36A2-48AB-8540-E135B94AB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43f5e2-aeef-4748-be21-2cd988da9d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5A12A7-81F6-425C-AA8F-E6A8F4DC0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BD0E39-9C79-4B47-971A-D8DBE96A69AD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9343f5e2-aeef-4748-be21-2cd988da9d5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1030</Words>
  <Application>Microsoft Office PowerPoint</Application>
  <PresentationFormat>Widescreen</PresentationFormat>
  <Paragraphs>169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Tanveer Ahmed</cp:lastModifiedBy>
  <cp:revision>2</cp:revision>
  <dcterms:created xsi:type="dcterms:W3CDTF">2026-08-09T06:02:18Z</dcterms:created>
  <dcterms:modified xsi:type="dcterms:W3CDTF">2026-08-10T03:59:51Z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0x0101002BE4C41A7D48A744983DDED71551D35E</vt:lpwstr>
  </property>
</Properties>
</file>