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256" r:id="rId5"/>
    <p:sldId id="536" r:id="rId6"/>
    <p:sldId id="564" r:id="rId7"/>
    <p:sldId id="538" r:id="rId8"/>
    <p:sldId id="539" r:id="rId9"/>
    <p:sldId id="540" r:id="rId10"/>
    <p:sldId id="805" r:id="rId11"/>
    <p:sldId id="727" r:id="rId12"/>
    <p:sldId id="728" r:id="rId13"/>
    <p:sldId id="606" r:id="rId14"/>
    <p:sldId id="515" r:id="rId15"/>
    <p:sldId id="611" r:id="rId16"/>
    <p:sldId id="674" r:id="rId17"/>
    <p:sldId id="675" r:id="rId18"/>
    <p:sldId id="692" r:id="rId19"/>
    <p:sldId id="693" r:id="rId20"/>
    <p:sldId id="709" r:id="rId21"/>
    <p:sldId id="708" r:id="rId22"/>
    <p:sldId id="711" r:id="rId23"/>
    <p:sldId id="804" r:id="rId24"/>
    <p:sldId id="542" r:id="rId25"/>
    <p:sldId id="541" r:id="rId26"/>
    <p:sldId id="543" r:id="rId27"/>
    <p:sldId id="544" r:id="rId28"/>
    <p:sldId id="562" r:id="rId29"/>
    <p:sldId id="545" r:id="rId30"/>
    <p:sldId id="548" r:id="rId31"/>
    <p:sldId id="775" r:id="rId32"/>
    <p:sldId id="776" r:id="rId33"/>
    <p:sldId id="779" r:id="rId34"/>
    <p:sldId id="546" r:id="rId35"/>
    <p:sldId id="552" r:id="rId36"/>
    <p:sldId id="553" r:id="rId37"/>
    <p:sldId id="610" r:id="rId38"/>
    <p:sldId id="551" r:id="rId39"/>
    <p:sldId id="508" r:id="rId40"/>
    <p:sldId id="806" r:id="rId41"/>
    <p:sldId id="80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veer Ahmed" initials="TA" lastIdx="1" clrIdx="0">
    <p:extLst>
      <p:ext uri="{19B8F6BF-5375-455C-9EA6-DF929625EA0E}">
        <p15:presenceInfo xmlns:p15="http://schemas.microsoft.com/office/powerpoint/2012/main" userId="S::tanveer.ahmed@bennett.edu.in::c20aecf3-b1d0-4f36-ab14-6c5f325ab9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eer Ahmed" userId="ae65990c-ea0f-4c33-a6b2-48519e4fc857" providerId="ADAL" clId="{E4A21FA2-343D-4D24-AB67-855991B8CF71}"/>
    <pc:docChg chg="undo addSld delSld">
      <pc:chgData name="Tanveer Ahmed" userId="ae65990c-ea0f-4c33-a6b2-48519e4fc857" providerId="ADAL" clId="{E4A21FA2-343D-4D24-AB67-855991B8CF71}" dt="2026-01-17T05:47:07.466" v="26" actId="2696"/>
      <pc:docMkLst>
        <pc:docMk/>
      </pc:docMkLst>
      <pc:sldChg chg="add del">
        <pc:chgData name="Tanveer Ahmed" userId="ae65990c-ea0f-4c33-a6b2-48519e4fc857" providerId="ADAL" clId="{E4A21FA2-343D-4D24-AB67-855991B8CF71}" dt="2026-01-17T05:41:33.298" v="13" actId="2696"/>
        <pc:sldMkLst>
          <pc:docMk/>
          <pc:sldMk cId="1420032255" sldId="508"/>
        </pc:sldMkLst>
      </pc:sldChg>
      <pc:sldChg chg="del">
        <pc:chgData name="Tanveer Ahmed" userId="ae65990c-ea0f-4c33-a6b2-48519e4fc857" providerId="ADAL" clId="{E4A21FA2-343D-4D24-AB67-855991B8CF71}" dt="2026-01-17T05:41:21.351" v="0" actId="2696"/>
        <pc:sldMkLst>
          <pc:docMk/>
          <pc:sldMk cId="1298870602" sldId="547"/>
        </pc:sldMkLst>
      </pc:sldChg>
      <pc:sldChg chg="add del">
        <pc:chgData name="Tanveer Ahmed" userId="ae65990c-ea0f-4c33-a6b2-48519e4fc857" providerId="ADAL" clId="{E4A21FA2-343D-4D24-AB67-855991B8CF71}" dt="2026-01-17T05:41:33.454" v="14" actId="2696"/>
        <pc:sldMkLst>
          <pc:docMk/>
          <pc:sldMk cId="1034304966" sldId="551"/>
        </pc:sldMkLst>
      </pc:sldChg>
      <pc:sldChg chg="add del">
        <pc:chgData name="Tanveer Ahmed" userId="ae65990c-ea0f-4c33-a6b2-48519e4fc857" providerId="ADAL" clId="{E4A21FA2-343D-4D24-AB67-855991B8CF71}" dt="2026-01-17T05:41:33.987" v="17" actId="2696"/>
        <pc:sldMkLst>
          <pc:docMk/>
          <pc:sldMk cId="381327964" sldId="552"/>
        </pc:sldMkLst>
      </pc:sldChg>
      <pc:sldChg chg="add del">
        <pc:chgData name="Tanveer Ahmed" userId="ae65990c-ea0f-4c33-a6b2-48519e4fc857" providerId="ADAL" clId="{E4A21FA2-343D-4D24-AB67-855991B8CF71}" dt="2026-01-17T05:41:33.811" v="16" actId="2696"/>
        <pc:sldMkLst>
          <pc:docMk/>
          <pc:sldMk cId="3363163343" sldId="553"/>
        </pc:sldMkLst>
      </pc:sldChg>
      <pc:sldChg chg="del">
        <pc:chgData name="Tanveer Ahmed" userId="ae65990c-ea0f-4c33-a6b2-48519e4fc857" providerId="ADAL" clId="{E4A21FA2-343D-4D24-AB67-855991B8CF71}" dt="2026-01-17T05:41:24.499" v="2" actId="2696"/>
        <pc:sldMkLst>
          <pc:docMk/>
          <pc:sldMk cId="512859121" sldId="559"/>
        </pc:sldMkLst>
      </pc:sldChg>
      <pc:sldChg chg="del">
        <pc:chgData name="Tanveer Ahmed" userId="ae65990c-ea0f-4c33-a6b2-48519e4fc857" providerId="ADAL" clId="{E4A21FA2-343D-4D24-AB67-855991B8CF71}" dt="2026-01-17T05:47:07.466" v="26" actId="2696"/>
        <pc:sldMkLst>
          <pc:docMk/>
          <pc:sldMk cId="2136209734" sldId="561"/>
        </pc:sldMkLst>
      </pc:sldChg>
      <pc:sldChg chg="del">
        <pc:chgData name="Tanveer Ahmed" userId="ae65990c-ea0f-4c33-a6b2-48519e4fc857" providerId="ADAL" clId="{E4A21FA2-343D-4D24-AB67-855991B8CF71}" dt="2026-01-17T05:41:24.054" v="1" actId="2696"/>
        <pc:sldMkLst>
          <pc:docMk/>
          <pc:sldMk cId="36257154" sldId="567"/>
        </pc:sldMkLst>
      </pc:sldChg>
      <pc:sldChg chg="add del">
        <pc:chgData name="Tanveer Ahmed" userId="ae65990c-ea0f-4c33-a6b2-48519e4fc857" providerId="ADAL" clId="{E4A21FA2-343D-4D24-AB67-855991B8CF71}" dt="2026-01-17T05:41:33.646" v="15" actId="2696"/>
        <pc:sldMkLst>
          <pc:docMk/>
          <pc:sldMk cId="128142816" sldId="610"/>
        </pc:sldMkLst>
      </pc:sldChg>
      <pc:sldChg chg="add del">
        <pc:chgData name="Tanveer Ahmed" userId="ae65990c-ea0f-4c33-a6b2-48519e4fc857" providerId="ADAL" clId="{E4A21FA2-343D-4D24-AB67-855991B8CF71}" dt="2026-01-17T05:41:36.369" v="19" actId="2696"/>
        <pc:sldMkLst>
          <pc:docMk/>
          <pc:sldMk cId="949509237" sldId="746"/>
        </pc:sldMkLst>
      </pc:sldChg>
      <pc:sldChg chg="add del">
        <pc:chgData name="Tanveer Ahmed" userId="ae65990c-ea0f-4c33-a6b2-48519e4fc857" providerId="ADAL" clId="{E4A21FA2-343D-4D24-AB67-855991B8CF71}" dt="2026-01-17T05:41:33.079" v="12" actId="2696"/>
        <pc:sldMkLst>
          <pc:docMk/>
          <pc:sldMk cId="2260892973" sldId="806"/>
        </pc:sldMkLst>
      </pc:sldChg>
      <pc:sldChg chg="del">
        <pc:chgData name="Tanveer Ahmed" userId="ae65990c-ea0f-4c33-a6b2-48519e4fc857" providerId="ADAL" clId="{E4A21FA2-343D-4D24-AB67-855991B8CF71}" dt="2026-01-17T05:43:00.409" v="21" actId="2696"/>
        <pc:sldMkLst>
          <pc:docMk/>
          <pc:sldMk cId="1827701555" sldId="807"/>
        </pc:sldMkLst>
      </pc:sldChg>
      <pc:sldChg chg="del">
        <pc:chgData name="Tanveer Ahmed" userId="ae65990c-ea0f-4c33-a6b2-48519e4fc857" providerId="ADAL" clId="{E4A21FA2-343D-4D24-AB67-855991B8CF71}" dt="2026-01-17T05:43:01.383" v="22" actId="2696"/>
        <pc:sldMkLst>
          <pc:docMk/>
          <pc:sldMk cId="4227442042" sldId="808"/>
        </pc:sldMkLst>
      </pc:sldChg>
      <pc:sldChg chg="del">
        <pc:chgData name="Tanveer Ahmed" userId="ae65990c-ea0f-4c33-a6b2-48519e4fc857" providerId="ADAL" clId="{E4A21FA2-343D-4D24-AB67-855991B8CF71}" dt="2026-01-17T05:42:59.378" v="20" actId="2696"/>
        <pc:sldMkLst>
          <pc:docMk/>
          <pc:sldMk cId="819210644" sldId="810"/>
        </pc:sldMkLst>
      </pc:sldChg>
      <pc:sldChg chg="del">
        <pc:chgData name="Tanveer Ahmed" userId="ae65990c-ea0f-4c33-a6b2-48519e4fc857" providerId="ADAL" clId="{E4A21FA2-343D-4D24-AB67-855991B8CF71}" dt="2026-01-17T05:43:03.778" v="24" actId="2696"/>
        <pc:sldMkLst>
          <pc:docMk/>
          <pc:sldMk cId="653388782" sldId="811"/>
        </pc:sldMkLst>
      </pc:sldChg>
      <pc:sldChg chg="add del">
        <pc:chgData name="Tanveer Ahmed" userId="ae65990c-ea0f-4c33-a6b2-48519e4fc857" providerId="ADAL" clId="{E4A21FA2-343D-4D24-AB67-855991B8CF71}" dt="2026-01-17T05:43:07.533" v="25" actId="2696"/>
        <pc:sldMkLst>
          <pc:docMk/>
          <pc:sldMk cId="975296013" sldId="814"/>
        </pc:sldMkLst>
      </pc:sldChg>
      <pc:sldChg chg="del">
        <pc:chgData name="Tanveer Ahmed" userId="ae65990c-ea0f-4c33-a6b2-48519e4fc857" providerId="ADAL" clId="{E4A21FA2-343D-4D24-AB67-855991B8CF71}" dt="2026-01-17T05:43:02.254" v="23" actId="2696"/>
        <pc:sldMkLst>
          <pc:docMk/>
          <pc:sldMk cId="3780261224" sldId="815"/>
        </pc:sldMkLst>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3-02-07T10:45:16.107"/>
    </inkml:context>
    <inkml:brush xml:id="br0">
      <inkml:brushProperty name="width" value="0.05292" units="cm"/>
      <inkml:brushProperty name="height" value="0.05292" units="cm"/>
      <inkml:brushProperty name="color" value="#FF0000"/>
    </inkml:brush>
  </inkml:definitions>
  <inkml:trace contextRef="#ctx0" brushRef="#br0">16443 7662 526 0,'-12'115'18'0,"13"-24"-11"15,34-16-7-15,20-12-10 16,16-13-91-16,16-5-157 16</inkml:trace>
  <inkml:trace contextRef="#ctx0" brushRef="#br0" timeOffset="2377.73">20516 5303 624 0,'0'0'177'15,"2"-73"-19"-15,23 28-51 16,12-4-28-16,14-3-33 16,5 2 9-16,7 8 0 15,6 14-6-15,4 20 4 16,8 9-3-16,5 37 4 15,-1 23 2-15,-7 17 8 16,-11 13-20-16,-13 8-8 16,-15 3 4-16,-14 0-9 15,-10-9-8-15,-11-7-2 0,-4-14-4 16,0-16-1 0,0-20 0-16,0-15-1 0,0-13 1 15,0-8 9-15,0-9 22 16,-6-23 26-16,-1-18-73 15,1-18 0-15,4-17 0 16,2-14 0-16,3-10 0 16,21-7 0-16,15 0 0 15,12 2 0-15,11 4 0 16,14 9 0-16,7 15 0 16,4 19 0-16,-2 27 0 15,-8 21 0-15,-8 19 0 0,-4 29 0 16,-7 43 0-16,-7 32 0 15,-8 34 0-15,-9 30 0 16,-2 24 0-16,2 21 0 16,9 8 0-16,11-4 0 15,14-18 0-15,13-27 0 16,10-31 0-16,12-32 0 16,17-31 0-16,21-31 0 15,21-35 0-15,13-20 0 16,3-54 0-16,0-38 0 15,-8-33 0-15,-14-24 0 16,-19-17 0-16,-28-5 0 16,-36 7 0-16,-40 22-10 0,-33 32-155 15,-36 33-42-15,-45 24-111 16,-35 18-623-16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CC00F3-0E94-470C-8D07-6F369E669AE4}" type="datetimeFigureOut">
              <a:rPr lang="en-IN" smtClean="0"/>
              <a:t>17-01-2026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A709C7-6C73-47B2-8716-FA272A53567D}" type="slidenum">
              <a:rPr lang="en-IN" smtClean="0"/>
              <a:t>‹#›</a:t>
            </a:fld>
            <a:endParaRPr lang="en-IN"/>
          </a:p>
        </p:txBody>
      </p:sp>
    </p:spTree>
    <p:extLst>
      <p:ext uri="{BB962C8B-B14F-4D97-AF65-F5344CB8AC3E}">
        <p14:creationId xmlns:p14="http://schemas.microsoft.com/office/powerpoint/2010/main" val="1653232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a:t>
            </a:fld>
            <a:endParaRPr lang="en-US"/>
          </a:p>
        </p:txBody>
      </p:sp>
    </p:spTree>
    <p:extLst>
      <p:ext uri="{BB962C8B-B14F-4D97-AF65-F5344CB8AC3E}">
        <p14:creationId xmlns:p14="http://schemas.microsoft.com/office/powerpoint/2010/main" val="2176685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11</a:t>
            </a:fld>
            <a:endParaRPr lang="en-US"/>
          </a:p>
        </p:txBody>
      </p:sp>
    </p:spTree>
    <p:extLst>
      <p:ext uri="{BB962C8B-B14F-4D97-AF65-F5344CB8AC3E}">
        <p14:creationId xmlns:p14="http://schemas.microsoft.com/office/powerpoint/2010/main" val="3151746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With </a:t>
            </a:r>
            <a:r>
              <a:rPr lang="en-US" altLang="zh-TW" sz="1200" dirty="0" err="1"/>
              <a:t>softmax</a:t>
            </a:r>
            <a:r>
              <a:rPr lang="en-US" altLang="zh-TW" sz="1200" dirty="0"/>
              <a:t>, the summation of all the </a:t>
            </a:r>
            <a:r>
              <a:rPr lang="en-US" altLang="zh-TW" sz="1200" dirty="0" err="1"/>
              <a:t>ouputs</a:t>
            </a:r>
            <a:r>
              <a:rPr lang="en-US" altLang="zh-TW" sz="1200" dirty="0"/>
              <a:t> would be one.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Can be considered as probability</a:t>
            </a:r>
            <a:r>
              <a:rPr lang="zh-TW" altLang="en-US" sz="1200" baseline="0" dirty="0"/>
              <a:t> </a:t>
            </a:r>
            <a:r>
              <a:rPr lang="en-US" altLang="zh-TW" sz="1200" baseline="0" dirty="0"/>
              <a:t>if you want ……</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13</a:t>
            </a:fld>
            <a:endParaRPr lang="zh-TW" altLang="en-US"/>
          </a:p>
        </p:txBody>
      </p:sp>
    </p:spTree>
    <p:extLst>
      <p:ext uri="{BB962C8B-B14F-4D97-AF65-F5344CB8AC3E}">
        <p14:creationId xmlns:p14="http://schemas.microsoft.com/office/powerpoint/2010/main" val="346811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Randomly</a:t>
            </a:r>
            <a:r>
              <a:rPr lang="en-US" altLang="zh-TW" sz="1200" baseline="0" dirty="0"/>
              <a:t> picked one </a:t>
            </a: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Two approaches update the parameters towards the same direction, but stochastic is faster!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Better!</a:t>
            </a:r>
            <a:endParaRPr lang="zh-TW"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14</a:t>
            </a:fld>
            <a:endParaRPr lang="zh-TW" altLang="en-US"/>
          </a:p>
        </p:txBody>
      </p:sp>
    </p:spTree>
    <p:extLst>
      <p:ext uri="{BB962C8B-B14F-4D97-AF65-F5344CB8AC3E}">
        <p14:creationId xmlns:p14="http://schemas.microsoft.com/office/powerpoint/2010/main" val="316328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15</a:t>
            </a:fld>
            <a:endParaRPr lang="zh-TW" altLang="en-US"/>
          </a:p>
        </p:txBody>
      </p:sp>
    </p:spTree>
    <p:extLst>
      <p:ext uri="{BB962C8B-B14F-4D97-AF65-F5344CB8AC3E}">
        <p14:creationId xmlns:p14="http://schemas.microsoft.com/office/powerpoint/2010/main" val="2670026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16</a:t>
            </a:fld>
            <a:endParaRPr lang="zh-TW" altLang="en-US"/>
          </a:p>
        </p:txBody>
      </p:sp>
    </p:spTree>
    <p:extLst>
      <p:ext uri="{BB962C8B-B14F-4D97-AF65-F5344CB8AC3E}">
        <p14:creationId xmlns:p14="http://schemas.microsoft.com/office/powerpoint/2010/main" val="3741146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18</a:t>
            </a:fld>
            <a:endParaRPr lang="zh-TW" altLang="en-US"/>
          </a:p>
        </p:txBody>
      </p:sp>
    </p:spTree>
    <p:extLst>
      <p:ext uri="{BB962C8B-B14F-4D97-AF65-F5344CB8AC3E}">
        <p14:creationId xmlns:p14="http://schemas.microsoft.com/office/powerpoint/2010/main" val="1612203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dirty="0"/>
              <a:t>百萬等級的</a:t>
            </a: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Solving this optimization problem by Calculus or something</a:t>
            </a:r>
          </a:p>
          <a:p>
            <a:endParaRPr lang="zh-TW" altLang="en-US" dirty="0"/>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20</a:t>
            </a:fld>
            <a:endParaRPr lang="zh-TW" altLang="en-US"/>
          </a:p>
        </p:txBody>
      </p:sp>
    </p:spTree>
    <p:extLst>
      <p:ext uri="{BB962C8B-B14F-4D97-AF65-F5344CB8AC3E}">
        <p14:creationId xmlns:p14="http://schemas.microsoft.com/office/powerpoint/2010/main" val="3531363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23</a:t>
            </a:fld>
            <a:endParaRPr lang="en-US"/>
          </a:p>
        </p:txBody>
      </p:sp>
    </p:spTree>
    <p:extLst>
      <p:ext uri="{BB962C8B-B14F-4D97-AF65-F5344CB8AC3E}">
        <p14:creationId xmlns:p14="http://schemas.microsoft.com/office/powerpoint/2010/main" val="3608787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26</a:t>
            </a:fld>
            <a:endParaRPr lang="en-US"/>
          </a:p>
        </p:txBody>
      </p:sp>
    </p:spTree>
    <p:extLst>
      <p:ext uri="{BB962C8B-B14F-4D97-AF65-F5344CB8AC3E}">
        <p14:creationId xmlns:p14="http://schemas.microsoft.com/office/powerpoint/2010/main" val="3780309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27</a:t>
            </a:fld>
            <a:endParaRPr lang="en-US"/>
          </a:p>
        </p:txBody>
      </p:sp>
    </p:spTree>
    <p:extLst>
      <p:ext uri="{BB962C8B-B14F-4D97-AF65-F5344CB8AC3E}">
        <p14:creationId xmlns:p14="http://schemas.microsoft.com/office/powerpoint/2010/main" val="4275976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A220914F-BE26-43C4-8063-9E6C159BF45D}" type="slidenum">
              <a:rPr lang="zh-TW" altLang="en-US" smtClean="0"/>
              <a:t>28</a:t>
            </a:fld>
            <a:endParaRPr lang="zh-TW" altLang="en-US"/>
          </a:p>
        </p:txBody>
      </p:sp>
    </p:spTree>
    <p:extLst>
      <p:ext uri="{BB962C8B-B14F-4D97-AF65-F5344CB8AC3E}">
        <p14:creationId xmlns:p14="http://schemas.microsoft.com/office/powerpoint/2010/main" val="2474254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31</a:t>
            </a:fld>
            <a:endParaRPr lang="en-US"/>
          </a:p>
        </p:txBody>
      </p:sp>
    </p:spTree>
    <p:extLst>
      <p:ext uri="{BB962C8B-B14F-4D97-AF65-F5344CB8AC3E}">
        <p14:creationId xmlns:p14="http://schemas.microsoft.com/office/powerpoint/2010/main" val="1119254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32</a:t>
            </a:fld>
            <a:endParaRPr lang="en-US"/>
          </a:p>
        </p:txBody>
      </p:sp>
    </p:spTree>
    <p:extLst>
      <p:ext uri="{BB962C8B-B14F-4D97-AF65-F5344CB8AC3E}">
        <p14:creationId xmlns:p14="http://schemas.microsoft.com/office/powerpoint/2010/main" val="3594602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34</a:t>
            </a:fld>
            <a:endParaRPr lang="en-US"/>
          </a:p>
        </p:txBody>
      </p:sp>
    </p:spTree>
    <p:extLst>
      <p:ext uri="{BB962C8B-B14F-4D97-AF65-F5344CB8AC3E}">
        <p14:creationId xmlns:p14="http://schemas.microsoft.com/office/powerpoint/2010/main" val="3792899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36</a:t>
            </a:fld>
            <a:endParaRPr lang="en-US"/>
          </a:p>
        </p:txBody>
      </p:sp>
    </p:spTree>
    <p:extLst>
      <p:ext uri="{BB962C8B-B14F-4D97-AF65-F5344CB8AC3E}">
        <p14:creationId xmlns:p14="http://schemas.microsoft.com/office/powerpoint/2010/main" val="66051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8CCB-67DA-49E7-AAF2-737C39D98E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B210DE-5E9B-4D11-9007-5A0471F57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182F71-462D-4C90-87AB-41B00BFF6DD9}"/>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0FE7B4F2-E22E-4B9C-982E-1417946AC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74643C-925D-417B-8D58-7EA0B703B58C}"/>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658068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8E64-ABA4-46FF-AE4A-CFCC8B6E7C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D34203-61A1-489F-95C5-10785E6198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41A1B-A314-41B5-8B2B-6F8F261B0331}"/>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C6E1003D-68B6-4C2E-86A8-279DCA620A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93800-CE2C-4107-8E17-C20AEF1C94DD}"/>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366128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B8F3-66FB-49B7-A671-2128503F1C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1233C5-CD99-48F2-A907-663BD274F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6EEA74-00DF-4083-8066-3B1208EF9F0E}"/>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86A6F193-8ED8-4E48-A55A-CFB7F340BA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F2CE6B-5714-471B-84A1-01B36C1D0B38}"/>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2637872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871E5-3B49-47CE-B495-758C1756C9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F2FAEF-D1EF-44F0-830D-7FF479301D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B245D0-1F9A-4FB3-BB7A-906F72B61B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A893ED-6DC5-452B-8313-3A0185AAE27F}"/>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6" name="Footer Placeholder 5">
            <a:extLst>
              <a:ext uri="{FF2B5EF4-FFF2-40B4-BE49-F238E27FC236}">
                <a16:creationId xmlns:a16="http://schemas.microsoft.com/office/drawing/2014/main" id="{BE4B5619-C12C-4FE6-9B30-E6AA643DDF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D30858-D9F8-405B-87C8-4D2027E018F9}"/>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1801539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1136B-048D-479D-A3D2-96E97A7B00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961201-3D0C-427C-8619-D42BC1D4B5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F0622-2933-4165-90E1-A3BCA66723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6FD17-8F1B-4712-9148-0FA9F5941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E14C4D-D634-4A1A-839F-9BA4ECC2B1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2CD187-5105-4070-B57F-86E18DB19F10}"/>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8" name="Footer Placeholder 7">
            <a:extLst>
              <a:ext uri="{FF2B5EF4-FFF2-40B4-BE49-F238E27FC236}">
                <a16:creationId xmlns:a16="http://schemas.microsoft.com/office/drawing/2014/main" id="{C5DE2A4A-56E5-48F1-90DA-E170F50544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B75250-4400-43A9-BBFB-DCF6DF1EF28B}"/>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345258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090F4-F299-4662-9CA0-800052C1DB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359630-8A1E-47D8-90E1-B775C851ED7E}"/>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4" name="Footer Placeholder 3">
            <a:extLst>
              <a:ext uri="{FF2B5EF4-FFF2-40B4-BE49-F238E27FC236}">
                <a16:creationId xmlns:a16="http://schemas.microsoft.com/office/drawing/2014/main" id="{65EDAC3A-60F1-47FB-A7F7-62C5EBA1A6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670E65-8300-4D36-A684-6CBE7C24BE28}"/>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86287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8F5712-1E78-4259-AB85-60FBE8729CDA}"/>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3" name="Footer Placeholder 2">
            <a:extLst>
              <a:ext uri="{FF2B5EF4-FFF2-40B4-BE49-F238E27FC236}">
                <a16:creationId xmlns:a16="http://schemas.microsoft.com/office/drawing/2014/main" id="{BE8DAEB6-6146-49EC-BA74-E1F92B274C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FACCAE-6A0C-4DC8-BE3F-CCE5EB3F2F94}"/>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328138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38F2-FC39-4D3E-99A0-E0C4A2AE94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A67767-ECC7-490D-B258-E1B6C85071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02631E-5322-463B-A47F-859F9AB04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D29DDF-755B-4B7B-BCD0-9D5C23DA6DFE}"/>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6" name="Footer Placeholder 5">
            <a:extLst>
              <a:ext uri="{FF2B5EF4-FFF2-40B4-BE49-F238E27FC236}">
                <a16:creationId xmlns:a16="http://schemas.microsoft.com/office/drawing/2014/main" id="{C3095A08-58D8-4402-B6AE-BC086ECEA3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4B5B12-993E-4E68-87DE-19BF44B150FB}"/>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2068580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98F4-5667-4492-8AE6-F9646A8F2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4BAB65-9987-4C13-B875-A148E0CA65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72CFF3-A6F3-44A0-BDBE-21A3091E0A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EC7C8B-1A8F-4E6C-A4DE-D306EFF18BB0}"/>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6" name="Footer Placeholder 5">
            <a:extLst>
              <a:ext uri="{FF2B5EF4-FFF2-40B4-BE49-F238E27FC236}">
                <a16:creationId xmlns:a16="http://schemas.microsoft.com/office/drawing/2014/main" id="{97DE520A-6EA5-4668-9E45-23E164050D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7DEBBE-5BB2-469B-B187-68C132996345}"/>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1485784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A0F3-FE7D-44E6-9021-A2382A7039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4CF7D6-8650-4FAF-89E7-54D80D8499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FD147-B60D-4BBA-BA83-6F08B8676BCA}"/>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B1CE0184-630A-4383-8F8F-5C61DC23FB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EEC6A1-AC5E-4FCD-8BAA-1708540FA4E6}"/>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349612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ACA329-D919-4B54-BF72-A75FCEB2F2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AD59EC-F190-4167-BDB2-485E5FC42B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B943B9-16A5-4AF1-A224-580208D4CE79}"/>
              </a:ext>
            </a:extLst>
          </p:cNvPr>
          <p:cNvSpPr>
            <a:spLocks noGrp="1"/>
          </p:cNvSpPr>
          <p:nvPr>
            <p:ph type="dt" sz="half" idx="10"/>
          </p:nvPr>
        </p:nvSpPr>
        <p:spPr/>
        <p:txBody>
          <a:body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21F02C54-0845-4C19-89D7-250CDCD708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F58CE0-BDD7-4789-97B3-C5FE14B3A691}"/>
              </a:ext>
            </a:extLst>
          </p:cNvPr>
          <p:cNvSpPr>
            <a:spLocks noGrp="1"/>
          </p:cNvSpPr>
          <p:nvPr>
            <p:ph type="sldNum" sz="quarter" idx="12"/>
          </p:nvPr>
        </p:nvSpPr>
        <p:spPr/>
        <p:txBody>
          <a:bodyPr/>
          <a:lstStyle/>
          <a:p>
            <a:fld id="{6787EAF4-0206-4FA8-8424-EB41B7D7726A}" type="slidenum">
              <a:rPr lang="en-IN" smtClean="0"/>
              <a:t>‹#›</a:t>
            </a:fld>
            <a:endParaRPr lang="en-IN"/>
          </a:p>
        </p:txBody>
      </p:sp>
    </p:spTree>
    <p:extLst>
      <p:ext uri="{BB962C8B-B14F-4D97-AF65-F5344CB8AC3E}">
        <p14:creationId xmlns:p14="http://schemas.microsoft.com/office/powerpoint/2010/main" val="1014809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404666"/>
            <a:ext cx="12192000" cy="926976"/>
          </a:xfrm>
        </p:spPr>
        <p:txBody>
          <a:bodyPr>
            <a:normAutofit/>
          </a:bodyPr>
          <a:lstStyle>
            <a:lvl1pPr>
              <a:defRPr sz="3882">
                <a:solidFill>
                  <a:srgbClr val="002060"/>
                </a:solidFill>
                <a:latin typeface="Palatino Linotype" panose="02040502050505030304" pitchFamily="18" charset="0"/>
              </a:defRPr>
            </a:lvl1pPr>
          </a:lstStyle>
          <a:p>
            <a:r>
              <a:rPr lang="en-US" dirty="0"/>
              <a:t>Click to edit Master title style</a:t>
            </a:r>
          </a:p>
        </p:txBody>
      </p:sp>
      <p:sp>
        <p:nvSpPr>
          <p:cNvPr id="3" name="Content Placeholder 2"/>
          <p:cNvSpPr>
            <a:spLocks noGrp="1"/>
          </p:cNvSpPr>
          <p:nvPr>
            <p:ph idx="1"/>
          </p:nvPr>
        </p:nvSpPr>
        <p:spPr>
          <a:xfrm>
            <a:off x="335362" y="1844827"/>
            <a:ext cx="11617291" cy="4736177"/>
          </a:xfrm>
        </p:spPr>
        <p:txBody>
          <a:bodyPr/>
          <a:lstStyle>
            <a:lvl1pPr marL="254947" indent="-254947">
              <a:buClr>
                <a:schemeClr val="tx2"/>
              </a:buClr>
              <a:buSzPct val="90000"/>
              <a:buFont typeface="Palatino Linotype" panose="02040502050505030304" pitchFamily="18" charset="0"/>
              <a:buChar char="•"/>
              <a:defRPr sz="1765">
                <a:latin typeface="Palatino Linotype" panose="02040502050505030304" pitchFamily="18" charset="0"/>
              </a:defRPr>
            </a:lvl1pPr>
            <a:lvl2pPr marL="557522" indent="-200316">
              <a:buClr>
                <a:schemeClr val="tx2"/>
              </a:buClr>
              <a:buSzPct val="90000"/>
              <a:buFont typeface="Wingdings" panose="05000000000000000000" pitchFamily="2" charset="2"/>
              <a:buChar char="§"/>
              <a:defRPr sz="1588">
                <a:latin typeface="Palatino Linotype" panose="02040502050505030304" pitchFamily="18" charset="0"/>
              </a:defRPr>
            </a:lvl2pPr>
            <a:lvl3pPr marL="858697" indent="-204518">
              <a:buClr>
                <a:schemeClr val="tx2"/>
              </a:buClr>
              <a:buFont typeface="Courier New" panose="02070309020205020404" pitchFamily="49" charset="0"/>
              <a:buChar char="o"/>
              <a:defRPr sz="1412">
                <a:latin typeface="Palatino Linotype" panose="02040502050505030304" pitchFamily="18" charset="0"/>
              </a:defRPr>
            </a:lvl3pPr>
            <a:lvl4pPr marL="1106640" indent="-196113">
              <a:buClr>
                <a:schemeClr val="tx2"/>
              </a:buClr>
              <a:defRPr sz="1235">
                <a:latin typeface="Palatino Linotype" panose="02040502050505030304" pitchFamily="18" charset="0"/>
              </a:defRPr>
            </a:lvl4pPr>
            <a:lvl5pPr marL="1262130" indent="-155490">
              <a:buClr>
                <a:schemeClr val="tx2"/>
              </a:buClr>
              <a:defRPr sz="1059">
                <a:latin typeface="Palatino Linotype" panose="0204050205050503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p:cNvSpPr txBox="1"/>
          <p:nvPr userDrawn="1"/>
        </p:nvSpPr>
        <p:spPr>
          <a:xfrm>
            <a:off x="10800524" y="6581003"/>
            <a:ext cx="1344149" cy="255326"/>
          </a:xfrm>
          <a:prstGeom prst="rect">
            <a:avLst/>
          </a:prstGeom>
          <a:noFill/>
        </p:spPr>
        <p:txBody>
          <a:bodyPr wrap="square" rtlCol="0">
            <a:spAutoFit/>
          </a:bodyPr>
          <a:lstStyle/>
          <a:p>
            <a:pPr algn="r"/>
            <a:fld id="{00102D1B-0293-4647-B4E5-AE469158D403}" type="slidenum">
              <a:rPr lang="en-US" sz="1059" smtClean="0">
                <a:solidFill>
                  <a:schemeClr val="bg1">
                    <a:lumMod val="50000"/>
                  </a:schemeClr>
                </a:solidFill>
              </a:rPr>
              <a:pPr algn="r"/>
              <a:t>‹#›</a:t>
            </a:fld>
            <a:endParaRPr lang="en-US" sz="882" dirty="0">
              <a:solidFill>
                <a:schemeClr val="bg1">
                  <a:lumMod val="50000"/>
                </a:schemeClr>
              </a:solidFill>
            </a:endParaRPr>
          </a:p>
        </p:txBody>
      </p:sp>
      <p:cxnSp>
        <p:nvCxnSpPr>
          <p:cNvPr id="6" name="Straight Connector 5"/>
          <p:cNvCxnSpPr/>
          <p:nvPr userDrawn="1"/>
        </p:nvCxnSpPr>
        <p:spPr>
          <a:xfrm>
            <a:off x="335362" y="1340768"/>
            <a:ext cx="11617291" cy="0"/>
          </a:xfrm>
          <a:prstGeom prst="line">
            <a:avLst/>
          </a:prstGeom>
          <a:ln w="25400" cap="rnd">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407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445700-84B6-49D9-990A-BF7DB9F5D9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45C7ED-435A-40B4-94F9-A71B35EBAE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51220-8AB6-4A47-AD19-B15C9FF5FE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4D2F60-1C81-4446-9A41-6A911567CE07}" type="datetimeFigureOut">
              <a:rPr lang="en-IN" smtClean="0"/>
              <a:t>17-01-2026</a:t>
            </a:fld>
            <a:endParaRPr lang="en-IN"/>
          </a:p>
        </p:txBody>
      </p:sp>
      <p:sp>
        <p:nvSpPr>
          <p:cNvPr id="5" name="Footer Placeholder 4">
            <a:extLst>
              <a:ext uri="{FF2B5EF4-FFF2-40B4-BE49-F238E27FC236}">
                <a16:creationId xmlns:a16="http://schemas.microsoft.com/office/drawing/2014/main" id="{1D2FAD05-C413-4962-B92B-F02E1F552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A9112C-C912-4B2F-96C1-3511130A8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7EAF4-0206-4FA8-8424-EB41B7D7726A}" type="slidenum">
              <a:rPr lang="en-IN" smtClean="0"/>
              <a:t>‹#›</a:t>
            </a:fld>
            <a:endParaRPr lang="en-IN"/>
          </a:p>
        </p:txBody>
      </p:sp>
    </p:spTree>
    <p:extLst>
      <p:ext uri="{BB962C8B-B14F-4D97-AF65-F5344CB8AC3E}">
        <p14:creationId xmlns:p14="http://schemas.microsoft.com/office/powerpoint/2010/main" val="875209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40.png"/><Relationship Id="rId7" Type="http://schemas.openxmlformats.org/officeDocument/2006/relationships/image" Target="../media/image1.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3.wmf"/><Relationship Id="rId5" Type="http://schemas.openxmlformats.org/officeDocument/2006/relationships/image" Target="../media/image4.png"/><Relationship Id="rId10" Type="http://schemas.openxmlformats.org/officeDocument/2006/relationships/oleObject" Target="../embeddings/oleObject3.bin"/><Relationship Id="rId4" Type="http://schemas.openxmlformats.org/officeDocument/2006/relationships/image" Target="../media/image1.png"/><Relationship Id="rId9"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cs231n.github.io/neural-networks-2/"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3.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46.png"/><Relationship Id="rId7" Type="http://schemas.openxmlformats.org/officeDocument/2006/relationships/image" Target="../media/image2.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12.png"/><Relationship Id="rId5" Type="http://schemas.openxmlformats.org/officeDocument/2006/relationships/image" Target="../media/image1.wmf"/><Relationship Id="rId10" Type="http://schemas.openxmlformats.org/officeDocument/2006/relationships/image" Target="../media/image10.png"/><Relationship Id="rId4" Type="http://schemas.openxmlformats.org/officeDocument/2006/relationships/oleObject" Target="../embeddings/oleObject1.bin"/><Relationship Id="rId9" Type="http://schemas.openxmlformats.org/officeDocument/2006/relationships/image" Target="../media/image3.wmf"/></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0.png"/><Relationship Id="rId2" Type="http://schemas.openxmlformats.org/officeDocument/2006/relationships/image" Target="../media/image148.png"/><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10.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9.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bin"/><Relationship Id="rId21" Type="http://schemas.openxmlformats.org/officeDocument/2006/relationships/image" Target="../media/image951.png"/><Relationship Id="rId7" Type="http://schemas.openxmlformats.org/officeDocument/2006/relationships/oleObject" Target="../embeddings/oleObject4.bin"/><Relationship Id="rId2" Type="http://schemas.openxmlformats.org/officeDocument/2006/relationships/slideLayout" Target="../slideLayouts/slideLayout2.xml"/><Relationship Id="rId20" Type="http://schemas.openxmlformats.org/officeDocument/2006/relationships/image" Target="../media/image941.png"/><Relationship Id="rId1" Type="http://schemas.openxmlformats.org/officeDocument/2006/relationships/vmlDrawing" Target="../drawings/vmlDrawing3.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21.wmf"/><Relationship Id="rId19" Type="http://schemas.openxmlformats.org/officeDocument/2006/relationships/image" Target="../media/image9310.png"/><Relationship Id="rId4" Type="http://schemas.openxmlformats.org/officeDocument/2006/relationships/image" Target="../media/image1.wmf"/><Relationship Id="rId9" Type="http://schemas.openxmlformats.org/officeDocument/2006/relationships/oleObject" Target="../embeddings/oleObject5.bin"/><Relationship Id="rId22" Type="http://schemas.openxmlformats.org/officeDocument/2006/relationships/image" Target="../media/image961.png"/></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bin"/><Relationship Id="rId21" Type="http://schemas.openxmlformats.org/officeDocument/2006/relationships/image" Target="../media/image951.png"/><Relationship Id="rId7" Type="http://schemas.openxmlformats.org/officeDocument/2006/relationships/oleObject" Target="../embeddings/oleObject4.bin"/><Relationship Id="rId2" Type="http://schemas.openxmlformats.org/officeDocument/2006/relationships/slideLayout" Target="../slideLayouts/slideLayout2.xml"/><Relationship Id="rId20" Type="http://schemas.openxmlformats.org/officeDocument/2006/relationships/image" Target="../media/image941.png"/><Relationship Id="rId1" Type="http://schemas.openxmlformats.org/officeDocument/2006/relationships/vmlDrawing" Target="../drawings/vmlDrawing4.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21.wmf"/><Relationship Id="rId19" Type="http://schemas.openxmlformats.org/officeDocument/2006/relationships/image" Target="../media/image9310.png"/><Relationship Id="rId4" Type="http://schemas.openxmlformats.org/officeDocument/2006/relationships/image" Target="../media/image1.wmf"/><Relationship Id="rId9" Type="http://schemas.openxmlformats.org/officeDocument/2006/relationships/oleObject" Target="../embeddings/oleObject5.bin"/><Relationship Id="rId22" Type="http://schemas.openxmlformats.org/officeDocument/2006/relationships/image" Target="../media/image961.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bin"/><Relationship Id="rId11" Type="http://schemas.openxmlformats.org/officeDocument/2006/relationships/image" Target="../media/image10.png"/><Relationship Id="rId5" Type="http://schemas.openxmlformats.org/officeDocument/2006/relationships/image" Target="../media/image1.wmf"/><Relationship Id="rId10" Type="http://schemas.openxmlformats.org/officeDocument/2006/relationships/image" Target="../media/image32.png"/><Relationship Id="rId4" Type="http://schemas.openxmlformats.org/officeDocument/2006/relationships/oleObject" Target="../embeddings/oleObject1.bin"/><Relationship Id="rId9" Type="http://schemas.openxmlformats.org/officeDocument/2006/relationships/image" Target="../media/image3.wmf"/></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41.png"/><Relationship Id="rId18" Type="http://schemas.openxmlformats.org/officeDocument/2006/relationships/image" Target="../media/image10.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0.png"/><Relationship Id="rId17" Type="http://schemas.openxmlformats.org/officeDocument/2006/relationships/image" Target="../media/image18.png"/><Relationship Id="rId2" Type="http://schemas.openxmlformats.org/officeDocument/2006/relationships/notesSlide" Target="../notesSlides/notesSlide4.xml"/><Relationship Id="rId16"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39.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4.png"/><Relationship Id="rId9" Type="http://schemas.openxmlformats.org/officeDocument/2006/relationships/image" Target="../media/image9.png"/><Relationship Id="rId1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6.png"/><Relationship Id="rId3" Type="http://schemas.openxmlformats.org/officeDocument/2006/relationships/notesSlide" Target="../notesSlides/notesSlide7.xml"/><Relationship Id="rId7" Type="http://schemas.openxmlformats.org/officeDocument/2006/relationships/image" Target="../media/image2.wmf"/><Relationship Id="rId12"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bin"/><Relationship Id="rId11" Type="http://schemas.openxmlformats.org/officeDocument/2006/relationships/image" Target="../media/image54.png"/><Relationship Id="rId5" Type="http://schemas.openxmlformats.org/officeDocument/2006/relationships/image" Target="../media/image1.wmf"/><Relationship Id="rId15" Type="http://schemas.openxmlformats.org/officeDocument/2006/relationships/image" Target="../media/image58.png"/><Relationship Id="rId10" Type="http://schemas.openxmlformats.org/officeDocument/2006/relationships/image" Target="../media/image10.png"/><Relationship Id="rId4" Type="http://schemas.openxmlformats.org/officeDocument/2006/relationships/oleObject" Target="../embeddings/oleObject1.bin"/><Relationship Id="rId9" Type="http://schemas.openxmlformats.org/officeDocument/2006/relationships/image" Target="../media/image3.wmf"/><Relationship Id="rId14" Type="http://schemas.openxmlformats.org/officeDocument/2006/relationships/image" Target="../media/image57.png"/></Relationships>
</file>

<file path=ppt/slides/_rels/slide1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0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3.png"/><Relationship Id="rId2" Type="http://schemas.openxmlformats.org/officeDocument/2006/relationships/image" Target="../media/image1620.png"/><Relationship Id="rId1" Type="http://schemas.openxmlformats.org/officeDocument/2006/relationships/slideLayout" Target="../slideLayouts/slideLayout12.xml"/><Relationship Id="rId6" Type="http://schemas.openxmlformats.org/officeDocument/2006/relationships/image" Target="../media/image350.png"/><Relationship Id="rId5" Type="http://schemas.openxmlformats.org/officeDocument/2006/relationships/image" Target="../media/image340.png"/><Relationship Id="rId4" Type="http://schemas.openxmlformats.org/officeDocument/2006/relationships/image" Target="../media/image330.png"/></Relationships>
</file>

<file path=ppt/slides/_rels/slide22.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64.png"/><Relationship Id="rId7" Type="http://schemas.openxmlformats.org/officeDocument/2006/relationships/image" Target="../media/image410.png"/><Relationship Id="rId2" Type="http://schemas.openxmlformats.org/officeDocument/2006/relationships/image" Target="../media/image1670.png"/><Relationship Id="rId1" Type="http://schemas.openxmlformats.org/officeDocument/2006/relationships/slideLayout" Target="../slideLayouts/slideLayout12.xml"/><Relationship Id="rId6" Type="http://schemas.openxmlformats.org/officeDocument/2006/relationships/image" Target="../media/image400.png"/><Relationship Id="rId11" Type="http://schemas.openxmlformats.org/officeDocument/2006/relationships/image" Target="../media/image66.png"/><Relationship Id="rId5" Type="http://schemas.openxmlformats.org/officeDocument/2006/relationships/image" Target="../media/image390.png"/><Relationship Id="rId10" Type="http://schemas.openxmlformats.org/officeDocument/2006/relationships/customXml" Target="../ink/ink1.xml"/><Relationship Id="rId4" Type="http://schemas.openxmlformats.org/officeDocument/2006/relationships/image" Target="../media/image380.png"/><Relationship Id="rId9" Type="http://schemas.openxmlformats.org/officeDocument/2006/relationships/image" Target="../media/image430.png"/></Relationships>
</file>

<file path=ppt/slides/_rels/slide23.xml.rels><?xml version="1.0" encoding="UTF-8" standalone="yes"?>
<Relationships xmlns="http://schemas.openxmlformats.org/package/2006/relationships"><Relationship Id="rId8" Type="http://schemas.openxmlformats.org/officeDocument/2006/relationships/image" Target="../media/image480.png"/><Relationship Id="rId13" Type="http://schemas.openxmlformats.org/officeDocument/2006/relationships/image" Target="../media/image530.png"/><Relationship Id="rId3" Type="http://schemas.openxmlformats.org/officeDocument/2006/relationships/image" Target="../media/image175.png"/><Relationship Id="rId7" Type="http://schemas.openxmlformats.org/officeDocument/2006/relationships/image" Target="../media/image470.png"/><Relationship Id="rId12" Type="http://schemas.openxmlformats.org/officeDocument/2006/relationships/image" Target="../media/image52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60.png"/><Relationship Id="rId11" Type="http://schemas.openxmlformats.org/officeDocument/2006/relationships/image" Target="../media/image510.png"/><Relationship Id="rId5" Type="http://schemas.openxmlformats.org/officeDocument/2006/relationships/image" Target="../media/image450.png"/><Relationship Id="rId15" Type="http://schemas.openxmlformats.org/officeDocument/2006/relationships/image" Target="../media/image550.png"/><Relationship Id="rId10" Type="http://schemas.openxmlformats.org/officeDocument/2006/relationships/image" Target="../media/image500.png"/><Relationship Id="rId4" Type="http://schemas.openxmlformats.org/officeDocument/2006/relationships/image" Target="../media/image65.png"/><Relationship Id="rId9" Type="http://schemas.openxmlformats.org/officeDocument/2006/relationships/image" Target="../media/image490.png"/><Relationship Id="rId14" Type="http://schemas.openxmlformats.org/officeDocument/2006/relationships/image" Target="../media/image540.png"/></Relationships>
</file>

<file path=ppt/slides/_rels/slide24.xml.rels><?xml version="1.0" encoding="UTF-8" standalone="yes"?>
<Relationships xmlns="http://schemas.openxmlformats.org/package/2006/relationships"><Relationship Id="rId8" Type="http://schemas.openxmlformats.org/officeDocument/2006/relationships/image" Target="../media/image610.png"/><Relationship Id="rId3" Type="http://schemas.openxmlformats.org/officeDocument/2006/relationships/image" Target="../media/image560.png"/><Relationship Id="rId7" Type="http://schemas.openxmlformats.org/officeDocument/2006/relationships/image" Target="../media/image600.png"/><Relationship Id="rId2" Type="http://schemas.openxmlformats.org/officeDocument/2006/relationships/image" Target="../media/image65.png"/><Relationship Id="rId1" Type="http://schemas.openxmlformats.org/officeDocument/2006/relationships/slideLayout" Target="../slideLayouts/slideLayout12.xml"/><Relationship Id="rId6" Type="http://schemas.openxmlformats.org/officeDocument/2006/relationships/image" Target="../media/image590.png"/><Relationship Id="rId11" Type="http://schemas.openxmlformats.org/officeDocument/2006/relationships/image" Target="../media/image640.png"/><Relationship Id="rId5" Type="http://schemas.openxmlformats.org/officeDocument/2006/relationships/image" Target="../media/image580.png"/><Relationship Id="rId10" Type="http://schemas.openxmlformats.org/officeDocument/2006/relationships/image" Target="../media/image630.png"/><Relationship Id="rId4" Type="http://schemas.openxmlformats.org/officeDocument/2006/relationships/image" Target="../media/image570.png"/><Relationship Id="rId9" Type="http://schemas.openxmlformats.org/officeDocument/2006/relationships/image" Target="../media/image620.png"/></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hyperlink" Target="https://blog.paperspace.com/intro-to-optimization-in-deep-learning-gradient-descent/" TargetMode="External"/><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68.png"/><Relationship Id="rId5" Type="http://schemas.openxmlformats.org/officeDocument/2006/relationships/image" Target="../media/image670.png"/><Relationship Id="rId4" Type="http://schemas.openxmlformats.org/officeDocument/2006/relationships/image" Target="../media/image660.png"/></Relationships>
</file>

<file path=ppt/slides/_rels/slide2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1640.png"/><Relationship Id="rId7"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1.png"/><Relationship Id="rId5" Type="http://schemas.openxmlformats.org/officeDocument/2006/relationships/image" Target="../media/image700.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image" Target="../media/image176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80.png"/><Relationship Id="rId3" Type="http://schemas.openxmlformats.org/officeDocument/2006/relationships/image" Target="../media/image74.png"/><Relationship Id="rId7" Type="http://schemas.openxmlformats.org/officeDocument/2006/relationships/image" Target="../media/image11.png"/><Relationship Id="rId12" Type="http://schemas.openxmlformats.org/officeDocument/2006/relationships/image" Target="../media/image79.png"/><Relationship Id="rId2" Type="http://schemas.openxmlformats.org/officeDocument/2006/relationships/notesSlide" Target="../notesSlides/notesSlide12.xml"/><Relationship Id="rId16"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78.png"/><Relationship Id="rId5" Type="http://schemas.openxmlformats.org/officeDocument/2006/relationships/image" Target="../media/image76.png"/><Relationship Id="rId15" Type="http://schemas.openxmlformats.org/officeDocument/2006/relationships/image" Target="../media/image82.png"/><Relationship Id="rId10" Type="http://schemas.openxmlformats.org/officeDocument/2006/relationships/image" Target="../media/image10.png"/><Relationship Id="rId4" Type="http://schemas.openxmlformats.org/officeDocument/2006/relationships/image" Target="../media/image75.png"/><Relationship Id="rId9" Type="http://schemas.openxmlformats.org/officeDocument/2006/relationships/image" Target="../media/image18.png"/><Relationship Id="rId14" Type="http://schemas.openxmlformats.org/officeDocument/2006/relationships/image" Target="../media/image81.png"/></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NULL"/><Relationship Id="rId7" Type="http://schemas.openxmlformats.org/officeDocument/2006/relationships/image" Target="../media/image1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30.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 Type="http://schemas.openxmlformats.org/officeDocument/2006/relationships/image" Target="../media/image89.png"/><Relationship Id="rId16"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s>
</file>

<file path=ppt/slides/_rels/slide31.xml.rels><?xml version="1.0" encoding="UTF-8" standalone="yes"?>
<Relationships xmlns="http://schemas.openxmlformats.org/package/2006/relationships"><Relationship Id="rId3" Type="http://schemas.openxmlformats.org/officeDocument/2006/relationships/image" Target="../media/image750.png"/><Relationship Id="rId7" Type="http://schemas.openxmlformats.org/officeDocument/2006/relationships/image" Target="../media/image79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80.png"/><Relationship Id="rId5" Type="http://schemas.openxmlformats.org/officeDocument/2006/relationships/image" Target="../media/image770.png"/><Relationship Id="rId4" Type="http://schemas.openxmlformats.org/officeDocument/2006/relationships/image" Target="../media/image760.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85.png"/></Relationships>
</file>

<file path=ppt/slides/_rels/slide33.xml.rels><?xml version="1.0" encoding="UTF-8" standalone="yes"?>
<Relationships xmlns="http://schemas.openxmlformats.org/package/2006/relationships"><Relationship Id="rId3" Type="http://schemas.openxmlformats.org/officeDocument/2006/relationships/hyperlink" Target="https://cs231n.github.io/neural-networks-3/" TargetMode="External"/><Relationship Id="rId2" Type="http://schemas.openxmlformats.org/officeDocument/2006/relationships/image" Target="../media/image8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05.png"/><Relationship Id="rId4" Type="http://schemas.openxmlformats.org/officeDocument/2006/relationships/image" Target="../media/image88.png"/></Relationships>
</file>

<file path=ppt/slides/_rels/slide3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microsoft.com/office/2007/relationships/hdphoto" Target="../media/hdphoto2.wdp"/></Relationships>
</file>

<file path=ppt/slides/_rels/slide3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705E3-16D1-4896-A33B-CFD81C9ECCFF}"/>
              </a:ext>
            </a:extLst>
          </p:cNvPr>
          <p:cNvSpPr>
            <a:spLocks noGrp="1"/>
          </p:cNvSpPr>
          <p:nvPr>
            <p:ph type="ctrTitle"/>
          </p:nvPr>
        </p:nvSpPr>
        <p:spPr/>
        <p:txBody>
          <a:bodyPr/>
          <a:lstStyle/>
          <a:p>
            <a:r>
              <a:rPr lang="en-IN" dirty="0"/>
              <a:t>Deep Learning </a:t>
            </a:r>
          </a:p>
        </p:txBody>
      </p:sp>
      <p:sp>
        <p:nvSpPr>
          <p:cNvPr id="3" name="Subtitle 2">
            <a:extLst>
              <a:ext uri="{FF2B5EF4-FFF2-40B4-BE49-F238E27FC236}">
                <a16:creationId xmlns:a16="http://schemas.microsoft.com/office/drawing/2014/main" id="{A9F8F762-F8CD-42F0-B217-1F544B272157}"/>
              </a:ext>
            </a:extLst>
          </p:cNvPr>
          <p:cNvSpPr>
            <a:spLocks noGrp="1"/>
          </p:cNvSpPr>
          <p:nvPr>
            <p:ph type="subTitle" idx="1"/>
          </p:nvPr>
        </p:nvSpPr>
        <p:spPr/>
        <p:txBody>
          <a:bodyPr/>
          <a:lstStyle/>
          <a:p>
            <a:r>
              <a:rPr lang="en-IN" dirty="0"/>
              <a:t>Tanveer Ahmed</a:t>
            </a:r>
          </a:p>
        </p:txBody>
      </p:sp>
    </p:spTree>
    <p:extLst>
      <p:ext uri="{BB962C8B-B14F-4D97-AF65-F5344CB8AC3E}">
        <p14:creationId xmlns:p14="http://schemas.microsoft.com/office/powerpoint/2010/main" val="18955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NNs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network </a:t>
                </a:r>
                <a:r>
                  <a:rPr lang="en-US" b="1" i="1" dirty="0">
                    <a:solidFill>
                      <a:srgbClr val="0070C0"/>
                    </a:solidFill>
                  </a:rPr>
                  <a:t>parameters</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include the </a:t>
                </a:r>
                <a:r>
                  <a:rPr lang="en-US" dirty="0">
                    <a:solidFill>
                      <a:srgbClr val="FF0000"/>
                    </a:solidFill>
                  </a:rPr>
                  <a:t>weight matrices </a:t>
                </a:r>
                <a:r>
                  <a:rPr lang="en-US" dirty="0"/>
                  <a:t>and </a:t>
                </a:r>
                <a:r>
                  <a:rPr lang="en-US" dirty="0">
                    <a:solidFill>
                      <a:srgbClr val="FF0000"/>
                    </a:solidFill>
                  </a:rPr>
                  <a:t>bias vectors </a:t>
                </a:r>
                <a:r>
                  <a:rPr lang="en-US" dirty="0"/>
                  <a:t>from all layers</a:t>
                </a:r>
              </a:p>
              <a:p>
                <a:endParaRPr lang="en-US" sz="882" dirty="0"/>
              </a:p>
              <a:p>
                <a:endParaRPr lang="en-US" dirty="0"/>
              </a:p>
              <a:p>
                <a:pPr lvl="1"/>
                <a:r>
                  <a:rPr lang="en-US" dirty="0"/>
                  <a:t>Often, the model parameters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are referred to as </a:t>
                </a:r>
                <a:r>
                  <a:rPr lang="en-US" dirty="0">
                    <a:solidFill>
                      <a:srgbClr val="FF0000"/>
                    </a:solidFill>
                  </a:rPr>
                  <a:t>weights</a:t>
                </a:r>
              </a:p>
              <a:p>
                <a:r>
                  <a:rPr lang="en-US" dirty="0"/>
                  <a:t>Training a model to learn a set of parameters</a:t>
                </a:r>
                <a14:m>
                  <m:oMath xmlns:m="http://schemas.openxmlformats.org/officeDocument/2006/math">
                    <m:r>
                      <a:rPr lang="en-US" altLang="zh-TW" b="0" i="0" smtClean="0">
                        <a:latin typeface="Cambria Math" panose="02040503050406030204" pitchFamily="18" charset="0"/>
                      </a:rPr>
                      <m:t> </m:t>
                    </m:r>
                    <m:r>
                      <a:rPr lang="zh-TW" altLang="en-US" i="1">
                        <a:latin typeface="Cambria Math" panose="02040503050406030204" pitchFamily="18" charset="0"/>
                      </a:rPr>
                      <m:t>𝜃</m:t>
                    </m:r>
                  </m:oMath>
                </a14:m>
                <a:r>
                  <a:rPr lang="en-US" dirty="0"/>
                  <a:t> that are optimal (according to a criterion) is one of the greatest challenges in ML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9" t="-795"/>
                </a:stretch>
              </a:blipFill>
            </p:spPr>
            <p:txBody>
              <a:bodyPr/>
              <a:lstStyle/>
              <a:p>
                <a:r>
                  <a:rPr lang="en-US">
                    <a:noFill/>
                  </a:rPr>
                  <a:t> </a:t>
                </a:r>
              </a:p>
            </p:txBody>
          </p:sp>
        </mc:Fallback>
      </mc:AlternateContent>
      <p:sp>
        <p:nvSpPr>
          <p:cNvPr id="44" name="Content Placeholder 43">
            <a:extLst>
              <a:ext uri="{FF2B5EF4-FFF2-40B4-BE49-F238E27FC236}">
                <a16:creationId xmlns:a16="http://schemas.microsoft.com/office/drawing/2014/main" id="{96A9EFEA-418A-4B1F-A08B-1F71ECE6811D}"/>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mc:AlternateContent xmlns:mc="http://schemas.openxmlformats.org/markup-compatibility/2006" xmlns:a14="http://schemas.microsoft.com/office/drawing/2010/main">
        <mc:Choice Requires="a14">
          <p:sp>
            <p:nvSpPr>
              <p:cNvPr id="4" name="文字方塊 2"/>
              <p:cNvSpPr txBox="1"/>
              <p:nvPr/>
            </p:nvSpPr>
            <p:spPr>
              <a:xfrm>
                <a:off x="3838776" y="2412417"/>
                <a:ext cx="3606052"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118" i="1">
                          <a:latin typeface="Cambria Math" panose="02040503050406030204" pitchFamily="18" charset="0"/>
                        </a:rPr>
                        <m:t>𝜃</m:t>
                      </m:r>
                      <m:r>
                        <a:rPr lang="en-US" altLang="zh-TW" sz="2118" i="1">
                          <a:latin typeface="Cambria Math" panose="02040503050406030204" pitchFamily="18" charset="0"/>
                        </a:rPr>
                        <m:t>=</m:t>
                      </m:r>
                      <m:d>
                        <m:dPr>
                          <m:begChr m:val="{"/>
                          <m:endChr m:val="}"/>
                          <m:ctrlPr>
                            <a:rPr lang="en-US" altLang="zh-TW" sz="2118" i="1">
                              <a:latin typeface="Cambria Math" panose="02040503050406030204" pitchFamily="18" charset="0"/>
                            </a:rPr>
                          </m:ctrlPr>
                        </m:dPr>
                        <m:e>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𝑊</m:t>
                              </m:r>
                            </m:e>
                            <m:sup>
                              <m:r>
                                <a:rPr lang="en-US" altLang="zh-TW" sz="2118" i="1">
                                  <a:latin typeface="Cambria Math" panose="02040503050406030204" pitchFamily="18" charset="0"/>
                                </a:rPr>
                                <m:t>1</m:t>
                              </m:r>
                            </m:sup>
                          </m:sSup>
                          <m:r>
                            <a:rPr lang="en-US" altLang="zh-TW" sz="2118" i="1">
                              <a:latin typeface="Cambria Math" panose="02040503050406030204" pitchFamily="18" charset="0"/>
                            </a:rPr>
                            <m:t>,</m:t>
                          </m:r>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𝑏</m:t>
                              </m:r>
                            </m:e>
                            <m:sup>
                              <m:r>
                                <a:rPr lang="en-US" altLang="zh-TW" sz="2118" i="1">
                                  <a:latin typeface="Cambria Math" panose="02040503050406030204" pitchFamily="18" charset="0"/>
                                </a:rPr>
                                <m:t>1</m:t>
                              </m:r>
                            </m:sup>
                          </m:sSup>
                          <m:r>
                            <a:rPr lang="en-US" altLang="zh-TW" sz="2118" i="1">
                              <a:latin typeface="Cambria Math" panose="02040503050406030204" pitchFamily="18" charset="0"/>
                            </a:rPr>
                            <m:t>,</m:t>
                          </m:r>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𝑊</m:t>
                              </m:r>
                            </m:e>
                            <m:sup>
                              <m:r>
                                <a:rPr lang="en-US" altLang="zh-TW" sz="2118" i="1">
                                  <a:latin typeface="Cambria Math" panose="02040503050406030204" pitchFamily="18" charset="0"/>
                                </a:rPr>
                                <m:t>2</m:t>
                              </m:r>
                            </m:sup>
                          </m:sSup>
                          <m:r>
                            <a:rPr lang="en-US" altLang="zh-TW" sz="2118" i="1">
                              <a:latin typeface="Cambria Math" panose="02040503050406030204" pitchFamily="18" charset="0"/>
                            </a:rPr>
                            <m:t>,</m:t>
                          </m:r>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𝑏</m:t>
                              </m:r>
                            </m:e>
                            <m:sup>
                              <m:r>
                                <a:rPr lang="en-US" altLang="zh-TW" sz="2118" i="1">
                                  <a:latin typeface="Cambria Math" panose="02040503050406030204" pitchFamily="18" charset="0"/>
                                </a:rPr>
                                <m:t>2</m:t>
                              </m:r>
                            </m:sup>
                          </m:sSup>
                          <m:r>
                            <a:rPr lang="en-US" altLang="zh-TW" sz="2118" i="1">
                              <a:latin typeface="Cambria Math" panose="02040503050406030204" pitchFamily="18" charset="0"/>
                            </a:rPr>
                            <m:t>,</m:t>
                          </m:r>
                          <m:r>
                            <a:rPr lang="en-US" altLang="zh-TW" sz="2118" i="1">
                              <a:latin typeface="Cambria Math" panose="02040503050406030204" pitchFamily="18" charset="0"/>
                              <a:ea typeface="Cambria Math" panose="02040503050406030204" pitchFamily="18" charset="0"/>
                            </a:rPr>
                            <m:t>⋯</m:t>
                          </m:r>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𝑊</m:t>
                              </m:r>
                            </m:e>
                            <m:sup>
                              <m:r>
                                <a:rPr lang="en-US" altLang="zh-TW" sz="2118" i="1">
                                  <a:latin typeface="Cambria Math" panose="02040503050406030204" pitchFamily="18" charset="0"/>
                                </a:rPr>
                                <m:t>𝐿</m:t>
                              </m:r>
                            </m:sup>
                          </m:sSup>
                          <m:r>
                            <a:rPr lang="en-US" altLang="zh-TW" sz="2118" i="1">
                              <a:latin typeface="Cambria Math" panose="02040503050406030204" pitchFamily="18" charset="0"/>
                            </a:rPr>
                            <m:t>,</m:t>
                          </m:r>
                          <m:sSup>
                            <m:sSupPr>
                              <m:ctrlPr>
                                <a:rPr lang="en-US" altLang="zh-TW" sz="2118" i="1">
                                  <a:latin typeface="Cambria Math" panose="02040503050406030204" pitchFamily="18" charset="0"/>
                                </a:rPr>
                              </m:ctrlPr>
                            </m:sSupPr>
                            <m:e>
                              <m:r>
                                <a:rPr lang="en-US" altLang="zh-TW" sz="2118" i="1">
                                  <a:latin typeface="Cambria Math" panose="02040503050406030204" pitchFamily="18" charset="0"/>
                                </a:rPr>
                                <m:t>𝑏</m:t>
                              </m:r>
                            </m:e>
                            <m:sup>
                              <m:r>
                                <a:rPr lang="en-US" altLang="zh-TW" sz="2118" i="1">
                                  <a:latin typeface="Cambria Math" panose="02040503050406030204" pitchFamily="18" charset="0"/>
                                </a:rPr>
                                <m:t>𝐿</m:t>
                              </m:r>
                            </m:sup>
                          </m:sSup>
                        </m:e>
                      </m:d>
                    </m:oMath>
                  </m:oMathPara>
                </a14:m>
                <a:endParaRPr lang="zh-TW" altLang="en-US" sz="2118" dirty="0"/>
              </a:p>
            </p:txBody>
          </p:sp>
        </mc:Choice>
        <mc:Fallback xmlns="">
          <p:sp>
            <p:nvSpPr>
              <p:cNvPr id="4" name="文字方塊 2"/>
              <p:cNvSpPr txBox="1">
                <a:spLocks noRot="1" noChangeAspect="1" noMove="1" noResize="1" noEditPoints="1" noAdjustHandles="1" noChangeArrowheads="1" noChangeShapeType="1" noTextEdit="1"/>
              </p:cNvSpPr>
              <p:nvPr/>
            </p:nvSpPr>
            <p:spPr>
              <a:xfrm>
                <a:off x="3838776" y="2412417"/>
                <a:ext cx="3606052" cy="325923"/>
              </a:xfrm>
              <a:prstGeom prst="rect">
                <a:avLst/>
              </a:prstGeom>
              <a:blipFill>
                <a:blip r:embed="rId4"/>
                <a:stretch>
                  <a:fillRect l="-1354" b="-9434"/>
                </a:stretch>
              </a:blipFill>
            </p:spPr>
            <p:txBody>
              <a:bodyPr/>
              <a:lstStyle/>
              <a:p>
                <a:r>
                  <a:rPr lang="en-IN">
                    <a:noFill/>
                  </a:rPr>
                  <a:t> </a:t>
                </a:r>
              </a:p>
            </p:txBody>
          </p:sp>
        </mc:Fallback>
      </mc:AlternateContent>
      <p:pic>
        <p:nvPicPr>
          <p:cNvPr id="5" name="圖片 32"/>
          <p:cNvPicPr>
            <a:picLocks noChangeAspect="1"/>
          </p:cNvPicPr>
          <p:nvPr/>
        </p:nvPicPr>
        <p:blipFill>
          <a:blip r:embed="rId5"/>
          <a:stretch>
            <a:fillRect/>
          </a:stretch>
        </p:blipFill>
        <p:spPr>
          <a:xfrm>
            <a:off x="2408764" y="4334626"/>
            <a:ext cx="1879431" cy="1867460"/>
          </a:xfrm>
          <a:prstGeom prst="rect">
            <a:avLst/>
          </a:prstGeom>
        </p:spPr>
      </p:pic>
      <p:sp>
        <p:nvSpPr>
          <p:cNvPr id="6" name="文字方塊 7"/>
          <p:cNvSpPr txBox="1"/>
          <p:nvPr/>
        </p:nvSpPr>
        <p:spPr>
          <a:xfrm>
            <a:off x="2627021" y="6190639"/>
            <a:ext cx="1494461" cy="336695"/>
          </a:xfrm>
          <a:prstGeom prst="rect">
            <a:avLst/>
          </a:prstGeom>
          <a:noFill/>
        </p:spPr>
        <p:txBody>
          <a:bodyPr wrap="square" rtlCol="0">
            <a:spAutoFit/>
          </a:bodyPr>
          <a:lstStyle/>
          <a:p>
            <a:r>
              <a:rPr lang="en-US" altLang="zh-TW" sz="1588" dirty="0"/>
              <a:t>16 x 16 = 256</a:t>
            </a:r>
            <a:endParaRPr lang="zh-TW" altLang="en-US" sz="1588" dirty="0"/>
          </a:p>
        </p:txBody>
      </p:sp>
      <p:sp>
        <p:nvSpPr>
          <p:cNvPr id="7" name="矩形 34"/>
          <p:cNvSpPr/>
          <p:nvPr/>
        </p:nvSpPr>
        <p:spPr>
          <a:xfrm>
            <a:off x="5534771" y="4042812"/>
            <a:ext cx="658537" cy="2361060"/>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sp>
        <p:nvSpPr>
          <p:cNvPr id="8" name="矩形 39"/>
          <p:cNvSpPr/>
          <p:nvPr/>
        </p:nvSpPr>
        <p:spPr>
          <a:xfrm>
            <a:off x="4490857" y="4067202"/>
            <a:ext cx="440251" cy="231622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sp>
        <p:nvSpPr>
          <p:cNvPr id="9" name="矩形 45"/>
          <p:cNvSpPr/>
          <p:nvPr/>
        </p:nvSpPr>
        <p:spPr>
          <a:xfrm>
            <a:off x="4551198" y="4700460"/>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sp>
        <p:nvSpPr>
          <p:cNvPr id="10" name="矩形 46"/>
          <p:cNvSpPr/>
          <p:nvPr/>
        </p:nvSpPr>
        <p:spPr>
          <a:xfrm>
            <a:off x="4556332" y="4197228"/>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graphicFrame>
        <p:nvGraphicFramePr>
          <p:cNvPr id="11" name="Object 12"/>
          <p:cNvGraphicFramePr>
            <a:graphicFrameLocks noChangeAspect="1"/>
          </p:cNvGraphicFramePr>
          <p:nvPr/>
        </p:nvGraphicFramePr>
        <p:xfrm>
          <a:off x="4567537" y="4113184"/>
          <a:ext cx="287151" cy="407614"/>
        </p:xfrm>
        <a:graphic>
          <a:graphicData uri="http://schemas.openxmlformats.org/presentationml/2006/ole">
            <mc:AlternateContent xmlns:mc="http://schemas.openxmlformats.org/markup-compatibility/2006">
              <mc:Choice xmlns:v="urn:schemas-microsoft-com:vml" Requires="v">
                <p:oleObj spid="_x0000_s1026" name="方程式" r:id="rId6" imgW="152280" imgH="215640" progId="Equation.3">
                  <p:embed/>
                </p:oleObj>
              </mc:Choice>
              <mc:Fallback>
                <p:oleObj name="方程式" r:id="rId6" imgW="152280" imgH="215640" progId="Equation.3">
                  <p:embed/>
                  <p:pic>
                    <p:nvPicPr>
                      <p:cNvPr id="11" name="Object 12"/>
                      <p:cNvPicPr>
                        <a:picLocks noChangeAspect="1" noChangeArrowheads="1"/>
                      </p:cNvPicPr>
                      <p:nvPr/>
                    </p:nvPicPr>
                    <p:blipFill>
                      <a:blip r:embed="rId7"/>
                      <a:srcRect/>
                      <a:stretch>
                        <a:fillRect/>
                      </a:stretch>
                    </p:blipFill>
                    <p:spPr bwMode="auto">
                      <a:xfrm>
                        <a:off x="4567537" y="4113184"/>
                        <a:ext cx="287151" cy="407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p:cNvGraphicFramePr>
            <a:graphicFrameLocks noChangeAspect="1"/>
          </p:cNvGraphicFramePr>
          <p:nvPr/>
        </p:nvGraphicFramePr>
        <p:xfrm>
          <a:off x="4572211" y="4627358"/>
          <a:ext cx="310963" cy="407614"/>
        </p:xfrm>
        <a:graphic>
          <a:graphicData uri="http://schemas.openxmlformats.org/presentationml/2006/ole">
            <mc:AlternateContent xmlns:mc="http://schemas.openxmlformats.org/markup-compatibility/2006">
              <mc:Choice xmlns:v="urn:schemas-microsoft-com:vml" Requires="v">
                <p:oleObj spid="_x0000_s1027" name="方程式" r:id="rId8" imgW="164880" imgH="215640" progId="Equation.3">
                  <p:embed/>
                </p:oleObj>
              </mc:Choice>
              <mc:Fallback>
                <p:oleObj name="方程式" r:id="rId8" imgW="164880" imgH="215640" progId="Equation.3">
                  <p:embed/>
                  <p:pic>
                    <p:nvPicPr>
                      <p:cNvPr id="12" name="Object 12"/>
                      <p:cNvPicPr>
                        <a:picLocks noChangeAspect="1" noChangeArrowheads="1"/>
                      </p:cNvPicPr>
                      <p:nvPr/>
                    </p:nvPicPr>
                    <p:blipFill>
                      <a:blip r:embed="rId9"/>
                      <a:srcRect/>
                      <a:stretch>
                        <a:fillRect/>
                      </a:stretch>
                    </p:blipFill>
                    <p:spPr bwMode="auto">
                      <a:xfrm>
                        <a:off x="4572211" y="4627358"/>
                        <a:ext cx="310963" cy="407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橢圓 52"/>
          <p:cNvSpPr/>
          <p:nvPr/>
        </p:nvSpPr>
        <p:spPr>
          <a:xfrm>
            <a:off x="5620456" y="4052520"/>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4" name="橢圓 53"/>
          <p:cNvSpPr/>
          <p:nvPr/>
        </p:nvSpPr>
        <p:spPr>
          <a:xfrm>
            <a:off x="5622522" y="4739494"/>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5" name="橢圓 54"/>
          <p:cNvSpPr/>
          <p:nvPr/>
        </p:nvSpPr>
        <p:spPr>
          <a:xfrm>
            <a:off x="5612258" y="5823034"/>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6" name="文字方塊 55"/>
          <p:cNvSpPr txBox="1"/>
          <p:nvPr/>
        </p:nvSpPr>
        <p:spPr>
          <a:xfrm rot="5400000">
            <a:off x="5609835" y="5307842"/>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17" name="矩形 58"/>
          <p:cNvSpPr/>
          <p:nvPr/>
        </p:nvSpPr>
        <p:spPr>
          <a:xfrm>
            <a:off x="4559603" y="5933775"/>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graphicFrame>
        <p:nvGraphicFramePr>
          <p:cNvPr id="18" name="Object 12"/>
          <p:cNvGraphicFramePr>
            <a:graphicFrameLocks noChangeAspect="1"/>
          </p:cNvGraphicFramePr>
          <p:nvPr/>
        </p:nvGraphicFramePr>
        <p:xfrm>
          <a:off x="4496141" y="5848393"/>
          <a:ext cx="480452" cy="431426"/>
        </p:xfrm>
        <a:graphic>
          <a:graphicData uri="http://schemas.openxmlformats.org/presentationml/2006/ole">
            <mc:AlternateContent xmlns:mc="http://schemas.openxmlformats.org/markup-compatibility/2006">
              <mc:Choice xmlns:v="urn:schemas-microsoft-com:vml" Requires="v">
                <p:oleObj spid="_x0000_s1028" name="方程式" r:id="rId10" imgW="253800" imgH="228600" progId="Equation.3">
                  <p:embed/>
                </p:oleObj>
              </mc:Choice>
              <mc:Fallback>
                <p:oleObj name="方程式" r:id="rId10" imgW="253800" imgH="228600" progId="Equation.3">
                  <p:embed/>
                  <p:pic>
                    <p:nvPicPr>
                      <p:cNvPr id="18" name="Object 12"/>
                      <p:cNvPicPr>
                        <a:picLocks noChangeAspect="1" noChangeArrowheads="1"/>
                      </p:cNvPicPr>
                      <p:nvPr/>
                    </p:nvPicPr>
                    <p:blipFill>
                      <a:blip r:embed="rId11"/>
                      <a:srcRect/>
                      <a:stretch>
                        <a:fillRect/>
                      </a:stretch>
                    </p:blipFill>
                    <p:spPr bwMode="auto">
                      <a:xfrm>
                        <a:off x="4496141" y="5848393"/>
                        <a:ext cx="480452" cy="431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文字方塊 62"/>
          <p:cNvSpPr txBox="1"/>
          <p:nvPr/>
        </p:nvSpPr>
        <p:spPr>
          <a:xfrm rot="5400000">
            <a:off x="4450132" y="5297391"/>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0" name="文字方塊 71"/>
          <p:cNvSpPr txBox="1"/>
          <p:nvPr/>
        </p:nvSpPr>
        <p:spPr>
          <a:xfrm>
            <a:off x="6703286" y="4000829"/>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1" name="文字方塊 72"/>
          <p:cNvSpPr txBox="1"/>
          <p:nvPr/>
        </p:nvSpPr>
        <p:spPr>
          <a:xfrm>
            <a:off x="6718836" y="4693916"/>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2" name="文字方塊 73"/>
          <p:cNvSpPr txBox="1"/>
          <p:nvPr/>
        </p:nvSpPr>
        <p:spPr>
          <a:xfrm>
            <a:off x="6729583" y="5802409"/>
            <a:ext cx="678756" cy="472565"/>
          </a:xfrm>
          <a:prstGeom prst="rect">
            <a:avLst/>
          </a:prstGeom>
          <a:noFill/>
        </p:spPr>
        <p:txBody>
          <a:bodyPr wrap="square" rtlCol="0">
            <a:spAutoFit/>
          </a:bodyPr>
          <a:lstStyle/>
          <a:p>
            <a:pPr algn="ctr"/>
            <a:r>
              <a:rPr lang="en-US" altLang="zh-TW" sz="2471" dirty="0"/>
              <a:t>……</a:t>
            </a:r>
            <a:endParaRPr lang="zh-TW" altLang="en-US" sz="2471" dirty="0"/>
          </a:p>
        </p:txBody>
      </p:sp>
      <p:cxnSp>
        <p:nvCxnSpPr>
          <p:cNvPr id="23" name="直線單箭頭接點 74"/>
          <p:cNvCxnSpPr>
            <a:stCxn id="13" idx="6"/>
          </p:cNvCxnSpPr>
          <p:nvPr/>
        </p:nvCxnSpPr>
        <p:spPr>
          <a:xfrm>
            <a:off x="6127066" y="4305825"/>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75"/>
          <p:cNvCxnSpPr/>
          <p:nvPr/>
        </p:nvCxnSpPr>
        <p:spPr>
          <a:xfrm>
            <a:off x="6127066" y="5004430"/>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76"/>
          <p:cNvCxnSpPr/>
          <p:nvPr/>
        </p:nvCxnSpPr>
        <p:spPr>
          <a:xfrm>
            <a:off x="6118868" y="6082638"/>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77"/>
          <p:cNvCxnSpPr>
            <a:stCxn id="14" idx="6"/>
          </p:cNvCxnSpPr>
          <p:nvPr/>
        </p:nvCxnSpPr>
        <p:spPr>
          <a:xfrm flipV="1">
            <a:off x="6129132" y="4305825"/>
            <a:ext cx="652114" cy="686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78"/>
          <p:cNvCxnSpPr>
            <a:stCxn id="13" idx="6"/>
          </p:cNvCxnSpPr>
          <p:nvPr/>
        </p:nvCxnSpPr>
        <p:spPr>
          <a:xfrm>
            <a:off x="6127066" y="4305825"/>
            <a:ext cx="656246" cy="686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79"/>
          <p:cNvCxnSpPr>
            <a:stCxn id="13" idx="6"/>
          </p:cNvCxnSpPr>
          <p:nvPr/>
        </p:nvCxnSpPr>
        <p:spPr>
          <a:xfrm>
            <a:off x="6127066" y="4305825"/>
            <a:ext cx="645982" cy="1770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80"/>
          <p:cNvCxnSpPr>
            <a:stCxn id="14" idx="6"/>
          </p:cNvCxnSpPr>
          <p:nvPr/>
        </p:nvCxnSpPr>
        <p:spPr>
          <a:xfrm>
            <a:off x="6129133" y="4992799"/>
            <a:ext cx="643916" cy="1083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81"/>
          <p:cNvCxnSpPr>
            <a:stCxn id="15" idx="6"/>
          </p:cNvCxnSpPr>
          <p:nvPr/>
        </p:nvCxnSpPr>
        <p:spPr>
          <a:xfrm flipV="1">
            <a:off x="6118868" y="4305825"/>
            <a:ext cx="662378" cy="1770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82"/>
          <p:cNvCxnSpPr>
            <a:stCxn id="15" idx="6"/>
          </p:cNvCxnSpPr>
          <p:nvPr/>
        </p:nvCxnSpPr>
        <p:spPr>
          <a:xfrm flipV="1">
            <a:off x="6118869" y="4992799"/>
            <a:ext cx="664444" cy="1083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83"/>
          <p:cNvCxnSpPr>
            <a:endCxn id="13" idx="2"/>
          </p:cNvCxnSpPr>
          <p:nvPr/>
        </p:nvCxnSpPr>
        <p:spPr>
          <a:xfrm flipV="1">
            <a:off x="4862162" y="4305826"/>
            <a:ext cx="758294" cy="264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84"/>
          <p:cNvCxnSpPr>
            <a:stCxn id="10" idx="3"/>
            <a:endCxn id="14" idx="2"/>
          </p:cNvCxnSpPr>
          <p:nvPr/>
        </p:nvCxnSpPr>
        <p:spPr>
          <a:xfrm>
            <a:off x="4858892" y="4348508"/>
            <a:ext cx="763631" cy="644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85"/>
          <p:cNvCxnSpPr>
            <a:stCxn id="10" idx="3"/>
            <a:endCxn id="15" idx="2"/>
          </p:cNvCxnSpPr>
          <p:nvPr/>
        </p:nvCxnSpPr>
        <p:spPr>
          <a:xfrm>
            <a:off x="4858891" y="4348508"/>
            <a:ext cx="753367" cy="17278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86"/>
          <p:cNvCxnSpPr>
            <a:stCxn id="12" idx="3"/>
            <a:endCxn id="13" idx="2"/>
          </p:cNvCxnSpPr>
          <p:nvPr/>
        </p:nvCxnSpPr>
        <p:spPr>
          <a:xfrm flipV="1">
            <a:off x="4883174" y="4305825"/>
            <a:ext cx="737283" cy="5253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87"/>
          <p:cNvCxnSpPr>
            <a:stCxn id="9" idx="3"/>
            <a:endCxn id="14" idx="2"/>
          </p:cNvCxnSpPr>
          <p:nvPr/>
        </p:nvCxnSpPr>
        <p:spPr>
          <a:xfrm>
            <a:off x="4853758" y="4851740"/>
            <a:ext cx="768765" cy="1410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88"/>
          <p:cNvCxnSpPr>
            <a:stCxn id="9" idx="3"/>
            <a:endCxn id="15" idx="2"/>
          </p:cNvCxnSpPr>
          <p:nvPr/>
        </p:nvCxnSpPr>
        <p:spPr>
          <a:xfrm>
            <a:off x="4853757" y="4851740"/>
            <a:ext cx="758501" cy="12245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89"/>
          <p:cNvCxnSpPr>
            <a:stCxn id="18" idx="3"/>
            <a:endCxn id="13" idx="2"/>
          </p:cNvCxnSpPr>
          <p:nvPr/>
        </p:nvCxnSpPr>
        <p:spPr>
          <a:xfrm flipV="1">
            <a:off x="4916843" y="4305826"/>
            <a:ext cx="703613" cy="17587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90"/>
          <p:cNvCxnSpPr>
            <a:stCxn id="18" idx="3"/>
            <a:endCxn id="14" idx="2"/>
          </p:cNvCxnSpPr>
          <p:nvPr/>
        </p:nvCxnSpPr>
        <p:spPr>
          <a:xfrm flipV="1">
            <a:off x="4893577" y="4992799"/>
            <a:ext cx="728946" cy="10717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91"/>
          <p:cNvCxnSpPr>
            <a:stCxn id="18" idx="3"/>
            <a:endCxn id="15" idx="2"/>
          </p:cNvCxnSpPr>
          <p:nvPr/>
        </p:nvCxnSpPr>
        <p:spPr>
          <a:xfrm>
            <a:off x="4893576" y="6064510"/>
            <a:ext cx="718682" cy="118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手繪多邊形 11"/>
          <p:cNvSpPr/>
          <p:nvPr/>
        </p:nvSpPr>
        <p:spPr>
          <a:xfrm>
            <a:off x="2519703" y="4121374"/>
            <a:ext cx="2033868" cy="321124"/>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42" name="手繪多邊形 13"/>
          <p:cNvSpPr/>
          <p:nvPr/>
        </p:nvSpPr>
        <p:spPr>
          <a:xfrm>
            <a:off x="2637365" y="4273969"/>
            <a:ext cx="1916206" cy="570096"/>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43" name="手繪多邊形 21"/>
          <p:cNvSpPr/>
          <p:nvPr/>
        </p:nvSpPr>
        <p:spPr>
          <a:xfrm>
            <a:off x="4166968" y="6076712"/>
            <a:ext cx="409015" cy="214684"/>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45" name="矩形 120"/>
          <p:cNvSpPr/>
          <p:nvPr/>
        </p:nvSpPr>
        <p:spPr>
          <a:xfrm>
            <a:off x="8320599" y="4053631"/>
            <a:ext cx="440251" cy="231622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cxnSp>
        <p:nvCxnSpPr>
          <p:cNvPr id="46" name="直線單箭頭接點 122"/>
          <p:cNvCxnSpPr/>
          <p:nvPr/>
        </p:nvCxnSpPr>
        <p:spPr>
          <a:xfrm>
            <a:off x="7708493" y="4967889"/>
            <a:ext cx="5598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23"/>
          <p:cNvCxnSpPr/>
          <p:nvPr/>
        </p:nvCxnSpPr>
        <p:spPr>
          <a:xfrm>
            <a:off x="7804948" y="6067204"/>
            <a:ext cx="46337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24"/>
          <p:cNvCxnSpPr/>
          <p:nvPr/>
        </p:nvCxnSpPr>
        <p:spPr>
          <a:xfrm>
            <a:off x="7687419" y="4280710"/>
            <a:ext cx="58090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字方塊 129"/>
          <p:cNvSpPr txBox="1"/>
          <p:nvPr/>
        </p:nvSpPr>
        <p:spPr>
          <a:xfrm rot="5400000">
            <a:off x="8269591" y="5372589"/>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50" name="文字方塊 130"/>
          <p:cNvSpPr txBox="1"/>
          <p:nvPr/>
        </p:nvSpPr>
        <p:spPr>
          <a:xfrm>
            <a:off x="8330555" y="4037903"/>
            <a:ext cx="556826" cy="472565"/>
          </a:xfrm>
          <a:prstGeom prst="rect">
            <a:avLst/>
          </a:prstGeom>
          <a:noFill/>
        </p:spPr>
        <p:txBody>
          <a:bodyPr wrap="square" rtlCol="0">
            <a:spAutoFit/>
          </a:bodyPr>
          <a:lstStyle/>
          <a:p>
            <a:r>
              <a:rPr lang="en-US" altLang="zh-TW" sz="2471" dirty="0"/>
              <a:t>y</a:t>
            </a:r>
            <a:r>
              <a:rPr lang="en-US" altLang="zh-TW" sz="2471" baseline="-25000" dirty="0"/>
              <a:t>1</a:t>
            </a:r>
            <a:endParaRPr lang="zh-TW" altLang="en-US" sz="2471" baseline="-25000" dirty="0"/>
          </a:p>
        </p:txBody>
      </p:sp>
      <p:sp>
        <p:nvSpPr>
          <p:cNvPr id="51" name="文字方塊 131"/>
          <p:cNvSpPr txBox="1"/>
          <p:nvPr/>
        </p:nvSpPr>
        <p:spPr>
          <a:xfrm>
            <a:off x="8349171" y="4751117"/>
            <a:ext cx="556826" cy="472565"/>
          </a:xfrm>
          <a:prstGeom prst="rect">
            <a:avLst/>
          </a:prstGeom>
          <a:noFill/>
        </p:spPr>
        <p:txBody>
          <a:bodyPr wrap="square" rtlCol="0">
            <a:spAutoFit/>
          </a:bodyPr>
          <a:lstStyle/>
          <a:p>
            <a:r>
              <a:rPr lang="en-US" altLang="zh-TW" sz="2471" dirty="0"/>
              <a:t>y</a:t>
            </a:r>
            <a:r>
              <a:rPr lang="en-US" altLang="zh-TW" sz="2471" baseline="-25000" dirty="0"/>
              <a:t>2</a:t>
            </a:r>
            <a:endParaRPr lang="zh-TW" altLang="en-US" sz="2471" baseline="-25000" dirty="0"/>
          </a:p>
        </p:txBody>
      </p:sp>
      <p:sp>
        <p:nvSpPr>
          <p:cNvPr id="52" name="文字方塊 132"/>
          <p:cNvSpPr txBox="1"/>
          <p:nvPr/>
        </p:nvSpPr>
        <p:spPr>
          <a:xfrm>
            <a:off x="8320599" y="5859479"/>
            <a:ext cx="556826" cy="472565"/>
          </a:xfrm>
          <a:prstGeom prst="rect">
            <a:avLst/>
          </a:prstGeom>
          <a:noFill/>
        </p:spPr>
        <p:txBody>
          <a:bodyPr wrap="square" rtlCol="0">
            <a:spAutoFit/>
          </a:bodyPr>
          <a:lstStyle/>
          <a:p>
            <a:r>
              <a:rPr lang="en-US" altLang="zh-TW" sz="2471" dirty="0"/>
              <a:t>y</a:t>
            </a:r>
            <a:r>
              <a:rPr lang="en-US" altLang="zh-TW" sz="2471" baseline="-25000" dirty="0"/>
              <a:t>10</a:t>
            </a:r>
            <a:endParaRPr lang="zh-TW" altLang="en-US" sz="2471" baseline="-25000" dirty="0"/>
          </a:p>
        </p:txBody>
      </p:sp>
      <p:sp>
        <p:nvSpPr>
          <p:cNvPr id="53" name="矩形 136"/>
          <p:cNvSpPr/>
          <p:nvPr/>
        </p:nvSpPr>
        <p:spPr>
          <a:xfrm>
            <a:off x="8284952" y="4132906"/>
            <a:ext cx="546871"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0.1</a:t>
            </a:r>
            <a:endParaRPr lang="zh-TW" altLang="en-US" sz="2118" dirty="0"/>
          </a:p>
        </p:txBody>
      </p:sp>
      <p:sp>
        <p:nvSpPr>
          <p:cNvPr id="54" name="矩形 137"/>
          <p:cNvSpPr/>
          <p:nvPr/>
        </p:nvSpPr>
        <p:spPr>
          <a:xfrm>
            <a:off x="8284952" y="4772087"/>
            <a:ext cx="546871"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0.7</a:t>
            </a:r>
            <a:endParaRPr lang="zh-TW" altLang="en-US" sz="2118" dirty="0"/>
          </a:p>
        </p:txBody>
      </p:sp>
      <p:sp>
        <p:nvSpPr>
          <p:cNvPr id="55" name="矩形 138"/>
          <p:cNvSpPr/>
          <p:nvPr/>
        </p:nvSpPr>
        <p:spPr>
          <a:xfrm>
            <a:off x="8268322" y="5892024"/>
            <a:ext cx="579476"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0.2</a:t>
            </a:r>
            <a:endParaRPr lang="zh-TW" altLang="en-US" sz="2118" dirty="0"/>
          </a:p>
        </p:txBody>
      </p:sp>
      <p:sp>
        <p:nvSpPr>
          <p:cNvPr id="61" name="文字方塊 148"/>
          <p:cNvSpPr txBox="1"/>
          <p:nvPr/>
        </p:nvSpPr>
        <p:spPr>
          <a:xfrm>
            <a:off x="9020852" y="4062606"/>
            <a:ext cx="760264" cy="418256"/>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118" dirty="0"/>
              <a:t>is 1</a:t>
            </a:r>
            <a:endParaRPr lang="zh-TW" altLang="en-US" sz="2118" dirty="0"/>
          </a:p>
        </p:txBody>
      </p:sp>
      <p:sp>
        <p:nvSpPr>
          <p:cNvPr id="62" name="文字方塊 149"/>
          <p:cNvSpPr txBox="1"/>
          <p:nvPr/>
        </p:nvSpPr>
        <p:spPr>
          <a:xfrm>
            <a:off x="9033752" y="4785891"/>
            <a:ext cx="747364" cy="418256"/>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118" dirty="0"/>
              <a:t>is 2</a:t>
            </a:r>
            <a:endParaRPr lang="zh-TW" altLang="en-US" sz="2118" dirty="0"/>
          </a:p>
        </p:txBody>
      </p:sp>
      <p:sp>
        <p:nvSpPr>
          <p:cNvPr id="63" name="文字方塊 150"/>
          <p:cNvSpPr txBox="1"/>
          <p:nvPr/>
        </p:nvSpPr>
        <p:spPr>
          <a:xfrm>
            <a:off x="9044557" y="5868423"/>
            <a:ext cx="736558" cy="418256"/>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118" dirty="0"/>
              <a:t>is 0</a:t>
            </a:r>
            <a:endParaRPr lang="zh-TW" altLang="en-US" sz="2118" dirty="0"/>
          </a:p>
        </p:txBody>
      </p:sp>
      <p:sp>
        <p:nvSpPr>
          <p:cNvPr id="64" name="矩形 153"/>
          <p:cNvSpPr/>
          <p:nvPr/>
        </p:nvSpPr>
        <p:spPr>
          <a:xfrm rot="5400000">
            <a:off x="6442451" y="4980310"/>
            <a:ext cx="227897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71" dirty="0" err="1"/>
              <a:t>Softmax</a:t>
            </a:r>
            <a:endParaRPr lang="zh-TW" altLang="en-US" sz="2471" dirty="0"/>
          </a:p>
        </p:txBody>
      </p:sp>
    </p:spTree>
    <p:extLst>
      <p:ext uri="{BB962C8B-B14F-4D97-AF65-F5344CB8AC3E}">
        <p14:creationId xmlns:p14="http://schemas.microsoft.com/office/powerpoint/2010/main" val="226450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NNs</a:t>
            </a:r>
          </a:p>
        </p:txBody>
      </p:sp>
      <p:sp>
        <p:nvSpPr>
          <p:cNvPr id="3" name="Content Placeholder 2"/>
          <p:cNvSpPr>
            <a:spLocks noGrp="1"/>
          </p:cNvSpPr>
          <p:nvPr>
            <p:ph idx="1"/>
          </p:nvPr>
        </p:nvSpPr>
        <p:spPr/>
        <p:txBody>
          <a:bodyPr/>
          <a:lstStyle/>
          <a:p>
            <a:r>
              <a:rPr lang="en-US" b="1" i="1" dirty="0">
                <a:solidFill>
                  <a:srgbClr val="0070C0"/>
                </a:solidFill>
              </a:rPr>
              <a:t>Data preprocessing </a:t>
            </a:r>
            <a:r>
              <a:rPr lang="en-US" dirty="0"/>
              <a:t>- helps convergence during training</a:t>
            </a:r>
            <a:endParaRPr lang="en-US" b="1" i="1" dirty="0">
              <a:solidFill>
                <a:srgbClr val="0070C0"/>
              </a:solidFill>
            </a:endParaRPr>
          </a:p>
          <a:p>
            <a:pPr lvl="1"/>
            <a:r>
              <a:rPr lang="en-US" dirty="0">
                <a:solidFill>
                  <a:srgbClr val="FF0000"/>
                </a:solidFill>
              </a:rPr>
              <a:t>Mean subtraction</a:t>
            </a:r>
            <a:r>
              <a:rPr lang="en-US" dirty="0"/>
              <a:t>, to obtain zero-centered data</a:t>
            </a:r>
          </a:p>
          <a:p>
            <a:pPr lvl="2"/>
            <a:r>
              <a:rPr lang="en-US" dirty="0"/>
              <a:t>Subtract the mean for each individual data dimension (feature)</a:t>
            </a:r>
          </a:p>
          <a:p>
            <a:pPr lvl="1"/>
            <a:r>
              <a:rPr lang="en-US" dirty="0">
                <a:solidFill>
                  <a:srgbClr val="FF0000"/>
                </a:solidFill>
              </a:rPr>
              <a:t>Normalization</a:t>
            </a:r>
          </a:p>
          <a:p>
            <a:pPr lvl="2"/>
            <a:r>
              <a:rPr lang="en-US" dirty="0"/>
              <a:t>Divide each feature by its standard deviation</a:t>
            </a:r>
          </a:p>
          <a:p>
            <a:pPr lvl="3"/>
            <a:r>
              <a:rPr lang="en-US" dirty="0"/>
              <a:t>To obtain standard deviation of 1 for each data dimension (feature)</a:t>
            </a:r>
          </a:p>
          <a:p>
            <a:pPr lvl="2"/>
            <a:r>
              <a:rPr lang="en-US" dirty="0"/>
              <a:t>Or, scale the data within the range [0,1] or [-1, 1]</a:t>
            </a:r>
          </a:p>
          <a:p>
            <a:pPr lvl="3"/>
            <a:r>
              <a:rPr lang="en-US" dirty="0"/>
              <a:t>E.g., image pixel intensities are divided by 255 to be scaled in the [0,1] range</a:t>
            </a:r>
            <a:br>
              <a:rPr lang="en-US" dirty="0"/>
            </a:br>
            <a:endParaRPr lang="en-US" dirty="0"/>
          </a:p>
        </p:txBody>
      </p:sp>
      <p:sp>
        <p:nvSpPr>
          <p:cNvPr id="4" name="Content Placeholder 3">
            <a:extLst>
              <a:ext uri="{FF2B5EF4-FFF2-40B4-BE49-F238E27FC236}">
                <a16:creationId xmlns:a16="http://schemas.microsoft.com/office/drawing/2014/main" id="{017DD90B-918F-4CBF-9562-DA2EE5B639F8}"/>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pic>
        <p:nvPicPr>
          <p:cNvPr id="5" name="Picture 4"/>
          <p:cNvPicPr>
            <a:picLocks noChangeAspect="1"/>
          </p:cNvPicPr>
          <p:nvPr/>
        </p:nvPicPr>
        <p:blipFill>
          <a:blip r:embed="rId3"/>
          <a:stretch>
            <a:fillRect/>
          </a:stretch>
        </p:blipFill>
        <p:spPr>
          <a:xfrm>
            <a:off x="3173323" y="4185752"/>
            <a:ext cx="5995494" cy="2102389"/>
          </a:xfrm>
          <a:prstGeom prst="rect">
            <a:avLst/>
          </a:prstGeom>
        </p:spPr>
      </p:pic>
      <p:sp>
        <p:nvSpPr>
          <p:cNvPr id="6" name="TextBox 5"/>
          <p:cNvSpPr txBox="1"/>
          <p:nvPr/>
        </p:nvSpPr>
        <p:spPr>
          <a:xfrm>
            <a:off x="3491005" y="6642715"/>
            <a:ext cx="5527673" cy="228076"/>
          </a:xfrm>
          <a:prstGeom prst="rect">
            <a:avLst/>
          </a:prstGeom>
          <a:noFill/>
        </p:spPr>
        <p:txBody>
          <a:bodyPr wrap="square" rtlCol="0">
            <a:spAutoFit/>
          </a:bodyPr>
          <a:lstStyle/>
          <a:p>
            <a:pPr algn="ctr"/>
            <a:r>
              <a:rPr lang="en-US" sz="882" dirty="0"/>
              <a:t>Picture from: </a:t>
            </a:r>
            <a:r>
              <a:rPr lang="en-US" sz="882" dirty="0">
                <a:hlinkClick r:id="rId4"/>
              </a:rPr>
              <a:t>https://cs231n.github.io/neural-networks-2/</a:t>
            </a:r>
            <a:endParaRPr lang="en-US" sz="882" dirty="0"/>
          </a:p>
        </p:txBody>
      </p:sp>
    </p:spTree>
    <p:extLst>
      <p:ext uri="{BB962C8B-B14F-4D97-AF65-F5344CB8AC3E}">
        <p14:creationId xmlns:p14="http://schemas.microsoft.com/office/powerpoint/2010/main" val="232212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NNs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TW" dirty="0"/>
                  <a:t>To train a NN, set the parameters </a:t>
                </a:r>
                <a14:m>
                  <m:oMath xmlns:m="http://schemas.openxmlformats.org/officeDocument/2006/math">
                    <m:r>
                      <a:rPr lang="zh-TW" altLang="en-US" i="1">
                        <a:latin typeface="Cambria Math" panose="02040503050406030204" pitchFamily="18" charset="0"/>
                      </a:rPr>
                      <m:t>𝜃</m:t>
                    </m:r>
                  </m:oMath>
                </a14:m>
                <a:r>
                  <a:rPr lang="en-US" altLang="zh-TW" dirty="0"/>
                  <a:t> such that for a training subset of images, the corresponding elements in the predicted output have maximum values</a:t>
                </a:r>
              </a:p>
              <a:p>
                <a:endParaRPr lang="en-US" dirty="0"/>
              </a:p>
              <a:p>
                <a:endParaRPr lang="en-US" dirty="0"/>
              </a:p>
              <a:p>
                <a:endParaRPr lang="en-US"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9" t="-795"/>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4FFCC53A-9857-4A4C-B0D1-6CC7AF0581F7}"/>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sp>
        <p:nvSpPr>
          <p:cNvPr id="4" name="文字方塊 139"/>
          <p:cNvSpPr txBox="1"/>
          <p:nvPr/>
        </p:nvSpPr>
        <p:spPr>
          <a:xfrm>
            <a:off x="5551195" y="2919682"/>
            <a:ext cx="3078022" cy="418256"/>
          </a:xfrm>
          <a:prstGeom prst="rect">
            <a:avLst/>
          </a:prstGeom>
          <a:noFill/>
        </p:spPr>
        <p:txBody>
          <a:bodyPr wrap="none" rtlCol="0">
            <a:spAutoFit/>
          </a:bodyPr>
          <a:lstStyle/>
          <a:p>
            <a:r>
              <a:rPr lang="en-US" altLang="zh-TW" sz="2118" dirty="0"/>
              <a:t>y</a:t>
            </a:r>
            <a:r>
              <a:rPr lang="en-US" altLang="zh-TW" sz="2118" baseline="-25000" dirty="0"/>
              <a:t>1</a:t>
            </a:r>
            <a:r>
              <a:rPr lang="en-US" altLang="zh-TW" sz="2118" dirty="0"/>
              <a:t> has the maximum value</a:t>
            </a:r>
            <a:endParaRPr lang="zh-TW" altLang="en-US" sz="2118" dirty="0"/>
          </a:p>
        </p:txBody>
      </p:sp>
      <p:pic>
        <p:nvPicPr>
          <p:cNvPr id="6" name="圖片 141"/>
          <p:cNvPicPr>
            <a:picLocks noChangeAspect="1"/>
          </p:cNvPicPr>
          <p:nvPr/>
        </p:nvPicPr>
        <p:blipFill>
          <a:blip r:embed="rId3"/>
          <a:stretch>
            <a:fillRect/>
          </a:stretch>
        </p:blipFill>
        <p:spPr>
          <a:xfrm>
            <a:off x="4444257" y="2877316"/>
            <a:ext cx="507240" cy="512773"/>
          </a:xfrm>
          <a:prstGeom prst="rect">
            <a:avLst/>
          </a:prstGeom>
          <a:ln w="38100">
            <a:solidFill>
              <a:schemeClr val="tx1"/>
            </a:solidFill>
          </a:ln>
        </p:spPr>
      </p:pic>
      <p:sp>
        <p:nvSpPr>
          <p:cNvPr id="7" name="文字方塊 142"/>
          <p:cNvSpPr txBox="1"/>
          <p:nvPr/>
        </p:nvSpPr>
        <p:spPr>
          <a:xfrm>
            <a:off x="3575973" y="2898831"/>
            <a:ext cx="845103" cy="418256"/>
          </a:xfrm>
          <a:prstGeom prst="rect">
            <a:avLst/>
          </a:prstGeom>
          <a:noFill/>
        </p:spPr>
        <p:txBody>
          <a:bodyPr wrap="none" rtlCol="0">
            <a:spAutoFit/>
          </a:bodyPr>
          <a:lstStyle/>
          <a:p>
            <a:r>
              <a:rPr lang="en-US" altLang="zh-TW" sz="2118" dirty="0"/>
              <a:t>Input:</a:t>
            </a:r>
            <a:endParaRPr lang="zh-TW" altLang="en-US" sz="2118" dirty="0"/>
          </a:p>
        </p:txBody>
      </p:sp>
      <p:sp>
        <p:nvSpPr>
          <p:cNvPr id="8" name="向右箭號 143"/>
          <p:cNvSpPr/>
          <p:nvPr/>
        </p:nvSpPr>
        <p:spPr>
          <a:xfrm>
            <a:off x="5078521" y="3005076"/>
            <a:ext cx="433840" cy="30110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sz="1588"/>
          </a:p>
        </p:txBody>
      </p:sp>
      <p:sp>
        <p:nvSpPr>
          <p:cNvPr id="9" name="文字方塊 144"/>
          <p:cNvSpPr txBox="1"/>
          <p:nvPr/>
        </p:nvSpPr>
        <p:spPr>
          <a:xfrm>
            <a:off x="5551195" y="3565985"/>
            <a:ext cx="3078022" cy="418256"/>
          </a:xfrm>
          <a:prstGeom prst="rect">
            <a:avLst/>
          </a:prstGeom>
          <a:noFill/>
        </p:spPr>
        <p:txBody>
          <a:bodyPr wrap="none" rtlCol="0">
            <a:spAutoFit/>
          </a:bodyPr>
          <a:lstStyle/>
          <a:p>
            <a:r>
              <a:rPr lang="en-US" altLang="zh-TW" sz="2118" dirty="0"/>
              <a:t>y</a:t>
            </a:r>
            <a:r>
              <a:rPr lang="en-US" altLang="zh-TW" sz="2118" baseline="-25000" dirty="0"/>
              <a:t>2</a:t>
            </a:r>
            <a:r>
              <a:rPr lang="en-US" altLang="zh-TW" sz="2118" dirty="0"/>
              <a:t> has the maximum value</a:t>
            </a:r>
            <a:endParaRPr lang="zh-TW" altLang="en-US" sz="2118" dirty="0"/>
          </a:p>
        </p:txBody>
      </p:sp>
      <p:sp>
        <p:nvSpPr>
          <p:cNvPr id="10" name="文字方塊 145"/>
          <p:cNvSpPr txBox="1"/>
          <p:nvPr/>
        </p:nvSpPr>
        <p:spPr>
          <a:xfrm>
            <a:off x="3575973" y="3545133"/>
            <a:ext cx="845103" cy="418256"/>
          </a:xfrm>
          <a:prstGeom prst="rect">
            <a:avLst/>
          </a:prstGeom>
          <a:noFill/>
        </p:spPr>
        <p:txBody>
          <a:bodyPr wrap="none" rtlCol="0">
            <a:spAutoFit/>
          </a:bodyPr>
          <a:lstStyle/>
          <a:p>
            <a:r>
              <a:rPr lang="en-US" altLang="zh-TW" sz="2118" dirty="0"/>
              <a:t>Input:</a:t>
            </a:r>
            <a:endParaRPr lang="zh-TW" altLang="en-US" sz="2118" dirty="0"/>
          </a:p>
        </p:txBody>
      </p:sp>
      <p:sp>
        <p:nvSpPr>
          <p:cNvPr id="11" name="向右箭號 146"/>
          <p:cNvSpPr/>
          <p:nvPr/>
        </p:nvSpPr>
        <p:spPr>
          <a:xfrm>
            <a:off x="5078521" y="3651378"/>
            <a:ext cx="433840" cy="30110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sz="1588"/>
          </a:p>
        </p:txBody>
      </p:sp>
      <p:pic>
        <p:nvPicPr>
          <p:cNvPr id="12" name="圖片 147"/>
          <p:cNvPicPr>
            <a:picLocks noChangeAspect="1"/>
          </p:cNvPicPr>
          <p:nvPr/>
        </p:nvPicPr>
        <p:blipFill>
          <a:blip r:embed="rId4"/>
          <a:stretch>
            <a:fillRect/>
          </a:stretch>
        </p:blipFill>
        <p:spPr>
          <a:xfrm>
            <a:off x="4423548" y="3524157"/>
            <a:ext cx="534646" cy="530785"/>
          </a:xfrm>
          <a:prstGeom prst="rect">
            <a:avLst/>
          </a:prstGeom>
          <a:ln w="38100">
            <a:solidFill>
              <a:schemeClr val="tx1"/>
            </a:solidFill>
          </a:ln>
        </p:spPr>
      </p:pic>
      <p:sp>
        <p:nvSpPr>
          <p:cNvPr id="14" name="矩形 152"/>
          <p:cNvSpPr/>
          <p:nvPr/>
        </p:nvSpPr>
        <p:spPr>
          <a:xfrm>
            <a:off x="3513618" y="2603026"/>
            <a:ext cx="5250914" cy="37200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15" name="TextBox 14"/>
          <p:cNvSpPr txBox="1"/>
          <p:nvPr/>
        </p:nvSpPr>
        <p:spPr>
          <a:xfrm flipH="1">
            <a:off x="5105757" y="3840218"/>
            <a:ext cx="571828" cy="825419"/>
          </a:xfrm>
          <a:prstGeom prst="rect">
            <a:avLst/>
          </a:prstGeom>
          <a:noFill/>
        </p:spPr>
        <p:txBody>
          <a:bodyPr wrap="square" rtlCol="0">
            <a:spAutoFit/>
          </a:bodyPr>
          <a:lstStyle/>
          <a:p>
            <a:r>
              <a:rPr lang="en-US" sz="1588" dirty="0"/>
              <a:t>.</a:t>
            </a:r>
          </a:p>
          <a:p>
            <a:r>
              <a:rPr lang="en-US" sz="1588" dirty="0"/>
              <a:t>.</a:t>
            </a:r>
          </a:p>
          <a:p>
            <a:r>
              <a:rPr lang="en-US" sz="1588" dirty="0"/>
              <a:t>.</a:t>
            </a:r>
          </a:p>
        </p:txBody>
      </p:sp>
      <p:sp>
        <p:nvSpPr>
          <p:cNvPr id="16" name="文字方塊 145"/>
          <p:cNvSpPr txBox="1"/>
          <p:nvPr/>
        </p:nvSpPr>
        <p:spPr>
          <a:xfrm>
            <a:off x="3618482" y="4877238"/>
            <a:ext cx="845103" cy="418256"/>
          </a:xfrm>
          <a:prstGeom prst="rect">
            <a:avLst/>
          </a:prstGeom>
          <a:noFill/>
        </p:spPr>
        <p:txBody>
          <a:bodyPr wrap="none" rtlCol="0">
            <a:spAutoFit/>
          </a:bodyPr>
          <a:lstStyle/>
          <a:p>
            <a:r>
              <a:rPr lang="en-US" altLang="zh-TW" sz="2118" dirty="0"/>
              <a:t>Input:</a:t>
            </a:r>
            <a:endParaRPr lang="zh-TW" altLang="en-US" sz="2118" dirty="0"/>
          </a:p>
        </p:txBody>
      </p:sp>
      <p:sp>
        <p:nvSpPr>
          <p:cNvPr id="17" name="文字方塊 144"/>
          <p:cNvSpPr txBox="1"/>
          <p:nvPr/>
        </p:nvSpPr>
        <p:spPr>
          <a:xfrm>
            <a:off x="5552843" y="4935416"/>
            <a:ext cx="3078022" cy="418256"/>
          </a:xfrm>
          <a:prstGeom prst="rect">
            <a:avLst/>
          </a:prstGeom>
          <a:noFill/>
        </p:spPr>
        <p:txBody>
          <a:bodyPr wrap="none" rtlCol="0">
            <a:spAutoFit/>
          </a:bodyPr>
          <a:lstStyle/>
          <a:p>
            <a:r>
              <a:rPr lang="en-US" altLang="zh-TW" sz="2118" dirty="0"/>
              <a:t>y</a:t>
            </a:r>
            <a:r>
              <a:rPr lang="en-US" altLang="zh-TW" sz="2118" baseline="-25000" dirty="0"/>
              <a:t>9</a:t>
            </a:r>
            <a:r>
              <a:rPr lang="en-US" altLang="zh-TW" sz="2118" dirty="0"/>
              <a:t> has the maximum value</a:t>
            </a:r>
            <a:endParaRPr lang="zh-TW" altLang="en-US" sz="2118" dirty="0"/>
          </a:p>
        </p:txBody>
      </p:sp>
      <p:sp>
        <p:nvSpPr>
          <p:cNvPr id="18" name="向右箭號 146"/>
          <p:cNvSpPr/>
          <p:nvPr/>
        </p:nvSpPr>
        <p:spPr>
          <a:xfrm>
            <a:off x="5103569" y="5020809"/>
            <a:ext cx="433840" cy="30110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sz="1588"/>
          </a:p>
        </p:txBody>
      </p:sp>
      <p:pic>
        <p:nvPicPr>
          <p:cNvPr id="19" name="圖片 8"/>
          <p:cNvPicPr preferRelativeResize="0">
            <a:picLocks/>
          </p:cNvPicPr>
          <p:nvPr/>
        </p:nvPicPr>
        <p:blipFill>
          <a:blip r:embed="rId5"/>
          <a:stretch>
            <a:fillRect/>
          </a:stretch>
        </p:blipFill>
        <p:spPr>
          <a:xfrm>
            <a:off x="4398822" y="4763266"/>
            <a:ext cx="635294" cy="635294"/>
          </a:xfrm>
          <a:prstGeom prst="rect">
            <a:avLst/>
          </a:prstGeom>
          <a:ln w="38100">
            <a:solidFill>
              <a:schemeClr val="tx1"/>
            </a:solidFill>
          </a:ln>
        </p:spPr>
      </p:pic>
      <p:sp>
        <p:nvSpPr>
          <p:cNvPr id="20" name="文字方塊 145"/>
          <p:cNvSpPr txBox="1"/>
          <p:nvPr/>
        </p:nvSpPr>
        <p:spPr>
          <a:xfrm>
            <a:off x="3616835" y="5664300"/>
            <a:ext cx="845103" cy="418256"/>
          </a:xfrm>
          <a:prstGeom prst="rect">
            <a:avLst/>
          </a:prstGeom>
          <a:noFill/>
        </p:spPr>
        <p:txBody>
          <a:bodyPr wrap="none" rtlCol="0">
            <a:spAutoFit/>
          </a:bodyPr>
          <a:lstStyle/>
          <a:p>
            <a:r>
              <a:rPr lang="en-US" altLang="zh-TW" sz="2118" dirty="0"/>
              <a:t>Input:</a:t>
            </a:r>
            <a:endParaRPr lang="zh-TW" altLang="en-US" sz="2118" dirty="0"/>
          </a:p>
        </p:txBody>
      </p:sp>
      <p:sp>
        <p:nvSpPr>
          <p:cNvPr id="21" name="文字方塊 144"/>
          <p:cNvSpPr txBox="1"/>
          <p:nvPr/>
        </p:nvSpPr>
        <p:spPr>
          <a:xfrm>
            <a:off x="5551196" y="5722478"/>
            <a:ext cx="3169394" cy="418256"/>
          </a:xfrm>
          <a:prstGeom prst="rect">
            <a:avLst/>
          </a:prstGeom>
          <a:noFill/>
        </p:spPr>
        <p:txBody>
          <a:bodyPr wrap="none" rtlCol="0">
            <a:spAutoFit/>
          </a:bodyPr>
          <a:lstStyle/>
          <a:p>
            <a:r>
              <a:rPr lang="en-US" altLang="zh-TW" sz="2118" dirty="0"/>
              <a:t>y</a:t>
            </a:r>
            <a:r>
              <a:rPr lang="en-US" altLang="zh-TW" sz="2118" baseline="-25000" dirty="0"/>
              <a:t>10</a:t>
            </a:r>
            <a:r>
              <a:rPr lang="en-US" altLang="zh-TW" sz="2118" dirty="0"/>
              <a:t> has the maximum value</a:t>
            </a:r>
            <a:endParaRPr lang="zh-TW" altLang="en-US" sz="2118" dirty="0"/>
          </a:p>
        </p:txBody>
      </p:sp>
      <p:sp>
        <p:nvSpPr>
          <p:cNvPr id="22" name="向右箭號 146"/>
          <p:cNvSpPr/>
          <p:nvPr/>
        </p:nvSpPr>
        <p:spPr>
          <a:xfrm>
            <a:off x="5101922" y="5807871"/>
            <a:ext cx="433840" cy="30110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sz="1588"/>
          </a:p>
        </p:txBody>
      </p:sp>
      <p:pic>
        <p:nvPicPr>
          <p:cNvPr id="24" name="圖片 5"/>
          <p:cNvPicPr preferRelativeResize="0">
            <a:picLocks/>
          </p:cNvPicPr>
          <p:nvPr/>
        </p:nvPicPr>
        <p:blipFill>
          <a:blip r:embed="rId6"/>
          <a:stretch>
            <a:fillRect/>
          </a:stretch>
        </p:blipFill>
        <p:spPr>
          <a:xfrm>
            <a:off x="4418379" y="5608506"/>
            <a:ext cx="635294" cy="635294"/>
          </a:xfrm>
          <a:prstGeom prst="rect">
            <a:avLst/>
          </a:prstGeom>
          <a:ln w="38100">
            <a:solidFill>
              <a:schemeClr val="tx1"/>
            </a:solidFill>
          </a:ln>
        </p:spPr>
      </p:pic>
    </p:spTree>
    <p:extLst>
      <p:ext uri="{BB962C8B-B14F-4D97-AF65-F5344CB8AC3E}">
        <p14:creationId xmlns:p14="http://schemas.microsoft.com/office/powerpoint/2010/main" val="1717770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NNs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Define a </a:t>
                </a:r>
                <a:r>
                  <a:rPr lang="en-US" b="1" i="1" dirty="0">
                    <a:solidFill>
                      <a:srgbClr val="0070C0"/>
                    </a:solidFill>
                  </a:rPr>
                  <a:t>loss function/</a:t>
                </a:r>
                <a:r>
                  <a:rPr lang="en-US" dirty="0">
                    <a:solidFill>
                      <a:srgbClr val="FF0000"/>
                    </a:solidFill>
                  </a:rPr>
                  <a:t>objective function</a:t>
                </a:r>
                <a:r>
                  <a:rPr lang="en-US" dirty="0"/>
                  <a:t>/</a:t>
                </a:r>
                <a:r>
                  <a:rPr lang="en-US" dirty="0">
                    <a:solidFill>
                      <a:srgbClr val="FF0000"/>
                    </a:solidFill>
                  </a:rPr>
                  <a:t>cost function</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ℒ</m:t>
                    </m:r>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𝜃</m:t>
                        </m:r>
                      </m:e>
                    </m:d>
                  </m:oMath>
                </a14:m>
                <a:r>
                  <a:rPr lang="en-US" dirty="0"/>
                  <a:t> that calculates the difference (error) between the model prediction and the true label</a:t>
                </a:r>
              </a:p>
              <a:p>
                <a:pPr lvl="1"/>
                <a:r>
                  <a:rPr lang="en-US" dirty="0"/>
                  <a:t>E.g., </a:t>
                </a:r>
                <a14:m>
                  <m:oMath xmlns:m="http://schemas.openxmlformats.org/officeDocument/2006/math">
                    <m:r>
                      <a:rPr lang="en-US" i="1">
                        <a:latin typeface="Cambria Math" panose="02040503050406030204" pitchFamily="18" charset="0"/>
                        <a:ea typeface="Cambria Math" panose="02040503050406030204" pitchFamily="18" charset="0"/>
                      </a:rPr>
                      <m:t>ℒ</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oMath>
                </a14:m>
                <a:r>
                  <a:rPr lang="en-US" dirty="0"/>
                  <a:t> can be mean-squared error, cross-entropy, etc.</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9" t="-795"/>
                </a:stretch>
              </a:blipFill>
            </p:spPr>
            <p:txBody>
              <a:bodyPr/>
              <a:lstStyle/>
              <a:p>
                <a:r>
                  <a:rPr lang="en-US">
                    <a:noFill/>
                  </a:rPr>
                  <a:t> </a:t>
                </a:r>
              </a:p>
            </p:txBody>
          </p:sp>
        </mc:Fallback>
      </mc:AlternateContent>
      <p:sp>
        <p:nvSpPr>
          <p:cNvPr id="51" name="Content Placeholder 50">
            <a:extLst>
              <a:ext uri="{FF2B5EF4-FFF2-40B4-BE49-F238E27FC236}">
                <a16:creationId xmlns:a16="http://schemas.microsoft.com/office/drawing/2014/main" id="{C7872C7C-5319-433C-992A-064455ACD520}"/>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sp>
        <p:nvSpPr>
          <p:cNvPr id="4" name="矩形 33"/>
          <p:cNvSpPr/>
          <p:nvPr/>
        </p:nvSpPr>
        <p:spPr>
          <a:xfrm>
            <a:off x="6619070" y="3227657"/>
            <a:ext cx="440251" cy="231622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sp>
        <p:nvSpPr>
          <p:cNvPr id="5" name="矩形 34"/>
          <p:cNvSpPr/>
          <p:nvPr/>
        </p:nvSpPr>
        <p:spPr>
          <a:xfrm>
            <a:off x="3833241" y="3216838"/>
            <a:ext cx="658537" cy="2361060"/>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sp>
        <p:nvSpPr>
          <p:cNvPr id="6" name="矩形 39"/>
          <p:cNvSpPr/>
          <p:nvPr/>
        </p:nvSpPr>
        <p:spPr>
          <a:xfrm>
            <a:off x="2789327" y="3241228"/>
            <a:ext cx="440251" cy="231622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cxnSp>
        <p:nvCxnSpPr>
          <p:cNvPr id="7" name="直線單箭頭接點 42"/>
          <p:cNvCxnSpPr/>
          <p:nvPr/>
        </p:nvCxnSpPr>
        <p:spPr>
          <a:xfrm>
            <a:off x="6006964" y="4141915"/>
            <a:ext cx="5598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43"/>
          <p:cNvCxnSpPr/>
          <p:nvPr/>
        </p:nvCxnSpPr>
        <p:spPr>
          <a:xfrm>
            <a:off x="6103419" y="5241229"/>
            <a:ext cx="46337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44"/>
          <p:cNvCxnSpPr/>
          <p:nvPr/>
        </p:nvCxnSpPr>
        <p:spPr>
          <a:xfrm>
            <a:off x="5985890" y="3454736"/>
            <a:ext cx="58090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45"/>
          <p:cNvSpPr/>
          <p:nvPr/>
        </p:nvSpPr>
        <p:spPr>
          <a:xfrm>
            <a:off x="2849669" y="3874486"/>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sp>
        <p:nvSpPr>
          <p:cNvPr id="11" name="矩形 46"/>
          <p:cNvSpPr/>
          <p:nvPr/>
        </p:nvSpPr>
        <p:spPr>
          <a:xfrm>
            <a:off x="2854803" y="3371254"/>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graphicFrame>
        <p:nvGraphicFramePr>
          <p:cNvPr id="12" name="Object 12"/>
          <p:cNvGraphicFramePr>
            <a:graphicFrameLocks noChangeAspect="1"/>
          </p:cNvGraphicFramePr>
          <p:nvPr/>
        </p:nvGraphicFramePr>
        <p:xfrm>
          <a:off x="2866008" y="3287210"/>
          <a:ext cx="287151" cy="407614"/>
        </p:xfrm>
        <a:graphic>
          <a:graphicData uri="http://schemas.openxmlformats.org/presentationml/2006/ole">
            <mc:AlternateContent xmlns:mc="http://schemas.openxmlformats.org/markup-compatibility/2006">
              <mc:Choice xmlns:v="urn:schemas-microsoft-com:vml" Requires="v">
                <p:oleObj spid="_x0000_s2050" name="方程式" r:id="rId4" imgW="152280" imgH="215640" progId="Equation.3">
                  <p:embed/>
                </p:oleObj>
              </mc:Choice>
              <mc:Fallback>
                <p:oleObj name="方程式" r:id="rId4" imgW="152280" imgH="215640" progId="Equation.3">
                  <p:embed/>
                  <p:pic>
                    <p:nvPicPr>
                      <p:cNvPr id="12" name="Object 12"/>
                      <p:cNvPicPr>
                        <a:picLocks noChangeAspect="1" noChangeArrowheads="1"/>
                      </p:cNvPicPr>
                      <p:nvPr/>
                    </p:nvPicPr>
                    <p:blipFill>
                      <a:blip r:embed="rId5"/>
                      <a:srcRect/>
                      <a:stretch>
                        <a:fillRect/>
                      </a:stretch>
                    </p:blipFill>
                    <p:spPr bwMode="auto">
                      <a:xfrm>
                        <a:off x="2866008" y="3287210"/>
                        <a:ext cx="287151" cy="407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2870681" y="3801384"/>
          <a:ext cx="310963" cy="407614"/>
        </p:xfrm>
        <a:graphic>
          <a:graphicData uri="http://schemas.openxmlformats.org/presentationml/2006/ole">
            <mc:AlternateContent xmlns:mc="http://schemas.openxmlformats.org/markup-compatibility/2006">
              <mc:Choice xmlns:v="urn:schemas-microsoft-com:vml" Requires="v">
                <p:oleObj spid="_x0000_s2051" name="方程式" r:id="rId6" imgW="164880" imgH="215640" progId="Equation.3">
                  <p:embed/>
                </p:oleObj>
              </mc:Choice>
              <mc:Fallback>
                <p:oleObj name="方程式" r:id="rId6" imgW="164880" imgH="215640" progId="Equation.3">
                  <p:embed/>
                  <p:pic>
                    <p:nvPicPr>
                      <p:cNvPr id="13" name="Object 12"/>
                      <p:cNvPicPr>
                        <a:picLocks noChangeAspect="1" noChangeArrowheads="1"/>
                      </p:cNvPicPr>
                      <p:nvPr/>
                    </p:nvPicPr>
                    <p:blipFill>
                      <a:blip r:embed="rId7"/>
                      <a:srcRect/>
                      <a:stretch>
                        <a:fillRect/>
                      </a:stretch>
                    </p:blipFill>
                    <p:spPr bwMode="auto">
                      <a:xfrm>
                        <a:off x="2870681" y="3801384"/>
                        <a:ext cx="310963" cy="4076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橢圓 52"/>
          <p:cNvSpPr/>
          <p:nvPr/>
        </p:nvSpPr>
        <p:spPr>
          <a:xfrm>
            <a:off x="3918926" y="3226546"/>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5" name="橢圓 53"/>
          <p:cNvSpPr/>
          <p:nvPr/>
        </p:nvSpPr>
        <p:spPr>
          <a:xfrm>
            <a:off x="3920993" y="3913519"/>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6" name="橢圓 54"/>
          <p:cNvSpPr/>
          <p:nvPr/>
        </p:nvSpPr>
        <p:spPr>
          <a:xfrm>
            <a:off x="3910729" y="4997059"/>
            <a:ext cx="506610" cy="50661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588"/>
          </a:p>
        </p:txBody>
      </p:sp>
      <p:sp>
        <p:nvSpPr>
          <p:cNvPr id="17" name="文字方塊 55"/>
          <p:cNvSpPr txBox="1"/>
          <p:nvPr/>
        </p:nvSpPr>
        <p:spPr>
          <a:xfrm rot="5400000">
            <a:off x="3908305" y="4481868"/>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18" name="矩形 58"/>
          <p:cNvSpPr/>
          <p:nvPr/>
        </p:nvSpPr>
        <p:spPr>
          <a:xfrm>
            <a:off x="2858073" y="5107801"/>
            <a:ext cx="302559" cy="3025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588"/>
          </a:p>
        </p:txBody>
      </p:sp>
      <p:graphicFrame>
        <p:nvGraphicFramePr>
          <p:cNvPr id="19" name="Object 12"/>
          <p:cNvGraphicFramePr>
            <a:graphicFrameLocks noChangeAspect="1"/>
          </p:cNvGraphicFramePr>
          <p:nvPr/>
        </p:nvGraphicFramePr>
        <p:xfrm>
          <a:off x="2794612" y="5022418"/>
          <a:ext cx="480452" cy="431426"/>
        </p:xfrm>
        <a:graphic>
          <a:graphicData uri="http://schemas.openxmlformats.org/presentationml/2006/ole">
            <mc:AlternateContent xmlns:mc="http://schemas.openxmlformats.org/markup-compatibility/2006">
              <mc:Choice xmlns:v="urn:schemas-microsoft-com:vml" Requires="v">
                <p:oleObj spid="_x0000_s2052" name="方程式" r:id="rId8" imgW="253800" imgH="228600" progId="Equation.3">
                  <p:embed/>
                </p:oleObj>
              </mc:Choice>
              <mc:Fallback>
                <p:oleObj name="方程式" r:id="rId8" imgW="253800" imgH="228600" progId="Equation.3">
                  <p:embed/>
                  <p:pic>
                    <p:nvPicPr>
                      <p:cNvPr id="19" name="Object 12"/>
                      <p:cNvPicPr>
                        <a:picLocks noChangeAspect="1" noChangeArrowheads="1"/>
                      </p:cNvPicPr>
                      <p:nvPr/>
                    </p:nvPicPr>
                    <p:blipFill>
                      <a:blip r:embed="rId9"/>
                      <a:srcRect/>
                      <a:stretch>
                        <a:fillRect/>
                      </a:stretch>
                    </p:blipFill>
                    <p:spPr bwMode="auto">
                      <a:xfrm>
                        <a:off x="2794612" y="5022418"/>
                        <a:ext cx="480452" cy="431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文字方塊 62"/>
          <p:cNvSpPr txBox="1"/>
          <p:nvPr/>
        </p:nvSpPr>
        <p:spPr>
          <a:xfrm rot="5400000">
            <a:off x="2748602" y="4471417"/>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1" name="文字方塊 71"/>
          <p:cNvSpPr txBox="1"/>
          <p:nvPr/>
        </p:nvSpPr>
        <p:spPr>
          <a:xfrm>
            <a:off x="5001757" y="3174855"/>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2" name="文字方塊 72"/>
          <p:cNvSpPr txBox="1"/>
          <p:nvPr/>
        </p:nvSpPr>
        <p:spPr>
          <a:xfrm>
            <a:off x="5017306" y="3867942"/>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23" name="文字方塊 73"/>
          <p:cNvSpPr txBox="1"/>
          <p:nvPr/>
        </p:nvSpPr>
        <p:spPr>
          <a:xfrm>
            <a:off x="5028053" y="4976435"/>
            <a:ext cx="678756" cy="472565"/>
          </a:xfrm>
          <a:prstGeom prst="rect">
            <a:avLst/>
          </a:prstGeom>
          <a:noFill/>
        </p:spPr>
        <p:txBody>
          <a:bodyPr wrap="square" rtlCol="0">
            <a:spAutoFit/>
          </a:bodyPr>
          <a:lstStyle/>
          <a:p>
            <a:pPr algn="ctr"/>
            <a:r>
              <a:rPr lang="en-US" altLang="zh-TW" sz="2471" dirty="0"/>
              <a:t>……</a:t>
            </a:r>
            <a:endParaRPr lang="zh-TW" altLang="en-US" sz="2471" dirty="0"/>
          </a:p>
        </p:txBody>
      </p:sp>
      <p:cxnSp>
        <p:nvCxnSpPr>
          <p:cNvPr id="24" name="直線單箭頭接點 74"/>
          <p:cNvCxnSpPr>
            <a:stCxn id="14" idx="6"/>
          </p:cNvCxnSpPr>
          <p:nvPr/>
        </p:nvCxnSpPr>
        <p:spPr>
          <a:xfrm>
            <a:off x="4425536" y="3479851"/>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75"/>
          <p:cNvCxnSpPr/>
          <p:nvPr/>
        </p:nvCxnSpPr>
        <p:spPr>
          <a:xfrm>
            <a:off x="4425536" y="4178456"/>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76"/>
          <p:cNvCxnSpPr/>
          <p:nvPr/>
        </p:nvCxnSpPr>
        <p:spPr>
          <a:xfrm>
            <a:off x="4417339" y="5256664"/>
            <a:ext cx="6541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77"/>
          <p:cNvCxnSpPr>
            <a:stCxn id="15" idx="6"/>
          </p:cNvCxnSpPr>
          <p:nvPr/>
        </p:nvCxnSpPr>
        <p:spPr>
          <a:xfrm flipV="1">
            <a:off x="4427603" y="3479851"/>
            <a:ext cx="652114" cy="686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78"/>
          <p:cNvCxnSpPr>
            <a:stCxn id="14" idx="6"/>
          </p:cNvCxnSpPr>
          <p:nvPr/>
        </p:nvCxnSpPr>
        <p:spPr>
          <a:xfrm>
            <a:off x="4425537" y="3479851"/>
            <a:ext cx="656246" cy="686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79"/>
          <p:cNvCxnSpPr>
            <a:stCxn id="14" idx="6"/>
          </p:cNvCxnSpPr>
          <p:nvPr/>
        </p:nvCxnSpPr>
        <p:spPr>
          <a:xfrm>
            <a:off x="4425537" y="3479851"/>
            <a:ext cx="645982" cy="1770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80"/>
          <p:cNvCxnSpPr>
            <a:stCxn id="15" idx="6"/>
          </p:cNvCxnSpPr>
          <p:nvPr/>
        </p:nvCxnSpPr>
        <p:spPr>
          <a:xfrm>
            <a:off x="4427603" y="4166824"/>
            <a:ext cx="643916" cy="1083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81"/>
          <p:cNvCxnSpPr>
            <a:stCxn id="16" idx="6"/>
          </p:cNvCxnSpPr>
          <p:nvPr/>
        </p:nvCxnSpPr>
        <p:spPr>
          <a:xfrm flipV="1">
            <a:off x="4417339" y="3479851"/>
            <a:ext cx="662378" cy="1770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82"/>
          <p:cNvCxnSpPr>
            <a:stCxn id="16" idx="6"/>
          </p:cNvCxnSpPr>
          <p:nvPr/>
        </p:nvCxnSpPr>
        <p:spPr>
          <a:xfrm flipV="1">
            <a:off x="4417339" y="4166824"/>
            <a:ext cx="664444" cy="1083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83"/>
          <p:cNvCxnSpPr>
            <a:endCxn id="14" idx="2"/>
          </p:cNvCxnSpPr>
          <p:nvPr/>
        </p:nvCxnSpPr>
        <p:spPr>
          <a:xfrm flipV="1">
            <a:off x="3160632" y="3479852"/>
            <a:ext cx="758294" cy="264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84"/>
          <p:cNvCxnSpPr>
            <a:stCxn id="11" idx="3"/>
            <a:endCxn id="15" idx="2"/>
          </p:cNvCxnSpPr>
          <p:nvPr/>
        </p:nvCxnSpPr>
        <p:spPr>
          <a:xfrm>
            <a:off x="3157362" y="3522534"/>
            <a:ext cx="763631" cy="6442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85"/>
          <p:cNvCxnSpPr>
            <a:stCxn id="11" idx="3"/>
            <a:endCxn id="16" idx="2"/>
          </p:cNvCxnSpPr>
          <p:nvPr/>
        </p:nvCxnSpPr>
        <p:spPr>
          <a:xfrm>
            <a:off x="3157362" y="3522534"/>
            <a:ext cx="753367" cy="17278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86"/>
          <p:cNvCxnSpPr>
            <a:stCxn id="13" idx="3"/>
            <a:endCxn id="14" idx="2"/>
          </p:cNvCxnSpPr>
          <p:nvPr/>
        </p:nvCxnSpPr>
        <p:spPr>
          <a:xfrm flipV="1">
            <a:off x="3181644" y="3479851"/>
            <a:ext cx="737283" cy="5253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87"/>
          <p:cNvCxnSpPr>
            <a:stCxn id="10" idx="3"/>
            <a:endCxn id="15" idx="2"/>
          </p:cNvCxnSpPr>
          <p:nvPr/>
        </p:nvCxnSpPr>
        <p:spPr>
          <a:xfrm>
            <a:off x="3152228" y="4025766"/>
            <a:ext cx="768765" cy="1410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88"/>
          <p:cNvCxnSpPr>
            <a:stCxn id="10" idx="3"/>
            <a:endCxn id="16" idx="2"/>
          </p:cNvCxnSpPr>
          <p:nvPr/>
        </p:nvCxnSpPr>
        <p:spPr>
          <a:xfrm>
            <a:off x="3152228" y="4025766"/>
            <a:ext cx="758501" cy="12245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89"/>
          <p:cNvCxnSpPr>
            <a:stCxn id="19" idx="3"/>
            <a:endCxn id="14" idx="2"/>
          </p:cNvCxnSpPr>
          <p:nvPr/>
        </p:nvCxnSpPr>
        <p:spPr>
          <a:xfrm flipV="1">
            <a:off x="3215314" y="3479851"/>
            <a:ext cx="703613" cy="175873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90"/>
          <p:cNvCxnSpPr>
            <a:stCxn id="19" idx="3"/>
            <a:endCxn id="15" idx="2"/>
          </p:cNvCxnSpPr>
          <p:nvPr/>
        </p:nvCxnSpPr>
        <p:spPr>
          <a:xfrm flipV="1">
            <a:off x="3192047" y="4166825"/>
            <a:ext cx="728946" cy="10717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91"/>
          <p:cNvCxnSpPr>
            <a:stCxn id="19" idx="3"/>
            <a:endCxn id="16" idx="2"/>
          </p:cNvCxnSpPr>
          <p:nvPr/>
        </p:nvCxnSpPr>
        <p:spPr>
          <a:xfrm>
            <a:off x="3192047" y="5238536"/>
            <a:ext cx="718682" cy="118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字方塊 92"/>
          <p:cNvSpPr txBox="1"/>
          <p:nvPr/>
        </p:nvSpPr>
        <p:spPr>
          <a:xfrm rot="5400000">
            <a:off x="7139889" y="4625041"/>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43" name="文字方塊 93"/>
          <p:cNvSpPr txBox="1"/>
          <p:nvPr/>
        </p:nvSpPr>
        <p:spPr>
          <a:xfrm>
            <a:off x="6629025" y="3211929"/>
            <a:ext cx="556826" cy="472565"/>
          </a:xfrm>
          <a:prstGeom prst="rect">
            <a:avLst/>
          </a:prstGeom>
          <a:noFill/>
        </p:spPr>
        <p:txBody>
          <a:bodyPr wrap="square" rtlCol="0">
            <a:spAutoFit/>
          </a:bodyPr>
          <a:lstStyle/>
          <a:p>
            <a:r>
              <a:rPr lang="en-US" altLang="zh-TW" sz="2471" dirty="0"/>
              <a:t>y</a:t>
            </a:r>
            <a:r>
              <a:rPr lang="en-US" altLang="zh-TW" sz="2471" baseline="-25000" dirty="0"/>
              <a:t>1</a:t>
            </a:r>
            <a:endParaRPr lang="zh-TW" altLang="en-US" sz="2471" baseline="-25000" dirty="0"/>
          </a:p>
        </p:txBody>
      </p:sp>
      <p:sp>
        <p:nvSpPr>
          <p:cNvPr id="44" name="文字方塊 94"/>
          <p:cNvSpPr txBox="1"/>
          <p:nvPr/>
        </p:nvSpPr>
        <p:spPr>
          <a:xfrm>
            <a:off x="6647641" y="3925143"/>
            <a:ext cx="556826" cy="472565"/>
          </a:xfrm>
          <a:prstGeom prst="rect">
            <a:avLst/>
          </a:prstGeom>
          <a:noFill/>
        </p:spPr>
        <p:txBody>
          <a:bodyPr wrap="square" rtlCol="0">
            <a:spAutoFit/>
          </a:bodyPr>
          <a:lstStyle/>
          <a:p>
            <a:r>
              <a:rPr lang="en-US" altLang="zh-TW" sz="2471" dirty="0"/>
              <a:t>y</a:t>
            </a:r>
            <a:r>
              <a:rPr lang="en-US" altLang="zh-TW" sz="2471" baseline="-25000" dirty="0"/>
              <a:t>2</a:t>
            </a:r>
            <a:endParaRPr lang="zh-TW" altLang="en-US" sz="2471" baseline="-25000" dirty="0"/>
          </a:p>
        </p:txBody>
      </p:sp>
      <p:sp>
        <p:nvSpPr>
          <p:cNvPr id="45" name="文字方塊 95"/>
          <p:cNvSpPr txBox="1"/>
          <p:nvPr/>
        </p:nvSpPr>
        <p:spPr>
          <a:xfrm>
            <a:off x="6619070" y="5033505"/>
            <a:ext cx="556826" cy="472565"/>
          </a:xfrm>
          <a:prstGeom prst="rect">
            <a:avLst/>
          </a:prstGeom>
          <a:noFill/>
        </p:spPr>
        <p:txBody>
          <a:bodyPr wrap="square" rtlCol="0">
            <a:spAutoFit/>
          </a:bodyPr>
          <a:lstStyle/>
          <a:p>
            <a:r>
              <a:rPr lang="en-US" altLang="zh-TW" sz="2471" dirty="0"/>
              <a:t>y</a:t>
            </a:r>
            <a:r>
              <a:rPr lang="en-US" altLang="zh-TW" sz="2471" baseline="-25000" dirty="0"/>
              <a:t>10</a:t>
            </a:r>
            <a:endParaRPr lang="zh-TW" altLang="en-US" sz="2471" baseline="-25000" dirty="0"/>
          </a:p>
        </p:txBody>
      </p:sp>
      <p:sp>
        <p:nvSpPr>
          <p:cNvPr id="46" name="文字方塊 8"/>
          <p:cNvSpPr txBox="1"/>
          <p:nvPr/>
        </p:nvSpPr>
        <p:spPr>
          <a:xfrm>
            <a:off x="4203472" y="4165083"/>
            <a:ext cx="65" cy="244362"/>
          </a:xfrm>
          <a:prstGeom prst="rect">
            <a:avLst/>
          </a:prstGeom>
          <a:noFill/>
        </p:spPr>
        <p:txBody>
          <a:bodyPr wrap="none" lIns="0" tIns="0" rIns="0" bIns="0" rtlCol="0">
            <a:spAutoFit/>
          </a:bodyPr>
          <a:lstStyle/>
          <a:p>
            <a:endParaRPr lang="zh-TW" altLang="en-US" sz="1588" dirty="0"/>
          </a:p>
        </p:txBody>
      </p:sp>
      <p:sp>
        <p:nvSpPr>
          <p:cNvPr id="47" name="文字方塊 70"/>
          <p:cNvSpPr txBox="1"/>
          <p:nvPr/>
        </p:nvSpPr>
        <p:spPr>
          <a:xfrm>
            <a:off x="8146212" y="4389599"/>
            <a:ext cx="894947" cy="472565"/>
          </a:xfrm>
          <a:prstGeom prst="rect">
            <a:avLst/>
          </a:prstGeom>
          <a:solidFill>
            <a:schemeClr val="accent6">
              <a:lumMod val="75000"/>
            </a:schemeClr>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71" dirty="0"/>
              <a:t>Cost </a:t>
            </a:r>
          </a:p>
        </p:txBody>
      </p:sp>
      <p:sp>
        <p:nvSpPr>
          <p:cNvPr id="48" name="矩形 96"/>
          <p:cNvSpPr/>
          <p:nvPr/>
        </p:nvSpPr>
        <p:spPr>
          <a:xfrm>
            <a:off x="7194805" y="3356872"/>
            <a:ext cx="546871"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0.2</a:t>
            </a:r>
            <a:endParaRPr lang="zh-TW" altLang="en-US" sz="2118" dirty="0"/>
          </a:p>
        </p:txBody>
      </p:sp>
      <p:sp>
        <p:nvSpPr>
          <p:cNvPr id="49" name="矩形 99"/>
          <p:cNvSpPr/>
          <p:nvPr/>
        </p:nvSpPr>
        <p:spPr>
          <a:xfrm>
            <a:off x="7194806" y="4050034"/>
            <a:ext cx="546871"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0.3</a:t>
            </a:r>
            <a:endParaRPr lang="zh-TW" altLang="en-US" sz="2118" dirty="0"/>
          </a:p>
        </p:txBody>
      </p:sp>
      <p:sp>
        <p:nvSpPr>
          <p:cNvPr id="50" name="矩形 100"/>
          <p:cNvSpPr/>
          <p:nvPr/>
        </p:nvSpPr>
        <p:spPr>
          <a:xfrm>
            <a:off x="7190898" y="5144476"/>
            <a:ext cx="609103" cy="3812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118" dirty="0"/>
              <a:t>0.5</a:t>
            </a:r>
            <a:endParaRPr lang="zh-TW" altLang="en-US" sz="2118" dirty="0"/>
          </a:p>
        </p:txBody>
      </p:sp>
      <p:pic>
        <p:nvPicPr>
          <p:cNvPr id="53" name="圖片 107"/>
          <p:cNvPicPr preferRelativeResize="0">
            <a:picLocks/>
          </p:cNvPicPr>
          <p:nvPr/>
        </p:nvPicPr>
        <p:blipFill>
          <a:blip r:embed="rId10"/>
          <a:stretch>
            <a:fillRect/>
          </a:stretch>
        </p:blipFill>
        <p:spPr>
          <a:xfrm>
            <a:off x="1891269" y="4102482"/>
            <a:ext cx="635294" cy="635294"/>
          </a:xfrm>
          <a:prstGeom prst="rect">
            <a:avLst/>
          </a:prstGeom>
          <a:ln w="38100">
            <a:solidFill>
              <a:schemeClr val="tx1"/>
            </a:solidFill>
          </a:ln>
        </p:spPr>
      </p:pic>
      <p:grpSp>
        <p:nvGrpSpPr>
          <p:cNvPr id="54" name="群組 10"/>
          <p:cNvGrpSpPr/>
          <p:nvPr/>
        </p:nvGrpSpPr>
        <p:grpSpPr>
          <a:xfrm>
            <a:off x="9165165" y="3241228"/>
            <a:ext cx="582940" cy="2316222"/>
            <a:chOff x="7996358" y="2461791"/>
            <a:chExt cx="660666" cy="2625052"/>
          </a:xfrm>
        </p:grpSpPr>
        <p:sp>
          <p:nvSpPr>
            <p:cNvPr id="55" name="矩形 109"/>
            <p:cNvSpPr/>
            <p:nvPr/>
          </p:nvSpPr>
          <p:spPr>
            <a:xfrm>
              <a:off x="8062418" y="2461791"/>
              <a:ext cx="498951" cy="2625052"/>
            </a:xfrm>
            <a:prstGeom prst="rect">
              <a:avLst/>
            </a:prstGeom>
            <a:solidFill>
              <a:schemeClr val="accent3">
                <a:lumMod val="20000"/>
                <a:lumOff val="80000"/>
              </a:schemeClr>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588"/>
            </a:p>
          </p:txBody>
        </p:sp>
        <p:sp>
          <p:nvSpPr>
            <p:cNvPr id="56" name="文字方塊 110"/>
            <p:cNvSpPr txBox="1"/>
            <p:nvPr/>
          </p:nvSpPr>
          <p:spPr>
            <a:xfrm rot="5400000">
              <a:off x="8004608" y="3941862"/>
              <a:ext cx="769257" cy="535574"/>
            </a:xfrm>
            <a:prstGeom prst="rect">
              <a:avLst/>
            </a:prstGeom>
            <a:noFill/>
          </p:spPr>
          <p:txBody>
            <a:bodyPr wrap="square" rtlCol="0">
              <a:spAutoFit/>
            </a:bodyPr>
            <a:lstStyle/>
            <a:p>
              <a:pPr algn="ctr"/>
              <a:r>
                <a:rPr lang="en-US" altLang="zh-TW" sz="2471" dirty="0"/>
                <a:t>……</a:t>
              </a:r>
              <a:endParaRPr lang="zh-TW" altLang="en-US" sz="2471" dirty="0"/>
            </a:p>
          </p:txBody>
        </p:sp>
        <p:sp>
          <p:nvSpPr>
            <p:cNvPr id="57" name="文字方塊 111"/>
            <p:cNvSpPr txBox="1"/>
            <p:nvPr/>
          </p:nvSpPr>
          <p:spPr>
            <a:xfrm>
              <a:off x="7996358" y="2508931"/>
              <a:ext cx="631069" cy="535574"/>
            </a:xfrm>
            <a:prstGeom prst="rect">
              <a:avLst/>
            </a:prstGeom>
            <a:noFill/>
          </p:spPr>
          <p:txBody>
            <a:bodyPr wrap="square" rtlCol="0">
              <a:spAutoFit/>
            </a:bodyPr>
            <a:lstStyle/>
            <a:p>
              <a:pPr algn="ctr"/>
              <a:r>
                <a:rPr lang="en-US" altLang="zh-TW" sz="2471" dirty="0"/>
                <a:t>1</a:t>
              </a:r>
              <a:endParaRPr lang="zh-TW" altLang="en-US" sz="2471" baseline="-25000" dirty="0"/>
            </a:p>
          </p:txBody>
        </p:sp>
        <p:sp>
          <p:nvSpPr>
            <p:cNvPr id="58" name="文字方塊 112"/>
            <p:cNvSpPr txBox="1"/>
            <p:nvPr/>
          </p:nvSpPr>
          <p:spPr>
            <a:xfrm>
              <a:off x="8005216" y="3269035"/>
              <a:ext cx="631069" cy="535574"/>
            </a:xfrm>
            <a:prstGeom prst="rect">
              <a:avLst/>
            </a:prstGeom>
            <a:noFill/>
          </p:spPr>
          <p:txBody>
            <a:bodyPr wrap="square" rtlCol="0">
              <a:spAutoFit/>
            </a:bodyPr>
            <a:lstStyle/>
            <a:p>
              <a:pPr algn="ctr"/>
              <a:r>
                <a:rPr lang="en-US" altLang="zh-TW" sz="2471" dirty="0"/>
                <a:t>0</a:t>
              </a:r>
              <a:endParaRPr lang="zh-TW" altLang="en-US" sz="2471" baseline="-25000" dirty="0"/>
            </a:p>
          </p:txBody>
        </p:sp>
        <p:sp>
          <p:nvSpPr>
            <p:cNvPr id="59" name="文字方塊 113"/>
            <p:cNvSpPr txBox="1"/>
            <p:nvPr/>
          </p:nvSpPr>
          <p:spPr>
            <a:xfrm>
              <a:off x="7996358" y="4489333"/>
              <a:ext cx="631069" cy="535574"/>
            </a:xfrm>
            <a:prstGeom prst="rect">
              <a:avLst/>
            </a:prstGeom>
            <a:noFill/>
          </p:spPr>
          <p:txBody>
            <a:bodyPr wrap="square" rtlCol="0">
              <a:spAutoFit/>
            </a:bodyPr>
            <a:lstStyle/>
            <a:p>
              <a:pPr algn="ctr"/>
              <a:r>
                <a:rPr lang="en-US" altLang="zh-TW" sz="2471" dirty="0"/>
                <a:t>0</a:t>
              </a:r>
              <a:endParaRPr lang="zh-TW" altLang="en-US" sz="2471" baseline="-25000" dirty="0"/>
            </a:p>
          </p:txBody>
        </p:sp>
      </p:grpSp>
      <p:sp>
        <p:nvSpPr>
          <p:cNvPr id="60" name="左-右雙向箭號 114"/>
          <p:cNvSpPr/>
          <p:nvPr/>
        </p:nvSpPr>
        <p:spPr>
          <a:xfrm>
            <a:off x="8054147" y="4020895"/>
            <a:ext cx="1047879" cy="295478"/>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588"/>
          </a:p>
        </p:txBody>
      </p:sp>
      <p:sp>
        <p:nvSpPr>
          <p:cNvPr id="65" name="矩形 97"/>
          <p:cNvSpPr/>
          <p:nvPr/>
        </p:nvSpPr>
        <p:spPr>
          <a:xfrm>
            <a:off x="5596733" y="3226039"/>
            <a:ext cx="658537" cy="2361060"/>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588"/>
          </a:p>
        </p:txBody>
      </p:sp>
      <p:sp>
        <p:nvSpPr>
          <p:cNvPr id="66" name="橢圓 98"/>
          <p:cNvSpPr/>
          <p:nvPr/>
        </p:nvSpPr>
        <p:spPr>
          <a:xfrm>
            <a:off x="5663654" y="3218887"/>
            <a:ext cx="506610" cy="50661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588"/>
          </a:p>
        </p:txBody>
      </p:sp>
      <p:sp>
        <p:nvSpPr>
          <p:cNvPr id="67" name="橢圓 103"/>
          <p:cNvSpPr/>
          <p:nvPr/>
        </p:nvSpPr>
        <p:spPr>
          <a:xfrm>
            <a:off x="5665721" y="3889395"/>
            <a:ext cx="506610" cy="50661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588"/>
          </a:p>
        </p:txBody>
      </p:sp>
      <p:sp>
        <p:nvSpPr>
          <p:cNvPr id="68" name="橢圓 104"/>
          <p:cNvSpPr/>
          <p:nvPr/>
        </p:nvSpPr>
        <p:spPr>
          <a:xfrm>
            <a:off x="5671922" y="4989401"/>
            <a:ext cx="506610" cy="50661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588"/>
          </a:p>
        </p:txBody>
      </p:sp>
      <p:sp>
        <p:nvSpPr>
          <p:cNvPr id="69" name="文字方塊 105"/>
          <p:cNvSpPr txBox="1"/>
          <p:nvPr/>
        </p:nvSpPr>
        <p:spPr>
          <a:xfrm rot="5400000">
            <a:off x="5669498" y="4471418"/>
            <a:ext cx="678756"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70" name="矩形 2"/>
          <p:cNvSpPr/>
          <p:nvPr/>
        </p:nvSpPr>
        <p:spPr>
          <a:xfrm>
            <a:off x="8740452" y="5722371"/>
            <a:ext cx="1440202" cy="363946"/>
          </a:xfrm>
          <a:prstGeom prst="rect">
            <a:avLst/>
          </a:prstGeom>
          <a:solidFill>
            <a:srgbClr val="00B050"/>
          </a:solidFill>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sz="1765" dirty="0"/>
              <a:t>True label “1”</a:t>
            </a:r>
            <a:endParaRPr lang="zh-TW" altLang="en-US" sz="1765" dirty="0"/>
          </a:p>
        </p:txBody>
      </p:sp>
      <mc:AlternateContent xmlns:mc="http://schemas.openxmlformats.org/markup-compatibility/2006" xmlns:a14="http://schemas.microsoft.com/office/drawing/2010/main">
        <mc:Choice Requires="a14">
          <p:sp>
            <p:nvSpPr>
              <p:cNvPr id="71" name="文字方塊 6"/>
              <p:cNvSpPr txBox="1"/>
              <p:nvPr/>
            </p:nvSpPr>
            <p:spPr>
              <a:xfrm>
                <a:off x="8230604" y="4940793"/>
                <a:ext cx="719877" cy="3802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71" i="1">
                          <a:latin typeface="Cambria Math" panose="02040503050406030204" pitchFamily="18" charset="0"/>
                          <a:ea typeface="Cambria Math" panose="02040503050406030204" pitchFamily="18" charset="0"/>
                        </a:rPr>
                        <m:t>ℒ</m:t>
                      </m:r>
                      <m:r>
                        <a:rPr lang="en-US" altLang="zh-TW" sz="2471" i="1">
                          <a:latin typeface="Cambria Math" panose="02040503050406030204" pitchFamily="18" charset="0"/>
                        </a:rPr>
                        <m:t>(</m:t>
                      </m:r>
                      <m:r>
                        <a:rPr lang="zh-TW" altLang="en-US" sz="2471" i="1">
                          <a:latin typeface="Cambria Math" panose="02040503050406030204" pitchFamily="18" charset="0"/>
                        </a:rPr>
                        <m:t>𝜃</m:t>
                      </m:r>
                      <m:r>
                        <a:rPr lang="en-US" altLang="zh-TW" sz="2471" i="1">
                          <a:latin typeface="Cambria Math" panose="02040503050406030204" pitchFamily="18" charset="0"/>
                        </a:rPr>
                        <m:t>)</m:t>
                      </m:r>
                    </m:oMath>
                  </m:oMathPara>
                </a14:m>
                <a:endParaRPr lang="zh-TW" altLang="en-US" sz="2471" dirty="0"/>
              </a:p>
            </p:txBody>
          </p:sp>
        </mc:Choice>
        <mc:Fallback xmlns="">
          <p:sp>
            <p:nvSpPr>
              <p:cNvPr id="71" name="文字方塊 6"/>
              <p:cNvSpPr txBox="1">
                <a:spLocks noRot="1" noChangeAspect="1" noMove="1" noResize="1" noEditPoints="1" noAdjustHandles="1" noChangeArrowheads="1" noChangeShapeType="1" noTextEdit="1"/>
              </p:cNvSpPr>
              <p:nvPr/>
            </p:nvSpPr>
            <p:spPr>
              <a:xfrm>
                <a:off x="8230604" y="4940793"/>
                <a:ext cx="719877" cy="380232"/>
              </a:xfrm>
              <a:prstGeom prst="rect">
                <a:avLst/>
              </a:prstGeom>
              <a:blipFill>
                <a:blip r:embed="rId11"/>
                <a:stretch>
                  <a:fillRect l="-9322" r="-14407" b="-31746"/>
                </a:stretch>
              </a:blipFill>
            </p:spPr>
            <p:txBody>
              <a:bodyPr/>
              <a:lstStyle/>
              <a:p>
                <a:r>
                  <a:rPr lang="en-IN">
                    <a:noFill/>
                  </a:rPr>
                  <a:t> </a:t>
                </a:r>
              </a:p>
            </p:txBody>
          </p:sp>
        </mc:Fallback>
      </mc:AlternateContent>
      <p:sp>
        <p:nvSpPr>
          <p:cNvPr id="72" name="文字方塊 92"/>
          <p:cNvSpPr txBox="1"/>
          <p:nvPr/>
        </p:nvSpPr>
        <p:spPr>
          <a:xfrm rot="5400000">
            <a:off x="6554899" y="4557349"/>
            <a:ext cx="678756" cy="472565"/>
          </a:xfrm>
          <a:prstGeom prst="rect">
            <a:avLst/>
          </a:prstGeom>
          <a:noFill/>
        </p:spPr>
        <p:txBody>
          <a:bodyPr wrap="square" rtlCol="0">
            <a:spAutoFit/>
          </a:bodyPr>
          <a:lstStyle/>
          <a:p>
            <a:pPr algn="ctr"/>
            <a:r>
              <a:rPr lang="en-US" altLang="zh-TW" sz="2471" dirty="0"/>
              <a:t>……</a:t>
            </a:r>
            <a:endParaRPr lang="zh-TW" altLang="en-US" sz="2471" dirty="0"/>
          </a:p>
        </p:txBody>
      </p:sp>
    </p:spTree>
    <p:extLst>
      <p:ext uri="{BB962C8B-B14F-4D97-AF65-F5344CB8AC3E}">
        <p14:creationId xmlns:p14="http://schemas.microsoft.com/office/powerpoint/2010/main" val="2799163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48"/>
          <p:cNvSpPr/>
          <p:nvPr/>
        </p:nvSpPr>
        <p:spPr>
          <a:xfrm>
            <a:off x="8121470" y="5917269"/>
            <a:ext cx="322092" cy="59251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118" baseline="30000" dirty="0"/>
          </a:p>
        </p:txBody>
      </p:sp>
      <p:sp>
        <p:nvSpPr>
          <p:cNvPr id="54" name="矩形 72"/>
          <p:cNvSpPr/>
          <p:nvPr/>
        </p:nvSpPr>
        <p:spPr>
          <a:xfrm>
            <a:off x="8118688" y="4634001"/>
            <a:ext cx="282005" cy="59251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118" baseline="30000" dirty="0"/>
          </a:p>
        </p:txBody>
      </p:sp>
      <p:sp>
        <p:nvSpPr>
          <p:cNvPr id="33" name="矩形 46"/>
          <p:cNvSpPr/>
          <p:nvPr/>
        </p:nvSpPr>
        <p:spPr>
          <a:xfrm>
            <a:off x="8121471" y="2998049"/>
            <a:ext cx="322091" cy="59251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118" baseline="30000" dirty="0"/>
          </a:p>
        </p:txBody>
      </p:sp>
      <p:sp>
        <p:nvSpPr>
          <p:cNvPr id="34" name="矩形 47"/>
          <p:cNvSpPr/>
          <p:nvPr/>
        </p:nvSpPr>
        <p:spPr>
          <a:xfrm>
            <a:off x="8121470" y="3833730"/>
            <a:ext cx="341179" cy="59251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118" baseline="30000" dirty="0"/>
          </a:p>
        </p:txBody>
      </p:sp>
      <p:sp>
        <p:nvSpPr>
          <p:cNvPr id="2" name="Title 1"/>
          <p:cNvSpPr>
            <a:spLocks noGrp="1"/>
          </p:cNvSpPr>
          <p:nvPr>
            <p:ph type="title"/>
          </p:nvPr>
        </p:nvSpPr>
        <p:spPr/>
        <p:txBody>
          <a:bodyPr/>
          <a:lstStyle/>
          <a:p>
            <a:r>
              <a:rPr lang="en-US" dirty="0"/>
              <a:t>Training NNs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a training set of </a:t>
                </a:r>
                <a14:m>
                  <m:oMath xmlns:m="http://schemas.openxmlformats.org/officeDocument/2006/math">
                    <m:r>
                      <a:rPr lang="en-US" altLang="zh-TW" i="1">
                        <a:latin typeface="Cambria Math" panose="02040503050406030204" pitchFamily="18" charset="0"/>
                      </a:rPr>
                      <m:t>𝑁</m:t>
                    </m:r>
                  </m:oMath>
                </a14:m>
                <a:r>
                  <a:rPr lang="en-US" dirty="0"/>
                  <a:t> images, calculate the total loss overall all images: </a:t>
                </a:r>
                <a14:m>
                  <m:oMath xmlns:m="http://schemas.openxmlformats.org/officeDocument/2006/math">
                    <m:r>
                      <a:rPr lang="en-US" altLang="zh-TW" i="1" smtClean="0">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r>
                      <a:rPr lang="en-US" altLang="zh-TW" i="1">
                        <a:latin typeface="Cambria Math" panose="02040503050406030204" pitchFamily="18" charset="0"/>
                      </a:rPr>
                      <m:t>=</m:t>
                    </m:r>
                    <m:nary>
                      <m:naryPr>
                        <m:chr m:val="∑"/>
                        <m:limLoc m:val="subSup"/>
                        <m:ctrlPr>
                          <a:rPr lang="en-US" altLang="zh-TW" i="1">
                            <a:latin typeface="Cambria Math" panose="02040503050406030204" pitchFamily="18" charset="0"/>
                          </a:rPr>
                        </m:ctrlPr>
                      </m:naryPr>
                      <m:sub>
                        <m:r>
                          <m:rPr>
                            <m:brk m:alnAt="25"/>
                          </m:rPr>
                          <a:rPr lang="en-US" altLang="zh-TW" i="1">
                            <a:latin typeface="Cambria Math" panose="02040503050406030204" pitchFamily="18" charset="0"/>
                          </a:rPr>
                          <m:t>𝑛</m:t>
                        </m:r>
                        <m:r>
                          <a:rPr lang="en-US" altLang="zh-TW" i="1">
                            <a:latin typeface="Cambria Math" panose="02040503050406030204" pitchFamily="18" charset="0"/>
                          </a:rPr>
                          <m:t>=1</m:t>
                        </m:r>
                      </m:sub>
                      <m:sup>
                        <m:r>
                          <a:rPr lang="en-US" altLang="zh-TW" i="1">
                            <a:latin typeface="Cambria Math" panose="02040503050406030204" pitchFamily="18" charset="0"/>
                          </a:rPr>
                          <m:t>𝑁</m:t>
                        </m:r>
                      </m:sup>
                      <m:e>
                        <m:sSub>
                          <m:sSubPr>
                            <m:ctrlPr>
                              <a:rPr lang="en-US"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ℒ</m:t>
                            </m:r>
                          </m:e>
                          <m:sub>
                            <m:r>
                              <a:rPr lang="en-US" altLang="zh-TW" i="1">
                                <a:latin typeface="Cambria Math" panose="02040503050406030204" pitchFamily="18" charset="0"/>
                              </a:rPr>
                              <m:t>𝑛</m:t>
                            </m:r>
                          </m:sub>
                        </m:sSub>
                        <m:d>
                          <m:dPr>
                            <m:ctrlPr>
                              <a:rPr lang="en-US" altLang="zh-TW" i="1">
                                <a:latin typeface="Cambria Math" panose="02040503050406030204" pitchFamily="18" charset="0"/>
                              </a:rPr>
                            </m:ctrlPr>
                          </m:dPr>
                          <m:e>
                            <m:r>
                              <a:rPr lang="zh-TW" altLang="en-US" i="1">
                                <a:latin typeface="Cambria Math" panose="02040503050406030204" pitchFamily="18" charset="0"/>
                              </a:rPr>
                              <m:t>𝜃</m:t>
                            </m:r>
                          </m:e>
                        </m:d>
                      </m:e>
                    </m:nary>
                  </m:oMath>
                </a14:m>
                <a:endParaRPr lang="en-US" dirty="0"/>
              </a:p>
              <a:p>
                <a:r>
                  <a:rPr lang="en-US" altLang="zh-TW" dirty="0"/>
                  <a:t>Find the optimal parameters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m:t>
                        </m:r>
                      </m:sup>
                    </m:sSup>
                  </m:oMath>
                </a14:m>
                <a:r>
                  <a:rPr lang="en-US" altLang="zh-TW" dirty="0"/>
                  <a:t> that minimize the total loss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endParaRPr lang="zh-TW" alt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90" t="-3405"/>
                </a:stretch>
              </a:blipFill>
            </p:spPr>
            <p:txBody>
              <a:bodyPr/>
              <a:lstStyle/>
              <a:p>
                <a:r>
                  <a:rPr lang="en-US">
                    <a:noFill/>
                  </a:rPr>
                  <a:t> </a:t>
                </a:r>
              </a:p>
            </p:txBody>
          </p:sp>
        </mc:Fallback>
      </mc:AlternateContent>
      <p:sp>
        <p:nvSpPr>
          <p:cNvPr id="32" name="Content Placeholder 31">
            <a:extLst>
              <a:ext uri="{FF2B5EF4-FFF2-40B4-BE49-F238E27FC236}">
                <a16:creationId xmlns:a16="http://schemas.microsoft.com/office/drawing/2014/main" id="{B06E0F1D-FD2E-4DA2-8F46-341AA8D53009}"/>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grpSp>
        <p:nvGrpSpPr>
          <p:cNvPr id="4" name="群組 17"/>
          <p:cNvGrpSpPr/>
          <p:nvPr/>
        </p:nvGrpSpPr>
        <p:grpSpPr>
          <a:xfrm>
            <a:off x="4680891" y="2998049"/>
            <a:ext cx="393057" cy="592511"/>
            <a:chOff x="498786" y="3417283"/>
            <a:chExt cx="445465" cy="671513"/>
          </a:xfrm>
        </p:grpSpPr>
        <p:sp>
          <p:nvSpPr>
            <p:cNvPr id="5" name="矩形 18"/>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118" baseline="30000" dirty="0"/>
            </a:p>
          </p:txBody>
        </p:sp>
        <p:sp>
          <p:nvSpPr>
            <p:cNvPr id="6" name="矩形 19"/>
            <p:cNvSpPr/>
            <p:nvPr/>
          </p:nvSpPr>
          <p:spPr>
            <a:xfrm>
              <a:off x="498786" y="3522206"/>
              <a:ext cx="445465" cy="474024"/>
            </a:xfrm>
            <a:prstGeom prst="rect">
              <a:avLst/>
            </a:prstGeom>
          </p:spPr>
          <p:txBody>
            <a:bodyPr wrap="none">
              <a:spAutoFit/>
            </a:bodyPr>
            <a:lstStyle/>
            <a:p>
              <a:pPr algn="ctr"/>
              <a:r>
                <a:rPr lang="en-US" altLang="zh-TW" sz="2118" dirty="0"/>
                <a:t>x</a:t>
              </a:r>
              <a:r>
                <a:rPr lang="en-US" altLang="zh-TW" sz="2118" baseline="30000" dirty="0"/>
                <a:t>1</a:t>
              </a:r>
              <a:endParaRPr lang="zh-TW" altLang="en-US" sz="2118" baseline="30000" dirty="0"/>
            </a:p>
          </p:txBody>
        </p:sp>
      </p:grpSp>
      <p:grpSp>
        <p:nvGrpSpPr>
          <p:cNvPr id="7" name="群組 20"/>
          <p:cNvGrpSpPr/>
          <p:nvPr/>
        </p:nvGrpSpPr>
        <p:grpSpPr>
          <a:xfrm>
            <a:off x="4680891" y="3833730"/>
            <a:ext cx="393057" cy="592511"/>
            <a:chOff x="498787" y="3417283"/>
            <a:chExt cx="445465" cy="671513"/>
          </a:xfrm>
        </p:grpSpPr>
        <p:sp>
          <p:nvSpPr>
            <p:cNvPr id="8" name="矩形 21"/>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118" baseline="30000" dirty="0"/>
            </a:p>
          </p:txBody>
        </p:sp>
        <p:sp>
          <p:nvSpPr>
            <p:cNvPr id="9" name="矩形 22"/>
            <p:cNvSpPr/>
            <p:nvPr/>
          </p:nvSpPr>
          <p:spPr>
            <a:xfrm>
              <a:off x="498787" y="3522206"/>
              <a:ext cx="445465" cy="474024"/>
            </a:xfrm>
            <a:prstGeom prst="rect">
              <a:avLst/>
            </a:prstGeom>
          </p:spPr>
          <p:txBody>
            <a:bodyPr wrap="none">
              <a:spAutoFit/>
            </a:bodyPr>
            <a:lstStyle/>
            <a:p>
              <a:pPr algn="ctr"/>
              <a:r>
                <a:rPr lang="en-US" altLang="zh-TW" sz="2118" dirty="0"/>
                <a:t>x</a:t>
              </a:r>
              <a:r>
                <a:rPr lang="en-US" altLang="zh-TW" sz="2118" baseline="30000" dirty="0"/>
                <a:t>2</a:t>
              </a:r>
              <a:endParaRPr lang="zh-TW" altLang="en-US" sz="2118" baseline="30000" dirty="0"/>
            </a:p>
          </p:txBody>
        </p:sp>
      </p:grpSp>
      <p:grpSp>
        <p:nvGrpSpPr>
          <p:cNvPr id="10" name="群組 23"/>
          <p:cNvGrpSpPr/>
          <p:nvPr/>
        </p:nvGrpSpPr>
        <p:grpSpPr>
          <a:xfrm>
            <a:off x="4668067" y="5917269"/>
            <a:ext cx="418704" cy="592511"/>
            <a:chOff x="484253" y="3417283"/>
            <a:chExt cx="474531" cy="671513"/>
          </a:xfrm>
        </p:grpSpPr>
        <p:sp>
          <p:nvSpPr>
            <p:cNvPr id="11" name="矩形 2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118" baseline="30000" dirty="0"/>
            </a:p>
          </p:txBody>
        </p:sp>
        <p:sp>
          <p:nvSpPr>
            <p:cNvPr id="12" name="矩形 25"/>
            <p:cNvSpPr/>
            <p:nvPr/>
          </p:nvSpPr>
          <p:spPr>
            <a:xfrm>
              <a:off x="484253" y="3522206"/>
              <a:ext cx="474531" cy="474024"/>
            </a:xfrm>
            <a:prstGeom prst="rect">
              <a:avLst/>
            </a:prstGeom>
          </p:spPr>
          <p:txBody>
            <a:bodyPr wrap="none">
              <a:spAutoFit/>
            </a:bodyPr>
            <a:lstStyle/>
            <a:p>
              <a:pPr algn="ctr"/>
              <a:r>
                <a:rPr lang="en-US" altLang="zh-TW" sz="2118" dirty="0" err="1"/>
                <a:t>x</a:t>
              </a:r>
              <a:r>
                <a:rPr lang="en-US" altLang="zh-TW" sz="2118" baseline="30000" dirty="0" err="1"/>
                <a:t>N</a:t>
              </a:r>
              <a:endParaRPr lang="zh-TW" altLang="en-US" sz="2118" baseline="30000" dirty="0"/>
            </a:p>
          </p:txBody>
        </p:sp>
      </p:grpSp>
      <p:sp>
        <p:nvSpPr>
          <p:cNvPr id="13" name="矩形 26"/>
          <p:cNvSpPr/>
          <p:nvPr/>
        </p:nvSpPr>
        <p:spPr>
          <a:xfrm>
            <a:off x="5397099" y="3000317"/>
            <a:ext cx="852269" cy="6027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118" dirty="0"/>
              <a:t>NN</a:t>
            </a:r>
            <a:endParaRPr lang="zh-TW" altLang="en-US" sz="2118" dirty="0"/>
          </a:p>
        </p:txBody>
      </p:sp>
      <p:sp>
        <p:nvSpPr>
          <p:cNvPr id="14" name="矩形 27"/>
          <p:cNvSpPr/>
          <p:nvPr/>
        </p:nvSpPr>
        <p:spPr>
          <a:xfrm>
            <a:off x="5397099" y="3828591"/>
            <a:ext cx="852269" cy="6027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118" dirty="0"/>
              <a:t>NN</a:t>
            </a:r>
            <a:endParaRPr lang="zh-TW" altLang="en-US" sz="2118" dirty="0"/>
          </a:p>
        </p:txBody>
      </p:sp>
      <p:sp>
        <p:nvSpPr>
          <p:cNvPr id="15" name="矩形 28"/>
          <p:cNvSpPr/>
          <p:nvPr/>
        </p:nvSpPr>
        <p:spPr>
          <a:xfrm>
            <a:off x="5397099" y="5906993"/>
            <a:ext cx="852269" cy="6027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118" dirty="0"/>
              <a:t>NN</a:t>
            </a:r>
            <a:endParaRPr lang="zh-TW" altLang="en-US" sz="2118" dirty="0"/>
          </a:p>
        </p:txBody>
      </p:sp>
      <p:sp>
        <p:nvSpPr>
          <p:cNvPr id="16" name="文字方塊 29"/>
          <p:cNvSpPr txBox="1"/>
          <p:nvPr/>
        </p:nvSpPr>
        <p:spPr>
          <a:xfrm rot="5400000">
            <a:off x="4565593" y="5315392"/>
            <a:ext cx="731184"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17" name="文字方塊 30"/>
          <p:cNvSpPr txBox="1"/>
          <p:nvPr/>
        </p:nvSpPr>
        <p:spPr>
          <a:xfrm rot="5400000">
            <a:off x="5512591" y="5305119"/>
            <a:ext cx="731184" cy="472565"/>
          </a:xfrm>
          <a:prstGeom prst="rect">
            <a:avLst/>
          </a:prstGeom>
          <a:noFill/>
        </p:spPr>
        <p:txBody>
          <a:bodyPr wrap="square" rtlCol="0">
            <a:spAutoFit/>
          </a:bodyPr>
          <a:lstStyle/>
          <a:p>
            <a:pPr algn="ctr"/>
            <a:r>
              <a:rPr lang="en-US" altLang="zh-TW" sz="2471" dirty="0"/>
              <a:t>……</a:t>
            </a:r>
            <a:endParaRPr lang="zh-TW" altLang="en-US" sz="2471" dirty="0"/>
          </a:p>
        </p:txBody>
      </p:sp>
      <p:cxnSp>
        <p:nvCxnSpPr>
          <p:cNvPr id="18" name="直線單箭頭接點 31"/>
          <p:cNvCxnSpPr/>
          <p:nvPr/>
        </p:nvCxnSpPr>
        <p:spPr>
          <a:xfrm flipV="1">
            <a:off x="5016467" y="3294303"/>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32"/>
          <p:cNvCxnSpPr/>
          <p:nvPr/>
        </p:nvCxnSpPr>
        <p:spPr>
          <a:xfrm flipV="1">
            <a:off x="5013855" y="4129984"/>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33"/>
          <p:cNvCxnSpPr/>
          <p:nvPr/>
        </p:nvCxnSpPr>
        <p:spPr>
          <a:xfrm flipV="1">
            <a:off x="5013854" y="6208386"/>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34"/>
          <p:cNvCxnSpPr/>
          <p:nvPr/>
        </p:nvCxnSpPr>
        <p:spPr>
          <a:xfrm flipV="1">
            <a:off x="6251981" y="3289708"/>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35"/>
          <p:cNvCxnSpPr/>
          <p:nvPr/>
        </p:nvCxnSpPr>
        <p:spPr>
          <a:xfrm flipV="1">
            <a:off x="6249368" y="4125389"/>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6"/>
          <p:cNvCxnSpPr/>
          <p:nvPr/>
        </p:nvCxnSpPr>
        <p:spPr>
          <a:xfrm flipV="1">
            <a:off x="6249368" y="6203792"/>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37"/>
          <p:cNvGrpSpPr/>
          <p:nvPr/>
        </p:nvGrpSpPr>
        <p:grpSpPr>
          <a:xfrm>
            <a:off x="6647601" y="2998049"/>
            <a:ext cx="1810017" cy="592511"/>
            <a:chOff x="557211" y="3417283"/>
            <a:chExt cx="2051352" cy="671513"/>
          </a:xfrm>
        </p:grpSpPr>
        <p:sp>
          <p:nvSpPr>
            <p:cNvPr id="25" name="矩形 38"/>
            <p:cNvSpPr/>
            <p:nvPr/>
          </p:nvSpPr>
          <p:spPr>
            <a:xfrm>
              <a:off x="557211" y="3417283"/>
              <a:ext cx="417025"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118" baseline="30000" dirty="0"/>
            </a:p>
          </p:txBody>
        </p:sp>
        <p:sp>
          <p:nvSpPr>
            <p:cNvPr id="26" name="矩形 39"/>
            <p:cNvSpPr/>
            <p:nvPr/>
          </p:nvSpPr>
          <p:spPr>
            <a:xfrm>
              <a:off x="2155833" y="3522206"/>
              <a:ext cx="452730" cy="474024"/>
            </a:xfrm>
            <a:prstGeom prst="rect">
              <a:avLst/>
            </a:prstGeom>
          </p:spPr>
          <p:txBody>
            <a:bodyPr wrap="none">
              <a:spAutoFit/>
            </a:bodyPr>
            <a:lstStyle/>
            <a:p>
              <a:pPr algn="ctr"/>
              <a:r>
                <a:rPr lang="en-US" altLang="zh-TW" sz="2118" dirty="0"/>
                <a:t>y</a:t>
              </a:r>
              <a:r>
                <a:rPr lang="en-US" altLang="zh-TW" sz="2118" baseline="30000" dirty="0"/>
                <a:t>1</a:t>
              </a:r>
              <a:endParaRPr lang="zh-TW" altLang="en-US" sz="2118" baseline="30000" dirty="0"/>
            </a:p>
          </p:txBody>
        </p:sp>
      </p:grpSp>
      <p:grpSp>
        <p:nvGrpSpPr>
          <p:cNvPr id="27" name="群組 40"/>
          <p:cNvGrpSpPr/>
          <p:nvPr/>
        </p:nvGrpSpPr>
        <p:grpSpPr>
          <a:xfrm>
            <a:off x="6647600" y="3833729"/>
            <a:ext cx="1795962" cy="712989"/>
            <a:chOff x="557212" y="3417283"/>
            <a:chExt cx="2035424" cy="808055"/>
          </a:xfrm>
        </p:grpSpPr>
        <p:sp>
          <p:nvSpPr>
            <p:cNvPr id="28" name="矩形 41"/>
            <p:cNvSpPr/>
            <p:nvPr/>
          </p:nvSpPr>
          <p:spPr>
            <a:xfrm>
              <a:off x="557212" y="3417283"/>
              <a:ext cx="417025"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118" baseline="30000" dirty="0"/>
            </a:p>
          </p:txBody>
        </p:sp>
        <p:sp>
          <p:nvSpPr>
            <p:cNvPr id="29" name="矩形 42"/>
            <p:cNvSpPr/>
            <p:nvPr/>
          </p:nvSpPr>
          <p:spPr>
            <a:xfrm>
              <a:off x="2164313" y="3505037"/>
              <a:ext cx="428323" cy="720301"/>
            </a:xfrm>
            <a:prstGeom prst="rect">
              <a:avLst/>
            </a:prstGeom>
          </p:spPr>
          <p:txBody>
            <a:bodyPr wrap="square">
              <a:spAutoFit/>
            </a:bodyPr>
            <a:lstStyle/>
            <a:p>
              <a:pPr algn="ctr"/>
              <a:r>
                <a:rPr lang="en-US" altLang="zh-TW" sz="2118" dirty="0"/>
                <a:t>y</a:t>
              </a:r>
              <a:r>
                <a:rPr lang="en-US" altLang="zh-TW" sz="2118" baseline="30000" dirty="0"/>
                <a:t>2</a:t>
              </a:r>
              <a:endParaRPr lang="zh-TW" altLang="en-US" sz="2118" baseline="30000" dirty="0"/>
            </a:p>
          </p:txBody>
        </p:sp>
      </p:grpSp>
      <p:grpSp>
        <p:nvGrpSpPr>
          <p:cNvPr id="30" name="群組 43"/>
          <p:cNvGrpSpPr/>
          <p:nvPr/>
        </p:nvGrpSpPr>
        <p:grpSpPr>
          <a:xfrm>
            <a:off x="6647600" y="5917269"/>
            <a:ext cx="1825911" cy="592511"/>
            <a:chOff x="557212" y="3417283"/>
            <a:chExt cx="2069365" cy="671513"/>
          </a:xfrm>
        </p:grpSpPr>
        <p:sp>
          <p:nvSpPr>
            <p:cNvPr id="31" name="矩形 44"/>
            <p:cNvSpPr/>
            <p:nvPr/>
          </p:nvSpPr>
          <p:spPr>
            <a:xfrm>
              <a:off x="557212" y="3417283"/>
              <a:ext cx="417025"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118" baseline="30000" dirty="0"/>
            </a:p>
          </p:txBody>
        </p:sp>
        <p:sp>
          <p:nvSpPr>
            <p:cNvPr id="70" name="矩形 45"/>
            <p:cNvSpPr/>
            <p:nvPr/>
          </p:nvSpPr>
          <p:spPr>
            <a:xfrm>
              <a:off x="2144779" y="3477566"/>
              <a:ext cx="481798" cy="474024"/>
            </a:xfrm>
            <a:prstGeom prst="rect">
              <a:avLst/>
            </a:prstGeom>
          </p:spPr>
          <p:txBody>
            <a:bodyPr wrap="none">
              <a:spAutoFit/>
            </a:bodyPr>
            <a:lstStyle/>
            <a:p>
              <a:pPr algn="ctr"/>
              <a:r>
                <a:rPr lang="en-US" altLang="zh-TW" sz="2118" dirty="0" err="1"/>
                <a:t>y</a:t>
              </a:r>
              <a:r>
                <a:rPr lang="en-US" altLang="zh-TW" sz="2118" baseline="30000" dirty="0" err="1"/>
                <a:t>N</a:t>
              </a:r>
              <a:endParaRPr lang="zh-TW" altLang="en-US" sz="2118" baseline="30000" dirty="0"/>
            </a:p>
          </p:txBody>
        </p:sp>
      </p:grpSp>
      <mc:AlternateContent xmlns:mc="http://schemas.openxmlformats.org/markup-compatibility/2006" xmlns:a14="http://schemas.microsoft.com/office/drawing/2010/main">
        <mc:Choice Requires="a14">
          <p:sp>
            <p:nvSpPr>
              <p:cNvPr id="36" name="文字方塊 49"/>
              <p:cNvSpPr txBox="1"/>
              <p:nvPr/>
            </p:nvSpPr>
            <p:spPr>
              <a:xfrm>
                <a:off x="6670164" y="3151228"/>
                <a:ext cx="347338"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acc>
                            <m:accPr>
                              <m:chr m:val="̂"/>
                              <m:ctrlPr>
                                <a:rPr lang="en-US" altLang="zh-TW" sz="2118" i="1">
                                  <a:latin typeface="Cambria Math" panose="02040503050406030204" pitchFamily="18" charset="0"/>
                                </a:rPr>
                              </m:ctrlPr>
                            </m:accPr>
                            <m:e>
                              <m:r>
                                <a:rPr lang="en-US" altLang="zh-TW" sz="2118" i="1">
                                  <a:latin typeface="Cambria Math" panose="02040503050406030204" pitchFamily="18" charset="0"/>
                                </a:rPr>
                                <m:t>𝑦</m:t>
                              </m:r>
                            </m:e>
                          </m:acc>
                        </m:e>
                        <m:sup>
                          <m:r>
                            <a:rPr lang="en-US" altLang="zh-TW" sz="2118" i="1">
                              <a:latin typeface="Cambria Math" panose="02040503050406030204" pitchFamily="18" charset="0"/>
                            </a:rPr>
                            <m:t>1</m:t>
                          </m:r>
                        </m:sup>
                      </m:sSup>
                    </m:oMath>
                  </m:oMathPara>
                </a14:m>
                <a:endParaRPr lang="zh-TW" altLang="en-US" sz="2118" dirty="0"/>
              </a:p>
            </p:txBody>
          </p:sp>
        </mc:Choice>
        <mc:Fallback xmlns="">
          <p:sp>
            <p:nvSpPr>
              <p:cNvPr id="36" name="文字方塊 49"/>
              <p:cNvSpPr txBox="1">
                <a:spLocks noRot="1" noChangeAspect="1" noMove="1" noResize="1" noEditPoints="1" noAdjustHandles="1" noChangeArrowheads="1" noChangeShapeType="1" noTextEdit="1"/>
              </p:cNvSpPr>
              <p:nvPr/>
            </p:nvSpPr>
            <p:spPr>
              <a:xfrm>
                <a:off x="6670164" y="3151228"/>
                <a:ext cx="347338" cy="325923"/>
              </a:xfrm>
              <a:prstGeom prst="rect">
                <a:avLst/>
              </a:prstGeom>
              <a:blipFill>
                <a:blip r:embed="rId3"/>
                <a:stretch>
                  <a:fillRect l="-17544" t="-18868" r="-49123" b="-2452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文字方塊 50"/>
              <p:cNvSpPr txBox="1"/>
              <p:nvPr/>
            </p:nvSpPr>
            <p:spPr>
              <a:xfrm>
                <a:off x="6679376" y="3976678"/>
                <a:ext cx="353174"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acc>
                            <m:accPr>
                              <m:chr m:val="̂"/>
                              <m:ctrlPr>
                                <a:rPr lang="en-US" altLang="zh-TW" sz="2118" i="1">
                                  <a:latin typeface="Cambria Math" panose="02040503050406030204" pitchFamily="18" charset="0"/>
                                </a:rPr>
                              </m:ctrlPr>
                            </m:accPr>
                            <m:e>
                              <m:r>
                                <a:rPr lang="en-US" altLang="zh-TW" sz="2118" i="1">
                                  <a:latin typeface="Cambria Math" panose="02040503050406030204" pitchFamily="18" charset="0"/>
                                </a:rPr>
                                <m:t>𝑦</m:t>
                              </m:r>
                            </m:e>
                          </m:acc>
                        </m:e>
                        <m:sup>
                          <m:r>
                            <a:rPr lang="en-US" altLang="zh-TW" sz="2118" i="1">
                              <a:latin typeface="Cambria Math" panose="02040503050406030204" pitchFamily="18" charset="0"/>
                            </a:rPr>
                            <m:t>2</m:t>
                          </m:r>
                        </m:sup>
                      </m:sSup>
                    </m:oMath>
                  </m:oMathPara>
                </a14:m>
                <a:endParaRPr lang="zh-TW" altLang="en-US" sz="2118" dirty="0"/>
              </a:p>
            </p:txBody>
          </p:sp>
        </mc:Choice>
        <mc:Fallback xmlns="">
          <p:sp>
            <p:nvSpPr>
              <p:cNvPr id="37" name="文字方塊 50"/>
              <p:cNvSpPr txBox="1">
                <a:spLocks noRot="1" noChangeAspect="1" noMove="1" noResize="1" noEditPoints="1" noAdjustHandles="1" noChangeArrowheads="1" noChangeShapeType="1" noTextEdit="1"/>
              </p:cNvSpPr>
              <p:nvPr/>
            </p:nvSpPr>
            <p:spPr>
              <a:xfrm>
                <a:off x="6679376" y="3976678"/>
                <a:ext cx="353174" cy="325923"/>
              </a:xfrm>
              <a:prstGeom prst="rect">
                <a:avLst/>
              </a:prstGeom>
              <a:blipFill>
                <a:blip r:embed="rId4"/>
                <a:stretch>
                  <a:fillRect l="-18966" t="-16667" r="-46552" b="-2407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文字方塊 51"/>
              <p:cNvSpPr txBox="1"/>
              <p:nvPr/>
            </p:nvSpPr>
            <p:spPr>
              <a:xfrm>
                <a:off x="6657820" y="6091318"/>
                <a:ext cx="391453"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acc>
                            <m:accPr>
                              <m:chr m:val="̂"/>
                              <m:ctrlPr>
                                <a:rPr lang="en-US" altLang="zh-TW" sz="2118" i="1">
                                  <a:latin typeface="Cambria Math" panose="02040503050406030204" pitchFamily="18" charset="0"/>
                                </a:rPr>
                              </m:ctrlPr>
                            </m:accPr>
                            <m:e>
                              <m:r>
                                <a:rPr lang="en-US" altLang="zh-TW" sz="2118" i="1">
                                  <a:latin typeface="Cambria Math" panose="02040503050406030204" pitchFamily="18" charset="0"/>
                                </a:rPr>
                                <m:t>𝑦</m:t>
                              </m:r>
                            </m:e>
                          </m:acc>
                        </m:e>
                        <m:sup>
                          <m:r>
                            <a:rPr lang="en-US" altLang="zh-TW" sz="2118" i="1">
                              <a:latin typeface="Cambria Math" panose="02040503050406030204" pitchFamily="18" charset="0"/>
                            </a:rPr>
                            <m:t>𝑁</m:t>
                          </m:r>
                        </m:sup>
                      </m:sSup>
                    </m:oMath>
                  </m:oMathPara>
                </a14:m>
                <a:endParaRPr lang="zh-TW" altLang="en-US" sz="2118" dirty="0"/>
              </a:p>
            </p:txBody>
          </p:sp>
        </mc:Choice>
        <mc:Fallback xmlns="">
          <p:sp>
            <p:nvSpPr>
              <p:cNvPr id="38" name="文字方塊 51"/>
              <p:cNvSpPr txBox="1">
                <a:spLocks noRot="1" noChangeAspect="1" noMove="1" noResize="1" noEditPoints="1" noAdjustHandles="1" noChangeArrowheads="1" noChangeShapeType="1" noTextEdit="1"/>
              </p:cNvSpPr>
              <p:nvPr/>
            </p:nvSpPr>
            <p:spPr>
              <a:xfrm>
                <a:off x="6657820" y="6091318"/>
                <a:ext cx="391453" cy="325923"/>
              </a:xfrm>
              <a:prstGeom prst="rect">
                <a:avLst/>
              </a:prstGeom>
              <a:blipFill>
                <a:blip r:embed="rId5"/>
                <a:stretch>
                  <a:fillRect l="-15625" t="-16667" r="-43750" b="-24074"/>
                </a:stretch>
              </a:blipFill>
            </p:spPr>
            <p:txBody>
              <a:bodyPr/>
              <a:lstStyle/>
              <a:p>
                <a:r>
                  <a:rPr lang="en-IN">
                    <a:noFill/>
                  </a:rPr>
                  <a:t> </a:t>
                </a:r>
              </a:p>
            </p:txBody>
          </p:sp>
        </mc:Fallback>
      </mc:AlternateContent>
      <p:sp>
        <p:nvSpPr>
          <p:cNvPr id="39" name="左-右雙向箭號 52"/>
          <p:cNvSpPr/>
          <p:nvPr/>
        </p:nvSpPr>
        <p:spPr>
          <a:xfrm>
            <a:off x="7279735" y="3255673"/>
            <a:ext cx="531750" cy="159746"/>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588"/>
          </a:p>
        </p:txBody>
      </p:sp>
      <p:sp>
        <p:nvSpPr>
          <p:cNvPr id="40" name="左-右雙向箭號 53"/>
          <p:cNvSpPr/>
          <p:nvPr/>
        </p:nvSpPr>
        <p:spPr>
          <a:xfrm>
            <a:off x="7279735" y="4068055"/>
            <a:ext cx="531750" cy="159746"/>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588"/>
          </a:p>
        </p:txBody>
      </p:sp>
      <p:sp>
        <p:nvSpPr>
          <p:cNvPr id="41" name="左-右雙向箭號 54"/>
          <p:cNvSpPr/>
          <p:nvPr/>
        </p:nvSpPr>
        <p:spPr>
          <a:xfrm>
            <a:off x="7343271" y="6133649"/>
            <a:ext cx="531750" cy="159746"/>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42" name="文字方塊 55"/>
              <p:cNvSpPr txBox="1"/>
              <p:nvPr/>
            </p:nvSpPr>
            <p:spPr>
              <a:xfrm>
                <a:off x="7205247" y="2849601"/>
                <a:ext cx="733662"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ea typeface="Cambria Math" panose="02040503050406030204" pitchFamily="18" charset="0"/>
                            </a:rPr>
                            <m:t>ℒ</m:t>
                          </m:r>
                        </m:e>
                        <m:sub>
                          <m:r>
                            <a:rPr lang="en-US" altLang="zh-TW" sz="2118" i="1">
                              <a:latin typeface="Cambria Math" panose="02040503050406030204" pitchFamily="18" charset="0"/>
                            </a:rPr>
                            <m:t>1</m:t>
                          </m:r>
                        </m:sub>
                      </m:sSub>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m:oMathPara>
                </a14:m>
                <a:endParaRPr lang="zh-TW" altLang="en-US" sz="2118" dirty="0"/>
              </a:p>
            </p:txBody>
          </p:sp>
        </mc:Choice>
        <mc:Fallback xmlns="">
          <p:sp>
            <p:nvSpPr>
              <p:cNvPr id="42" name="文字方塊 55"/>
              <p:cNvSpPr txBox="1">
                <a:spLocks noRot="1" noChangeAspect="1" noMove="1" noResize="1" noEditPoints="1" noAdjustHandles="1" noChangeArrowheads="1" noChangeShapeType="1" noTextEdit="1"/>
              </p:cNvSpPr>
              <p:nvPr/>
            </p:nvSpPr>
            <p:spPr>
              <a:xfrm>
                <a:off x="7205247" y="2849601"/>
                <a:ext cx="733662" cy="325923"/>
              </a:xfrm>
              <a:prstGeom prst="rect">
                <a:avLst/>
              </a:prstGeom>
              <a:blipFill>
                <a:blip r:embed="rId6"/>
                <a:stretch>
                  <a:fillRect l="-8333" b="-12963"/>
                </a:stretch>
              </a:blipFill>
            </p:spPr>
            <p:txBody>
              <a:bodyPr/>
              <a:lstStyle/>
              <a:p>
                <a:r>
                  <a:rPr lang="en-IN">
                    <a:noFill/>
                  </a:rPr>
                  <a:t> </a:t>
                </a:r>
              </a:p>
            </p:txBody>
          </p:sp>
        </mc:Fallback>
      </mc:AlternateContent>
      <p:sp>
        <p:nvSpPr>
          <p:cNvPr id="43" name="文字方塊 58"/>
          <p:cNvSpPr txBox="1"/>
          <p:nvPr/>
        </p:nvSpPr>
        <p:spPr>
          <a:xfrm rot="5400000">
            <a:off x="6472829" y="5347617"/>
            <a:ext cx="731184" cy="472565"/>
          </a:xfrm>
          <a:prstGeom prst="rect">
            <a:avLst/>
          </a:prstGeom>
          <a:noFill/>
        </p:spPr>
        <p:txBody>
          <a:bodyPr wrap="square" rtlCol="0">
            <a:spAutoFit/>
          </a:bodyPr>
          <a:lstStyle/>
          <a:p>
            <a:pPr algn="ctr"/>
            <a:r>
              <a:rPr lang="en-US" altLang="zh-TW" sz="2471" dirty="0"/>
              <a:t>……</a:t>
            </a:r>
            <a:endParaRPr lang="zh-TW" altLang="en-US" sz="2471" dirty="0"/>
          </a:p>
        </p:txBody>
      </p:sp>
      <p:sp>
        <p:nvSpPr>
          <p:cNvPr id="44" name="文字方塊 59"/>
          <p:cNvSpPr txBox="1"/>
          <p:nvPr/>
        </p:nvSpPr>
        <p:spPr>
          <a:xfrm rot="5400000">
            <a:off x="7977498" y="5336227"/>
            <a:ext cx="731184" cy="472565"/>
          </a:xfrm>
          <a:prstGeom prst="rect">
            <a:avLst/>
          </a:prstGeom>
          <a:noFill/>
        </p:spPr>
        <p:txBody>
          <a:bodyPr wrap="square" rtlCol="0">
            <a:spAutoFit/>
          </a:bodyPr>
          <a:lstStyle/>
          <a:p>
            <a:pPr algn="ctr"/>
            <a:r>
              <a:rPr lang="en-US" altLang="zh-TW" sz="2471" dirty="0"/>
              <a:t>……</a:t>
            </a:r>
            <a:endParaRPr lang="zh-TW" altLang="en-US" sz="2471" dirty="0"/>
          </a:p>
        </p:txBody>
      </p:sp>
      <p:grpSp>
        <p:nvGrpSpPr>
          <p:cNvPr id="45" name="群組 63"/>
          <p:cNvGrpSpPr/>
          <p:nvPr/>
        </p:nvGrpSpPr>
        <p:grpSpPr>
          <a:xfrm>
            <a:off x="4678110" y="4634001"/>
            <a:ext cx="393057" cy="592511"/>
            <a:chOff x="498787" y="3417283"/>
            <a:chExt cx="445465" cy="671513"/>
          </a:xfrm>
        </p:grpSpPr>
        <p:sp>
          <p:nvSpPr>
            <p:cNvPr id="46" name="矩形 6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118" baseline="30000" dirty="0"/>
            </a:p>
          </p:txBody>
        </p:sp>
        <p:sp>
          <p:nvSpPr>
            <p:cNvPr id="47" name="矩形 65"/>
            <p:cNvSpPr/>
            <p:nvPr/>
          </p:nvSpPr>
          <p:spPr>
            <a:xfrm>
              <a:off x="498787" y="3522206"/>
              <a:ext cx="445465" cy="474024"/>
            </a:xfrm>
            <a:prstGeom prst="rect">
              <a:avLst/>
            </a:prstGeom>
          </p:spPr>
          <p:txBody>
            <a:bodyPr wrap="none">
              <a:spAutoFit/>
            </a:bodyPr>
            <a:lstStyle/>
            <a:p>
              <a:pPr algn="ctr"/>
              <a:r>
                <a:rPr lang="en-US" altLang="zh-TW" sz="2118" dirty="0"/>
                <a:t>x</a:t>
              </a:r>
              <a:r>
                <a:rPr lang="en-US" altLang="zh-TW" sz="2118" baseline="30000" dirty="0"/>
                <a:t>3</a:t>
              </a:r>
              <a:endParaRPr lang="zh-TW" altLang="en-US" sz="2118" baseline="30000" dirty="0"/>
            </a:p>
          </p:txBody>
        </p:sp>
      </p:grpSp>
      <p:sp>
        <p:nvSpPr>
          <p:cNvPr id="48" name="矩形 66"/>
          <p:cNvSpPr/>
          <p:nvPr/>
        </p:nvSpPr>
        <p:spPr>
          <a:xfrm>
            <a:off x="5394318" y="4628862"/>
            <a:ext cx="852269" cy="6027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118" dirty="0"/>
              <a:t>NN</a:t>
            </a:r>
            <a:endParaRPr lang="zh-TW" altLang="en-US" sz="2118" dirty="0"/>
          </a:p>
        </p:txBody>
      </p:sp>
      <p:cxnSp>
        <p:nvCxnSpPr>
          <p:cNvPr id="49" name="直線單箭頭接點 67"/>
          <p:cNvCxnSpPr/>
          <p:nvPr/>
        </p:nvCxnSpPr>
        <p:spPr>
          <a:xfrm flipV="1">
            <a:off x="5011073" y="4930255"/>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68"/>
          <p:cNvCxnSpPr/>
          <p:nvPr/>
        </p:nvCxnSpPr>
        <p:spPr>
          <a:xfrm flipV="1">
            <a:off x="6246587" y="4925660"/>
            <a:ext cx="36802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1" name="群組 69"/>
          <p:cNvGrpSpPr/>
          <p:nvPr/>
        </p:nvGrpSpPr>
        <p:grpSpPr>
          <a:xfrm>
            <a:off x="6644819" y="4634001"/>
            <a:ext cx="1809511" cy="592511"/>
            <a:chOff x="557212" y="3417283"/>
            <a:chExt cx="2050779" cy="671513"/>
          </a:xfrm>
        </p:grpSpPr>
        <p:sp>
          <p:nvSpPr>
            <p:cNvPr id="52" name="矩形 70"/>
            <p:cNvSpPr/>
            <p:nvPr/>
          </p:nvSpPr>
          <p:spPr>
            <a:xfrm>
              <a:off x="557212" y="3417283"/>
              <a:ext cx="441206"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118" baseline="30000" dirty="0"/>
            </a:p>
          </p:txBody>
        </p:sp>
        <p:sp>
          <p:nvSpPr>
            <p:cNvPr id="53" name="矩形 71"/>
            <p:cNvSpPr/>
            <p:nvPr/>
          </p:nvSpPr>
          <p:spPr>
            <a:xfrm>
              <a:off x="2155261" y="3534167"/>
              <a:ext cx="452730" cy="474024"/>
            </a:xfrm>
            <a:prstGeom prst="rect">
              <a:avLst/>
            </a:prstGeom>
          </p:spPr>
          <p:txBody>
            <a:bodyPr wrap="none">
              <a:spAutoFit/>
            </a:bodyPr>
            <a:lstStyle/>
            <a:p>
              <a:pPr algn="ctr"/>
              <a:r>
                <a:rPr lang="en-US" altLang="zh-TW" sz="2118" dirty="0"/>
                <a:t>y</a:t>
              </a:r>
              <a:r>
                <a:rPr lang="en-US" altLang="zh-TW" sz="2118" baseline="30000" dirty="0"/>
                <a:t>3</a:t>
              </a:r>
              <a:endParaRPr lang="zh-TW" altLang="en-US" sz="2118" baseline="30000" dirty="0"/>
            </a:p>
          </p:txBody>
        </p:sp>
      </p:grpSp>
      <mc:AlternateContent xmlns:mc="http://schemas.openxmlformats.org/markup-compatibility/2006" xmlns:a14="http://schemas.microsoft.com/office/drawing/2010/main">
        <mc:Choice Requires="a14">
          <p:sp>
            <p:nvSpPr>
              <p:cNvPr id="55" name="文字方塊 73"/>
              <p:cNvSpPr txBox="1"/>
              <p:nvPr/>
            </p:nvSpPr>
            <p:spPr>
              <a:xfrm>
                <a:off x="6676594" y="4776949"/>
                <a:ext cx="353174"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acc>
                            <m:accPr>
                              <m:chr m:val="̂"/>
                              <m:ctrlPr>
                                <a:rPr lang="en-US" altLang="zh-TW" sz="2118" i="1">
                                  <a:latin typeface="Cambria Math" panose="02040503050406030204" pitchFamily="18" charset="0"/>
                                </a:rPr>
                              </m:ctrlPr>
                            </m:accPr>
                            <m:e>
                              <m:r>
                                <a:rPr lang="en-US" altLang="zh-TW" sz="2118" i="1">
                                  <a:latin typeface="Cambria Math" panose="02040503050406030204" pitchFamily="18" charset="0"/>
                                </a:rPr>
                                <m:t>𝑦</m:t>
                              </m:r>
                            </m:e>
                          </m:acc>
                        </m:e>
                        <m:sup>
                          <m:r>
                            <a:rPr lang="en-US" altLang="zh-TW" sz="2118" i="1">
                              <a:latin typeface="Cambria Math" panose="02040503050406030204" pitchFamily="18" charset="0"/>
                            </a:rPr>
                            <m:t>3</m:t>
                          </m:r>
                        </m:sup>
                      </m:sSup>
                    </m:oMath>
                  </m:oMathPara>
                </a14:m>
                <a:endParaRPr lang="zh-TW" altLang="en-US" sz="2118" dirty="0"/>
              </a:p>
            </p:txBody>
          </p:sp>
        </mc:Choice>
        <mc:Fallback xmlns="">
          <p:sp>
            <p:nvSpPr>
              <p:cNvPr id="55" name="文字方塊 73"/>
              <p:cNvSpPr txBox="1">
                <a:spLocks noRot="1" noChangeAspect="1" noMove="1" noResize="1" noEditPoints="1" noAdjustHandles="1" noChangeArrowheads="1" noChangeShapeType="1" noTextEdit="1"/>
              </p:cNvSpPr>
              <p:nvPr/>
            </p:nvSpPr>
            <p:spPr>
              <a:xfrm>
                <a:off x="6676594" y="4776949"/>
                <a:ext cx="353174" cy="325923"/>
              </a:xfrm>
              <a:prstGeom prst="rect">
                <a:avLst/>
              </a:prstGeom>
              <a:blipFill>
                <a:blip r:embed="rId7"/>
                <a:stretch>
                  <a:fillRect l="-17241" t="-18868" r="-48276" b="-24528"/>
                </a:stretch>
              </a:blipFill>
            </p:spPr>
            <p:txBody>
              <a:bodyPr/>
              <a:lstStyle/>
              <a:p>
                <a:r>
                  <a:rPr lang="en-IN">
                    <a:noFill/>
                  </a:rPr>
                  <a:t> </a:t>
                </a:r>
              </a:p>
            </p:txBody>
          </p:sp>
        </mc:Fallback>
      </mc:AlternateContent>
      <p:sp>
        <p:nvSpPr>
          <p:cNvPr id="56" name="左-右雙向箭號 74"/>
          <p:cNvSpPr/>
          <p:nvPr/>
        </p:nvSpPr>
        <p:spPr>
          <a:xfrm>
            <a:off x="7279735" y="4868326"/>
            <a:ext cx="531750" cy="159746"/>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588"/>
          </a:p>
        </p:txBody>
      </p:sp>
      <p:pic>
        <p:nvPicPr>
          <p:cNvPr id="57" name="圖片 89"/>
          <p:cNvPicPr preferRelativeResize="0">
            <a:picLocks/>
          </p:cNvPicPr>
          <p:nvPr/>
        </p:nvPicPr>
        <p:blipFill>
          <a:blip r:embed="rId8"/>
          <a:stretch>
            <a:fillRect/>
          </a:stretch>
        </p:blipFill>
        <p:spPr>
          <a:xfrm>
            <a:off x="3974419" y="3012541"/>
            <a:ext cx="635294" cy="635294"/>
          </a:xfrm>
          <a:prstGeom prst="rect">
            <a:avLst/>
          </a:prstGeom>
          <a:ln w="38100">
            <a:solidFill>
              <a:schemeClr val="tx1"/>
            </a:solidFill>
          </a:ln>
        </p:spPr>
      </p:pic>
      <p:pic>
        <p:nvPicPr>
          <p:cNvPr id="58" name="圖片 91"/>
          <p:cNvPicPr preferRelativeResize="0">
            <a:picLocks/>
          </p:cNvPicPr>
          <p:nvPr/>
        </p:nvPicPr>
        <p:blipFill>
          <a:blip r:embed="rId9"/>
          <a:stretch>
            <a:fillRect/>
          </a:stretch>
        </p:blipFill>
        <p:spPr>
          <a:xfrm>
            <a:off x="3956110" y="3845831"/>
            <a:ext cx="635294" cy="635294"/>
          </a:xfrm>
          <a:prstGeom prst="rect">
            <a:avLst/>
          </a:prstGeom>
          <a:ln w="38100">
            <a:solidFill>
              <a:schemeClr val="tx1"/>
            </a:solidFill>
          </a:ln>
        </p:spPr>
      </p:pic>
      <p:pic>
        <p:nvPicPr>
          <p:cNvPr id="59" name="圖片 92"/>
          <p:cNvPicPr preferRelativeResize="0">
            <a:picLocks/>
          </p:cNvPicPr>
          <p:nvPr/>
        </p:nvPicPr>
        <p:blipFill>
          <a:blip r:embed="rId10"/>
          <a:stretch>
            <a:fillRect/>
          </a:stretch>
        </p:blipFill>
        <p:spPr>
          <a:xfrm>
            <a:off x="3956110" y="4622824"/>
            <a:ext cx="635294" cy="635294"/>
          </a:xfrm>
          <a:prstGeom prst="rect">
            <a:avLst/>
          </a:prstGeom>
          <a:ln w="38100">
            <a:solidFill>
              <a:schemeClr val="tx1"/>
            </a:solidFill>
          </a:ln>
        </p:spPr>
      </p:pic>
      <p:pic>
        <p:nvPicPr>
          <p:cNvPr id="60" name="圖片 93"/>
          <p:cNvPicPr preferRelativeResize="0">
            <a:picLocks/>
          </p:cNvPicPr>
          <p:nvPr/>
        </p:nvPicPr>
        <p:blipFill>
          <a:blip r:embed="rId11"/>
          <a:stretch>
            <a:fillRect/>
          </a:stretch>
        </p:blipFill>
        <p:spPr>
          <a:xfrm>
            <a:off x="3956110" y="5906993"/>
            <a:ext cx="635294" cy="635294"/>
          </a:xfrm>
          <a:prstGeom prst="rect">
            <a:avLst/>
          </a:prstGeom>
          <a:ln w="38100">
            <a:solidFill>
              <a:schemeClr val="tx1"/>
            </a:solidFill>
          </a:ln>
        </p:spPr>
      </p:pic>
      <mc:AlternateContent xmlns:mc="http://schemas.openxmlformats.org/markup-compatibility/2006" xmlns:a14="http://schemas.microsoft.com/office/drawing/2010/main">
        <mc:Choice Requires="a14">
          <p:sp>
            <p:nvSpPr>
              <p:cNvPr id="67" name="文字方塊 55"/>
              <p:cNvSpPr txBox="1"/>
              <p:nvPr/>
            </p:nvSpPr>
            <p:spPr>
              <a:xfrm>
                <a:off x="7174484" y="3693162"/>
                <a:ext cx="739946"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ea typeface="Cambria Math" panose="02040503050406030204" pitchFamily="18" charset="0"/>
                            </a:rPr>
                            <m:t>ℒ</m:t>
                          </m:r>
                        </m:e>
                        <m:sub>
                          <m:r>
                            <a:rPr lang="en-US" altLang="zh-TW" sz="2118" i="1">
                              <a:latin typeface="Cambria Math" panose="02040503050406030204" pitchFamily="18" charset="0"/>
                            </a:rPr>
                            <m:t>2</m:t>
                          </m:r>
                        </m:sub>
                      </m:sSub>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m:oMathPara>
                </a14:m>
                <a:endParaRPr lang="zh-TW" altLang="en-US" sz="2118" dirty="0"/>
              </a:p>
            </p:txBody>
          </p:sp>
        </mc:Choice>
        <mc:Fallback xmlns="">
          <p:sp>
            <p:nvSpPr>
              <p:cNvPr id="67" name="文字方塊 55"/>
              <p:cNvSpPr txBox="1">
                <a:spLocks noRot="1" noChangeAspect="1" noMove="1" noResize="1" noEditPoints="1" noAdjustHandles="1" noChangeArrowheads="1" noChangeShapeType="1" noTextEdit="1"/>
              </p:cNvSpPr>
              <p:nvPr/>
            </p:nvSpPr>
            <p:spPr>
              <a:xfrm>
                <a:off x="7174484" y="3693162"/>
                <a:ext cx="739946" cy="325923"/>
              </a:xfrm>
              <a:prstGeom prst="rect">
                <a:avLst/>
              </a:prstGeom>
              <a:blipFill>
                <a:blip r:embed="rId12"/>
                <a:stretch>
                  <a:fillRect l="-8264" b="-132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文字方塊 55"/>
              <p:cNvSpPr txBox="1"/>
              <p:nvPr/>
            </p:nvSpPr>
            <p:spPr>
              <a:xfrm>
                <a:off x="7260865" y="4532863"/>
                <a:ext cx="739946"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ea typeface="Cambria Math" panose="02040503050406030204" pitchFamily="18" charset="0"/>
                            </a:rPr>
                            <m:t>ℒ</m:t>
                          </m:r>
                        </m:e>
                        <m:sub>
                          <m:r>
                            <a:rPr lang="en-US" altLang="zh-TW" sz="2118" i="1">
                              <a:latin typeface="Cambria Math" panose="02040503050406030204" pitchFamily="18" charset="0"/>
                            </a:rPr>
                            <m:t>3</m:t>
                          </m:r>
                        </m:sub>
                      </m:sSub>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m:oMathPara>
                </a14:m>
                <a:endParaRPr lang="zh-TW" altLang="en-US" sz="2118" dirty="0"/>
              </a:p>
            </p:txBody>
          </p:sp>
        </mc:Choice>
        <mc:Fallback xmlns="">
          <p:sp>
            <p:nvSpPr>
              <p:cNvPr id="68" name="文字方塊 55"/>
              <p:cNvSpPr txBox="1">
                <a:spLocks noRot="1" noChangeAspect="1" noMove="1" noResize="1" noEditPoints="1" noAdjustHandles="1" noChangeArrowheads="1" noChangeShapeType="1" noTextEdit="1"/>
              </p:cNvSpPr>
              <p:nvPr/>
            </p:nvSpPr>
            <p:spPr>
              <a:xfrm>
                <a:off x="7260865" y="4532863"/>
                <a:ext cx="739946" cy="325923"/>
              </a:xfrm>
              <a:prstGeom prst="rect">
                <a:avLst/>
              </a:prstGeom>
              <a:blipFill>
                <a:blip r:embed="rId13"/>
                <a:stretch>
                  <a:fillRect l="-7438" b="-132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9" name="文字方塊 55"/>
              <p:cNvSpPr txBox="1"/>
              <p:nvPr/>
            </p:nvSpPr>
            <p:spPr>
              <a:xfrm>
                <a:off x="7279735" y="5807768"/>
                <a:ext cx="756169" cy="3259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ea typeface="Cambria Math" panose="02040503050406030204" pitchFamily="18" charset="0"/>
                            </a:rPr>
                            <m:t>ℒ</m:t>
                          </m:r>
                        </m:e>
                        <m:sub>
                          <m:r>
                            <a:rPr lang="en-US" altLang="zh-TW" sz="2118" i="1">
                              <a:latin typeface="Cambria Math" panose="02040503050406030204" pitchFamily="18" charset="0"/>
                            </a:rPr>
                            <m:t>𝑛</m:t>
                          </m:r>
                        </m:sub>
                      </m:sSub>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m:oMathPara>
                </a14:m>
                <a:endParaRPr lang="zh-TW" altLang="en-US" sz="2118" dirty="0"/>
              </a:p>
            </p:txBody>
          </p:sp>
        </mc:Choice>
        <mc:Fallback xmlns="">
          <p:sp>
            <p:nvSpPr>
              <p:cNvPr id="69" name="文字方塊 55"/>
              <p:cNvSpPr txBox="1">
                <a:spLocks noRot="1" noChangeAspect="1" noMove="1" noResize="1" noEditPoints="1" noAdjustHandles="1" noChangeArrowheads="1" noChangeShapeType="1" noTextEdit="1"/>
              </p:cNvSpPr>
              <p:nvPr/>
            </p:nvSpPr>
            <p:spPr>
              <a:xfrm>
                <a:off x="7279735" y="5807768"/>
                <a:ext cx="756169" cy="325923"/>
              </a:xfrm>
              <a:prstGeom prst="rect">
                <a:avLst/>
              </a:prstGeom>
              <a:blipFill>
                <a:blip r:embed="rId14"/>
                <a:stretch>
                  <a:fillRect l="-7258" b="-9434"/>
                </a:stretch>
              </a:blipFill>
            </p:spPr>
            <p:txBody>
              <a:bodyPr/>
              <a:lstStyle/>
              <a:p>
                <a:r>
                  <a:rPr lang="en-IN">
                    <a:noFill/>
                  </a:rPr>
                  <a:t> </a:t>
                </a:r>
              </a:p>
            </p:txBody>
          </p:sp>
        </mc:Fallback>
      </mc:AlternateContent>
    </p:spTree>
    <p:extLst>
      <p:ext uri="{BB962C8B-B14F-4D97-AF65-F5344CB8AC3E}">
        <p14:creationId xmlns:p14="http://schemas.microsoft.com/office/powerpoint/2010/main" val="77204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57DE2310-C81A-0069-56B0-02147C7752DF}"/>
              </a:ext>
            </a:extLst>
          </p:cNvPr>
          <p:cNvPicPr>
            <a:picLocks noChangeAspect="1"/>
          </p:cNvPicPr>
          <p:nvPr/>
        </p:nvPicPr>
        <p:blipFill rotWithShape="1">
          <a:blip r:embed="rId2"/>
          <a:srcRect/>
          <a:stretch/>
        </p:blipFill>
        <p:spPr>
          <a:xfrm>
            <a:off x="-3047" y="10"/>
            <a:ext cx="12191999" cy="6857990"/>
          </a:xfrm>
          <a:prstGeom prst="rect">
            <a:avLst/>
          </a:prstGeom>
        </p:spPr>
      </p:pic>
      <p:sp>
        <p:nvSpPr>
          <p:cNvPr id="2" name="Title 1">
            <a:extLst>
              <a:ext uri="{FF2B5EF4-FFF2-40B4-BE49-F238E27FC236}">
                <a16:creationId xmlns:a16="http://schemas.microsoft.com/office/drawing/2014/main" id="{D981CE11-24EB-4801-BF49-E67614B0798A}"/>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Advantage of RELU</a:t>
            </a:r>
          </a:p>
        </p:txBody>
      </p:sp>
    </p:spTree>
    <p:extLst>
      <p:ext uri="{BB962C8B-B14F-4D97-AF65-F5344CB8AC3E}">
        <p14:creationId xmlns:p14="http://schemas.microsoft.com/office/powerpoint/2010/main" val="167754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ReLU</a:t>
            </a:r>
            <a:endParaRPr lang="zh-TW" altLang="en-US" dirty="0"/>
          </a:p>
        </p:txBody>
      </p:sp>
      <p:cxnSp>
        <p:nvCxnSpPr>
          <p:cNvPr id="5" name="直線單箭頭接點 4"/>
          <p:cNvCxnSpPr/>
          <p:nvPr/>
        </p:nvCxnSpPr>
        <p:spPr>
          <a:xfrm>
            <a:off x="8890800" y="4376764"/>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8866916" y="3597961"/>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7" name="群組 66"/>
          <p:cNvGrpSpPr/>
          <p:nvPr/>
        </p:nvGrpSpPr>
        <p:grpSpPr>
          <a:xfrm>
            <a:off x="2482664" y="3219325"/>
            <a:ext cx="342900" cy="461962"/>
            <a:chOff x="1378935" y="1958800"/>
            <a:chExt cx="342900" cy="461962"/>
          </a:xfrm>
        </p:grpSpPr>
        <p:sp>
          <p:nvSpPr>
            <p:cNvPr id="9" name="矩形 8"/>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 name="Object 12"/>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spid="_x0000_s3074" name="方程式" r:id="rId3" imgW="152280" imgH="215640" progId="Equation.3">
                    <p:embed/>
                  </p:oleObj>
                </mc:Choice>
                <mc:Fallback>
                  <p:oleObj name="方程式" r:id="rId3" imgW="152280" imgH="215640" progId="Equation.3">
                    <p:embed/>
                    <p:pic>
                      <p:nvPicPr>
                        <p:cNvPr id="10" name="Object 12"/>
                        <p:cNvPicPr>
                          <a:picLocks noChangeAspect="1" noChangeArrowheads="1"/>
                        </p:cNvPicPr>
                        <p:nvPr/>
                      </p:nvPicPr>
                      <p:blipFill>
                        <a:blip r:embed="rId4"/>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8" name="群組 67"/>
          <p:cNvGrpSpPr/>
          <p:nvPr/>
        </p:nvGrpSpPr>
        <p:grpSpPr>
          <a:xfrm>
            <a:off x="2505547" y="4354674"/>
            <a:ext cx="376238" cy="461963"/>
            <a:chOff x="1373117" y="2541529"/>
            <a:chExt cx="376238" cy="461963"/>
          </a:xfrm>
        </p:grpSpPr>
        <p:sp>
          <p:nvSpPr>
            <p:cNvPr id="8" name="矩形 7"/>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1" name="Object 12"/>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spid="_x0000_s3075" name="方程式" r:id="rId5" imgW="164880" imgH="215640" progId="Equation.3">
                    <p:embed/>
                  </p:oleObj>
                </mc:Choice>
                <mc:Fallback>
                  <p:oleObj name="方程式" r:id="rId5" imgW="164880" imgH="215640" progId="Equation.3">
                    <p:embed/>
                    <p:pic>
                      <p:nvPicPr>
                        <p:cNvPr id="11" name="Object 12"/>
                        <p:cNvPicPr>
                          <a:picLocks noChangeAspect="1" noChangeArrowheads="1"/>
                        </p:cNvPicPr>
                        <p:nvPr/>
                      </p:nvPicPr>
                      <p:blipFill>
                        <a:blip r:embed="rId6"/>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橢圓 11"/>
          <p:cNvSpPr/>
          <p:nvPr/>
        </p:nvSpPr>
        <p:spPr>
          <a:xfrm>
            <a:off x="4398512" y="21699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4400854" y="31953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4" name="橢圓 13"/>
          <p:cNvSpPr/>
          <p:nvPr/>
        </p:nvSpPr>
        <p:spPr>
          <a:xfrm>
            <a:off x="4408669" y="42530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aphicFrame>
        <p:nvGraphicFramePr>
          <p:cNvPr id="20" name="Object 12"/>
          <p:cNvGraphicFramePr>
            <a:graphicFrameLocks noChangeAspect="1"/>
          </p:cNvGraphicFramePr>
          <p:nvPr/>
        </p:nvGraphicFramePr>
        <p:xfrm>
          <a:off x="9685636" y="3316091"/>
          <a:ext cx="352425" cy="461962"/>
        </p:xfrm>
        <a:graphic>
          <a:graphicData uri="http://schemas.openxmlformats.org/presentationml/2006/ole">
            <mc:AlternateContent xmlns:mc="http://schemas.openxmlformats.org/markup-compatibility/2006">
              <mc:Choice xmlns:v="urn:schemas-microsoft-com:vml" Requires="v">
                <p:oleObj spid="_x0000_s3076" name="方程式" r:id="rId7" imgW="164880" imgH="215640" progId="Equation.3">
                  <p:embed/>
                </p:oleObj>
              </mc:Choice>
              <mc:Fallback>
                <p:oleObj name="方程式" r:id="rId7" imgW="164880" imgH="215640" progId="Equation.3">
                  <p:embed/>
                  <p:pic>
                    <p:nvPicPr>
                      <p:cNvPr id="20" name="Object 12"/>
                      <p:cNvPicPr>
                        <a:picLocks noChangeAspect="1" noChangeArrowheads="1"/>
                      </p:cNvPicPr>
                      <p:nvPr/>
                    </p:nvPicPr>
                    <p:blipFill>
                      <a:blip r:embed="rId8"/>
                      <a:srcRect/>
                      <a:stretch>
                        <a:fillRect/>
                      </a:stretch>
                    </p:blipFill>
                    <p:spPr bwMode="auto">
                      <a:xfrm>
                        <a:off x="9685636" y="3316091"/>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2"/>
          <p:cNvGraphicFramePr>
            <a:graphicFrameLocks noChangeAspect="1"/>
          </p:cNvGraphicFramePr>
          <p:nvPr/>
        </p:nvGraphicFramePr>
        <p:xfrm>
          <a:off x="9658648" y="4099269"/>
          <a:ext cx="379412" cy="461963"/>
        </p:xfrm>
        <a:graphic>
          <a:graphicData uri="http://schemas.openxmlformats.org/presentationml/2006/ole">
            <mc:AlternateContent xmlns:mc="http://schemas.openxmlformats.org/markup-compatibility/2006">
              <mc:Choice xmlns:v="urn:schemas-microsoft-com:vml" Requires="v">
                <p:oleObj spid="_x0000_s3077" name="方程式" r:id="rId9" imgW="177480" imgH="215640" progId="Equation.3">
                  <p:embed/>
                </p:oleObj>
              </mc:Choice>
              <mc:Fallback>
                <p:oleObj name="方程式" r:id="rId9" imgW="177480" imgH="215640" progId="Equation.3">
                  <p:embed/>
                  <p:pic>
                    <p:nvPicPr>
                      <p:cNvPr id="21" name="Object 12"/>
                      <p:cNvPicPr>
                        <a:picLocks noChangeAspect="1" noChangeArrowheads="1"/>
                      </p:cNvPicPr>
                      <p:nvPr/>
                    </p:nvPicPr>
                    <p:blipFill>
                      <a:blip r:embed="rId10"/>
                      <a:srcRect/>
                      <a:stretch>
                        <a:fillRect/>
                      </a:stretch>
                    </p:blipFill>
                    <p:spPr bwMode="auto">
                      <a:xfrm>
                        <a:off x="9658648" y="4099269"/>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橢圓 21"/>
          <p:cNvSpPr/>
          <p:nvPr/>
        </p:nvSpPr>
        <p:spPr>
          <a:xfrm>
            <a:off x="6806464" y="216992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3" name="橢圓 22"/>
          <p:cNvSpPr/>
          <p:nvPr/>
        </p:nvSpPr>
        <p:spPr>
          <a:xfrm>
            <a:off x="6819518" y="321149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4" name="橢圓 23"/>
          <p:cNvSpPr/>
          <p:nvPr/>
        </p:nvSpPr>
        <p:spPr>
          <a:xfrm>
            <a:off x="6845626" y="42530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8579837" y="332023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8" name="橢圓 27"/>
          <p:cNvSpPr/>
          <p:nvPr/>
        </p:nvSpPr>
        <p:spPr>
          <a:xfrm>
            <a:off x="8582179" y="408014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36" name="直線單箭頭接點 35"/>
          <p:cNvCxnSpPr>
            <a:stCxn id="65" idx="6"/>
            <a:endCxn id="24" idx="2"/>
          </p:cNvCxnSpPr>
          <p:nvPr/>
        </p:nvCxnSpPr>
        <p:spPr>
          <a:xfrm flipV="1">
            <a:off x="4972670" y="4540136"/>
            <a:ext cx="1872956" cy="10727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endCxn id="66" idx="2"/>
          </p:cNvCxnSpPr>
          <p:nvPr/>
        </p:nvCxnSpPr>
        <p:spPr>
          <a:xfrm>
            <a:off x="4992118" y="5612912"/>
            <a:ext cx="18535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13" idx="6"/>
            <a:endCxn id="22" idx="2"/>
          </p:cNvCxnSpPr>
          <p:nvPr/>
        </p:nvCxnSpPr>
        <p:spPr>
          <a:xfrm flipV="1">
            <a:off x="4975012" y="2457004"/>
            <a:ext cx="1831452" cy="10254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12" idx="6"/>
            <a:endCxn id="23" idx="2"/>
          </p:cNvCxnSpPr>
          <p:nvPr/>
        </p:nvCxnSpPr>
        <p:spPr>
          <a:xfrm>
            <a:off x="4972670" y="2457005"/>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2" idx="6"/>
            <a:endCxn id="24" idx="2"/>
          </p:cNvCxnSpPr>
          <p:nvPr/>
        </p:nvCxnSpPr>
        <p:spPr>
          <a:xfrm>
            <a:off x="4972670" y="2457005"/>
            <a:ext cx="1872956" cy="20831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3" idx="6"/>
            <a:endCxn id="24" idx="2"/>
          </p:cNvCxnSpPr>
          <p:nvPr/>
        </p:nvCxnSpPr>
        <p:spPr>
          <a:xfrm>
            <a:off x="4975012" y="3482457"/>
            <a:ext cx="1870614" cy="10576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14" idx="6"/>
            <a:endCxn id="22" idx="2"/>
          </p:cNvCxnSpPr>
          <p:nvPr/>
        </p:nvCxnSpPr>
        <p:spPr>
          <a:xfrm flipV="1">
            <a:off x="4982828" y="2457003"/>
            <a:ext cx="1823637" cy="20831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14" idx="6"/>
            <a:endCxn id="23" idx="2"/>
          </p:cNvCxnSpPr>
          <p:nvPr/>
        </p:nvCxnSpPr>
        <p:spPr>
          <a:xfrm flipV="1">
            <a:off x="4982828" y="3498569"/>
            <a:ext cx="1836691" cy="10415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0" idx="3"/>
            <a:endCxn id="12" idx="2"/>
          </p:cNvCxnSpPr>
          <p:nvPr/>
        </p:nvCxnSpPr>
        <p:spPr>
          <a:xfrm flipV="1">
            <a:off x="2820802" y="2457004"/>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9" idx="3"/>
            <a:endCxn id="13" idx="2"/>
          </p:cNvCxnSpPr>
          <p:nvPr/>
        </p:nvCxnSpPr>
        <p:spPr>
          <a:xfrm flipV="1">
            <a:off x="2825564" y="3482457"/>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9" idx="3"/>
            <a:endCxn id="65" idx="2"/>
          </p:cNvCxnSpPr>
          <p:nvPr/>
        </p:nvCxnSpPr>
        <p:spPr>
          <a:xfrm>
            <a:off x="2825564" y="3486026"/>
            <a:ext cx="1572948" cy="21268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1" idx="3"/>
            <a:endCxn id="12" idx="2"/>
          </p:cNvCxnSpPr>
          <p:nvPr/>
        </p:nvCxnSpPr>
        <p:spPr>
          <a:xfrm flipV="1">
            <a:off x="2881786" y="2457004"/>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8" idx="3"/>
            <a:endCxn id="13" idx="2"/>
          </p:cNvCxnSpPr>
          <p:nvPr/>
        </p:nvCxnSpPr>
        <p:spPr>
          <a:xfrm flipV="1">
            <a:off x="2848448" y="3482457"/>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8" idx="3"/>
            <a:endCxn id="65" idx="2"/>
          </p:cNvCxnSpPr>
          <p:nvPr/>
        </p:nvCxnSpPr>
        <p:spPr>
          <a:xfrm>
            <a:off x="2848448" y="4608974"/>
            <a:ext cx="1550065" cy="10039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stCxn id="22" idx="6"/>
          </p:cNvCxnSpPr>
          <p:nvPr/>
        </p:nvCxnSpPr>
        <p:spPr>
          <a:xfrm>
            <a:off x="7380622" y="2457004"/>
            <a:ext cx="1165922" cy="11493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23" idx="6"/>
          </p:cNvCxnSpPr>
          <p:nvPr/>
        </p:nvCxnSpPr>
        <p:spPr>
          <a:xfrm>
            <a:off x="7393676" y="3498570"/>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stCxn id="23" idx="6"/>
          </p:cNvCxnSpPr>
          <p:nvPr/>
        </p:nvCxnSpPr>
        <p:spPr>
          <a:xfrm>
            <a:off x="7393676" y="3498570"/>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stCxn id="22" idx="6"/>
          </p:cNvCxnSpPr>
          <p:nvPr/>
        </p:nvCxnSpPr>
        <p:spPr>
          <a:xfrm>
            <a:off x="7380622" y="2457004"/>
            <a:ext cx="1168264" cy="1927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a:stCxn id="24" idx="6"/>
          </p:cNvCxnSpPr>
          <p:nvPr/>
        </p:nvCxnSpPr>
        <p:spPr>
          <a:xfrm flipV="1">
            <a:off x="7419784" y="3606331"/>
            <a:ext cx="1126760" cy="9338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a:stCxn id="24" idx="6"/>
          </p:cNvCxnSpPr>
          <p:nvPr/>
        </p:nvCxnSpPr>
        <p:spPr>
          <a:xfrm flipV="1">
            <a:off x="7419784" y="4384901"/>
            <a:ext cx="1129102" cy="155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橢圓 64"/>
          <p:cNvSpPr/>
          <p:nvPr/>
        </p:nvSpPr>
        <p:spPr>
          <a:xfrm>
            <a:off x="4398512" y="532583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6" name="橢圓 65"/>
          <p:cNvSpPr/>
          <p:nvPr/>
        </p:nvSpPr>
        <p:spPr>
          <a:xfrm>
            <a:off x="6845626" y="532583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01" name="直線單箭頭接點 100"/>
          <p:cNvCxnSpPr>
            <a:stCxn id="8" idx="3"/>
            <a:endCxn id="14" idx="2"/>
          </p:cNvCxnSpPr>
          <p:nvPr/>
        </p:nvCxnSpPr>
        <p:spPr>
          <a:xfrm flipV="1">
            <a:off x="2848447" y="4540135"/>
            <a:ext cx="1560222" cy="688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a:stCxn id="9" idx="3"/>
            <a:endCxn id="14" idx="2"/>
          </p:cNvCxnSpPr>
          <p:nvPr/>
        </p:nvCxnSpPr>
        <p:spPr>
          <a:xfrm>
            <a:off x="2825565" y="3486025"/>
            <a:ext cx="1583105" cy="10541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a:stCxn id="65" idx="6"/>
            <a:endCxn id="23" idx="2"/>
          </p:cNvCxnSpPr>
          <p:nvPr/>
        </p:nvCxnSpPr>
        <p:spPr>
          <a:xfrm flipV="1">
            <a:off x="4972670" y="3498570"/>
            <a:ext cx="1846848" cy="21143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單箭頭接點 115"/>
          <p:cNvCxnSpPr>
            <a:stCxn id="65" idx="6"/>
            <a:endCxn id="22" idx="2"/>
          </p:cNvCxnSpPr>
          <p:nvPr/>
        </p:nvCxnSpPr>
        <p:spPr>
          <a:xfrm flipV="1">
            <a:off x="4972670" y="2457004"/>
            <a:ext cx="1833794" cy="31559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a:endCxn id="66" idx="2"/>
          </p:cNvCxnSpPr>
          <p:nvPr/>
        </p:nvCxnSpPr>
        <p:spPr>
          <a:xfrm>
            <a:off x="4988066" y="4536454"/>
            <a:ext cx="1857560" cy="107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14" idx="6"/>
            <a:endCxn id="24" idx="2"/>
          </p:cNvCxnSpPr>
          <p:nvPr/>
        </p:nvCxnSpPr>
        <p:spPr>
          <a:xfrm>
            <a:off x="4982828" y="4540135"/>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a:off x="4972671" y="3498569"/>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24"/>
          <p:cNvCxnSpPr/>
          <p:nvPr/>
        </p:nvCxnSpPr>
        <p:spPr>
          <a:xfrm>
            <a:off x="4992119" y="2457003"/>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3" idx="6"/>
            <a:endCxn id="66" idx="2"/>
          </p:cNvCxnSpPr>
          <p:nvPr/>
        </p:nvCxnSpPr>
        <p:spPr>
          <a:xfrm>
            <a:off x="4975012" y="3482456"/>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12" idx="6"/>
            <a:endCxn id="66" idx="2"/>
          </p:cNvCxnSpPr>
          <p:nvPr/>
        </p:nvCxnSpPr>
        <p:spPr>
          <a:xfrm>
            <a:off x="4972670" y="2457004"/>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a:stCxn id="66" idx="6"/>
            <a:endCxn id="28" idx="2"/>
          </p:cNvCxnSpPr>
          <p:nvPr/>
        </p:nvCxnSpPr>
        <p:spPr>
          <a:xfrm flipV="1">
            <a:off x="7419785" y="4367226"/>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a:stCxn id="66" idx="6"/>
            <a:endCxn id="27" idx="2"/>
          </p:cNvCxnSpPr>
          <p:nvPr/>
        </p:nvCxnSpPr>
        <p:spPr>
          <a:xfrm flipV="1">
            <a:off x="7419785" y="3607318"/>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接點 144"/>
          <p:cNvCxnSpPr/>
          <p:nvPr/>
        </p:nvCxnSpPr>
        <p:spPr>
          <a:xfrm>
            <a:off x="4446711" y="255580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p:cNvCxnSpPr/>
          <p:nvPr/>
        </p:nvCxnSpPr>
        <p:spPr>
          <a:xfrm flipV="1">
            <a:off x="4671047" y="226872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接點 158"/>
          <p:cNvCxnSpPr/>
          <p:nvPr/>
        </p:nvCxnSpPr>
        <p:spPr>
          <a:xfrm>
            <a:off x="4453666" y="359384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接點 159"/>
          <p:cNvCxnSpPr/>
          <p:nvPr/>
        </p:nvCxnSpPr>
        <p:spPr>
          <a:xfrm flipV="1">
            <a:off x="4678002" y="3306767"/>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直線接點 160"/>
          <p:cNvCxnSpPr/>
          <p:nvPr/>
        </p:nvCxnSpPr>
        <p:spPr>
          <a:xfrm>
            <a:off x="4446711" y="4663840"/>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線接點 161"/>
          <p:cNvCxnSpPr/>
          <p:nvPr/>
        </p:nvCxnSpPr>
        <p:spPr>
          <a:xfrm flipV="1">
            <a:off x="4671047" y="4376765"/>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線接點 162"/>
          <p:cNvCxnSpPr/>
          <p:nvPr/>
        </p:nvCxnSpPr>
        <p:spPr>
          <a:xfrm>
            <a:off x="4453666" y="572523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線接點 163"/>
          <p:cNvCxnSpPr/>
          <p:nvPr/>
        </p:nvCxnSpPr>
        <p:spPr>
          <a:xfrm flipV="1">
            <a:off x="4678002" y="5438161"/>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線接點 164"/>
          <p:cNvCxnSpPr/>
          <p:nvPr/>
        </p:nvCxnSpPr>
        <p:spPr>
          <a:xfrm>
            <a:off x="6883751" y="572540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接點 165"/>
          <p:cNvCxnSpPr/>
          <p:nvPr/>
        </p:nvCxnSpPr>
        <p:spPr>
          <a:xfrm flipV="1">
            <a:off x="7108087" y="5438327"/>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線接點 166"/>
          <p:cNvCxnSpPr/>
          <p:nvPr/>
        </p:nvCxnSpPr>
        <p:spPr>
          <a:xfrm>
            <a:off x="6905631" y="4641749"/>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線接點 167"/>
          <p:cNvCxnSpPr/>
          <p:nvPr/>
        </p:nvCxnSpPr>
        <p:spPr>
          <a:xfrm flipV="1">
            <a:off x="7129967" y="4354674"/>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接點 168"/>
          <p:cNvCxnSpPr/>
          <p:nvPr/>
        </p:nvCxnSpPr>
        <p:spPr>
          <a:xfrm>
            <a:off x="6854914" y="3604268"/>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p:cNvCxnSpPr/>
          <p:nvPr/>
        </p:nvCxnSpPr>
        <p:spPr>
          <a:xfrm flipV="1">
            <a:off x="7079250" y="3317193"/>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線接點 170"/>
          <p:cNvCxnSpPr/>
          <p:nvPr/>
        </p:nvCxnSpPr>
        <p:spPr>
          <a:xfrm>
            <a:off x="6861618" y="253418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線接點 171"/>
          <p:cNvCxnSpPr/>
          <p:nvPr/>
        </p:nvCxnSpPr>
        <p:spPr>
          <a:xfrm flipV="1">
            <a:off x="7085954" y="2247111"/>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文字方塊 172"/>
          <p:cNvSpPr txBox="1"/>
          <p:nvPr/>
        </p:nvSpPr>
        <p:spPr>
          <a:xfrm>
            <a:off x="4795874" y="4581583"/>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4" name="文字方塊 173"/>
          <p:cNvSpPr txBox="1"/>
          <p:nvPr/>
        </p:nvSpPr>
        <p:spPr>
          <a:xfrm>
            <a:off x="4788972" y="5679829"/>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5" name="文字方塊 174"/>
          <p:cNvSpPr txBox="1"/>
          <p:nvPr/>
        </p:nvSpPr>
        <p:spPr>
          <a:xfrm>
            <a:off x="7256989" y="1984462"/>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sp>
        <p:nvSpPr>
          <p:cNvPr id="176" name="文字方塊 175"/>
          <p:cNvSpPr txBox="1"/>
          <p:nvPr/>
        </p:nvSpPr>
        <p:spPr>
          <a:xfrm>
            <a:off x="7266702" y="4010202"/>
            <a:ext cx="514457" cy="523220"/>
          </a:xfrm>
          <a:prstGeom prst="rect">
            <a:avLst/>
          </a:prstGeom>
          <a:noFill/>
        </p:spPr>
        <p:txBody>
          <a:bodyPr wrap="square" rtlCol="0">
            <a:spAutoFit/>
          </a:bodyPr>
          <a:lstStyle/>
          <a:p>
            <a:pPr algn="ctr"/>
            <a:r>
              <a:rPr lang="en-US" altLang="zh-TW" sz="2800" dirty="0">
                <a:solidFill>
                  <a:srgbClr val="FF0000"/>
                </a:solidFill>
              </a:rPr>
              <a:t>0</a:t>
            </a:r>
            <a:endParaRPr lang="zh-TW" altLang="en-US" sz="2800" dirty="0">
              <a:solidFill>
                <a:srgbClr val="FF0000"/>
              </a:solidFill>
            </a:endParaRPr>
          </a:p>
        </p:txBody>
      </p:sp>
      <p:grpSp>
        <p:nvGrpSpPr>
          <p:cNvPr id="76" name="群組 75"/>
          <p:cNvGrpSpPr/>
          <p:nvPr/>
        </p:nvGrpSpPr>
        <p:grpSpPr>
          <a:xfrm>
            <a:off x="7799254" y="19181"/>
            <a:ext cx="2709950" cy="2809363"/>
            <a:chOff x="6200673" y="3815455"/>
            <a:chExt cx="2709950" cy="2809363"/>
          </a:xfrm>
        </p:grpSpPr>
        <p:cxnSp>
          <p:nvCxnSpPr>
            <p:cNvPr id="78" name="直線單箭頭接點 77"/>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文字方塊 79"/>
                <p:cNvSpPr txBox="1"/>
                <p:nvPr/>
              </p:nvSpPr>
              <p:spPr>
                <a:xfrm>
                  <a:off x="8687357" y="5527718"/>
                  <a:ext cx="223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𝑧</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1" name="文字方塊 80"/>
                <p:cNvSpPr txBox="1"/>
                <p:nvPr/>
              </p:nvSpPr>
              <p:spPr>
                <a:xfrm>
                  <a:off x="7313865" y="3815455"/>
                  <a:ext cx="2479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oMath>
                    </m:oMathPara>
                  </a14:m>
                  <a:endParaRPr lang="zh-TW" altLang="en-US" sz="24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82" name="直線接點 81"/>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3" name="直線接點 82"/>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文字方塊 83"/>
                <p:cNvSpPr txBox="1"/>
                <p:nvPr/>
              </p:nvSpPr>
              <p:spPr>
                <a:xfrm>
                  <a:off x="7985942" y="4252893"/>
                  <a:ext cx="8024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r>
                          <a:rPr lang="en-US" altLang="zh-TW" sz="2400" i="1">
                            <a:latin typeface="Cambria Math" panose="02040503050406030204" pitchFamily="18" charset="0"/>
                          </a:rPr>
                          <m:t>=</m:t>
                        </m:r>
                        <m:r>
                          <a:rPr lang="en-US" altLang="zh-TW" sz="2400" i="1">
                            <a:latin typeface="Cambria Math" panose="02040503050406030204" pitchFamily="18" charset="0"/>
                          </a:rPr>
                          <m:t>𝑧</m:t>
                        </m:r>
                      </m:oMath>
                    </m:oMathPara>
                  </a14:m>
                  <a:endParaRPr lang="zh-TW" altLang="en-US" sz="24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文字方塊 84"/>
                <p:cNvSpPr txBox="1"/>
                <p:nvPr/>
              </p:nvSpPr>
              <p:spPr>
                <a:xfrm>
                  <a:off x="6401952" y="5321208"/>
                  <a:ext cx="818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r>
                          <a:rPr lang="en-US" altLang="zh-TW" sz="2400" i="1">
                            <a:latin typeface="Cambria Math" panose="02040503050406030204" pitchFamily="18" charset="0"/>
                          </a:rPr>
                          <m:t>=0</m:t>
                        </m:r>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cxnSp>
        <p:nvCxnSpPr>
          <p:cNvPr id="86" name="直線接點 85"/>
          <p:cNvCxnSpPr/>
          <p:nvPr/>
        </p:nvCxnSpPr>
        <p:spPr>
          <a:xfrm flipH="1">
            <a:off x="4499385" y="2268726"/>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直線接點 86"/>
          <p:cNvCxnSpPr/>
          <p:nvPr/>
        </p:nvCxnSpPr>
        <p:spPr>
          <a:xfrm flipH="1">
            <a:off x="4491109" y="3306566"/>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線接點 87"/>
          <p:cNvCxnSpPr/>
          <p:nvPr/>
        </p:nvCxnSpPr>
        <p:spPr>
          <a:xfrm flipH="1">
            <a:off x="6907110" y="3314332"/>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直線接點 88"/>
          <p:cNvCxnSpPr/>
          <p:nvPr/>
        </p:nvCxnSpPr>
        <p:spPr>
          <a:xfrm flipH="1">
            <a:off x="6958100" y="5431484"/>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86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174" grpId="0"/>
      <p:bldP spid="175" grpId="0"/>
      <p:bldP spid="1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ReLU</a:t>
            </a:r>
            <a:endParaRPr lang="zh-TW" altLang="en-US" dirty="0"/>
          </a:p>
        </p:txBody>
      </p:sp>
      <p:cxnSp>
        <p:nvCxnSpPr>
          <p:cNvPr id="5" name="直線單箭頭接點 4"/>
          <p:cNvCxnSpPr/>
          <p:nvPr/>
        </p:nvCxnSpPr>
        <p:spPr>
          <a:xfrm>
            <a:off x="8890800" y="4376764"/>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8866916" y="3597961"/>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7" name="群組 66"/>
          <p:cNvGrpSpPr/>
          <p:nvPr/>
        </p:nvGrpSpPr>
        <p:grpSpPr>
          <a:xfrm>
            <a:off x="2482664" y="3219325"/>
            <a:ext cx="342900" cy="461962"/>
            <a:chOff x="1378935" y="1958800"/>
            <a:chExt cx="342900" cy="461962"/>
          </a:xfrm>
        </p:grpSpPr>
        <p:sp>
          <p:nvSpPr>
            <p:cNvPr id="9" name="矩形 8"/>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0" name="Object 12"/>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spid="_x0000_s4098" name="方程式" r:id="rId3" imgW="152280" imgH="215640" progId="Equation.3">
                    <p:embed/>
                  </p:oleObj>
                </mc:Choice>
                <mc:Fallback>
                  <p:oleObj name="方程式" r:id="rId3" imgW="152280" imgH="215640" progId="Equation.3">
                    <p:embed/>
                    <p:pic>
                      <p:nvPicPr>
                        <p:cNvPr id="10" name="Object 12"/>
                        <p:cNvPicPr>
                          <a:picLocks noChangeAspect="1" noChangeArrowheads="1"/>
                        </p:cNvPicPr>
                        <p:nvPr/>
                      </p:nvPicPr>
                      <p:blipFill>
                        <a:blip r:embed="rId4"/>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8" name="群組 67"/>
          <p:cNvGrpSpPr/>
          <p:nvPr/>
        </p:nvGrpSpPr>
        <p:grpSpPr>
          <a:xfrm>
            <a:off x="2505547" y="4354674"/>
            <a:ext cx="376238" cy="461963"/>
            <a:chOff x="1373117" y="2541529"/>
            <a:chExt cx="376238" cy="461963"/>
          </a:xfrm>
        </p:grpSpPr>
        <p:sp>
          <p:nvSpPr>
            <p:cNvPr id="8" name="矩形 7"/>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1" name="Object 12"/>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spid="_x0000_s4099" name="方程式" r:id="rId5" imgW="164880" imgH="215640" progId="Equation.3">
                    <p:embed/>
                  </p:oleObj>
                </mc:Choice>
                <mc:Fallback>
                  <p:oleObj name="方程式" r:id="rId5" imgW="164880" imgH="215640" progId="Equation.3">
                    <p:embed/>
                    <p:pic>
                      <p:nvPicPr>
                        <p:cNvPr id="11" name="Object 12"/>
                        <p:cNvPicPr>
                          <a:picLocks noChangeAspect="1" noChangeArrowheads="1"/>
                        </p:cNvPicPr>
                        <p:nvPr/>
                      </p:nvPicPr>
                      <p:blipFill>
                        <a:blip r:embed="rId6"/>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橢圓 11"/>
          <p:cNvSpPr/>
          <p:nvPr/>
        </p:nvSpPr>
        <p:spPr>
          <a:xfrm>
            <a:off x="4398512" y="21699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4400854" y="319537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aphicFrame>
        <p:nvGraphicFramePr>
          <p:cNvPr id="20" name="Object 12"/>
          <p:cNvGraphicFramePr>
            <a:graphicFrameLocks noChangeAspect="1"/>
          </p:cNvGraphicFramePr>
          <p:nvPr/>
        </p:nvGraphicFramePr>
        <p:xfrm>
          <a:off x="9685636" y="3316091"/>
          <a:ext cx="352425" cy="461962"/>
        </p:xfrm>
        <a:graphic>
          <a:graphicData uri="http://schemas.openxmlformats.org/presentationml/2006/ole">
            <mc:AlternateContent xmlns:mc="http://schemas.openxmlformats.org/markup-compatibility/2006">
              <mc:Choice xmlns:v="urn:schemas-microsoft-com:vml" Requires="v">
                <p:oleObj spid="_x0000_s4100" name="方程式" r:id="rId7" imgW="164880" imgH="215640" progId="Equation.3">
                  <p:embed/>
                </p:oleObj>
              </mc:Choice>
              <mc:Fallback>
                <p:oleObj name="方程式" r:id="rId7" imgW="164880" imgH="215640" progId="Equation.3">
                  <p:embed/>
                  <p:pic>
                    <p:nvPicPr>
                      <p:cNvPr id="20" name="Object 12"/>
                      <p:cNvPicPr>
                        <a:picLocks noChangeAspect="1" noChangeArrowheads="1"/>
                      </p:cNvPicPr>
                      <p:nvPr/>
                    </p:nvPicPr>
                    <p:blipFill>
                      <a:blip r:embed="rId8"/>
                      <a:srcRect/>
                      <a:stretch>
                        <a:fillRect/>
                      </a:stretch>
                    </p:blipFill>
                    <p:spPr bwMode="auto">
                      <a:xfrm>
                        <a:off x="9685636" y="3316091"/>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2"/>
          <p:cNvGraphicFramePr>
            <a:graphicFrameLocks noChangeAspect="1"/>
          </p:cNvGraphicFramePr>
          <p:nvPr/>
        </p:nvGraphicFramePr>
        <p:xfrm>
          <a:off x="9658648" y="4099269"/>
          <a:ext cx="379412" cy="461963"/>
        </p:xfrm>
        <a:graphic>
          <a:graphicData uri="http://schemas.openxmlformats.org/presentationml/2006/ole">
            <mc:AlternateContent xmlns:mc="http://schemas.openxmlformats.org/markup-compatibility/2006">
              <mc:Choice xmlns:v="urn:schemas-microsoft-com:vml" Requires="v">
                <p:oleObj spid="_x0000_s4101" name="方程式" r:id="rId9" imgW="177480" imgH="215640" progId="Equation.3">
                  <p:embed/>
                </p:oleObj>
              </mc:Choice>
              <mc:Fallback>
                <p:oleObj name="方程式" r:id="rId9" imgW="177480" imgH="215640" progId="Equation.3">
                  <p:embed/>
                  <p:pic>
                    <p:nvPicPr>
                      <p:cNvPr id="21" name="Object 12"/>
                      <p:cNvPicPr>
                        <a:picLocks noChangeAspect="1" noChangeArrowheads="1"/>
                      </p:cNvPicPr>
                      <p:nvPr/>
                    </p:nvPicPr>
                    <p:blipFill>
                      <a:blip r:embed="rId10"/>
                      <a:srcRect/>
                      <a:stretch>
                        <a:fillRect/>
                      </a:stretch>
                    </p:blipFill>
                    <p:spPr bwMode="auto">
                      <a:xfrm>
                        <a:off x="9658648" y="4099269"/>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橢圓 22"/>
          <p:cNvSpPr/>
          <p:nvPr/>
        </p:nvSpPr>
        <p:spPr>
          <a:xfrm>
            <a:off x="6819518" y="321149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26"/>
          <p:cNvSpPr/>
          <p:nvPr/>
        </p:nvSpPr>
        <p:spPr>
          <a:xfrm>
            <a:off x="8579837" y="332023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8" name="橢圓 27"/>
          <p:cNvSpPr/>
          <p:nvPr/>
        </p:nvSpPr>
        <p:spPr>
          <a:xfrm>
            <a:off x="8582179" y="408014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cxnSp>
        <p:nvCxnSpPr>
          <p:cNvPr id="39" name="直線單箭頭接點 38"/>
          <p:cNvCxnSpPr>
            <a:stCxn id="12" idx="6"/>
            <a:endCxn id="23" idx="2"/>
          </p:cNvCxnSpPr>
          <p:nvPr/>
        </p:nvCxnSpPr>
        <p:spPr>
          <a:xfrm>
            <a:off x="4972670" y="2457005"/>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10" idx="3"/>
            <a:endCxn id="12" idx="2"/>
          </p:cNvCxnSpPr>
          <p:nvPr/>
        </p:nvCxnSpPr>
        <p:spPr>
          <a:xfrm flipV="1">
            <a:off x="2820802" y="2457004"/>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9" idx="3"/>
            <a:endCxn id="13" idx="2"/>
          </p:cNvCxnSpPr>
          <p:nvPr/>
        </p:nvCxnSpPr>
        <p:spPr>
          <a:xfrm flipV="1">
            <a:off x="2825564" y="3482457"/>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11" idx="3"/>
            <a:endCxn id="12" idx="2"/>
          </p:cNvCxnSpPr>
          <p:nvPr/>
        </p:nvCxnSpPr>
        <p:spPr>
          <a:xfrm flipV="1">
            <a:off x="2881786" y="2457004"/>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8" idx="3"/>
            <a:endCxn id="13" idx="2"/>
          </p:cNvCxnSpPr>
          <p:nvPr/>
        </p:nvCxnSpPr>
        <p:spPr>
          <a:xfrm flipV="1">
            <a:off x="2848448" y="3482457"/>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23" idx="6"/>
          </p:cNvCxnSpPr>
          <p:nvPr/>
        </p:nvCxnSpPr>
        <p:spPr>
          <a:xfrm>
            <a:off x="7393676" y="3498570"/>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stCxn id="23" idx="6"/>
          </p:cNvCxnSpPr>
          <p:nvPr/>
        </p:nvCxnSpPr>
        <p:spPr>
          <a:xfrm>
            <a:off x="7393676" y="3498570"/>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橢圓 65"/>
          <p:cNvSpPr/>
          <p:nvPr/>
        </p:nvSpPr>
        <p:spPr>
          <a:xfrm>
            <a:off x="6845626" y="532583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24" name="直線單箭頭接點 123"/>
          <p:cNvCxnSpPr/>
          <p:nvPr/>
        </p:nvCxnSpPr>
        <p:spPr>
          <a:xfrm>
            <a:off x="4972671" y="3498569"/>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stCxn id="13" idx="6"/>
            <a:endCxn id="66" idx="2"/>
          </p:cNvCxnSpPr>
          <p:nvPr/>
        </p:nvCxnSpPr>
        <p:spPr>
          <a:xfrm>
            <a:off x="4975012" y="3482456"/>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12" idx="6"/>
            <a:endCxn id="66" idx="2"/>
          </p:cNvCxnSpPr>
          <p:nvPr/>
        </p:nvCxnSpPr>
        <p:spPr>
          <a:xfrm>
            <a:off x="4972670" y="2457004"/>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a:stCxn id="66" idx="6"/>
            <a:endCxn id="28" idx="2"/>
          </p:cNvCxnSpPr>
          <p:nvPr/>
        </p:nvCxnSpPr>
        <p:spPr>
          <a:xfrm flipV="1">
            <a:off x="7419785" y="4367226"/>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a:stCxn id="66" idx="6"/>
            <a:endCxn id="27" idx="2"/>
          </p:cNvCxnSpPr>
          <p:nvPr/>
        </p:nvCxnSpPr>
        <p:spPr>
          <a:xfrm flipV="1">
            <a:off x="7419785" y="3607318"/>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接點 144"/>
          <p:cNvCxnSpPr/>
          <p:nvPr/>
        </p:nvCxnSpPr>
        <p:spPr>
          <a:xfrm>
            <a:off x="4446711" y="255580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p:cNvCxnSpPr/>
          <p:nvPr/>
        </p:nvCxnSpPr>
        <p:spPr>
          <a:xfrm flipV="1">
            <a:off x="4671047" y="226872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接點 158"/>
          <p:cNvCxnSpPr/>
          <p:nvPr/>
        </p:nvCxnSpPr>
        <p:spPr>
          <a:xfrm>
            <a:off x="4453666" y="359384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接點 159"/>
          <p:cNvCxnSpPr/>
          <p:nvPr/>
        </p:nvCxnSpPr>
        <p:spPr>
          <a:xfrm flipV="1">
            <a:off x="4678002" y="3306767"/>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線接點 164"/>
          <p:cNvCxnSpPr/>
          <p:nvPr/>
        </p:nvCxnSpPr>
        <p:spPr>
          <a:xfrm>
            <a:off x="6883751" y="572540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接點 165"/>
          <p:cNvCxnSpPr/>
          <p:nvPr/>
        </p:nvCxnSpPr>
        <p:spPr>
          <a:xfrm flipV="1">
            <a:off x="7108087" y="5438327"/>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接點 168"/>
          <p:cNvCxnSpPr/>
          <p:nvPr/>
        </p:nvCxnSpPr>
        <p:spPr>
          <a:xfrm>
            <a:off x="6854914" y="3604268"/>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p:cNvCxnSpPr/>
          <p:nvPr/>
        </p:nvCxnSpPr>
        <p:spPr>
          <a:xfrm flipV="1">
            <a:off x="7079250" y="3317193"/>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3047925" y="1501737"/>
            <a:ext cx="3860800"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t>A Thinner linear network</a:t>
            </a:r>
            <a:endParaRPr lang="zh-TW" altLang="en-US" sz="2800" dirty="0"/>
          </a:p>
        </p:txBody>
      </p:sp>
      <p:cxnSp>
        <p:nvCxnSpPr>
          <p:cNvPr id="6" name="直線接點 5"/>
          <p:cNvCxnSpPr/>
          <p:nvPr/>
        </p:nvCxnSpPr>
        <p:spPr>
          <a:xfrm flipH="1">
            <a:off x="4499385" y="2268726"/>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flipH="1">
            <a:off x="4491109" y="3306566"/>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flipH="1">
            <a:off x="6907110" y="3314332"/>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直線接點 81"/>
          <p:cNvCxnSpPr/>
          <p:nvPr/>
        </p:nvCxnSpPr>
        <p:spPr>
          <a:xfrm flipH="1">
            <a:off x="6958100" y="5431484"/>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5" name="群組 44"/>
          <p:cNvGrpSpPr/>
          <p:nvPr/>
        </p:nvGrpSpPr>
        <p:grpSpPr>
          <a:xfrm>
            <a:off x="7799254" y="19181"/>
            <a:ext cx="2709950" cy="2809363"/>
            <a:chOff x="6200673" y="3815455"/>
            <a:chExt cx="2709950" cy="2809363"/>
          </a:xfrm>
        </p:grpSpPr>
        <p:cxnSp>
          <p:nvCxnSpPr>
            <p:cNvPr id="46" name="直線單箭頭接點 45"/>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字方塊 51"/>
                <p:cNvSpPr txBox="1"/>
                <p:nvPr/>
              </p:nvSpPr>
              <p:spPr>
                <a:xfrm>
                  <a:off x="8687357" y="5527718"/>
                  <a:ext cx="223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𝑧</m:t>
                        </m:r>
                      </m:oMath>
                    </m:oMathPara>
                  </a14:m>
                  <a:endParaRPr lang="zh-TW" altLang="en-US" sz="2400" dirty="0"/>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7313865" y="3815455"/>
                  <a:ext cx="2479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oMath>
                    </m:oMathPara>
                  </a14:m>
                  <a:endParaRPr lang="zh-TW" altLang="en-US" sz="24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54" name="直線接點 53"/>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5" name="直線接點 54"/>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文字方塊 55"/>
                <p:cNvSpPr txBox="1"/>
                <p:nvPr/>
              </p:nvSpPr>
              <p:spPr>
                <a:xfrm>
                  <a:off x="7985942" y="4252893"/>
                  <a:ext cx="8024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r>
                          <a:rPr lang="en-US" altLang="zh-TW" sz="2400" i="1">
                            <a:latin typeface="Cambria Math" panose="02040503050406030204" pitchFamily="18" charset="0"/>
                          </a:rPr>
                          <m:t>=</m:t>
                        </m:r>
                        <m:r>
                          <a:rPr lang="en-US" altLang="zh-TW" sz="2400" i="1">
                            <a:latin typeface="Cambria Math" panose="02040503050406030204" pitchFamily="18" charset="0"/>
                          </a:rPr>
                          <m:t>𝑧</m:t>
                        </m:r>
                      </m:oMath>
                    </m:oMathPara>
                  </a14:m>
                  <a:endParaRPr lang="zh-TW" altLang="en-US" sz="2400"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6401952" y="5321208"/>
                  <a:ext cx="8180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𝑎</m:t>
                        </m:r>
                        <m:r>
                          <a:rPr lang="en-US" altLang="zh-TW" sz="2400" i="1">
                            <a:latin typeface="Cambria Math" panose="02040503050406030204" pitchFamily="18" charset="0"/>
                          </a:rPr>
                          <m:t>=0</m:t>
                        </m:r>
                      </m:oMath>
                    </m:oMathPara>
                  </a14:m>
                  <a:endParaRPr lang="zh-TW" altLang="en-US" sz="2400"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01548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2E4C-7C83-404F-9B1D-8862BDF479DD}"/>
              </a:ext>
            </a:extLst>
          </p:cNvPr>
          <p:cNvSpPr>
            <a:spLocks noGrp="1"/>
          </p:cNvSpPr>
          <p:nvPr>
            <p:ph type="title"/>
          </p:nvPr>
        </p:nvSpPr>
        <p:spPr>
          <a:xfrm>
            <a:off x="1658471" y="404666"/>
            <a:ext cx="8875059" cy="926976"/>
          </a:xfrm>
        </p:spPr>
        <p:txBody>
          <a:bodyPr/>
          <a:lstStyle/>
          <a:p>
            <a:r>
              <a:rPr lang="en-US" dirty="0"/>
              <a:t>Loss Functions</a:t>
            </a:r>
          </a:p>
        </p:txBody>
      </p:sp>
      <p:sp>
        <p:nvSpPr>
          <p:cNvPr id="3" name="Content Placeholder 2">
            <a:extLst>
              <a:ext uri="{FF2B5EF4-FFF2-40B4-BE49-F238E27FC236}">
                <a16:creationId xmlns:a16="http://schemas.microsoft.com/office/drawing/2014/main" id="{9AE5DA36-930B-47EC-BFB8-9BF2D34D9A74}"/>
              </a:ext>
            </a:extLst>
          </p:cNvPr>
          <p:cNvSpPr>
            <a:spLocks noGrp="1"/>
          </p:cNvSpPr>
          <p:nvPr>
            <p:ph idx="1"/>
          </p:nvPr>
        </p:nvSpPr>
        <p:spPr>
          <a:xfrm>
            <a:off x="1902594" y="1844827"/>
            <a:ext cx="8456704" cy="4736177"/>
          </a:xfrm>
        </p:spPr>
        <p:txBody>
          <a:bodyPr/>
          <a:lstStyle/>
          <a:p>
            <a:r>
              <a:rPr lang="en-US" b="1" i="1" dirty="0">
                <a:solidFill>
                  <a:srgbClr val="0070C0"/>
                </a:solidFill>
              </a:rPr>
              <a:t>Regression tasks</a:t>
            </a:r>
          </a:p>
          <a:p>
            <a:endParaRPr lang="en-US" dirty="0"/>
          </a:p>
        </p:txBody>
      </p:sp>
      <p:sp>
        <p:nvSpPr>
          <p:cNvPr id="7" name="Content Placeholder 6">
            <a:extLst>
              <a:ext uri="{FF2B5EF4-FFF2-40B4-BE49-F238E27FC236}">
                <a16:creationId xmlns:a16="http://schemas.microsoft.com/office/drawing/2014/main" id="{9AC5028B-386D-413C-9EC8-D311BA9E5D38}"/>
              </a:ext>
            </a:extLst>
          </p:cNvPr>
          <p:cNvSpPr>
            <a:spLocks noGrp="1"/>
          </p:cNvSpPr>
          <p:nvPr>
            <p:ph idx="4294967295"/>
          </p:nvPr>
        </p:nvSpPr>
        <p:spPr>
          <a:xfrm>
            <a:off x="1902594" y="1332297"/>
            <a:ext cx="5464136" cy="309082"/>
          </a:xfrm>
        </p:spPr>
        <p:txBody>
          <a:bodyPr>
            <a:normAutofit fontScale="70000" lnSpcReduction="20000"/>
          </a:bodyPr>
          <a:lstStyle/>
          <a:p>
            <a:r>
              <a:rPr lang="en-US" dirty="0"/>
              <a:t>Training Neural Networks</a:t>
            </a:r>
          </a:p>
          <a:p>
            <a:endParaRPr lang="en-US" dirty="0"/>
          </a:p>
        </p:txBody>
      </p:sp>
      <p:sp>
        <p:nvSpPr>
          <p:cNvPr id="17" name="TextBox 16">
            <a:extLst>
              <a:ext uri="{FF2B5EF4-FFF2-40B4-BE49-F238E27FC236}">
                <a16:creationId xmlns:a16="http://schemas.microsoft.com/office/drawing/2014/main" id="{895D17EF-24BB-42B9-95F4-044E5D5EC1B7}"/>
              </a:ext>
            </a:extLst>
          </p:cNvPr>
          <p:cNvSpPr txBox="1"/>
          <p:nvPr/>
        </p:nvSpPr>
        <p:spPr>
          <a:xfrm>
            <a:off x="3046250" y="6640746"/>
            <a:ext cx="6099501" cy="228076"/>
          </a:xfrm>
          <a:prstGeom prst="rect">
            <a:avLst/>
          </a:prstGeom>
          <a:noFill/>
        </p:spPr>
        <p:txBody>
          <a:bodyPr wrap="square" rtlCol="0">
            <a:spAutoFit/>
          </a:bodyPr>
          <a:lstStyle/>
          <a:p>
            <a:pPr algn="ctr"/>
            <a:r>
              <a:rPr lang="en-US" sz="882" dirty="0"/>
              <a:t>Slide credit: </a:t>
            </a:r>
            <a:r>
              <a:rPr lang="en-US" sz="882" dirty="0" err="1"/>
              <a:t>Ismini</a:t>
            </a:r>
            <a:r>
              <a:rPr lang="en-US" sz="882" dirty="0"/>
              <a:t> </a:t>
            </a:r>
            <a:r>
              <a:rPr lang="en-US" sz="882" dirty="0" err="1"/>
              <a:t>Lourentzou</a:t>
            </a:r>
            <a:r>
              <a:rPr lang="en-US" sz="882" dirty="0"/>
              <a:t> – Introduction to Deep Learning</a:t>
            </a:r>
          </a:p>
        </p:txBody>
      </p:sp>
      <p:sp>
        <p:nvSpPr>
          <p:cNvPr id="18" name="Ορθογώνιο 17">
            <a:extLst>
              <a:ext uri="{FF2B5EF4-FFF2-40B4-BE49-F238E27FC236}">
                <a16:creationId xmlns:a16="http://schemas.microsoft.com/office/drawing/2014/main" id="{6B5E36F3-637B-400F-BC86-59B1338994BB}"/>
              </a:ext>
            </a:extLst>
          </p:cNvPr>
          <p:cNvSpPr/>
          <p:nvPr/>
        </p:nvSpPr>
        <p:spPr>
          <a:xfrm>
            <a:off x="2283813" y="2539490"/>
            <a:ext cx="982961" cy="581057"/>
          </a:xfrm>
          <a:prstGeom prst="rect">
            <a:avLst/>
          </a:prstGeom>
        </p:spPr>
        <p:txBody>
          <a:bodyPr wrap="none">
            <a:spAutoFit/>
          </a:bodyPr>
          <a:lstStyle/>
          <a:p>
            <a:r>
              <a:rPr lang="en-US" sz="1588" b="1" dirty="0">
                <a:solidFill>
                  <a:srgbClr val="222222"/>
                </a:solidFill>
              </a:rPr>
              <a:t>Training </a:t>
            </a:r>
          </a:p>
          <a:p>
            <a:r>
              <a:rPr lang="en-US" sz="1588" b="1" dirty="0">
                <a:solidFill>
                  <a:srgbClr val="222222"/>
                </a:solidFill>
              </a:rPr>
              <a:t>examples</a:t>
            </a:r>
            <a:endParaRPr lang="el-GR" sz="1588" dirty="0"/>
          </a:p>
        </p:txBody>
      </p:sp>
      <p:sp>
        <p:nvSpPr>
          <p:cNvPr id="19" name="Ορθογώνιο 20">
            <a:extLst>
              <a:ext uri="{FF2B5EF4-FFF2-40B4-BE49-F238E27FC236}">
                <a16:creationId xmlns:a16="http://schemas.microsoft.com/office/drawing/2014/main" id="{7CD2584B-F384-4732-8A45-FDF5B0EE1B1E}"/>
              </a:ext>
            </a:extLst>
          </p:cNvPr>
          <p:cNvSpPr/>
          <p:nvPr/>
        </p:nvSpPr>
        <p:spPr>
          <a:xfrm>
            <a:off x="2283813" y="3468238"/>
            <a:ext cx="837089" cy="581057"/>
          </a:xfrm>
          <a:prstGeom prst="rect">
            <a:avLst/>
          </a:prstGeom>
        </p:spPr>
        <p:txBody>
          <a:bodyPr wrap="none">
            <a:spAutoFit/>
          </a:bodyPr>
          <a:lstStyle/>
          <a:p>
            <a:r>
              <a:rPr lang="en-US" sz="1588" b="1" dirty="0">
                <a:solidFill>
                  <a:srgbClr val="222222"/>
                </a:solidFill>
              </a:rPr>
              <a:t>Output </a:t>
            </a:r>
          </a:p>
          <a:p>
            <a:r>
              <a:rPr lang="en-US" sz="1588" b="1" dirty="0">
                <a:solidFill>
                  <a:srgbClr val="222222"/>
                </a:solidFill>
              </a:rPr>
              <a:t>Layer</a:t>
            </a:r>
            <a:endParaRPr lang="el-GR" sz="1588" dirty="0"/>
          </a:p>
        </p:txBody>
      </p:sp>
      <p:sp>
        <p:nvSpPr>
          <p:cNvPr id="20" name="Ορθογώνιο 23">
            <a:extLst>
              <a:ext uri="{FF2B5EF4-FFF2-40B4-BE49-F238E27FC236}">
                <a16:creationId xmlns:a16="http://schemas.microsoft.com/office/drawing/2014/main" id="{1D5F4953-BCA5-454F-A7AE-8E4350F4BB29}"/>
              </a:ext>
            </a:extLst>
          </p:cNvPr>
          <p:cNvSpPr/>
          <p:nvPr/>
        </p:nvSpPr>
        <p:spPr>
          <a:xfrm>
            <a:off x="2283812" y="4976522"/>
            <a:ext cx="1415262" cy="336695"/>
          </a:xfrm>
          <a:prstGeom prst="rect">
            <a:avLst/>
          </a:prstGeom>
        </p:spPr>
        <p:txBody>
          <a:bodyPr wrap="square">
            <a:spAutoFit/>
          </a:bodyPr>
          <a:lstStyle/>
          <a:p>
            <a:r>
              <a:rPr lang="en-US" sz="1588" b="1" dirty="0">
                <a:solidFill>
                  <a:srgbClr val="222222"/>
                </a:solidFill>
              </a:rPr>
              <a:t>Loss function</a:t>
            </a:r>
          </a:p>
        </p:txBody>
      </p:sp>
      <p:sp>
        <p:nvSpPr>
          <p:cNvPr id="21" name="Ορθογώνιο 25">
            <a:extLst>
              <a:ext uri="{FF2B5EF4-FFF2-40B4-BE49-F238E27FC236}">
                <a16:creationId xmlns:a16="http://schemas.microsoft.com/office/drawing/2014/main" id="{5BAE5C5A-81CE-4752-8F78-3706BD6A0CE9}"/>
              </a:ext>
            </a:extLst>
          </p:cNvPr>
          <p:cNvSpPr/>
          <p:nvPr/>
        </p:nvSpPr>
        <p:spPr>
          <a:xfrm>
            <a:off x="4207366" y="4708962"/>
            <a:ext cx="2483711" cy="336695"/>
          </a:xfrm>
          <a:prstGeom prst="rect">
            <a:avLst/>
          </a:prstGeom>
        </p:spPr>
        <p:txBody>
          <a:bodyPr wrap="square">
            <a:spAutoFit/>
          </a:bodyPr>
          <a:lstStyle/>
          <a:p>
            <a:pPr algn="ctr"/>
            <a:r>
              <a:rPr lang="en-US" sz="1588" b="1" i="1" dirty="0">
                <a:solidFill>
                  <a:srgbClr val="FF0000"/>
                </a:solidFill>
              </a:rPr>
              <a:t>Mean Squared Error</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EE8DA71-F424-4821-9949-470A0DEC726F}"/>
                  </a:ext>
                </a:extLst>
              </p:cNvPr>
              <p:cNvSpPr txBox="1"/>
              <p:nvPr/>
            </p:nvSpPr>
            <p:spPr>
              <a:xfrm>
                <a:off x="6650414" y="4484016"/>
                <a:ext cx="2603784" cy="74148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765" i="1">
                          <a:latin typeface="Cambria Math" panose="02040503050406030204" pitchFamily="18" charset="0"/>
                          <a:ea typeface="Cambria Math" panose="02040503050406030204" pitchFamily="18" charset="0"/>
                        </a:rPr>
                        <m:t>ℒ</m:t>
                      </m:r>
                      <m:d>
                        <m:dPr>
                          <m:ctrlPr>
                            <a:rPr lang="en-US" sz="1765" i="1">
                              <a:latin typeface="Cambria Math" panose="02040503050406030204" pitchFamily="18" charset="0"/>
                            </a:rPr>
                          </m:ctrlPr>
                        </m:dPr>
                        <m:e>
                          <m:r>
                            <a:rPr lang="el-GR" sz="1765" i="1">
                              <a:latin typeface="Cambria Math" charset="0"/>
                            </a:rPr>
                            <m:t>𝜃</m:t>
                          </m:r>
                        </m:e>
                      </m:d>
                      <m:r>
                        <a:rPr lang="el-GR" sz="1765" i="1">
                          <a:latin typeface="Cambria Math" charset="0"/>
                        </a:rPr>
                        <m:t>= </m:t>
                      </m:r>
                      <m:f>
                        <m:fPr>
                          <m:ctrlPr>
                            <a:rPr lang="mr-IN" sz="1765" i="1">
                              <a:latin typeface="Cambria Math" panose="02040503050406030204" pitchFamily="18" charset="0"/>
                            </a:rPr>
                          </m:ctrlPr>
                        </m:fPr>
                        <m:num>
                          <m:r>
                            <a:rPr lang="en-US" sz="1765" i="1">
                              <a:latin typeface="Cambria Math" charset="0"/>
                            </a:rPr>
                            <m:t>1</m:t>
                          </m:r>
                        </m:num>
                        <m:den>
                          <m:r>
                            <a:rPr lang="en-US" sz="1765" i="1">
                              <a:latin typeface="Cambria Math" charset="0"/>
                            </a:rPr>
                            <m:t>𝑛</m:t>
                          </m:r>
                        </m:den>
                      </m:f>
                      <m:nary>
                        <m:naryPr>
                          <m:chr m:val="∑"/>
                          <m:ctrlPr>
                            <a:rPr lang="is-IS" sz="1765" i="1">
                              <a:latin typeface="Cambria Math" panose="02040503050406030204" pitchFamily="18" charset="0"/>
                            </a:rPr>
                          </m:ctrlPr>
                        </m:naryPr>
                        <m:sub>
                          <m:r>
                            <m:rPr>
                              <m:brk m:alnAt="23"/>
                            </m:rPr>
                            <a:rPr lang="en-US" sz="1765" i="1">
                              <a:latin typeface="Cambria Math" charset="0"/>
                            </a:rPr>
                            <m:t>𝑖</m:t>
                          </m:r>
                          <m:r>
                            <a:rPr lang="en-US" sz="1765" i="1">
                              <a:latin typeface="Cambria Math" charset="0"/>
                            </a:rPr>
                            <m:t>=1</m:t>
                          </m:r>
                        </m:sub>
                        <m:sup>
                          <m:r>
                            <a:rPr lang="en-US" sz="1765" i="1">
                              <a:latin typeface="Cambria Math" charset="0"/>
                            </a:rPr>
                            <m:t>𝑛</m:t>
                          </m:r>
                        </m:sup>
                        <m:e>
                          <m:sSup>
                            <m:sSupPr>
                              <m:ctrlPr>
                                <a:rPr lang="mr-IN" sz="1765" i="1">
                                  <a:latin typeface="Cambria Math" panose="02040503050406030204" pitchFamily="18" charset="0"/>
                                </a:rPr>
                              </m:ctrlPr>
                            </m:sSupPr>
                            <m:e>
                              <m:d>
                                <m:dPr>
                                  <m:ctrlPr>
                                    <a:rPr lang="mr-IN" sz="1765" i="1">
                                      <a:latin typeface="Cambria Math" panose="02040503050406030204" pitchFamily="18" charset="0"/>
                                    </a:rPr>
                                  </m:ctrlPr>
                                </m:dPr>
                                <m:e>
                                  <m:sSup>
                                    <m:sSupPr>
                                      <m:ctrlPr>
                                        <a:rPr lang="is-IS" sz="1765" i="1">
                                          <a:latin typeface="Cambria Math" panose="02040503050406030204" pitchFamily="18" charset="0"/>
                                        </a:rPr>
                                      </m:ctrlPr>
                                    </m:sSupPr>
                                    <m:e>
                                      <m:r>
                                        <a:rPr lang="en-US" sz="1765" i="1">
                                          <a:latin typeface="Cambria Math" charset="0"/>
                                        </a:rPr>
                                        <m:t>𝑦</m:t>
                                      </m:r>
                                    </m:e>
                                    <m:sup>
                                      <m:r>
                                        <a:rPr lang="en-US" sz="1765" i="1">
                                          <a:latin typeface="Cambria Math" charset="0"/>
                                        </a:rPr>
                                        <m:t>(</m:t>
                                      </m:r>
                                      <m:r>
                                        <a:rPr lang="en-US" sz="1765" i="1">
                                          <a:latin typeface="Cambria Math" charset="0"/>
                                        </a:rPr>
                                        <m:t>𝑖</m:t>
                                      </m:r>
                                      <m:r>
                                        <a:rPr lang="en-US" sz="1765" i="1">
                                          <a:latin typeface="Cambria Math" charset="0"/>
                                        </a:rPr>
                                        <m:t>)</m:t>
                                      </m:r>
                                    </m:sup>
                                  </m:sSup>
                                  <m:r>
                                    <a:rPr lang="en-US" sz="1765" i="1">
                                      <a:latin typeface="Cambria Math" charset="0"/>
                                    </a:rPr>
                                    <m:t>−</m:t>
                                  </m:r>
                                  <m:sSup>
                                    <m:sSupPr>
                                      <m:ctrlPr>
                                        <a:rPr lang="en-US" sz="1765" i="1">
                                          <a:latin typeface="Cambria Math" panose="02040503050406030204" pitchFamily="18" charset="0"/>
                                        </a:rPr>
                                      </m:ctrlPr>
                                    </m:sSupPr>
                                    <m:e>
                                      <m:acc>
                                        <m:accPr>
                                          <m:chr m:val="̂"/>
                                          <m:ctrlPr>
                                            <a:rPr lang="en-US" sz="1765" i="1">
                                              <a:latin typeface="Cambria Math" panose="02040503050406030204" pitchFamily="18" charset="0"/>
                                            </a:rPr>
                                          </m:ctrlPr>
                                        </m:accPr>
                                        <m:e>
                                          <m:r>
                                            <a:rPr lang="en-US" sz="1765" i="1">
                                              <a:latin typeface="Cambria Math" charset="0"/>
                                            </a:rPr>
                                            <m:t>𝑦</m:t>
                                          </m:r>
                                        </m:e>
                                      </m:acc>
                                    </m:e>
                                    <m:sup>
                                      <m:r>
                                        <a:rPr lang="en-US" sz="1765" i="1">
                                          <a:latin typeface="Cambria Math" charset="0"/>
                                        </a:rPr>
                                        <m:t>(</m:t>
                                      </m:r>
                                      <m:r>
                                        <a:rPr lang="en-US" sz="1765" i="1">
                                          <a:latin typeface="Cambria Math" charset="0"/>
                                        </a:rPr>
                                        <m:t>𝑖</m:t>
                                      </m:r>
                                      <m:r>
                                        <a:rPr lang="en-US" sz="1765" i="1">
                                          <a:latin typeface="Cambria Math" charset="0"/>
                                        </a:rPr>
                                        <m:t>)</m:t>
                                      </m:r>
                                    </m:sup>
                                  </m:sSup>
                                </m:e>
                              </m:d>
                            </m:e>
                            <m:sup>
                              <m:r>
                                <a:rPr lang="en-US" sz="1765" i="1">
                                  <a:latin typeface="Cambria Math" charset="0"/>
                                </a:rPr>
                                <m:t>2</m:t>
                              </m:r>
                            </m:sup>
                          </m:sSup>
                        </m:e>
                      </m:nary>
                    </m:oMath>
                  </m:oMathPara>
                </a14:m>
                <a:endParaRPr lang="el-GR" sz="1765" dirty="0"/>
              </a:p>
            </p:txBody>
          </p:sp>
        </mc:Choice>
        <mc:Fallback xmlns="">
          <p:sp>
            <p:nvSpPr>
              <p:cNvPr id="22" name="TextBox 21">
                <a:extLst>
                  <a:ext uri="{FF2B5EF4-FFF2-40B4-BE49-F238E27FC236}">
                    <a16:creationId xmlns:a16="http://schemas.microsoft.com/office/drawing/2014/main" id="{7EE8DA71-F424-4821-9949-470A0DEC726F}"/>
                  </a:ext>
                </a:extLst>
              </p:cNvPr>
              <p:cNvSpPr txBox="1">
                <a:spLocks noRot="1" noChangeAspect="1" noMove="1" noResize="1" noEditPoints="1" noAdjustHandles="1" noChangeArrowheads="1" noChangeShapeType="1" noTextEdit="1"/>
              </p:cNvSpPr>
              <p:nvPr/>
            </p:nvSpPr>
            <p:spPr>
              <a:xfrm>
                <a:off x="6650414" y="4484016"/>
                <a:ext cx="2603784" cy="741485"/>
              </a:xfrm>
              <a:prstGeom prst="rect">
                <a:avLst/>
              </a:prstGeom>
              <a:blipFill>
                <a:blip r:embed="rId2"/>
                <a:stretch>
                  <a:fillRect/>
                </a:stretch>
              </a:blipFill>
            </p:spPr>
            <p:txBody>
              <a:bodyPr/>
              <a:lstStyle/>
              <a:p>
                <a:r>
                  <a:rPr lang="en-IN">
                    <a:noFill/>
                  </a:rPr>
                  <a:t> </a:t>
                </a:r>
              </a:p>
            </p:txBody>
          </p:sp>
        </mc:Fallback>
      </mc:AlternateContent>
      <p:sp>
        <p:nvSpPr>
          <p:cNvPr id="23" name="Ορθογώνιο 22">
            <a:extLst>
              <a:ext uri="{FF2B5EF4-FFF2-40B4-BE49-F238E27FC236}">
                <a16:creationId xmlns:a16="http://schemas.microsoft.com/office/drawing/2014/main" id="{DD0B38E7-B605-4B7E-84AC-81E1079C75AC}"/>
              </a:ext>
            </a:extLst>
          </p:cNvPr>
          <p:cNvSpPr/>
          <p:nvPr/>
        </p:nvSpPr>
        <p:spPr>
          <a:xfrm>
            <a:off x="4433194" y="3600893"/>
            <a:ext cx="4966703" cy="336695"/>
          </a:xfrm>
          <a:prstGeom prst="rect">
            <a:avLst/>
          </a:prstGeom>
        </p:spPr>
        <p:txBody>
          <a:bodyPr wrap="square">
            <a:spAutoFit/>
          </a:bodyPr>
          <a:lstStyle/>
          <a:p>
            <a:r>
              <a:rPr lang="en-US" sz="1588" dirty="0">
                <a:solidFill>
                  <a:srgbClr val="222222"/>
                </a:solidFill>
              </a:rPr>
              <a:t>Linear (Identity) or Sigmoid Activation</a:t>
            </a:r>
          </a:p>
        </p:txBody>
      </p:sp>
      <p:sp>
        <p:nvSpPr>
          <p:cNvPr id="24" name="Ορθογώνιο 42">
            <a:extLst>
              <a:ext uri="{FF2B5EF4-FFF2-40B4-BE49-F238E27FC236}">
                <a16:creationId xmlns:a16="http://schemas.microsoft.com/office/drawing/2014/main" id="{6D19382C-1DD9-403C-AFCF-BD154B2A4748}"/>
              </a:ext>
            </a:extLst>
          </p:cNvPr>
          <p:cNvSpPr/>
          <p:nvPr/>
        </p:nvSpPr>
        <p:spPr>
          <a:xfrm>
            <a:off x="4207366" y="5610112"/>
            <a:ext cx="2483711" cy="336695"/>
          </a:xfrm>
          <a:prstGeom prst="rect">
            <a:avLst/>
          </a:prstGeom>
        </p:spPr>
        <p:txBody>
          <a:bodyPr wrap="square">
            <a:spAutoFit/>
          </a:bodyPr>
          <a:lstStyle/>
          <a:p>
            <a:pPr algn="ctr"/>
            <a:r>
              <a:rPr lang="en-US" sz="1588" b="1" i="1" dirty="0">
                <a:solidFill>
                  <a:srgbClr val="FF0000"/>
                </a:solidFill>
              </a:rPr>
              <a:t>Mean Absolute Error</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8280BCB-C980-4352-9395-6D5B636E7EC4}"/>
                  </a:ext>
                </a:extLst>
              </p:cNvPr>
              <p:cNvSpPr txBox="1"/>
              <p:nvPr/>
            </p:nvSpPr>
            <p:spPr>
              <a:xfrm>
                <a:off x="6650414" y="5384766"/>
                <a:ext cx="2436629" cy="741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765" i="1">
                          <a:latin typeface="Cambria Math" panose="02040503050406030204" pitchFamily="18" charset="0"/>
                          <a:ea typeface="Cambria Math" panose="02040503050406030204" pitchFamily="18" charset="0"/>
                        </a:rPr>
                        <m:t>ℒ</m:t>
                      </m:r>
                      <m:d>
                        <m:dPr>
                          <m:ctrlPr>
                            <a:rPr lang="en-US" sz="1765" i="1">
                              <a:latin typeface="Cambria Math" panose="02040503050406030204" pitchFamily="18" charset="0"/>
                            </a:rPr>
                          </m:ctrlPr>
                        </m:dPr>
                        <m:e>
                          <m:r>
                            <a:rPr lang="el-GR" sz="1765" i="1">
                              <a:latin typeface="Cambria Math" charset="0"/>
                            </a:rPr>
                            <m:t>𝜃</m:t>
                          </m:r>
                        </m:e>
                      </m:d>
                      <m:r>
                        <a:rPr lang="el-GR" sz="1765" i="1">
                          <a:latin typeface="Cambria Math" charset="0"/>
                        </a:rPr>
                        <m:t>= </m:t>
                      </m:r>
                      <m:f>
                        <m:fPr>
                          <m:ctrlPr>
                            <a:rPr lang="mr-IN" sz="1765" i="1">
                              <a:latin typeface="Cambria Math" panose="02040503050406030204" pitchFamily="18" charset="0"/>
                            </a:rPr>
                          </m:ctrlPr>
                        </m:fPr>
                        <m:num>
                          <m:r>
                            <a:rPr lang="en-US" sz="1765" i="1">
                              <a:latin typeface="Cambria Math" charset="0"/>
                            </a:rPr>
                            <m:t>1</m:t>
                          </m:r>
                        </m:num>
                        <m:den>
                          <m:r>
                            <a:rPr lang="en-US" sz="1765" i="1">
                              <a:latin typeface="Cambria Math" charset="0"/>
                            </a:rPr>
                            <m:t>𝑛</m:t>
                          </m:r>
                        </m:den>
                      </m:f>
                      <m:nary>
                        <m:naryPr>
                          <m:chr m:val="∑"/>
                          <m:ctrlPr>
                            <a:rPr lang="is-IS" sz="1765" i="1">
                              <a:latin typeface="Cambria Math" panose="02040503050406030204" pitchFamily="18" charset="0"/>
                            </a:rPr>
                          </m:ctrlPr>
                        </m:naryPr>
                        <m:sub>
                          <m:r>
                            <m:rPr>
                              <m:brk m:alnAt="23"/>
                            </m:rPr>
                            <a:rPr lang="en-US" sz="1765" i="1">
                              <a:latin typeface="Cambria Math" charset="0"/>
                            </a:rPr>
                            <m:t>𝑖</m:t>
                          </m:r>
                          <m:r>
                            <a:rPr lang="en-US" sz="1765" i="1">
                              <a:latin typeface="Cambria Math" charset="0"/>
                            </a:rPr>
                            <m:t>=1</m:t>
                          </m:r>
                        </m:sub>
                        <m:sup>
                          <m:r>
                            <a:rPr lang="en-US" sz="1765" i="1">
                              <a:latin typeface="Cambria Math" charset="0"/>
                            </a:rPr>
                            <m:t>𝑛</m:t>
                          </m:r>
                        </m:sup>
                        <m:e>
                          <m:d>
                            <m:dPr>
                              <m:begChr m:val="|"/>
                              <m:endChr m:val="|"/>
                              <m:ctrlPr>
                                <a:rPr lang="hr-HR" sz="1765" i="1">
                                  <a:latin typeface="Cambria Math" panose="02040503050406030204" pitchFamily="18" charset="0"/>
                                </a:rPr>
                              </m:ctrlPr>
                            </m:dPr>
                            <m:e>
                              <m:sSup>
                                <m:sSupPr>
                                  <m:ctrlPr>
                                    <a:rPr lang="is-IS" sz="1765" i="1">
                                      <a:latin typeface="Cambria Math" panose="02040503050406030204" pitchFamily="18" charset="0"/>
                                    </a:rPr>
                                  </m:ctrlPr>
                                </m:sSupPr>
                                <m:e>
                                  <m:r>
                                    <a:rPr lang="en-US" sz="1765" i="1">
                                      <a:latin typeface="Cambria Math" charset="0"/>
                                    </a:rPr>
                                    <m:t>𝑦</m:t>
                                  </m:r>
                                </m:e>
                                <m:sup>
                                  <m:r>
                                    <a:rPr lang="en-US" sz="1765" i="1">
                                      <a:latin typeface="Cambria Math" charset="0"/>
                                    </a:rPr>
                                    <m:t>(</m:t>
                                  </m:r>
                                  <m:r>
                                    <a:rPr lang="en-US" sz="1765" i="1">
                                      <a:latin typeface="Cambria Math" charset="0"/>
                                    </a:rPr>
                                    <m:t>𝑖</m:t>
                                  </m:r>
                                  <m:r>
                                    <a:rPr lang="en-US" sz="1765" i="1">
                                      <a:latin typeface="Cambria Math" charset="0"/>
                                    </a:rPr>
                                    <m:t>)</m:t>
                                  </m:r>
                                </m:sup>
                              </m:sSup>
                              <m:r>
                                <a:rPr lang="en-US" sz="1765" i="1">
                                  <a:latin typeface="Cambria Math" charset="0"/>
                                </a:rPr>
                                <m:t>−</m:t>
                              </m:r>
                              <m:sSup>
                                <m:sSupPr>
                                  <m:ctrlPr>
                                    <a:rPr lang="en-US" sz="1765" i="1">
                                      <a:latin typeface="Cambria Math" panose="02040503050406030204" pitchFamily="18" charset="0"/>
                                    </a:rPr>
                                  </m:ctrlPr>
                                </m:sSupPr>
                                <m:e>
                                  <m:acc>
                                    <m:accPr>
                                      <m:chr m:val="̂"/>
                                      <m:ctrlPr>
                                        <a:rPr lang="en-US" sz="1765" i="1">
                                          <a:latin typeface="Cambria Math" panose="02040503050406030204" pitchFamily="18" charset="0"/>
                                        </a:rPr>
                                      </m:ctrlPr>
                                    </m:accPr>
                                    <m:e>
                                      <m:r>
                                        <a:rPr lang="en-US" sz="1765" i="1">
                                          <a:latin typeface="Cambria Math" charset="0"/>
                                        </a:rPr>
                                        <m:t>𝑦</m:t>
                                      </m:r>
                                    </m:e>
                                  </m:acc>
                                </m:e>
                                <m:sup>
                                  <m:r>
                                    <a:rPr lang="en-US" sz="1765" i="1">
                                      <a:latin typeface="Cambria Math" charset="0"/>
                                    </a:rPr>
                                    <m:t>(</m:t>
                                  </m:r>
                                  <m:r>
                                    <a:rPr lang="en-US" sz="1765" i="1">
                                      <a:latin typeface="Cambria Math" charset="0"/>
                                    </a:rPr>
                                    <m:t>𝑖</m:t>
                                  </m:r>
                                  <m:r>
                                    <a:rPr lang="en-US" sz="1765" i="1">
                                      <a:latin typeface="Cambria Math" charset="0"/>
                                    </a:rPr>
                                    <m:t>)</m:t>
                                  </m:r>
                                </m:sup>
                              </m:sSup>
                            </m:e>
                          </m:d>
                        </m:e>
                      </m:nary>
                    </m:oMath>
                  </m:oMathPara>
                </a14:m>
                <a:endParaRPr lang="el-GR" sz="1765" dirty="0"/>
              </a:p>
            </p:txBody>
          </p:sp>
        </mc:Choice>
        <mc:Fallback xmlns="">
          <p:sp>
            <p:nvSpPr>
              <p:cNvPr id="25" name="TextBox 24">
                <a:extLst>
                  <a:ext uri="{FF2B5EF4-FFF2-40B4-BE49-F238E27FC236}">
                    <a16:creationId xmlns:a16="http://schemas.microsoft.com/office/drawing/2014/main" id="{28280BCB-C980-4352-9395-6D5B636E7EC4}"/>
                  </a:ext>
                </a:extLst>
              </p:cNvPr>
              <p:cNvSpPr txBox="1">
                <a:spLocks noRot="1" noChangeAspect="1" noMove="1" noResize="1" noEditPoints="1" noAdjustHandles="1" noChangeArrowheads="1" noChangeShapeType="1" noTextEdit="1"/>
              </p:cNvSpPr>
              <p:nvPr/>
            </p:nvSpPr>
            <p:spPr>
              <a:xfrm>
                <a:off x="6650414" y="5384766"/>
                <a:ext cx="2436629" cy="7414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420265" y="2669739"/>
                <a:ext cx="6099500" cy="336695"/>
              </a:xfrm>
              <a:prstGeom prst="rect">
                <a:avLst/>
              </a:prstGeom>
              <a:noFill/>
            </p:spPr>
            <p:txBody>
              <a:bodyPr wrap="square" rtlCol="0">
                <a:spAutoFit/>
              </a:bodyPr>
              <a:lstStyle/>
              <a:p>
                <a:pPr algn="ctr"/>
                <a:r>
                  <a:rPr lang="en-US" sz="1588" dirty="0">
                    <a:solidFill>
                      <a:srgbClr val="222222"/>
                    </a:solidFill>
                    <a:ea typeface="Cambria Math" panose="02040503050406030204" pitchFamily="18" charset="0"/>
                  </a:rPr>
                  <a:t>Pairs of 𝑁 inputs </a:t>
                </a:r>
                <a14:m>
                  <m:oMath xmlns:m="http://schemas.openxmlformats.org/officeDocument/2006/math">
                    <m:sSub>
                      <m:sSubPr>
                        <m:ctrlPr>
                          <a:rPr lang="en-US" sz="1412" i="1" dirty="0">
                            <a:latin typeface="Cambria Math" panose="02040503050406030204" pitchFamily="18" charset="0"/>
                          </a:rPr>
                        </m:ctrlPr>
                      </m:sSubPr>
                      <m:e>
                        <m:r>
                          <a:rPr lang="en-US" sz="1412" i="1" dirty="0">
                            <a:latin typeface="Cambria Math" panose="02040503050406030204" pitchFamily="18" charset="0"/>
                          </a:rPr>
                          <m:t>𝑥</m:t>
                        </m:r>
                      </m:e>
                      <m:sub>
                        <m:r>
                          <a:rPr lang="en-US" sz="1412" i="1" dirty="0">
                            <a:latin typeface="Cambria Math" panose="02040503050406030204" pitchFamily="18" charset="0"/>
                          </a:rPr>
                          <m:t>𝑖</m:t>
                        </m:r>
                      </m:sub>
                    </m:sSub>
                  </m:oMath>
                </a14:m>
                <a:r>
                  <a:rPr lang="en-US" sz="1588" dirty="0">
                    <a:solidFill>
                      <a:srgbClr val="222222"/>
                    </a:solidFill>
                    <a:ea typeface="Cambria Math" panose="02040503050406030204" pitchFamily="18" charset="0"/>
                  </a:rPr>
                  <a:t> and ground-truth output values</a:t>
                </a:r>
                <a14:m>
                  <m:oMath xmlns:m="http://schemas.openxmlformats.org/officeDocument/2006/math">
                    <m:r>
                      <a:rPr lang="en-US" sz="1412" dirty="0">
                        <a:latin typeface="Cambria Math" panose="02040503050406030204" pitchFamily="18" charset="0"/>
                      </a:rPr>
                      <m:t> </m:t>
                    </m:r>
                    <m:sSub>
                      <m:sSubPr>
                        <m:ctrlPr>
                          <a:rPr lang="en-US" sz="1412" i="1" dirty="0">
                            <a:latin typeface="Cambria Math" panose="02040503050406030204" pitchFamily="18" charset="0"/>
                          </a:rPr>
                        </m:ctrlPr>
                      </m:sSubPr>
                      <m:e>
                        <m:r>
                          <a:rPr lang="en-US" sz="1412" i="1" dirty="0">
                            <a:latin typeface="Cambria Math" panose="02040503050406030204" pitchFamily="18" charset="0"/>
                          </a:rPr>
                          <m:t>𝑦</m:t>
                        </m:r>
                      </m:e>
                      <m:sub>
                        <m:r>
                          <a:rPr lang="en-US" sz="1412" i="1" dirty="0">
                            <a:latin typeface="Cambria Math" panose="02040503050406030204" pitchFamily="18" charset="0"/>
                          </a:rPr>
                          <m:t>𝑖</m:t>
                        </m:r>
                      </m:sub>
                    </m:sSub>
                  </m:oMath>
                </a14:m>
                <a:endParaRPr lang="el-GR" sz="1412" i="1" dirty="0">
                  <a:latin typeface="Cambria Math"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3420265" y="2669739"/>
                <a:ext cx="6099500" cy="336695"/>
              </a:xfrm>
              <a:prstGeom prst="rect">
                <a:avLst/>
              </a:prstGeom>
              <a:blipFill>
                <a:blip r:embed="rId4"/>
                <a:stretch>
                  <a:fillRect t="-9091" b="-23636"/>
                </a:stretch>
              </a:blipFill>
            </p:spPr>
            <p:txBody>
              <a:bodyPr/>
              <a:lstStyle/>
              <a:p>
                <a:r>
                  <a:rPr lang="en-IN">
                    <a:noFill/>
                  </a:rPr>
                  <a:t> </a:t>
                </a:r>
              </a:p>
            </p:txBody>
          </p:sp>
        </mc:Fallback>
      </mc:AlternateContent>
    </p:spTree>
    <p:extLst>
      <p:ext uri="{BB962C8B-B14F-4D97-AF65-F5344CB8AC3E}">
        <p14:creationId xmlns:p14="http://schemas.microsoft.com/office/powerpoint/2010/main" val="10939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8471" y="404666"/>
            <a:ext cx="8875059" cy="926976"/>
          </a:xfrm>
        </p:spPr>
        <p:txBody>
          <a:bodyPr/>
          <a:lstStyle/>
          <a:p>
            <a:r>
              <a:rPr lang="en-US" dirty="0"/>
              <a:t>Loss Functions</a:t>
            </a:r>
          </a:p>
        </p:txBody>
      </p:sp>
      <p:sp>
        <p:nvSpPr>
          <p:cNvPr id="3" name="Content Placeholder 2"/>
          <p:cNvSpPr>
            <a:spLocks noGrp="1"/>
          </p:cNvSpPr>
          <p:nvPr>
            <p:ph idx="1"/>
          </p:nvPr>
        </p:nvSpPr>
        <p:spPr>
          <a:xfrm>
            <a:off x="1902594" y="1844827"/>
            <a:ext cx="8456704" cy="4736177"/>
          </a:xfrm>
        </p:spPr>
        <p:txBody>
          <a:bodyPr/>
          <a:lstStyle/>
          <a:p>
            <a:r>
              <a:rPr lang="en-US" b="1" i="1" dirty="0">
                <a:solidFill>
                  <a:srgbClr val="0070C0"/>
                </a:solidFill>
              </a:rPr>
              <a:t>Classification tasks</a:t>
            </a:r>
          </a:p>
          <a:p>
            <a:endParaRPr lang="en-US" dirty="0"/>
          </a:p>
        </p:txBody>
      </p:sp>
      <p:sp>
        <p:nvSpPr>
          <p:cNvPr id="13" name="Content Placeholder 12">
            <a:extLst>
              <a:ext uri="{FF2B5EF4-FFF2-40B4-BE49-F238E27FC236}">
                <a16:creationId xmlns:a16="http://schemas.microsoft.com/office/drawing/2014/main" id="{0F30B595-F582-4D5B-A917-45F52949C46C}"/>
              </a:ext>
            </a:extLst>
          </p:cNvPr>
          <p:cNvSpPr>
            <a:spLocks noGrp="1"/>
          </p:cNvSpPr>
          <p:nvPr>
            <p:ph idx="4294967295"/>
          </p:nvPr>
        </p:nvSpPr>
        <p:spPr>
          <a:xfrm>
            <a:off x="1902594" y="1332297"/>
            <a:ext cx="5464136" cy="309082"/>
          </a:xfrm>
        </p:spPr>
        <p:txBody>
          <a:bodyPr>
            <a:normAutofit fontScale="62500" lnSpcReduction="20000"/>
          </a:bodyPr>
          <a:lstStyle/>
          <a:p>
            <a:r>
              <a:rPr lang="en-US" dirty="0"/>
              <a:t>Training Neural Networks</a:t>
            </a:r>
          </a:p>
        </p:txBody>
      </p:sp>
      <p:sp>
        <p:nvSpPr>
          <p:cNvPr id="14" name="Ορθογώνιο 17"/>
          <p:cNvSpPr/>
          <p:nvPr/>
        </p:nvSpPr>
        <p:spPr>
          <a:xfrm>
            <a:off x="2262216" y="2465846"/>
            <a:ext cx="982961" cy="581057"/>
          </a:xfrm>
          <a:prstGeom prst="rect">
            <a:avLst/>
          </a:prstGeom>
        </p:spPr>
        <p:txBody>
          <a:bodyPr wrap="none">
            <a:spAutoFit/>
          </a:bodyPr>
          <a:lstStyle/>
          <a:p>
            <a:r>
              <a:rPr lang="en-US" sz="1588" b="1" dirty="0">
                <a:solidFill>
                  <a:srgbClr val="222222"/>
                </a:solidFill>
              </a:rPr>
              <a:t>Training </a:t>
            </a:r>
          </a:p>
          <a:p>
            <a:r>
              <a:rPr lang="en-US" sz="1588" b="1" dirty="0">
                <a:solidFill>
                  <a:srgbClr val="222222"/>
                </a:solidFill>
              </a:rPr>
              <a:t>examples</a:t>
            </a:r>
            <a:endParaRPr lang="el-GR" sz="1588" dirty="0"/>
          </a:p>
        </p:txBody>
      </p:sp>
      <p:sp>
        <p:nvSpPr>
          <p:cNvPr id="15" name="Ορθογώνιο 20"/>
          <p:cNvSpPr/>
          <p:nvPr/>
        </p:nvSpPr>
        <p:spPr>
          <a:xfrm>
            <a:off x="2262217" y="3650474"/>
            <a:ext cx="837089" cy="581057"/>
          </a:xfrm>
          <a:prstGeom prst="rect">
            <a:avLst/>
          </a:prstGeom>
        </p:spPr>
        <p:txBody>
          <a:bodyPr wrap="none">
            <a:spAutoFit/>
          </a:bodyPr>
          <a:lstStyle/>
          <a:p>
            <a:r>
              <a:rPr lang="en-US" sz="1588" b="1" dirty="0">
                <a:solidFill>
                  <a:srgbClr val="222222"/>
                </a:solidFill>
              </a:rPr>
              <a:t>Output </a:t>
            </a:r>
          </a:p>
          <a:p>
            <a:r>
              <a:rPr lang="en-US" sz="1588" b="1" dirty="0">
                <a:solidFill>
                  <a:srgbClr val="222222"/>
                </a:solidFill>
              </a:rPr>
              <a:t>Layer</a:t>
            </a:r>
            <a:endParaRPr lang="el-GR" sz="1588" dirty="0"/>
          </a:p>
        </p:txBody>
      </p:sp>
      <p:sp>
        <p:nvSpPr>
          <p:cNvPr id="16" name="TextBox 15"/>
          <p:cNvSpPr txBox="1"/>
          <p:nvPr/>
        </p:nvSpPr>
        <p:spPr>
          <a:xfrm>
            <a:off x="3317766" y="3627841"/>
            <a:ext cx="3375071" cy="553998"/>
          </a:xfrm>
          <a:prstGeom prst="rect">
            <a:avLst/>
          </a:prstGeom>
          <a:noFill/>
        </p:spPr>
        <p:txBody>
          <a:bodyPr wrap="square" rtlCol="0">
            <a:spAutoFit/>
          </a:bodyPr>
          <a:lstStyle/>
          <a:p>
            <a:pPr algn="ctr"/>
            <a:r>
              <a:rPr lang="en-US" sz="1588" dirty="0" err="1"/>
              <a:t>Softmax</a:t>
            </a:r>
            <a:r>
              <a:rPr lang="en-US" sz="1588" dirty="0"/>
              <a:t> Activations</a:t>
            </a:r>
          </a:p>
          <a:p>
            <a:pPr algn="ctr"/>
            <a:r>
              <a:rPr lang="en-US" sz="1412" dirty="0"/>
              <a:t> [maps </a:t>
            </a:r>
            <a:r>
              <a:rPr lang="en-US" sz="1412" dirty="0">
                <a:solidFill>
                  <a:srgbClr val="222222"/>
                </a:solidFill>
              </a:rPr>
              <a:t>to a probability distribution]</a:t>
            </a:r>
            <a:endParaRPr lang="el-GR" sz="1412" dirty="0"/>
          </a:p>
        </p:txBody>
      </p:sp>
      <p:sp>
        <p:nvSpPr>
          <p:cNvPr id="17" name="Ορθογώνιο 23"/>
          <p:cNvSpPr/>
          <p:nvPr/>
        </p:nvSpPr>
        <p:spPr>
          <a:xfrm>
            <a:off x="2220276" y="5017412"/>
            <a:ext cx="1295547" cy="336695"/>
          </a:xfrm>
          <a:prstGeom prst="rect">
            <a:avLst/>
          </a:prstGeom>
        </p:spPr>
        <p:txBody>
          <a:bodyPr wrap="none">
            <a:spAutoFit/>
          </a:bodyPr>
          <a:lstStyle/>
          <a:p>
            <a:r>
              <a:rPr lang="en-US" sz="1588" b="1" dirty="0">
                <a:solidFill>
                  <a:srgbClr val="222222"/>
                </a:solidFill>
              </a:rPr>
              <a:t>Loss function</a:t>
            </a:r>
          </a:p>
        </p:txBody>
      </p:sp>
      <p:sp>
        <p:nvSpPr>
          <p:cNvPr id="18" name="TextBox 17"/>
          <p:cNvSpPr txBox="1"/>
          <p:nvPr/>
        </p:nvSpPr>
        <p:spPr>
          <a:xfrm>
            <a:off x="3319425" y="5025083"/>
            <a:ext cx="2669582" cy="336695"/>
          </a:xfrm>
          <a:prstGeom prst="rect">
            <a:avLst/>
          </a:prstGeom>
          <a:noFill/>
        </p:spPr>
        <p:txBody>
          <a:bodyPr wrap="square" rtlCol="0">
            <a:spAutoFit/>
          </a:bodyPr>
          <a:lstStyle/>
          <a:p>
            <a:pPr algn="ctr"/>
            <a:r>
              <a:rPr lang="en-US" sz="1588" b="1" i="1" dirty="0">
                <a:solidFill>
                  <a:srgbClr val="FF0000"/>
                </a:solidFill>
              </a:rPr>
              <a:t>Cross-entropy</a:t>
            </a:r>
            <a:endParaRPr lang="el-GR" sz="1588" b="1" i="1" dirty="0">
              <a:solidFill>
                <a:srgbClr val="FF0000"/>
              </a:solidFill>
            </a:endParaRPr>
          </a:p>
        </p:txBody>
      </p:sp>
      <p:pic>
        <p:nvPicPr>
          <p:cNvPr id="19" name="Εικόνα 31"/>
          <p:cNvPicPr>
            <a:picLocks noChangeAspect="1"/>
          </p:cNvPicPr>
          <p:nvPr/>
        </p:nvPicPr>
        <p:blipFill>
          <a:blip r:embed="rId3"/>
          <a:stretch>
            <a:fillRect/>
          </a:stretch>
        </p:blipFill>
        <p:spPr>
          <a:xfrm>
            <a:off x="6858438" y="3661062"/>
            <a:ext cx="2554941" cy="593912"/>
          </a:xfrm>
          <a:prstGeom prst="rect">
            <a:avLst/>
          </a:prstGeom>
        </p:spPr>
      </p:pic>
      <mc:AlternateContent xmlns:mc="http://schemas.openxmlformats.org/markup-compatibility/2006" xmlns:a14="http://schemas.microsoft.com/office/drawing/2010/main">
        <mc:Choice Requires="a14">
          <p:sp>
            <p:nvSpPr>
              <p:cNvPr id="20" name="TextBox 19"/>
              <p:cNvSpPr txBox="1"/>
              <p:nvPr/>
            </p:nvSpPr>
            <p:spPr>
              <a:xfrm>
                <a:off x="5142953" y="4887637"/>
                <a:ext cx="5279882" cy="6107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12" i="1">
                          <a:latin typeface="Cambria Math" panose="02040503050406030204" pitchFamily="18" charset="0"/>
                          <a:ea typeface="Cambria Math" panose="02040503050406030204" pitchFamily="18" charset="0"/>
                        </a:rPr>
                        <m:t>ℒ</m:t>
                      </m:r>
                      <m:d>
                        <m:dPr>
                          <m:ctrlPr>
                            <a:rPr lang="en-US" sz="1412" i="1">
                              <a:latin typeface="Cambria Math" panose="02040503050406030204" pitchFamily="18" charset="0"/>
                            </a:rPr>
                          </m:ctrlPr>
                        </m:dPr>
                        <m:e>
                          <m:r>
                            <a:rPr lang="el-GR" sz="1412" i="1">
                              <a:latin typeface="Cambria Math" charset="0"/>
                            </a:rPr>
                            <m:t>𝜃</m:t>
                          </m:r>
                        </m:e>
                      </m:d>
                      <m:r>
                        <a:rPr lang="el-GR" sz="1412" i="1">
                          <a:latin typeface="Cambria Math" charset="0"/>
                        </a:rPr>
                        <m:t>=</m:t>
                      </m:r>
                      <m:r>
                        <a:rPr lang="en-US" sz="1412" i="1">
                          <a:latin typeface="Cambria Math" charset="0"/>
                        </a:rPr>
                        <m:t>−</m:t>
                      </m:r>
                      <m:f>
                        <m:fPr>
                          <m:ctrlPr>
                            <a:rPr lang="mr-IN" sz="1412" i="1">
                              <a:latin typeface="Cambria Math" panose="02040503050406030204" pitchFamily="18" charset="0"/>
                            </a:rPr>
                          </m:ctrlPr>
                        </m:fPr>
                        <m:num>
                          <m:r>
                            <a:rPr lang="en-US" sz="1412" i="1">
                              <a:latin typeface="Cambria Math" charset="0"/>
                            </a:rPr>
                            <m:t>1</m:t>
                          </m:r>
                        </m:num>
                        <m:den>
                          <m:r>
                            <a:rPr lang="en-US" sz="1412" i="1">
                              <a:latin typeface="Cambria Math" panose="02040503050406030204" pitchFamily="18" charset="0"/>
                            </a:rPr>
                            <m:t>𝑁</m:t>
                          </m:r>
                        </m:den>
                      </m:f>
                      <m:nary>
                        <m:naryPr>
                          <m:chr m:val="∑"/>
                          <m:ctrlPr>
                            <a:rPr lang="is-IS" sz="1412" i="1">
                              <a:latin typeface="Cambria Math" panose="02040503050406030204" pitchFamily="18" charset="0"/>
                            </a:rPr>
                          </m:ctrlPr>
                        </m:naryPr>
                        <m:sub>
                          <m:r>
                            <m:rPr>
                              <m:brk m:alnAt="23"/>
                            </m:rPr>
                            <a:rPr lang="en-US" sz="1412" i="1">
                              <a:latin typeface="Cambria Math" charset="0"/>
                            </a:rPr>
                            <m:t>𝑖</m:t>
                          </m:r>
                          <m:r>
                            <a:rPr lang="en-US" sz="1412" i="1">
                              <a:latin typeface="Cambria Math" charset="0"/>
                            </a:rPr>
                            <m:t>=1</m:t>
                          </m:r>
                        </m:sub>
                        <m:sup>
                          <m:r>
                            <a:rPr lang="en-US" sz="1412" i="1">
                              <a:latin typeface="Cambria Math" panose="02040503050406030204" pitchFamily="18" charset="0"/>
                            </a:rPr>
                            <m:t>𝑁</m:t>
                          </m:r>
                        </m:sup>
                        <m:e>
                          <m:nary>
                            <m:naryPr>
                              <m:chr m:val="∑"/>
                              <m:ctrlPr>
                                <a:rPr lang="is-IS" sz="1412" i="1">
                                  <a:latin typeface="Cambria Math" panose="02040503050406030204" pitchFamily="18" charset="0"/>
                                </a:rPr>
                              </m:ctrlPr>
                            </m:naryPr>
                            <m:sub>
                              <m:r>
                                <m:rPr>
                                  <m:brk m:alnAt="23"/>
                                </m:rPr>
                                <a:rPr lang="en-US" sz="1412" i="1">
                                  <a:latin typeface="Cambria Math" charset="0"/>
                                </a:rPr>
                                <m:t>𝑘</m:t>
                              </m:r>
                              <m:r>
                                <a:rPr lang="en-US" sz="1412" i="1">
                                  <a:latin typeface="Cambria Math" charset="0"/>
                                </a:rPr>
                                <m:t>=1</m:t>
                              </m:r>
                            </m:sub>
                            <m:sup>
                              <m:r>
                                <a:rPr lang="en-US" sz="1412" i="1">
                                  <a:latin typeface="Cambria Math" charset="0"/>
                                </a:rPr>
                                <m:t>𝐾</m:t>
                              </m:r>
                            </m:sup>
                            <m:e>
                              <m:d>
                                <m:dPr>
                                  <m:begChr m:val="["/>
                                  <m:endChr m:val="]"/>
                                  <m:ctrlPr>
                                    <a:rPr lang="mr-IN" sz="1412" i="1">
                                      <a:latin typeface="Cambria Math" panose="02040503050406030204" pitchFamily="18" charset="0"/>
                                    </a:rPr>
                                  </m:ctrlPr>
                                </m:dPr>
                                <m:e>
                                  <m:sSubSup>
                                    <m:sSubSupPr>
                                      <m:ctrlPr>
                                        <a:rPr lang="en-US" sz="1412" i="1">
                                          <a:latin typeface="Cambria Math" panose="02040503050406030204" pitchFamily="18" charset="0"/>
                                        </a:rPr>
                                      </m:ctrlPr>
                                    </m:sSubSupPr>
                                    <m:e>
                                      <m:r>
                                        <a:rPr lang="en-US" sz="1412" i="1">
                                          <a:latin typeface="Cambria Math" charset="0"/>
                                        </a:rPr>
                                        <m:t>𝑦</m:t>
                                      </m:r>
                                    </m:e>
                                    <m:sub>
                                      <m:r>
                                        <a:rPr lang="en-US" sz="1412" i="1">
                                          <a:latin typeface="Cambria Math" charset="0"/>
                                        </a:rPr>
                                        <m:t>𝑘</m:t>
                                      </m:r>
                                    </m:sub>
                                    <m:sup>
                                      <m:r>
                                        <a:rPr lang="en-US" sz="1412" i="1">
                                          <a:latin typeface="Cambria Math" charset="0"/>
                                        </a:rPr>
                                        <m:t>(</m:t>
                                      </m:r>
                                      <m:r>
                                        <a:rPr lang="en-US" sz="1412" i="1">
                                          <a:latin typeface="Cambria Math" charset="0"/>
                                        </a:rPr>
                                        <m:t>𝑖</m:t>
                                      </m:r>
                                      <m:r>
                                        <a:rPr lang="en-US" sz="1412" i="1">
                                          <a:latin typeface="Cambria Math" charset="0"/>
                                        </a:rPr>
                                        <m:t>)</m:t>
                                      </m:r>
                                    </m:sup>
                                  </m:sSubSup>
                                  <m:func>
                                    <m:funcPr>
                                      <m:ctrlPr>
                                        <a:rPr lang="en-US" sz="1412" i="1">
                                          <a:latin typeface="Cambria Math" panose="02040503050406030204" pitchFamily="18" charset="0"/>
                                        </a:rPr>
                                      </m:ctrlPr>
                                    </m:funcPr>
                                    <m:fName>
                                      <m:r>
                                        <m:rPr>
                                          <m:sty m:val="p"/>
                                        </m:rPr>
                                        <a:rPr lang="en-US" sz="1412">
                                          <a:latin typeface="Cambria Math" charset="0"/>
                                        </a:rPr>
                                        <m:t>log</m:t>
                                      </m:r>
                                    </m:fName>
                                    <m:e>
                                      <m:sSubSup>
                                        <m:sSubSupPr>
                                          <m:ctrlPr>
                                            <a:rPr lang="en-US" sz="1412" i="1">
                                              <a:latin typeface="Cambria Math" panose="02040503050406030204" pitchFamily="18" charset="0"/>
                                            </a:rPr>
                                          </m:ctrlPr>
                                        </m:sSubSupPr>
                                        <m:e>
                                          <m:acc>
                                            <m:accPr>
                                              <m:chr m:val="̂"/>
                                              <m:ctrlPr>
                                                <a:rPr lang="en-US" sz="1412" i="1">
                                                  <a:latin typeface="Cambria Math" panose="02040503050406030204" pitchFamily="18" charset="0"/>
                                                </a:rPr>
                                              </m:ctrlPr>
                                            </m:accPr>
                                            <m:e>
                                              <m:r>
                                                <a:rPr lang="en-US" sz="1412" i="1">
                                                  <a:latin typeface="Cambria Math" charset="0"/>
                                                </a:rPr>
                                                <m:t>𝑦</m:t>
                                              </m:r>
                                            </m:e>
                                          </m:acc>
                                        </m:e>
                                        <m:sub>
                                          <m:r>
                                            <a:rPr lang="en-US" sz="1412" i="1">
                                              <a:latin typeface="Cambria Math" charset="0"/>
                                            </a:rPr>
                                            <m:t>𝑘</m:t>
                                          </m:r>
                                        </m:sub>
                                        <m:sup>
                                          <m:r>
                                            <a:rPr lang="en-US" sz="1412" i="1">
                                              <a:latin typeface="Cambria Math" charset="0"/>
                                            </a:rPr>
                                            <m:t>(</m:t>
                                          </m:r>
                                          <m:r>
                                            <a:rPr lang="en-US" sz="1412" i="1">
                                              <a:latin typeface="Cambria Math" charset="0"/>
                                            </a:rPr>
                                            <m:t>𝑖</m:t>
                                          </m:r>
                                          <m:r>
                                            <a:rPr lang="en-US" sz="1412" i="1">
                                              <a:latin typeface="Cambria Math" charset="0"/>
                                            </a:rPr>
                                            <m:t>)</m:t>
                                          </m:r>
                                        </m:sup>
                                      </m:sSubSup>
                                      <m:r>
                                        <a:rPr lang="en-US" sz="1412" i="1">
                                          <a:latin typeface="Cambria Math" charset="0"/>
                                        </a:rPr>
                                        <m:t>+</m:t>
                                      </m:r>
                                      <m:d>
                                        <m:dPr>
                                          <m:ctrlPr>
                                            <a:rPr lang="mr-IN" sz="1412" i="1">
                                              <a:latin typeface="Cambria Math" panose="02040503050406030204" pitchFamily="18" charset="0"/>
                                            </a:rPr>
                                          </m:ctrlPr>
                                        </m:dPr>
                                        <m:e>
                                          <m:r>
                                            <a:rPr lang="en-US" sz="1412" i="1">
                                              <a:latin typeface="Cambria Math" charset="0"/>
                                            </a:rPr>
                                            <m:t>1−</m:t>
                                          </m:r>
                                          <m:sSubSup>
                                            <m:sSubSupPr>
                                              <m:ctrlPr>
                                                <a:rPr lang="en-US" sz="1412" i="1">
                                                  <a:latin typeface="Cambria Math" panose="02040503050406030204" pitchFamily="18" charset="0"/>
                                                </a:rPr>
                                              </m:ctrlPr>
                                            </m:sSubSupPr>
                                            <m:e>
                                              <m:r>
                                                <a:rPr lang="en-US" sz="1412" i="1">
                                                  <a:latin typeface="Cambria Math" charset="0"/>
                                                </a:rPr>
                                                <m:t>𝑦</m:t>
                                              </m:r>
                                            </m:e>
                                            <m:sub>
                                              <m:r>
                                                <a:rPr lang="en-US" sz="1412" i="1">
                                                  <a:latin typeface="Cambria Math" charset="0"/>
                                                </a:rPr>
                                                <m:t>𝑘</m:t>
                                              </m:r>
                                            </m:sub>
                                            <m:sup>
                                              <m:r>
                                                <a:rPr lang="en-US" sz="1412" i="1">
                                                  <a:latin typeface="Cambria Math" charset="0"/>
                                                </a:rPr>
                                                <m:t>(</m:t>
                                              </m:r>
                                              <m:r>
                                                <a:rPr lang="en-US" sz="1412" i="1">
                                                  <a:latin typeface="Cambria Math" charset="0"/>
                                                </a:rPr>
                                                <m:t>𝑖</m:t>
                                              </m:r>
                                              <m:r>
                                                <a:rPr lang="en-US" sz="1412" i="1">
                                                  <a:latin typeface="Cambria Math" charset="0"/>
                                                </a:rPr>
                                                <m:t>)</m:t>
                                              </m:r>
                                            </m:sup>
                                          </m:sSubSup>
                                        </m:e>
                                      </m:d>
                                      <m:r>
                                        <a:rPr lang="en-US" sz="1412" i="1">
                                          <a:latin typeface="Cambria Math" charset="0"/>
                                        </a:rPr>
                                        <m:t> </m:t>
                                      </m:r>
                                    </m:e>
                                  </m:func>
                                  <m:func>
                                    <m:funcPr>
                                      <m:ctrlPr>
                                        <a:rPr lang="en-US" sz="1412" i="1">
                                          <a:latin typeface="Cambria Math" panose="02040503050406030204" pitchFamily="18" charset="0"/>
                                        </a:rPr>
                                      </m:ctrlPr>
                                    </m:funcPr>
                                    <m:fName>
                                      <m:r>
                                        <m:rPr>
                                          <m:sty m:val="p"/>
                                        </m:rPr>
                                        <a:rPr lang="en-US" sz="1412">
                                          <a:latin typeface="Cambria Math" charset="0"/>
                                        </a:rPr>
                                        <m:t>log</m:t>
                                      </m:r>
                                    </m:fName>
                                    <m:e>
                                      <m:d>
                                        <m:dPr>
                                          <m:ctrlPr>
                                            <a:rPr lang="mr-IN" sz="1412" i="1">
                                              <a:latin typeface="Cambria Math" panose="02040503050406030204" pitchFamily="18" charset="0"/>
                                            </a:rPr>
                                          </m:ctrlPr>
                                        </m:dPr>
                                        <m:e>
                                          <m:r>
                                            <a:rPr lang="en-US" sz="1412" i="1">
                                              <a:latin typeface="Cambria Math" charset="0"/>
                                            </a:rPr>
                                            <m:t>1− </m:t>
                                          </m:r>
                                          <m:sSubSup>
                                            <m:sSubSupPr>
                                              <m:ctrlPr>
                                                <a:rPr lang="en-US" sz="1412" i="1">
                                                  <a:latin typeface="Cambria Math" panose="02040503050406030204" pitchFamily="18" charset="0"/>
                                                </a:rPr>
                                              </m:ctrlPr>
                                            </m:sSubSupPr>
                                            <m:e>
                                              <m:acc>
                                                <m:accPr>
                                                  <m:chr m:val="̂"/>
                                                  <m:ctrlPr>
                                                    <a:rPr lang="en-US" sz="1412" i="1">
                                                      <a:latin typeface="Cambria Math" panose="02040503050406030204" pitchFamily="18" charset="0"/>
                                                    </a:rPr>
                                                  </m:ctrlPr>
                                                </m:accPr>
                                                <m:e>
                                                  <m:r>
                                                    <a:rPr lang="en-US" sz="1412" i="1">
                                                      <a:latin typeface="Cambria Math" charset="0"/>
                                                    </a:rPr>
                                                    <m:t>𝑦</m:t>
                                                  </m:r>
                                                </m:e>
                                              </m:acc>
                                            </m:e>
                                            <m:sub>
                                              <m:r>
                                                <a:rPr lang="en-US" sz="1412" i="1">
                                                  <a:latin typeface="Cambria Math" charset="0"/>
                                                </a:rPr>
                                                <m:t>𝑘</m:t>
                                              </m:r>
                                            </m:sub>
                                            <m:sup>
                                              <m:d>
                                                <m:dPr>
                                                  <m:ctrlPr>
                                                    <a:rPr lang="en-US" sz="1412" i="1">
                                                      <a:latin typeface="Cambria Math" panose="02040503050406030204" pitchFamily="18" charset="0"/>
                                                    </a:rPr>
                                                  </m:ctrlPr>
                                                </m:dPr>
                                                <m:e>
                                                  <m:r>
                                                    <a:rPr lang="en-US" sz="1412" i="1">
                                                      <a:latin typeface="Cambria Math" charset="0"/>
                                                    </a:rPr>
                                                    <m:t>𝑖</m:t>
                                                  </m:r>
                                                </m:e>
                                              </m:d>
                                            </m:sup>
                                          </m:sSubSup>
                                        </m:e>
                                      </m:d>
                                    </m:e>
                                  </m:func>
                                </m:e>
                              </m:d>
                            </m:e>
                          </m:nary>
                        </m:e>
                      </m:nary>
                    </m:oMath>
                  </m:oMathPara>
                </a14:m>
                <a:endParaRPr lang="el-GR" sz="1412" dirty="0"/>
              </a:p>
            </p:txBody>
          </p:sp>
        </mc:Choice>
        <mc:Fallback xmlns="">
          <p:sp>
            <p:nvSpPr>
              <p:cNvPr id="20" name="TextBox 19"/>
              <p:cNvSpPr txBox="1">
                <a:spLocks noRot="1" noChangeAspect="1" noMove="1" noResize="1" noEditPoints="1" noAdjustHandles="1" noChangeArrowheads="1" noChangeShapeType="1" noTextEdit="1"/>
              </p:cNvSpPr>
              <p:nvPr/>
            </p:nvSpPr>
            <p:spPr>
              <a:xfrm>
                <a:off x="5142953" y="4887637"/>
                <a:ext cx="5279882" cy="61074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554542" y="2603026"/>
                <a:ext cx="6099500" cy="336695"/>
              </a:xfrm>
              <a:prstGeom prst="rect">
                <a:avLst/>
              </a:prstGeom>
              <a:noFill/>
            </p:spPr>
            <p:txBody>
              <a:bodyPr wrap="square" rtlCol="0">
                <a:spAutoFit/>
              </a:bodyPr>
              <a:lstStyle/>
              <a:p>
                <a:pPr algn="ctr"/>
                <a:r>
                  <a:rPr lang="en-US" sz="1588" dirty="0">
                    <a:solidFill>
                      <a:srgbClr val="222222"/>
                    </a:solidFill>
                    <a:ea typeface="Cambria Math" panose="02040503050406030204" pitchFamily="18" charset="0"/>
                  </a:rPr>
                  <a:t>Pairs of 𝑁 inputs </a:t>
                </a:r>
                <a14:m>
                  <m:oMath xmlns:m="http://schemas.openxmlformats.org/officeDocument/2006/math">
                    <m:sSub>
                      <m:sSubPr>
                        <m:ctrlPr>
                          <a:rPr lang="en-US" sz="1412" i="1" dirty="0">
                            <a:latin typeface="Cambria Math" panose="02040503050406030204" pitchFamily="18" charset="0"/>
                          </a:rPr>
                        </m:ctrlPr>
                      </m:sSubPr>
                      <m:e>
                        <m:r>
                          <a:rPr lang="en-US" sz="1412" i="1" dirty="0">
                            <a:latin typeface="Cambria Math" panose="02040503050406030204" pitchFamily="18" charset="0"/>
                          </a:rPr>
                          <m:t>𝑥</m:t>
                        </m:r>
                      </m:e>
                      <m:sub>
                        <m:r>
                          <a:rPr lang="en-US" sz="1412" i="1" dirty="0">
                            <a:latin typeface="Cambria Math" panose="02040503050406030204" pitchFamily="18" charset="0"/>
                          </a:rPr>
                          <m:t>𝑖</m:t>
                        </m:r>
                      </m:sub>
                    </m:sSub>
                  </m:oMath>
                </a14:m>
                <a:r>
                  <a:rPr lang="en-US" sz="1588" dirty="0">
                    <a:solidFill>
                      <a:srgbClr val="222222"/>
                    </a:solidFill>
                    <a:ea typeface="Cambria Math" panose="02040503050406030204" pitchFamily="18" charset="0"/>
                  </a:rPr>
                  <a:t> and ground-truth class labels </a:t>
                </a:r>
                <a14:m>
                  <m:oMath xmlns:m="http://schemas.openxmlformats.org/officeDocument/2006/math">
                    <m:sSub>
                      <m:sSubPr>
                        <m:ctrlPr>
                          <a:rPr lang="en-US" sz="1412" i="1" dirty="0">
                            <a:latin typeface="Cambria Math" panose="02040503050406030204" pitchFamily="18" charset="0"/>
                          </a:rPr>
                        </m:ctrlPr>
                      </m:sSubPr>
                      <m:e>
                        <m:r>
                          <a:rPr lang="en-US" sz="1412" i="1" dirty="0">
                            <a:latin typeface="Cambria Math" panose="02040503050406030204" pitchFamily="18" charset="0"/>
                          </a:rPr>
                          <m:t>𝑦</m:t>
                        </m:r>
                      </m:e>
                      <m:sub>
                        <m:r>
                          <a:rPr lang="en-US" sz="1412" i="1" dirty="0">
                            <a:latin typeface="Cambria Math" panose="02040503050406030204" pitchFamily="18" charset="0"/>
                          </a:rPr>
                          <m:t>𝑖</m:t>
                        </m:r>
                      </m:sub>
                    </m:sSub>
                  </m:oMath>
                </a14:m>
                <a:endParaRPr lang="el-GR" sz="1412" i="1" dirty="0">
                  <a:latin typeface="Cambria Math"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554542" y="2603026"/>
                <a:ext cx="6099500" cy="336695"/>
              </a:xfrm>
              <a:prstGeom prst="rect">
                <a:avLst/>
              </a:prstGeom>
              <a:blipFill>
                <a:blip r:embed="rId5"/>
                <a:stretch>
                  <a:fillRect t="-9091" b="-23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3554542" y="5618457"/>
                <a:ext cx="6099500" cy="336695"/>
              </a:xfrm>
              <a:prstGeom prst="rect">
                <a:avLst/>
              </a:prstGeom>
              <a:noFill/>
            </p:spPr>
            <p:txBody>
              <a:bodyPr wrap="square" rtlCol="0">
                <a:spAutoFit/>
              </a:bodyPr>
              <a:lstStyle/>
              <a:p>
                <a:pPr algn="ctr"/>
                <a:r>
                  <a:rPr lang="en-US" sz="1588" dirty="0">
                    <a:solidFill>
                      <a:srgbClr val="222222"/>
                    </a:solidFill>
                    <a:ea typeface="Cambria Math" panose="02040503050406030204" pitchFamily="18" charset="0"/>
                  </a:rPr>
                  <a:t>Ground-truth class labels </a:t>
                </a:r>
                <a14:m>
                  <m:oMath xmlns:m="http://schemas.openxmlformats.org/officeDocument/2006/math">
                    <m:sSub>
                      <m:sSubPr>
                        <m:ctrlPr>
                          <a:rPr lang="en-US" sz="1588" i="1" dirty="0">
                            <a:latin typeface="Cambria Math" panose="02040503050406030204" pitchFamily="18" charset="0"/>
                          </a:rPr>
                        </m:ctrlPr>
                      </m:sSubPr>
                      <m:e>
                        <m:r>
                          <a:rPr lang="en-US" sz="1588" i="1" dirty="0">
                            <a:latin typeface="Cambria Math" panose="02040503050406030204" pitchFamily="18" charset="0"/>
                          </a:rPr>
                          <m:t>𝑦</m:t>
                        </m:r>
                      </m:e>
                      <m:sub>
                        <m:r>
                          <a:rPr lang="en-US" sz="1588" i="1" dirty="0">
                            <a:latin typeface="Cambria Math" panose="02040503050406030204" pitchFamily="18" charset="0"/>
                          </a:rPr>
                          <m:t>𝑖</m:t>
                        </m:r>
                      </m:sub>
                    </m:sSub>
                  </m:oMath>
                </a14:m>
                <a:r>
                  <a:rPr lang="en-US" sz="1588" i="1" dirty="0">
                    <a:latin typeface="Cambria Math" charset="0"/>
                  </a:rPr>
                  <a:t> </a:t>
                </a:r>
                <a:r>
                  <a:rPr lang="en-US" sz="1588" dirty="0">
                    <a:solidFill>
                      <a:srgbClr val="222222"/>
                    </a:solidFill>
                    <a:ea typeface="Cambria Math" panose="02040503050406030204" pitchFamily="18" charset="0"/>
                  </a:rPr>
                  <a:t>and model predicted class labels </a:t>
                </a:r>
                <a14:m>
                  <m:oMath xmlns:m="http://schemas.openxmlformats.org/officeDocument/2006/math">
                    <m:sSub>
                      <m:sSubPr>
                        <m:ctrlPr>
                          <a:rPr lang="en-US" sz="1588" i="1" dirty="0">
                            <a:latin typeface="Cambria Math" panose="02040503050406030204" pitchFamily="18" charset="0"/>
                          </a:rPr>
                        </m:ctrlPr>
                      </m:sSubPr>
                      <m:e>
                        <m:acc>
                          <m:accPr>
                            <m:chr m:val="̂"/>
                            <m:ctrlPr>
                              <a:rPr lang="en-US" sz="1588" i="1" dirty="0">
                                <a:latin typeface="Cambria Math" panose="02040503050406030204" pitchFamily="18" charset="0"/>
                              </a:rPr>
                            </m:ctrlPr>
                          </m:accPr>
                          <m:e>
                            <m:r>
                              <a:rPr lang="en-US" sz="1588" i="1" dirty="0">
                                <a:latin typeface="Cambria Math" panose="02040503050406030204" pitchFamily="18" charset="0"/>
                              </a:rPr>
                              <m:t>𝑦</m:t>
                            </m:r>
                          </m:e>
                        </m:acc>
                      </m:e>
                      <m:sub>
                        <m:r>
                          <a:rPr lang="en-US" sz="1588" i="1" dirty="0">
                            <a:latin typeface="Cambria Math" panose="02040503050406030204" pitchFamily="18" charset="0"/>
                          </a:rPr>
                          <m:t>𝑖</m:t>
                        </m:r>
                      </m:sub>
                    </m:sSub>
                  </m:oMath>
                </a14:m>
                <a:r>
                  <a:rPr lang="en-US" sz="1588" dirty="0">
                    <a:solidFill>
                      <a:srgbClr val="222222"/>
                    </a:solidFill>
                    <a:ea typeface="Cambria Math" panose="02040503050406030204" pitchFamily="18" charset="0"/>
                  </a:rPr>
                  <a:t>   </a:t>
                </a:r>
                <a:endParaRPr lang="el-GR" sz="1588" dirty="0">
                  <a:solidFill>
                    <a:srgbClr val="222222"/>
                  </a:solidFill>
                  <a:ea typeface="Cambria Math" panose="02040503050406030204" pitchFamily="18"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3554542" y="5618457"/>
                <a:ext cx="6099500" cy="336695"/>
              </a:xfrm>
              <a:prstGeom prst="rect">
                <a:avLst/>
              </a:prstGeom>
              <a:blipFill>
                <a:blip r:embed="rId6"/>
                <a:stretch>
                  <a:fillRect t="-5455" b="-23636"/>
                </a:stretch>
              </a:blipFill>
            </p:spPr>
            <p:txBody>
              <a:bodyPr/>
              <a:lstStyle/>
              <a:p>
                <a:r>
                  <a:rPr lang="en-IN">
                    <a:noFill/>
                  </a:rPr>
                  <a:t> </a:t>
                </a:r>
              </a:p>
            </p:txBody>
          </p:sp>
        </mc:Fallback>
      </mc:AlternateContent>
    </p:spTree>
    <p:extLst>
      <p:ext uri="{BB962C8B-B14F-4D97-AF65-F5344CB8AC3E}">
        <p14:creationId xmlns:p14="http://schemas.microsoft.com/office/powerpoint/2010/main" val="2720646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D90B-C274-450F-A79E-E9B0BB83CEF8}"/>
              </a:ext>
            </a:extLst>
          </p:cNvPr>
          <p:cNvSpPr>
            <a:spLocks noGrp="1"/>
          </p:cNvSpPr>
          <p:nvPr>
            <p:ph type="title"/>
          </p:nvPr>
        </p:nvSpPr>
        <p:spPr/>
        <p:txBody>
          <a:bodyPr/>
          <a:lstStyle/>
          <a:p>
            <a:r>
              <a:rPr lang="en-IN"/>
              <a:t>Binary Cross Entropy</a:t>
            </a:r>
            <a:endParaRPr lang="en-IN" dirty="0"/>
          </a:p>
        </p:txBody>
      </p:sp>
      <p:pic>
        <p:nvPicPr>
          <p:cNvPr id="1028" name="Picture 4">
            <a:extLst>
              <a:ext uri="{FF2B5EF4-FFF2-40B4-BE49-F238E27FC236}">
                <a16:creationId xmlns:a16="http://schemas.microsoft.com/office/drawing/2014/main" id="{A4F22A23-DF7B-49F8-8682-90515D5F0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912" y="4318783"/>
            <a:ext cx="8255173" cy="21345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2EA94B9-30F5-41C4-AF8B-EA8B9A5F8D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0993" y="1512277"/>
            <a:ext cx="5156955" cy="2806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47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Loss</a:t>
            </a:r>
            <a:endParaRPr lang="zh-TW" altLang="en-US" dirty="0"/>
          </a:p>
        </p:txBody>
      </p:sp>
      <p:sp>
        <p:nvSpPr>
          <p:cNvPr id="34" name="矩形 33"/>
          <p:cNvSpPr/>
          <p:nvPr/>
        </p:nvSpPr>
        <p:spPr>
          <a:xfrm>
            <a:off x="7484213" y="2852237"/>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35" name="矩形 34"/>
          <p:cNvSpPr/>
          <p:nvPr/>
        </p:nvSpPr>
        <p:spPr>
          <a:xfrm>
            <a:off x="4326940" y="283997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0" name="矩形 39"/>
          <p:cNvSpPr/>
          <p:nvPr/>
        </p:nvSpPr>
        <p:spPr>
          <a:xfrm>
            <a:off x="3143838" y="2867617"/>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43" name="直線單箭頭接點 42"/>
          <p:cNvCxnSpPr/>
          <p:nvPr/>
        </p:nvCxnSpPr>
        <p:spPr>
          <a:xfrm>
            <a:off x="6790492" y="3888396"/>
            <a:ext cx="6344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6899808" y="5134286"/>
            <a:ext cx="5251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6766608" y="3109593"/>
            <a:ext cx="6583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3212225" y="358531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47" name="矩形 46"/>
          <p:cNvSpPr/>
          <p:nvPr/>
        </p:nvSpPr>
        <p:spPr>
          <a:xfrm>
            <a:off x="3218043" y="301498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49" name="Object 12"/>
          <p:cNvGraphicFramePr>
            <a:graphicFrameLocks noChangeAspect="1"/>
          </p:cNvGraphicFramePr>
          <p:nvPr/>
        </p:nvGraphicFramePr>
        <p:xfrm>
          <a:off x="3230742" y="2919731"/>
          <a:ext cx="325438" cy="461962"/>
        </p:xfrm>
        <a:graphic>
          <a:graphicData uri="http://schemas.openxmlformats.org/presentationml/2006/ole">
            <mc:AlternateContent xmlns:mc="http://schemas.openxmlformats.org/markup-compatibility/2006">
              <mc:Choice xmlns:v="urn:schemas-microsoft-com:vml" Requires="v">
                <p:oleObj spid="_x0000_s5122" name="方程式" r:id="rId4" imgW="152280" imgH="215640" progId="Equation.3">
                  <p:embed/>
                </p:oleObj>
              </mc:Choice>
              <mc:Fallback>
                <p:oleObj name="方程式" r:id="rId4" imgW="152280" imgH="215640" progId="Equation.3">
                  <p:embed/>
                  <p:pic>
                    <p:nvPicPr>
                      <p:cNvPr id="49" name="Object 12"/>
                      <p:cNvPicPr>
                        <a:picLocks noChangeAspect="1" noChangeArrowheads="1"/>
                      </p:cNvPicPr>
                      <p:nvPr/>
                    </p:nvPicPr>
                    <p:blipFill>
                      <a:blip r:embed="rId5"/>
                      <a:srcRect/>
                      <a:stretch>
                        <a:fillRect/>
                      </a:stretch>
                    </p:blipFill>
                    <p:spPr bwMode="auto">
                      <a:xfrm>
                        <a:off x="3230742" y="2919731"/>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12"/>
          <p:cNvGraphicFramePr>
            <a:graphicFrameLocks noChangeAspect="1"/>
          </p:cNvGraphicFramePr>
          <p:nvPr/>
        </p:nvGraphicFramePr>
        <p:xfrm>
          <a:off x="3236039" y="3502461"/>
          <a:ext cx="352425" cy="461963"/>
        </p:xfrm>
        <a:graphic>
          <a:graphicData uri="http://schemas.openxmlformats.org/presentationml/2006/ole">
            <mc:AlternateContent xmlns:mc="http://schemas.openxmlformats.org/markup-compatibility/2006">
              <mc:Choice xmlns:v="urn:schemas-microsoft-com:vml" Requires="v">
                <p:oleObj spid="_x0000_s5123" name="方程式" r:id="rId6" imgW="164880" imgH="215640" progId="Equation.3">
                  <p:embed/>
                </p:oleObj>
              </mc:Choice>
              <mc:Fallback>
                <p:oleObj name="方程式" r:id="rId6" imgW="164880" imgH="215640" progId="Equation.3">
                  <p:embed/>
                  <p:pic>
                    <p:nvPicPr>
                      <p:cNvPr id="52" name="Object 12"/>
                      <p:cNvPicPr>
                        <a:picLocks noChangeAspect="1" noChangeArrowheads="1"/>
                      </p:cNvPicPr>
                      <p:nvPr/>
                    </p:nvPicPr>
                    <p:blipFill>
                      <a:blip r:embed="rId7"/>
                      <a:srcRect/>
                      <a:stretch>
                        <a:fillRect/>
                      </a:stretch>
                    </p:blipFill>
                    <p:spPr bwMode="auto">
                      <a:xfrm>
                        <a:off x="3236039" y="3502461"/>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橢圓 52"/>
          <p:cNvSpPr/>
          <p:nvPr/>
        </p:nvSpPr>
        <p:spPr>
          <a:xfrm>
            <a:off x="4424050" y="285097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4" name="橢圓 53"/>
          <p:cNvSpPr/>
          <p:nvPr/>
        </p:nvSpPr>
        <p:spPr>
          <a:xfrm>
            <a:off x="4426392" y="362954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5" name="橢圓 54"/>
          <p:cNvSpPr/>
          <p:nvPr/>
        </p:nvSpPr>
        <p:spPr>
          <a:xfrm>
            <a:off x="4414759" y="485756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6" name="文字方塊 55"/>
          <p:cNvSpPr txBox="1"/>
          <p:nvPr/>
        </p:nvSpPr>
        <p:spPr>
          <a:xfrm rot="5400000">
            <a:off x="4412013" y="427985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9" name="矩形 58"/>
          <p:cNvSpPr/>
          <p:nvPr/>
        </p:nvSpPr>
        <p:spPr>
          <a:xfrm>
            <a:off x="3221750" y="498306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62" name="Object 12"/>
          <p:cNvGraphicFramePr>
            <a:graphicFrameLocks noChangeAspect="1"/>
          </p:cNvGraphicFramePr>
          <p:nvPr/>
        </p:nvGraphicFramePr>
        <p:xfrm>
          <a:off x="3149827" y="4886300"/>
          <a:ext cx="544512" cy="488950"/>
        </p:xfrm>
        <a:graphic>
          <a:graphicData uri="http://schemas.openxmlformats.org/presentationml/2006/ole">
            <mc:AlternateContent xmlns:mc="http://schemas.openxmlformats.org/markup-compatibility/2006">
              <mc:Choice xmlns:v="urn:schemas-microsoft-com:vml" Requires="v">
                <p:oleObj spid="_x0000_s5124" name="方程式" r:id="rId8" imgW="253800" imgH="228600" progId="Equation.3">
                  <p:embed/>
                </p:oleObj>
              </mc:Choice>
              <mc:Fallback>
                <p:oleObj name="方程式" r:id="rId8" imgW="253800" imgH="228600" progId="Equation.3">
                  <p:embed/>
                  <p:pic>
                    <p:nvPicPr>
                      <p:cNvPr id="62" name="Object 12"/>
                      <p:cNvPicPr>
                        <a:picLocks noChangeAspect="1" noChangeArrowheads="1"/>
                      </p:cNvPicPr>
                      <p:nvPr/>
                    </p:nvPicPr>
                    <p:blipFill>
                      <a:blip r:embed="rId9"/>
                      <a:srcRect/>
                      <a:stretch>
                        <a:fillRect/>
                      </a:stretch>
                    </p:blipFill>
                    <p:spPr bwMode="auto">
                      <a:xfrm>
                        <a:off x="3149827" y="4886300"/>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文字方塊 62"/>
          <p:cNvSpPr txBox="1"/>
          <p:nvPr/>
        </p:nvSpPr>
        <p:spPr>
          <a:xfrm rot="5400000">
            <a:off x="3097683" y="426800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2" name="文字方塊 71"/>
          <p:cNvSpPr txBox="1"/>
          <p:nvPr/>
        </p:nvSpPr>
        <p:spPr>
          <a:xfrm>
            <a:off x="5651258" y="279239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3" name="文字方塊 72"/>
          <p:cNvSpPr txBox="1"/>
          <p:nvPr/>
        </p:nvSpPr>
        <p:spPr>
          <a:xfrm>
            <a:off x="5668881" y="357789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4" name="文字方塊 73"/>
          <p:cNvSpPr txBox="1"/>
          <p:nvPr/>
        </p:nvSpPr>
        <p:spPr>
          <a:xfrm>
            <a:off x="5681061" y="4834185"/>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5" name="直線單箭頭接點 74"/>
          <p:cNvCxnSpPr>
            <a:stCxn id="53" idx="6"/>
          </p:cNvCxnSpPr>
          <p:nvPr/>
        </p:nvCxnSpPr>
        <p:spPr>
          <a:xfrm>
            <a:off x="4998208" y="3138057"/>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a:off x="4998208" y="3929809"/>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a:off x="4988917" y="5151778"/>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4" idx="6"/>
          </p:cNvCxnSpPr>
          <p:nvPr/>
        </p:nvCxnSpPr>
        <p:spPr>
          <a:xfrm flipV="1">
            <a:off x="5000550" y="3138057"/>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stCxn id="53" idx="6"/>
          </p:cNvCxnSpPr>
          <p:nvPr/>
        </p:nvCxnSpPr>
        <p:spPr>
          <a:xfrm>
            <a:off x="4998208" y="3138057"/>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stCxn id="53" idx="6"/>
          </p:cNvCxnSpPr>
          <p:nvPr/>
        </p:nvCxnSpPr>
        <p:spPr>
          <a:xfrm>
            <a:off x="4998209" y="3138057"/>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54" idx="6"/>
          </p:cNvCxnSpPr>
          <p:nvPr/>
        </p:nvCxnSpPr>
        <p:spPr>
          <a:xfrm>
            <a:off x="5000551" y="3916627"/>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5" idx="6"/>
          </p:cNvCxnSpPr>
          <p:nvPr/>
        </p:nvCxnSpPr>
        <p:spPr>
          <a:xfrm flipV="1">
            <a:off x="4988918" y="3138057"/>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55" idx="6"/>
          </p:cNvCxnSpPr>
          <p:nvPr/>
        </p:nvCxnSpPr>
        <p:spPr>
          <a:xfrm flipV="1">
            <a:off x="4988918" y="3916627"/>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endCxn id="53" idx="2"/>
          </p:cNvCxnSpPr>
          <p:nvPr/>
        </p:nvCxnSpPr>
        <p:spPr>
          <a:xfrm flipV="1">
            <a:off x="3564650" y="3138058"/>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a:stCxn id="47" idx="3"/>
            <a:endCxn id="54" idx="2"/>
          </p:cNvCxnSpPr>
          <p:nvPr/>
        </p:nvCxnSpPr>
        <p:spPr>
          <a:xfrm>
            <a:off x="3560944" y="3186431"/>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a:stCxn id="47" idx="3"/>
            <a:endCxn id="55" idx="2"/>
          </p:cNvCxnSpPr>
          <p:nvPr/>
        </p:nvCxnSpPr>
        <p:spPr>
          <a:xfrm>
            <a:off x="3560943" y="3186431"/>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a:stCxn id="52" idx="3"/>
            <a:endCxn id="53" idx="2"/>
          </p:cNvCxnSpPr>
          <p:nvPr/>
        </p:nvCxnSpPr>
        <p:spPr>
          <a:xfrm flipV="1">
            <a:off x="3588464" y="3138057"/>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a:stCxn id="46" idx="3"/>
            <a:endCxn id="54" idx="2"/>
          </p:cNvCxnSpPr>
          <p:nvPr/>
        </p:nvCxnSpPr>
        <p:spPr>
          <a:xfrm>
            <a:off x="3555126" y="3756761"/>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a:stCxn id="46" idx="3"/>
            <a:endCxn id="55" idx="2"/>
          </p:cNvCxnSpPr>
          <p:nvPr/>
        </p:nvCxnSpPr>
        <p:spPr>
          <a:xfrm>
            <a:off x="3555125" y="375676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a:stCxn id="62" idx="3"/>
            <a:endCxn id="53" idx="2"/>
          </p:cNvCxnSpPr>
          <p:nvPr/>
        </p:nvCxnSpPr>
        <p:spPr>
          <a:xfrm flipV="1">
            <a:off x="3626622" y="3138058"/>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a:stCxn id="62" idx="3"/>
            <a:endCxn id="54" idx="2"/>
          </p:cNvCxnSpPr>
          <p:nvPr/>
        </p:nvCxnSpPr>
        <p:spPr>
          <a:xfrm flipV="1">
            <a:off x="3600254" y="3916627"/>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a:stCxn id="62" idx="3"/>
            <a:endCxn id="55" idx="2"/>
          </p:cNvCxnSpPr>
          <p:nvPr/>
        </p:nvCxnSpPr>
        <p:spPr>
          <a:xfrm>
            <a:off x="3600253" y="5131233"/>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文字方塊 92"/>
          <p:cNvSpPr txBox="1"/>
          <p:nvPr/>
        </p:nvSpPr>
        <p:spPr>
          <a:xfrm rot="5400000">
            <a:off x="7426403" y="435323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4" name="文字方塊 93"/>
          <p:cNvSpPr txBox="1"/>
          <p:nvPr/>
        </p:nvSpPr>
        <p:spPr>
          <a:xfrm>
            <a:off x="7495496" y="2834412"/>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95" name="文字方塊 94"/>
          <p:cNvSpPr txBox="1"/>
          <p:nvPr/>
        </p:nvSpPr>
        <p:spPr>
          <a:xfrm>
            <a:off x="7516594" y="364272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96" name="文字方塊 95"/>
          <p:cNvSpPr txBox="1"/>
          <p:nvPr/>
        </p:nvSpPr>
        <p:spPr>
          <a:xfrm>
            <a:off x="7484213" y="4898864"/>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sp>
        <p:nvSpPr>
          <p:cNvPr id="9" name="文字方塊 8"/>
          <p:cNvSpPr txBox="1"/>
          <p:nvPr/>
        </p:nvSpPr>
        <p:spPr>
          <a:xfrm>
            <a:off x="4746535" y="3914655"/>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xmlns:a14="http://schemas.microsoft.com/office/drawing/2010/main">
        <mc:Choice Requires="a14">
          <p:sp>
            <p:nvSpPr>
              <p:cNvPr id="71" name="文字方塊 70"/>
              <p:cNvSpPr txBox="1"/>
              <p:nvPr/>
            </p:nvSpPr>
            <p:spPr>
              <a:xfrm>
                <a:off x="8250122" y="4524012"/>
                <a:ext cx="1014273" cy="95410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Loss </a:t>
                </a:r>
                <a:endParaRPr lang="en-US" altLang="zh-TW" sz="28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𝑙</m:t>
                      </m:r>
                    </m:oMath>
                  </m:oMathPara>
                </a14:m>
                <a:endParaRPr lang="en-US" altLang="zh-TW" sz="2800"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8250122" y="4524012"/>
                <a:ext cx="1014273" cy="954107"/>
              </a:xfrm>
              <a:prstGeom prst="rect">
                <a:avLst/>
              </a:prstGeom>
              <a:blipFill>
                <a:blip r:embed="rId10"/>
                <a:stretch>
                  <a:fillRect/>
                </a:stretch>
              </a:blipFill>
            </p:spPr>
            <p:txBody>
              <a:bodyPr/>
              <a:lstStyle/>
              <a:p>
                <a:r>
                  <a:rPr lang="en-IN">
                    <a:noFill/>
                  </a:rPr>
                  <a:t> </a:t>
                </a:r>
              </a:p>
            </p:txBody>
          </p:sp>
        </mc:Fallback>
      </mc:AlternateContent>
      <p:pic>
        <p:nvPicPr>
          <p:cNvPr id="102" name="圖片 101"/>
          <p:cNvPicPr preferRelativeResize="0">
            <a:picLocks/>
          </p:cNvPicPr>
          <p:nvPr/>
        </p:nvPicPr>
        <p:blipFill>
          <a:blip r:embed="rId11"/>
          <a:stretch>
            <a:fillRect/>
          </a:stretch>
        </p:blipFill>
        <p:spPr>
          <a:xfrm>
            <a:off x="5399875" y="1892711"/>
            <a:ext cx="720000" cy="720000"/>
          </a:xfrm>
          <a:prstGeom prst="rect">
            <a:avLst/>
          </a:prstGeom>
          <a:ln w="38100">
            <a:solidFill>
              <a:schemeClr val="tx1"/>
            </a:solidFill>
          </a:ln>
        </p:spPr>
      </p:pic>
      <p:sp>
        <p:nvSpPr>
          <p:cNvPr id="103" name="文字方塊 102"/>
          <p:cNvSpPr txBox="1"/>
          <p:nvPr/>
        </p:nvSpPr>
        <p:spPr>
          <a:xfrm>
            <a:off x="6202602" y="1981772"/>
            <a:ext cx="654853" cy="523220"/>
          </a:xfrm>
          <a:prstGeom prst="rect">
            <a:avLst/>
          </a:prstGeom>
          <a:noFill/>
        </p:spPr>
        <p:txBody>
          <a:bodyPr wrap="square" rtlCol="0">
            <a:spAutoFit/>
          </a:bodyPr>
          <a:lstStyle/>
          <a:p>
            <a:r>
              <a:rPr lang="en-US" altLang="zh-TW" sz="2800" dirty="0"/>
              <a:t>“1”</a:t>
            </a:r>
            <a:endParaRPr lang="zh-TW" altLang="en-US" sz="2800" dirty="0"/>
          </a:p>
        </p:txBody>
      </p:sp>
      <p:pic>
        <p:nvPicPr>
          <p:cNvPr id="108" name="圖片 107"/>
          <p:cNvPicPr preferRelativeResize="0">
            <a:picLocks/>
          </p:cNvPicPr>
          <p:nvPr/>
        </p:nvPicPr>
        <p:blipFill>
          <a:blip r:embed="rId11"/>
          <a:stretch>
            <a:fillRect/>
          </a:stretch>
        </p:blipFill>
        <p:spPr>
          <a:xfrm>
            <a:off x="2126038" y="3843706"/>
            <a:ext cx="720000" cy="720000"/>
          </a:xfrm>
          <a:prstGeom prst="rect">
            <a:avLst/>
          </a:prstGeom>
          <a:ln w="38100">
            <a:solidFill>
              <a:schemeClr val="tx1"/>
            </a:solidFill>
          </a:ln>
        </p:spPr>
      </p:pic>
      <p:grpSp>
        <p:nvGrpSpPr>
          <p:cNvPr id="11" name="群組 10"/>
          <p:cNvGrpSpPr/>
          <p:nvPr/>
        </p:nvGrpSpPr>
        <p:grpSpPr>
          <a:xfrm>
            <a:off x="9520359" y="2867617"/>
            <a:ext cx="654489" cy="2625052"/>
            <a:chOff x="7996358" y="2461791"/>
            <a:chExt cx="654489" cy="2625052"/>
          </a:xfrm>
        </p:grpSpPr>
        <p:sp>
          <p:nvSpPr>
            <p:cNvPr id="110" name="矩形 109"/>
            <p:cNvSpPr/>
            <p:nvPr/>
          </p:nvSpPr>
          <p:spPr>
            <a:xfrm>
              <a:off x="8062418" y="2461791"/>
              <a:ext cx="498951" cy="262505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11" name="文字方塊 110"/>
            <p:cNvSpPr txBox="1"/>
            <p:nvPr/>
          </p:nvSpPr>
          <p:spPr>
            <a:xfrm rot="5400000">
              <a:off x="8004608" y="394803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2" name="文字方塊 111"/>
            <p:cNvSpPr txBox="1"/>
            <p:nvPr/>
          </p:nvSpPr>
          <p:spPr>
            <a:xfrm>
              <a:off x="7996358" y="2508931"/>
              <a:ext cx="631069" cy="523220"/>
            </a:xfrm>
            <a:prstGeom prst="rect">
              <a:avLst/>
            </a:prstGeom>
            <a:noFill/>
          </p:spPr>
          <p:txBody>
            <a:bodyPr wrap="square" rtlCol="0">
              <a:spAutoFit/>
            </a:bodyPr>
            <a:lstStyle/>
            <a:p>
              <a:pPr algn="ctr"/>
              <a:r>
                <a:rPr lang="en-US" altLang="zh-TW" sz="2800" dirty="0"/>
                <a:t>1</a:t>
              </a:r>
              <a:endParaRPr lang="zh-TW" altLang="en-US" sz="2800" baseline="-25000" dirty="0"/>
            </a:p>
          </p:txBody>
        </p:sp>
        <p:sp>
          <p:nvSpPr>
            <p:cNvPr id="113" name="文字方塊 112"/>
            <p:cNvSpPr txBox="1"/>
            <p:nvPr/>
          </p:nvSpPr>
          <p:spPr>
            <a:xfrm>
              <a:off x="8005216" y="3269035"/>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14" name="文字方塊 113"/>
            <p:cNvSpPr txBox="1"/>
            <p:nvPr/>
          </p:nvSpPr>
          <p:spPr>
            <a:xfrm>
              <a:off x="7996358" y="4489333"/>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grpSp>
      <p:sp>
        <p:nvSpPr>
          <p:cNvPr id="115" name="左-右雙向箭號 114"/>
          <p:cNvSpPr/>
          <p:nvPr/>
        </p:nvSpPr>
        <p:spPr>
          <a:xfrm>
            <a:off x="8015544" y="4090323"/>
            <a:ext cx="1513672" cy="359399"/>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15" name="直線接點 14"/>
          <p:cNvCxnSpPr/>
          <p:nvPr/>
        </p:nvCxnSpPr>
        <p:spPr>
          <a:xfrm flipH="1">
            <a:off x="2496457" y="2220112"/>
            <a:ext cx="27286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flipH="1">
            <a:off x="6857454" y="2243382"/>
            <a:ext cx="2987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2486038" y="2252711"/>
            <a:ext cx="0" cy="14807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a:off x="9844750" y="2252712"/>
            <a:ext cx="0" cy="5817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6325564" y="285040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9" name="橢圓 98"/>
          <p:cNvSpPr/>
          <p:nvPr/>
        </p:nvSpPr>
        <p:spPr>
          <a:xfrm>
            <a:off x="6401408" y="284229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4" name="橢圓 103"/>
          <p:cNvSpPr/>
          <p:nvPr/>
        </p:nvSpPr>
        <p:spPr>
          <a:xfrm>
            <a:off x="6403750" y="360220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5" name="橢圓 104"/>
          <p:cNvSpPr/>
          <p:nvPr/>
        </p:nvSpPr>
        <p:spPr>
          <a:xfrm>
            <a:off x="6410778" y="484888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6" name="文字方塊 105"/>
          <p:cNvSpPr txBox="1"/>
          <p:nvPr/>
        </p:nvSpPr>
        <p:spPr>
          <a:xfrm rot="5400000">
            <a:off x="6408032" y="426801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7" name="文字方塊 116"/>
          <p:cNvSpPr txBox="1"/>
          <p:nvPr/>
        </p:nvSpPr>
        <p:spPr>
          <a:xfrm>
            <a:off x="2438430" y="5628283"/>
            <a:ext cx="7147989" cy="954107"/>
          </a:xfrm>
          <a:prstGeom prst="rect">
            <a:avLst/>
          </a:prstGeom>
          <a:noFill/>
        </p:spPr>
        <p:txBody>
          <a:bodyPr wrap="square" rtlCol="0">
            <a:spAutoFit/>
          </a:bodyPr>
          <a:lstStyle/>
          <a:p>
            <a:r>
              <a:rPr lang="en-US" altLang="zh-TW" sz="2800" dirty="0"/>
              <a:t>Loss can be </a:t>
            </a:r>
            <a:r>
              <a:rPr lang="en-US" altLang="zh-TW" sz="2800" b="1" dirty="0"/>
              <a:t>square error </a:t>
            </a:r>
            <a:r>
              <a:rPr lang="en-US" altLang="zh-TW" sz="2800" dirty="0"/>
              <a:t>or </a:t>
            </a:r>
            <a:r>
              <a:rPr lang="en-US" altLang="zh-TW" sz="2800" b="1" dirty="0"/>
              <a:t>cross entropy </a:t>
            </a:r>
            <a:r>
              <a:rPr lang="en-US" altLang="zh-TW" sz="2800" dirty="0"/>
              <a:t>between the network output and target </a:t>
            </a:r>
            <a:endParaRPr lang="zh-TW" altLang="en-US" sz="2800" dirty="0"/>
          </a:p>
        </p:txBody>
      </p:sp>
      <p:sp>
        <p:nvSpPr>
          <p:cNvPr id="3" name="矩形 2"/>
          <p:cNvSpPr/>
          <p:nvPr/>
        </p:nvSpPr>
        <p:spPr>
          <a:xfrm>
            <a:off x="9341450" y="5575659"/>
            <a:ext cx="930639" cy="46166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sz="2400" dirty="0"/>
              <a:t>target</a:t>
            </a:r>
            <a:endParaRPr lang="zh-TW" altLang="en-US" sz="2400" dirty="0"/>
          </a:p>
        </p:txBody>
      </p:sp>
      <p:sp>
        <p:nvSpPr>
          <p:cNvPr id="107" name="矩形 106"/>
          <p:cNvSpPr/>
          <p:nvPr/>
        </p:nvSpPr>
        <p:spPr>
          <a:xfrm rot="5400000">
            <a:off x="5345736" y="3814498"/>
            <a:ext cx="2691859" cy="70053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t>Softmax</a:t>
            </a:r>
            <a:endParaRPr lang="zh-TW" altLang="en-US" sz="2400" dirty="0"/>
          </a:p>
        </p:txBody>
      </p:sp>
      <p:sp>
        <p:nvSpPr>
          <p:cNvPr id="69" name="文字方塊 68"/>
          <p:cNvSpPr txBox="1"/>
          <p:nvPr/>
        </p:nvSpPr>
        <p:spPr>
          <a:xfrm>
            <a:off x="7899692" y="3010317"/>
            <a:ext cx="1740544" cy="95410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t>As close as possible</a:t>
            </a:r>
          </a:p>
        </p:txBody>
      </p:sp>
      <p:sp>
        <p:nvSpPr>
          <p:cNvPr id="70" name="文字方塊 69"/>
          <p:cNvSpPr txBox="1"/>
          <p:nvPr/>
        </p:nvSpPr>
        <p:spPr>
          <a:xfrm>
            <a:off x="4222449" y="481406"/>
            <a:ext cx="586292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altLang="zh-TW" sz="2800" dirty="0"/>
              <a:t>A good function should make the loss of all examples as small as possible.</a:t>
            </a:r>
            <a:endParaRPr lang="zh-TW" altLang="en-US" sz="2800" dirty="0"/>
          </a:p>
        </p:txBody>
      </p:sp>
      <p:sp>
        <p:nvSpPr>
          <p:cNvPr id="97" name="文字方塊 96"/>
          <p:cNvSpPr txBox="1"/>
          <p:nvPr/>
        </p:nvSpPr>
        <p:spPr>
          <a:xfrm>
            <a:off x="3805519" y="3661533"/>
            <a:ext cx="2646238" cy="95410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800" dirty="0"/>
              <a:t>Given a set of parameters</a:t>
            </a:r>
            <a:endParaRPr lang="zh-TW" altLang="en-US" sz="2800" dirty="0"/>
          </a:p>
        </p:txBody>
      </p:sp>
    </p:spTree>
    <p:extLst>
      <p:ext uri="{BB962C8B-B14F-4D97-AF65-F5344CB8AC3E}">
        <p14:creationId xmlns:p14="http://schemas.microsoft.com/office/powerpoint/2010/main" val="320725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103" grpId="0"/>
      <p:bldP spid="115" grpId="0" animBg="1"/>
      <p:bldP spid="117" grpId="0"/>
      <p:bldP spid="3" grpId="0" animBg="1"/>
      <p:bldP spid="69" grpId="0" animBg="1"/>
      <p:bldP spid="7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Total Loss</a:t>
            </a:r>
            <a:endParaRPr lang="zh-TW" altLang="en-US" dirty="0"/>
          </a:p>
        </p:txBody>
      </p:sp>
      <p:grpSp>
        <p:nvGrpSpPr>
          <p:cNvPr id="18" name="群組 17"/>
          <p:cNvGrpSpPr/>
          <p:nvPr/>
        </p:nvGrpSpPr>
        <p:grpSpPr>
          <a:xfrm>
            <a:off x="3251769" y="2298175"/>
            <a:ext cx="421911" cy="671513"/>
            <a:chOff x="510563" y="3417283"/>
            <a:chExt cx="421911" cy="671513"/>
          </a:xfrm>
        </p:grpSpPr>
        <p:sp>
          <p:nvSpPr>
            <p:cNvPr id="19" name="矩形 18"/>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0" name="矩形 19"/>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grpSp>
        <p:nvGrpSpPr>
          <p:cNvPr id="21" name="群組 20"/>
          <p:cNvGrpSpPr/>
          <p:nvPr/>
        </p:nvGrpSpPr>
        <p:grpSpPr>
          <a:xfrm>
            <a:off x="3251768" y="3245280"/>
            <a:ext cx="421910" cy="671513"/>
            <a:chOff x="510564" y="3417283"/>
            <a:chExt cx="421910" cy="671513"/>
          </a:xfrm>
        </p:grpSpPr>
        <p:sp>
          <p:nvSpPr>
            <p:cNvPr id="22" name="矩形 21"/>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3" name="矩形 22"/>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2</a:t>
              </a:r>
              <a:endParaRPr lang="zh-TW" altLang="en-US" sz="2400" baseline="30000" dirty="0"/>
            </a:p>
          </p:txBody>
        </p:sp>
      </p:grpSp>
      <p:grpSp>
        <p:nvGrpSpPr>
          <p:cNvPr id="24" name="群組 23"/>
          <p:cNvGrpSpPr/>
          <p:nvPr/>
        </p:nvGrpSpPr>
        <p:grpSpPr>
          <a:xfrm>
            <a:off x="3247759" y="5606624"/>
            <a:ext cx="429926" cy="671513"/>
            <a:chOff x="506555" y="3417283"/>
            <a:chExt cx="429926" cy="671513"/>
          </a:xfrm>
        </p:grpSpPr>
        <p:sp>
          <p:nvSpPr>
            <p:cNvPr id="25" name="矩形 2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6" name="矩形 25"/>
            <p:cNvSpPr/>
            <p:nvPr/>
          </p:nvSpPr>
          <p:spPr>
            <a:xfrm>
              <a:off x="506555" y="3522206"/>
              <a:ext cx="429926" cy="461665"/>
            </a:xfrm>
            <a:prstGeom prst="rect">
              <a:avLst/>
            </a:prstGeom>
          </p:spPr>
          <p:txBody>
            <a:bodyPr wrap="none">
              <a:spAutoFit/>
            </a:bodyPr>
            <a:lstStyle/>
            <a:p>
              <a:pPr algn="ctr"/>
              <a:r>
                <a:rPr lang="en-US" altLang="zh-TW" sz="2400" dirty="0" err="1"/>
                <a:t>x</a:t>
              </a:r>
              <a:r>
                <a:rPr lang="en-US" altLang="zh-TW" sz="2400" baseline="30000" dirty="0" err="1"/>
                <a:t>R</a:t>
              </a:r>
              <a:endParaRPr lang="zh-TW" altLang="en-US" sz="2400" baseline="30000" dirty="0"/>
            </a:p>
          </p:txBody>
        </p:sp>
      </p:grpSp>
      <p:sp>
        <p:nvSpPr>
          <p:cNvPr id="27" name="矩形 26"/>
          <p:cNvSpPr/>
          <p:nvPr/>
        </p:nvSpPr>
        <p:spPr>
          <a:xfrm>
            <a:off x="4051694" y="230074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28" name="矩形 27"/>
          <p:cNvSpPr/>
          <p:nvPr/>
        </p:nvSpPr>
        <p:spPr>
          <a:xfrm>
            <a:off x="4051694" y="323945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29" name="矩形 28"/>
          <p:cNvSpPr/>
          <p:nvPr/>
        </p:nvSpPr>
        <p:spPr>
          <a:xfrm>
            <a:off x="4051694" y="5594978"/>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30" name="文字方塊 29"/>
          <p:cNvSpPr txBox="1"/>
          <p:nvPr/>
        </p:nvSpPr>
        <p:spPr>
          <a:xfrm rot="5400000">
            <a:off x="3109320" y="4930674"/>
            <a:ext cx="828675"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1" name="文字方塊 30"/>
          <p:cNvSpPr txBox="1"/>
          <p:nvPr/>
        </p:nvSpPr>
        <p:spPr>
          <a:xfrm rot="5400000">
            <a:off x="4182585" y="4919031"/>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2" name="直線單箭頭接點 31"/>
          <p:cNvCxnSpPr/>
          <p:nvPr/>
        </p:nvCxnSpPr>
        <p:spPr>
          <a:xfrm flipV="1">
            <a:off x="3620311" y="263392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3617350" y="358103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V="1">
            <a:off x="3617349" y="593655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5020560" y="2628722"/>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5017599" y="357582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5017598" y="5931350"/>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群組 37"/>
          <p:cNvGrpSpPr/>
          <p:nvPr/>
        </p:nvGrpSpPr>
        <p:grpSpPr>
          <a:xfrm>
            <a:off x="5419075" y="2298175"/>
            <a:ext cx="428323" cy="671513"/>
            <a:chOff x="507357" y="3417283"/>
            <a:chExt cx="428323" cy="671513"/>
          </a:xfrm>
        </p:grpSpPr>
        <p:sp>
          <p:nvSpPr>
            <p:cNvPr id="39" name="矩形 38"/>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0" name="矩形 39"/>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grpSp>
        <p:nvGrpSpPr>
          <p:cNvPr id="41" name="群組 40"/>
          <p:cNvGrpSpPr/>
          <p:nvPr/>
        </p:nvGrpSpPr>
        <p:grpSpPr>
          <a:xfrm>
            <a:off x="5419075" y="3245280"/>
            <a:ext cx="428323" cy="671513"/>
            <a:chOff x="507358" y="3417283"/>
            <a:chExt cx="428323" cy="671513"/>
          </a:xfrm>
        </p:grpSpPr>
        <p:sp>
          <p:nvSpPr>
            <p:cNvPr id="42" name="矩形 41"/>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3" name="矩形 42"/>
            <p:cNvSpPr/>
            <p:nvPr/>
          </p:nvSpPr>
          <p:spPr>
            <a:xfrm>
              <a:off x="507358" y="3522206"/>
              <a:ext cx="428323" cy="461665"/>
            </a:xfrm>
            <a:prstGeom prst="rect">
              <a:avLst/>
            </a:prstGeom>
          </p:spPr>
          <p:txBody>
            <a:bodyPr wrap="none">
              <a:spAutoFit/>
            </a:bodyPr>
            <a:lstStyle/>
            <a:p>
              <a:pPr algn="ctr"/>
              <a:r>
                <a:rPr lang="en-US" altLang="zh-TW" sz="2400" dirty="0"/>
                <a:t>y</a:t>
              </a:r>
              <a:r>
                <a:rPr lang="en-US" altLang="zh-TW" sz="2400" baseline="30000" dirty="0"/>
                <a:t>2</a:t>
              </a:r>
              <a:endParaRPr lang="zh-TW" altLang="en-US" sz="2400" baseline="30000" dirty="0"/>
            </a:p>
          </p:txBody>
        </p:sp>
      </p:grpSp>
      <p:grpSp>
        <p:nvGrpSpPr>
          <p:cNvPr id="44" name="群組 43"/>
          <p:cNvGrpSpPr/>
          <p:nvPr/>
        </p:nvGrpSpPr>
        <p:grpSpPr>
          <a:xfrm>
            <a:off x="5415065" y="5606624"/>
            <a:ext cx="436338" cy="671513"/>
            <a:chOff x="503349" y="3417283"/>
            <a:chExt cx="436338" cy="671513"/>
          </a:xfrm>
        </p:grpSpPr>
        <p:sp>
          <p:nvSpPr>
            <p:cNvPr id="45" name="矩形 44"/>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6" name="矩形 45"/>
            <p:cNvSpPr/>
            <p:nvPr/>
          </p:nvSpPr>
          <p:spPr>
            <a:xfrm>
              <a:off x="503349" y="3522206"/>
              <a:ext cx="436338" cy="461665"/>
            </a:xfrm>
            <a:prstGeom prst="rect">
              <a:avLst/>
            </a:prstGeom>
          </p:spPr>
          <p:txBody>
            <a:bodyPr wrap="none">
              <a:spAutoFit/>
            </a:bodyPr>
            <a:lstStyle/>
            <a:p>
              <a:pPr algn="ctr"/>
              <a:r>
                <a:rPr lang="en-US" altLang="zh-TW" sz="2400" dirty="0" err="1"/>
                <a:t>y</a:t>
              </a:r>
              <a:r>
                <a:rPr lang="en-US" altLang="zh-TW" sz="2400" baseline="30000" dirty="0" err="1"/>
                <a:t>R</a:t>
              </a:r>
              <a:endParaRPr lang="zh-TW" altLang="en-US" sz="2400" baseline="30000" dirty="0"/>
            </a:p>
          </p:txBody>
        </p:sp>
      </p:grpSp>
      <p:sp>
        <p:nvSpPr>
          <p:cNvPr id="47" name="矩形 46"/>
          <p:cNvSpPr/>
          <p:nvPr/>
        </p:nvSpPr>
        <p:spPr>
          <a:xfrm>
            <a:off x="6437119" y="2298175"/>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p:sp>
        <p:nvSpPr>
          <p:cNvPr id="48" name="矩形 47"/>
          <p:cNvSpPr/>
          <p:nvPr/>
        </p:nvSpPr>
        <p:spPr>
          <a:xfrm>
            <a:off x="6437118" y="3245280"/>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p:sp>
        <p:nvSpPr>
          <p:cNvPr id="49" name="矩形 48"/>
          <p:cNvSpPr/>
          <p:nvPr/>
        </p:nvSpPr>
        <p:spPr>
          <a:xfrm>
            <a:off x="6437118" y="5606624"/>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0" name="文字方塊 49"/>
              <p:cNvSpPr txBox="1"/>
              <p:nvPr/>
            </p:nvSpPr>
            <p:spPr>
              <a:xfrm>
                <a:off x="6426677" y="2471777"/>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6426677" y="2471777"/>
                <a:ext cx="391454" cy="369332"/>
              </a:xfrm>
              <a:prstGeom prst="rect">
                <a:avLst/>
              </a:prstGeom>
              <a:blipFill>
                <a:blip r:embed="rId3"/>
                <a:stretch>
                  <a:fillRect l="-18750" t="-16393" r="-50000"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6437117" y="3407287"/>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6437117" y="3407287"/>
                <a:ext cx="398058" cy="369332"/>
              </a:xfrm>
              <a:prstGeom prst="rect">
                <a:avLst/>
              </a:prstGeom>
              <a:blipFill>
                <a:blip r:embed="rId4"/>
                <a:stretch>
                  <a:fillRect l="-18462" t="-18033" r="-47692"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6412687" y="5803879"/>
                <a:ext cx="42248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𝑅</m:t>
                          </m:r>
                        </m:sup>
                      </m:sSup>
                    </m:oMath>
                  </m:oMathPara>
                </a14:m>
                <a:endParaRPr lang="zh-TW" altLang="en-US" sz="24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6412687" y="5803879"/>
                <a:ext cx="422488" cy="369332"/>
              </a:xfrm>
              <a:prstGeom prst="rect">
                <a:avLst/>
              </a:prstGeom>
              <a:blipFill>
                <a:blip r:embed="rId5"/>
                <a:stretch>
                  <a:fillRect l="-17391" t="-16393" r="-44928" b="-24590"/>
                </a:stretch>
              </a:blipFill>
            </p:spPr>
            <p:txBody>
              <a:bodyPr/>
              <a:lstStyle/>
              <a:p>
                <a:r>
                  <a:rPr lang="en-IN">
                    <a:noFill/>
                  </a:rPr>
                  <a:t> </a:t>
                </a:r>
              </a:p>
            </p:txBody>
          </p:sp>
        </mc:Fallback>
      </mc:AlternateContent>
      <p:sp>
        <p:nvSpPr>
          <p:cNvPr id="53" name="左-右雙向箭號 52"/>
          <p:cNvSpPr/>
          <p:nvPr/>
        </p:nvSpPr>
        <p:spPr>
          <a:xfrm>
            <a:off x="5778704" y="2590149"/>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4" name="左-右雙向箭號 53"/>
          <p:cNvSpPr/>
          <p:nvPr/>
        </p:nvSpPr>
        <p:spPr>
          <a:xfrm>
            <a:off x="5773342" y="3510849"/>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5" name="左-右雙向箭號 54"/>
          <p:cNvSpPr/>
          <p:nvPr/>
        </p:nvSpPr>
        <p:spPr>
          <a:xfrm>
            <a:off x="5773276" y="5851856"/>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6" name="文字方塊 55"/>
              <p:cNvSpPr txBox="1"/>
              <p:nvPr/>
            </p:nvSpPr>
            <p:spPr>
              <a:xfrm>
                <a:off x="5961896" y="2767534"/>
                <a:ext cx="3021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𝑙</m:t>
                          </m:r>
                        </m:e>
                        <m:sub>
                          <m:r>
                            <a:rPr lang="en-US" altLang="zh-TW" sz="2400" i="1">
                              <a:latin typeface="Cambria Math" panose="02040503050406030204" pitchFamily="18" charset="0"/>
                            </a:rPr>
                            <m:t>1</m:t>
                          </m:r>
                        </m:sub>
                      </m:sSub>
                    </m:oMath>
                  </m:oMathPara>
                </a14:m>
                <a:endParaRPr lang="zh-TW" altLang="en-US" sz="24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5961896" y="2767534"/>
                <a:ext cx="302199" cy="369332"/>
              </a:xfrm>
              <a:prstGeom prst="rect">
                <a:avLst/>
              </a:prstGeom>
              <a:blipFill>
                <a:blip r:embed="rId6"/>
                <a:stretch>
                  <a:fillRect l="-24000" r="-8000" b="-13115"/>
                </a:stretch>
              </a:blipFill>
            </p:spPr>
            <p:txBody>
              <a:bodyPr/>
              <a:lstStyle/>
              <a:p>
                <a:r>
                  <a:rPr lang="en-IN">
                    <a:noFill/>
                  </a:rPr>
                  <a:t> </a:t>
                </a:r>
              </a:p>
            </p:txBody>
          </p:sp>
        </mc:Fallback>
      </mc:AlternateContent>
      <p:sp>
        <p:nvSpPr>
          <p:cNvPr id="59" name="文字方塊 58"/>
          <p:cNvSpPr txBox="1"/>
          <p:nvPr/>
        </p:nvSpPr>
        <p:spPr>
          <a:xfrm rot="5400000">
            <a:off x="5270854" y="4967195"/>
            <a:ext cx="828675"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60" name="文字方塊 59"/>
          <p:cNvSpPr txBox="1"/>
          <p:nvPr/>
        </p:nvSpPr>
        <p:spPr>
          <a:xfrm rot="5400000">
            <a:off x="6273950" y="4954287"/>
            <a:ext cx="828675"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64" name="群組 63"/>
          <p:cNvGrpSpPr/>
          <p:nvPr/>
        </p:nvGrpSpPr>
        <p:grpSpPr>
          <a:xfrm>
            <a:off x="3248616" y="4152254"/>
            <a:ext cx="421910" cy="671513"/>
            <a:chOff x="510564" y="3417283"/>
            <a:chExt cx="421910" cy="671513"/>
          </a:xfrm>
        </p:grpSpPr>
        <p:sp>
          <p:nvSpPr>
            <p:cNvPr id="65" name="矩形 6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66" name="矩形 65"/>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3</a:t>
              </a:r>
              <a:endParaRPr lang="zh-TW" altLang="en-US" sz="2400" baseline="30000" dirty="0"/>
            </a:p>
          </p:txBody>
        </p:sp>
      </p:grpSp>
      <p:sp>
        <p:nvSpPr>
          <p:cNvPr id="67" name="矩形 66"/>
          <p:cNvSpPr/>
          <p:nvPr/>
        </p:nvSpPr>
        <p:spPr>
          <a:xfrm>
            <a:off x="4048542" y="4146429"/>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68" name="直線單箭頭接點 67"/>
          <p:cNvCxnSpPr/>
          <p:nvPr/>
        </p:nvCxnSpPr>
        <p:spPr>
          <a:xfrm flipV="1">
            <a:off x="3614198" y="4488008"/>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flipV="1">
            <a:off x="5014447" y="448280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群組 69"/>
          <p:cNvGrpSpPr/>
          <p:nvPr/>
        </p:nvGrpSpPr>
        <p:grpSpPr>
          <a:xfrm>
            <a:off x="5415923" y="4152254"/>
            <a:ext cx="428322" cy="671513"/>
            <a:chOff x="507359" y="3417283"/>
            <a:chExt cx="428322" cy="671513"/>
          </a:xfrm>
        </p:grpSpPr>
        <p:sp>
          <p:nvSpPr>
            <p:cNvPr id="71" name="矩形 70"/>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2" name="矩形 71"/>
            <p:cNvSpPr/>
            <p:nvPr/>
          </p:nvSpPr>
          <p:spPr>
            <a:xfrm>
              <a:off x="507359" y="3522206"/>
              <a:ext cx="428322" cy="461665"/>
            </a:xfrm>
            <a:prstGeom prst="rect">
              <a:avLst/>
            </a:prstGeom>
          </p:spPr>
          <p:txBody>
            <a:bodyPr wrap="none">
              <a:spAutoFit/>
            </a:bodyPr>
            <a:lstStyle/>
            <a:p>
              <a:pPr algn="ctr"/>
              <a:r>
                <a:rPr lang="en-US" altLang="zh-TW" sz="2400" dirty="0"/>
                <a:t>y</a:t>
              </a:r>
              <a:r>
                <a:rPr lang="en-US" altLang="zh-TW" sz="2400" baseline="30000" dirty="0"/>
                <a:t>3</a:t>
              </a:r>
              <a:endParaRPr lang="zh-TW" altLang="en-US" sz="2400" baseline="30000" dirty="0"/>
            </a:p>
          </p:txBody>
        </p:sp>
      </p:grpSp>
      <p:sp>
        <p:nvSpPr>
          <p:cNvPr id="73" name="矩形 72"/>
          <p:cNvSpPr/>
          <p:nvPr/>
        </p:nvSpPr>
        <p:spPr>
          <a:xfrm>
            <a:off x="6433966" y="4152254"/>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74" name="文字方塊 73"/>
              <p:cNvSpPr txBox="1"/>
              <p:nvPr/>
            </p:nvSpPr>
            <p:spPr>
              <a:xfrm>
                <a:off x="6433965" y="4314261"/>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3</m:t>
                          </m:r>
                        </m:sup>
                      </m:sSup>
                    </m:oMath>
                  </m:oMathPara>
                </a14:m>
                <a:endParaRPr lang="zh-TW" altLang="en-US" sz="2400"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6433965" y="4314261"/>
                <a:ext cx="398058" cy="369332"/>
              </a:xfrm>
              <a:prstGeom prst="rect">
                <a:avLst/>
              </a:prstGeom>
              <a:blipFill>
                <a:blip r:embed="rId7"/>
                <a:stretch>
                  <a:fillRect l="-18182" t="-18333" r="-46970" b="-26667"/>
                </a:stretch>
              </a:blipFill>
            </p:spPr>
            <p:txBody>
              <a:bodyPr/>
              <a:lstStyle/>
              <a:p>
                <a:r>
                  <a:rPr lang="en-IN">
                    <a:noFill/>
                  </a:rPr>
                  <a:t> </a:t>
                </a:r>
              </a:p>
            </p:txBody>
          </p:sp>
        </mc:Fallback>
      </mc:AlternateContent>
      <p:sp>
        <p:nvSpPr>
          <p:cNvPr id="75" name="左-右雙向箭號 74"/>
          <p:cNvSpPr/>
          <p:nvPr/>
        </p:nvSpPr>
        <p:spPr>
          <a:xfrm>
            <a:off x="5770190" y="4417823"/>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 name="文字方塊 5"/>
          <p:cNvSpPr txBox="1"/>
          <p:nvPr/>
        </p:nvSpPr>
        <p:spPr>
          <a:xfrm>
            <a:off x="2032787" y="1640875"/>
            <a:ext cx="3580190" cy="523220"/>
          </a:xfrm>
          <a:prstGeom prst="rect">
            <a:avLst/>
          </a:prstGeom>
          <a:noFill/>
        </p:spPr>
        <p:txBody>
          <a:bodyPr wrap="square" rtlCol="0">
            <a:spAutoFit/>
          </a:bodyPr>
          <a:lstStyle/>
          <a:p>
            <a:r>
              <a:rPr lang="en-US" altLang="zh-TW" sz="2800" dirty="0"/>
              <a:t>For all training data …</a:t>
            </a:r>
            <a:endParaRPr lang="zh-TW" altLang="en-US" sz="2800" dirty="0"/>
          </a:p>
        </p:txBody>
      </p:sp>
      <p:pic>
        <p:nvPicPr>
          <p:cNvPr id="90" name="圖片 89"/>
          <p:cNvPicPr preferRelativeResize="0">
            <a:picLocks/>
          </p:cNvPicPr>
          <p:nvPr/>
        </p:nvPicPr>
        <p:blipFill>
          <a:blip r:embed="rId8"/>
          <a:stretch>
            <a:fillRect/>
          </a:stretch>
        </p:blipFill>
        <p:spPr>
          <a:xfrm>
            <a:off x="2439322" y="2314599"/>
            <a:ext cx="720000" cy="720000"/>
          </a:xfrm>
          <a:prstGeom prst="rect">
            <a:avLst/>
          </a:prstGeom>
          <a:ln w="38100">
            <a:solidFill>
              <a:schemeClr val="tx1"/>
            </a:solidFill>
          </a:ln>
        </p:spPr>
      </p:pic>
      <p:pic>
        <p:nvPicPr>
          <p:cNvPr id="92" name="圖片 91"/>
          <p:cNvPicPr preferRelativeResize="0">
            <a:picLocks/>
          </p:cNvPicPr>
          <p:nvPr/>
        </p:nvPicPr>
        <p:blipFill>
          <a:blip r:embed="rId9"/>
          <a:stretch>
            <a:fillRect/>
          </a:stretch>
        </p:blipFill>
        <p:spPr>
          <a:xfrm>
            <a:off x="2418572" y="3258994"/>
            <a:ext cx="720000" cy="720000"/>
          </a:xfrm>
          <a:prstGeom prst="rect">
            <a:avLst/>
          </a:prstGeom>
          <a:ln w="38100">
            <a:solidFill>
              <a:schemeClr val="tx1"/>
            </a:solidFill>
          </a:ln>
        </p:spPr>
      </p:pic>
      <p:pic>
        <p:nvPicPr>
          <p:cNvPr id="93" name="圖片 92"/>
          <p:cNvPicPr preferRelativeResize="0">
            <a:picLocks/>
          </p:cNvPicPr>
          <p:nvPr/>
        </p:nvPicPr>
        <p:blipFill>
          <a:blip r:embed="rId10"/>
          <a:stretch>
            <a:fillRect/>
          </a:stretch>
        </p:blipFill>
        <p:spPr>
          <a:xfrm>
            <a:off x="2418572" y="4139587"/>
            <a:ext cx="720000" cy="720000"/>
          </a:xfrm>
          <a:prstGeom prst="rect">
            <a:avLst/>
          </a:prstGeom>
          <a:ln w="38100">
            <a:solidFill>
              <a:schemeClr val="tx1"/>
            </a:solidFill>
          </a:ln>
        </p:spPr>
      </p:pic>
      <p:pic>
        <p:nvPicPr>
          <p:cNvPr id="94" name="圖片 93"/>
          <p:cNvPicPr preferRelativeResize="0">
            <a:picLocks/>
          </p:cNvPicPr>
          <p:nvPr/>
        </p:nvPicPr>
        <p:blipFill>
          <a:blip r:embed="rId11"/>
          <a:stretch>
            <a:fillRect/>
          </a:stretch>
        </p:blipFill>
        <p:spPr>
          <a:xfrm>
            <a:off x="2418572" y="5594978"/>
            <a:ext cx="720000" cy="720000"/>
          </a:xfrm>
          <a:prstGeom prst="rect">
            <a:avLst/>
          </a:prstGeom>
          <a:ln w="38100">
            <a:solidFill>
              <a:schemeClr val="tx1"/>
            </a:solidFill>
          </a:ln>
        </p:spPr>
      </p:pic>
      <mc:AlternateContent xmlns:mc="http://schemas.openxmlformats.org/markup-compatibility/2006" xmlns:a14="http://schemas.microsoft.com/office/drawing/2010/main">
        <mc:Choice Requires="a14">
          <p:sp>
            <p:nvSpPr>
              <p:cNvPr id="7" name="文字方塊 6"/>
              <p:cNvSpPr txBox="1"/>
              <p:nvPr/>
            </p:nvSpPr>
            <p:spPr>
              <a:xfrm>
                <a:off x="8137965" y="958275"/>
                <a:ext cx="1606594" cy="12092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𝐿</m:t>
                      </m:r>
                      <m:r>
                        <a:rPr lang="en-US" altLang="zh-TW" sz="2800" i="1">
                          <a:latin typeface="Cambria Math" panose="02040503050406030204" pitchFamily="18" charset="0"/>
                        </a:rPr>
                        <m:t>=</m:t>
                      </m:r>
                      <m:nary>
                        <m:naryPr>
                          <m:chr m:val="∑"/>
                          <m:ctrlPr>
                            <a:rPr lang="en-US" altLang="zh-TW" sz="2800" i="1">
                              <a:latin typeface="Cambria Math" panose="02040503050406030204" pitchFamily="18" charset="0"/>
                            </a:rPr>
                          </m:ctrlPr>
                        </m:naryPr>
                        <m:sub>
                          <m:r>
                            <m:rPr>
                              <m:brk m:alnAt="23"/>
                            </m:rPr>
                            <a:rPr lang="en-US" altLang="zh-TW" sz="2800" i="1">
                              <a:latin typeface="Cambria Math" panose="02040503050406030204" pitchFamily="18" charset="0"/>
                            </a:rPr>
                            <m:t>𝑟</m:t>
                          </m:r>
                          <m:r>
                            <a:rPr lang="en-US" altLang="zh-TW" sz="2800" i="1">
                              <a:latin typeface="Cambria Math" panose="02040503050406030204" pitchFamily="18" charset="0"/>
                            </a:rPr>
                            <m:t>=1</m:t>
                          </m:r>
                        </m:sub>
                        <m:sup>
                          <m:r>
                            <a:rPr lang="en-US" altLang="zh-TW" sz="2800" i="1">
                              <a:latin typeface="Cambria Math" panose="02040503050406030204" pitchFamily="18" charset="0"/>
                            </a:rPr>
                            <m:t>𝑅</m:t>
                          </m:r>
                        </m:sup>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𝑙</m:t>
                              </m:r>
                            </m:e>
                            <m:sub>
                              <m:r>
                                <a:rPr lang="en-US" altLang="zh-TW" sz="2800" i="1">
                                  <a:latin typeface="Cambria Math" panose="02040503050406030204" pitchFamily="18" charset="0"/>
                                </a:rPr>
                                <m:t>𝑟</m:t>
                              </m:r>
                            </m:sub>
                          </m:sSub>
                        </m:e>
                      </m:nary>
                    </m:oMath>
                  </m:oMathPara>
                </a14:m>
                <a:endParaRPr lang="zh-TW" altLang="en-US" sz="28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8137965" y="958275"/>
                <a:ext cx="1606594" cy="120924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文字方塊 94"/>
              <p:cNvSpPr txBox="1"/>
              <p:nvPr/>
            </p:nvSpPr>
            <p:spPr>
              <a:xfrm>
                <a:off x="7011022" y="5118870"/>
                <a:ext cx="3318188" cy="138499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altLang="zh-TW" sz="2800" dirty="0"/>
                  <a:t>Find </a:t>
                </a:r>
                <a:r>
                  <a:rPr lang="en-US" altLang="zh-TW" sz="2800" b="1" i="1" u="sng" dirty="0"/>
                  <a:t>the network parameters </a:t>
                </a:r>
                <a14:m>
                  <m:oMath xmlns:m="http://schemas.openxmlformats.org/officeDocument/2006/math">
                    <m:sSup>
                      <m:sSupPr>
                        <m:ctrlPr>
                          <a:rPr lang="en-US" altLang="zh-TW" sz="2800" b="1" i="1" u="sng">
                            <a:latin typeface="Cambria Math" panose="02040503050406030204" pitchFamily="18" charset="0"/>
                          </a:rPr>
                        </m:ctrlPr>
                      </m:sSupPr>
                      <m:e>
                        <m:r>
                          <a:rPr lang="zh-TW" altLang="en-US" sz="2800" b="1" i="1" u="sng">
                            <a:latin typeface="Cambria Math" panose="02040503050406030204" pitchFamily="18" charset="0"/>
                          </a:rPr>
                          <m:t>𝜽</m:t>
                        </m:r>
                      </m:e>
                      <m:sup>
                        <m:r>
                          <a:rPr lang="en-US" altLang="zh-TW" sz="2800" b="1" i="1" u="sng">
                            <a:latin typeface="Cambria Math" panose="02040503050406030204" pitchFamily="18" charset="0"/>
                          </a:rPr>
                          <m:t>∗</m:t>
                        </m:r>
                      </m:sup>
                    </m:sSup>
                  </m:oMath>
                </a14:m>
                <a:r>
                  <a:rPr lang="en-US" altLang="zh-TW" sz="2800" dirty="0"/>
                  <a:t> that minimize total loss L</a:t>
                </a:r>
                <a:endParaRPr lang="zh-TW" altLang="en-US" sz="2800"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7011022" y="5118870"/>
                <a:ext cx="3318188" cy="1384995"/>
              </a:xfrm>
              <a:prstGeom prst="rect">
                <a:avLst/>
              </a:prstGeom>
              <a:blipFill>
                <a:blip r:embed="rId13"/>
                <a:stretch>
                  <a:fillRect/>
                </a:stretch>
              </a:blipFill>
            </p:spPr>
            <p:txBody>
              <a:bodyPr/>
              <a:lstStyle/>
              <a:p>
                <a:r>
                  <a:rPr lang="en-IN">
                    <a:noFill/>
                  </a:rPr>
                  <a:t> </a:t>
                </a:r>
              </a:p>
            </p:txBody>
          </p:sp>
        </mc:Fallback>
      </mc:AlternateContent>
      <p:sp>
        <p:nvSpPr>
          <p:cNvPr id="77" name="文字方塊 76"/>
          <p:cNvSpPr txBox="1"/>
          <p:nvPr/>
        </p:nvSpPr>
        <p:spPr>
          <a:xfrm>
            <a:off x="6991155" y="398990"/>
            <a:ext cx="1805606" cy="523220"/>
          </a:xfrm>
          <a:prstGeom prst="rect">
            <a:avLst/>
          </a:prstGeom>
          <a:noFill/>
        </p:spPr>
        <p:txBody>
          <a:bodyPr wrap="square" rtlCol="0">
            <a:spAutoFit/>
          </a:bodyPr>
          <a:lstStyle/>
          <a:p>
            <a:r>
              <a:rPr lang="en-US" altLang="zh-TW" sz="2800" dirty="0"/>
              <a:t>Total Loss:</a:t>
            </a:r>
            <a:endParaRPr lang="zh-TW" altLang="en-US" sz="2800" dirty="0"/>
          </a:p>
        </p:txBody>
      </p:sp>
      <mc:AlternateContent xmlns:mc="http://schemas.openxmlformats.org/markup-compatibility/2006" xmlns:a14="http://schemas.microsoft.com/office/drawing/2010/main">
        <mc:Choice Requires="a14">
          <p:sp>
            <p:nvSpPr>
              <p:cNvPr id="76" name="文字方塊 75"/>
              <p:cNvSpPr txBox="1"/>
              <p:nvPr/>
            </p:nvSpPr>
            <p:spPr>
              <a:xfrm>
                <a:off x="5961896" y="3685525"/>
                <a:ext cx="3093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𝑙</m:t>
                          </m:r>
                        </m:e>
                        <m:sub>
                          <m:r>
                            <a:rPr lang="en-US" altLang="zh-TW" sz="2400" i="1">
                              <a:latin typeface="Cambria Math" panose="02040503050406030204" pitchFamily="18" charset="0"/>
                            </a:rPr>
                            <m:t>2</m:t>
                          </m:r>
                        </m:sub>
                      </m:sSub>
                    </m:oMath>
                  </m:oMathPara>
                </a14:m>
                <a:endParaRPr lang="zh-TW" altLang="en-US" sz="2400"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5961896" y="3685525"/>
                <a:ext cx="309315" cy="369332"/>
              </a:xfrm>
              <a:prstGeom prst="rect">
                <a:avLst/>
              </a:prstGeom>
              <a:blipFill>
                <a:blip r:embed="rId14"/>
                <a:stretch>
                  <a:fillRect l="-23529" r="-7843" b="-1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5953886" y="4561823"/>
                <a:ext cx="3093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𝑙</m:t>
                          </m:r>
                        </m:e>
                        <m:sub>
                          <m:r>
                            <a:rPr lang="en-US" altLang="zh-TW" sz="2400" i="1">
                              <a:latin typeface="Cambria Math" panose="02040503050406030204" pitchFamily="18" charset="0"/>
                            </a:rPr>
                            <m:t>3</m:t>
                          </m:r>
                        </m:sub>
                      </m:sSub>
                    </m:oMath>
                  </m:oMathPara>
                </a14:m>
                <a:endParaRPr lang="zh-TW" altLang="en-US" sz="24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5953886" y="4561823"/>
                <a:ext cx="309315" cy="369332"/>
              </a:xfrm>
              <a:prstGeom prst="rect">
                <a:avLst/>
              </a:prstGeom>
              <a:blipFill>
                <a:blip r:embed="rId15"/>
                <a:stretch>
                  <a:fillRect l="-24000" r="-10000"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文字方塊 78"/>
              <p:cNvSpPr txBox="1"/>
              <p:nvPr/>
            </p:nvSpPr>
            <p:spPr>
              <a:xfrm>
                <a:off x="5961895" y="6027539"/>
                <a:ext cx="33374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𝑙</m:t>
                          </m:r>
                        </m:e>
                        <m:sub>
                          <m:r>
                            <a:rPr lang="en-US" altLang="zh-TW" sz="2400" i="1">
                              <a:latin typeface="Cambria Math" panose="02040503050406030204" pitchFamily="18" charset="0"/>
                            </a:rPr>
                            <m:t>𝑅</m:t>
                          </m:r>
                        </m:sub>
                      </m:sSub>
                    </m:oMath>
                  </m:oMathPara>
                </a14:m>
                <a:endParaRPr lang="zh-TW" altLang="en-US" sz="2400"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5961895" y="6027539"/>
                <a:ext cx="333746" cy="369332"/>
              </a:xfrm>
              <a:prstGeom prst="rect">
                <a:avLst/>
              </a:prstGeom>
              <a:blipFill>
                <a:blip r:embed="rId16"/>
                <a:stretch>
                  <a:fillRect l="-21818" r="-5455" b="-15000"/>
                </a:stretch>
              </a:blipFill>
            </p:spPr>
            <p:txBody>
              <a:bodyPr/>
              <a:lstStyle/>
              <a:p>
                <a:r>
                  <a:rPr lang="en-IN">
                    <a:noFill/>
                  </a:rPr>
                  <a:t> </a:t>
                </a:r>
              </a:p>
            </p:txBody>
          </p:sp>
        </mc:Fallback>
      </mc:AlternateContent>
      <p:cxnSp>
        <p:nvCxnSpPr>
          <p:cNvPr id="5" name="直線單箭頭接點 4"/>
          <p:cNvCxnSpPr/>
          <p:nvPr/>
        </p:nvCxnSpPr>
        <p:spPr>
          <a:xfrm flipV="1">
            <a:off x="8748490" y="2271994"/>
            <a:ext cx="0" cy="504650"/>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015962" y="958275"/>
            <a:ext cx="1850601" cy="1326605"/>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文字方塊 79"/>
          <p:cNvSpPr txBox="1"/>
          <p:nvPr/>
        </p:nvSpPr>
        <p:spPr>
          <a:xfrm>
            <a:off x="7187223" y="2642324"/>
            <a:ext cx="3104065"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altLang="zh-TW" sz="2800" dirty="0"/>
              <a:t>As small as possible</a:t>
            </a:r>
            <a:endParaRPr lang="zh-TW" altLang="en-US" sz="2800" dirty="0"/>
          </a:p>
        </p:txBody>
      </p:sp>
      <p:sp>
        <p:nvSpPr>
          <p:cNvPr id="81" name="文字方塊 80"/>
          <p:cNvSpPr txBox="1"/>
          <p:nvPr/>
        </p:nvSpPr>
        <p:spPr>
          <a:xfrm>
            <a:off x="7011022" y="3479279"/>
            <a:ext cx="3315102"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800" dirty="0"/>
              <a:t>Find </a:t>
            </a:r>
            <a:r>
              <a:rPr lang="en-US" altLang="zh-TW" sz="2800" b="1" i="1" u="sng" dirty="0"/>
              <a:t>a function in function set </a:t>
            </a:r>
            <a:r>
              <a:rPr lang="en-US" altLang="zh-TW" sz="2800" dirty="0"/>
              <a:t>that minimizes total loss L</a:t>
            </a:r>
            <a:endParaRPr lang="zh-TW" altLang="en-US" sz="2800" dirty="0"/>
          </a:p>
        </p:txBody>
      </p:sp>
      <p:sp>
        <p:nvSpPr>
          <p:cNvPr id="4" name="向下箭號 3"/>
          <p:cNvSpPr/>
          <p:nvPr/>
        </p:nvSpPr>
        <p:spPr>
          <a:xfrm>
            <a:off x="8385190" y="3213747"/>
            <a:ext cx="697424" cy="32443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2" name="向下箭號 81"/>
          <p:cNvSpPr/>
          <p:nvPr/>
        </p:nvSpPr>
        <p:spPr>
          <a:xfrm>
            <a:off x="8385190" y="4904371"/>
            <a:ext cx="697424" cy="32443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83" name="圖片 82"/>
          <p:cNvPicPr preferRelativeResize="0">
            <a:picLocks/>
          </p:cNvPicPr>
          <p:nvPr/>
        </p:nvPicPr>
        <p:blipFill>
          <a:blip r:embed="rId17"/>
          <a:stretch>
            <a:fillRect/>
          </a:stretch>
        </p:blipFill>
        <p:spPr>
          <a:xfrm>
            <a:off x="2417866" y="4136973"/>
            <a:ext cx="720000" cy="720000"/>
          </a:xfrm>
          <a:prstGeom prst="rect">
            <a:avLst/>
          </a:prstGeom>
          <a:ln w="38100">
            <a:solidFill>
              <a:schemeClr val="tx1"/>
            </a:solidFill>
          </a:ln>
        </p:spPr>
      </p:pic>
      <p:pic>
        <p:nvPicPr>
          <p:cNvPr id="84" name="圖片 83"/>
          <p:cNvPicPr preferRelativeResize="0">
            <a:picLocks/>
          </p:cNvPicPr>
          <p:nvPr/>
        </p:nvPicPr>
        <p:blipFill>
          <a:blip r:embed="rId10"/>
          <a:stretch>
            <a:fillRect/>
          </a:stretch>
        </p:blipFill>
        <p:spPr>
          <a:xfrm>
            <a:off x="2417267" y="5606622"/>
            <a:ext cx="720000" cy="720000"/>
          </a:xfrm>
          <a:prstGeom prst="rect">
            <a:avLst/>
          </a:prstGeom>
          <a:ln w="38100">
            <a:solidFill>
              <a:schemeClr val="tx1"/>
            </a:solidFill>
          </a:ln>
        </p:spPr>
      </p:pic>
      <p:pic>
        <p:nvPicPr>
          <p:cNvPr id="85" name="圖片 84"/>
          <p:cNvPicPr preferRelativeResize="0">
            <a:picLocks/>
          </p:cNvPicPr>
          <p:nvPr/>
        </p:nvPicPr>
        <p:blipFill>
          <a:blip r:embed="rId18"/>
          <a:stretch>
            <a:fillRect/>
          </a:stretch>
        </p:blipFill>
        <p:spPr>
          <a:xfrm>
            <a:off x="2414958" y="5600800"/>
            <a:ext cx="720000" cy="720000"/>
          </a:xfrm>
          <a:prstGeom prst="rect">
            <a:avLst/>
          </a:prstGeom>
          <a:ln w="38100">
            <a:solidFill>
              <a:schemeClr val="tx1"/>
            </a:solidFill>
          </a:ln>
        </p:spPr>
      </p:pic>
    </p:spTree>
    <p:extLst>
      <p:ext uri="{BB962C8B-B14F-4D97-AF65-F5344CB8AC3E}">
        <p14:creationId xmlns:p14="http://schemas.microsoft.com/office/powerpoint/2010/main" val="389636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8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p:bldP spid="31" grpId="0"/>
      <p:bldP spid="47" grpId="0" animBg="1"/>
      <p:bldP spid="48" grpId="0" animBg="1"/>
      <p:bldP spid="49" grpId="0" animBg="1"/>
      <p:bldP spid="50" grpId="0"/>
      <p:bldP spid="51" grpId="0"/>
      <p:bldP spid="52" grpId="0"/>
      <p:bldP spid="53" grpId="0" animBg="1"/>
      <p:bldP spid="54" grpId="0" animBg="1"/>
      <p:bldP spid="55" grpId="0" animBg="1"/>
      <p:bldP spid="56" grpId="0"/>
      <p:bldP spid="59" grpId="0"/>
      <p:bldP spid="60" grpId="0"/>
      <p:bldP spid="67" grpId="0" animBg="1"/>
      <p:bldP spid="73" grpId="0" animBg="1"/>
      <p:bldP spid="74" grpId="0"/>
      <p:bldP spid="75" grpId="0" animBg="1"/>
      <p:bldP spid="7" grpId="0"/>
      <p:bldP spid="95" grpId="0" animBg="1"/>
      <p:bldP spid="77" grpId="0"/>
      <p:bldP spid="76" grpId="0"/>
      <p:bldP spid="78" grpId="0"/>
      <p:bldP spid="79" grpId="0"/>
      <p:bldP spid="9" grpId="0" animBg="1"/>
      <p:bldP spid="80" grpId="0" animBg="1"/>
      <p:bldP spid="81" grpId="0" animBg="1"/>
      <p:bldP spid="4" grpId="0" animBg="1"/>
      <p:bldP spid="8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7421" y="390258"/>
            <a:ext cx="10515600" cy="1325563"/>
          </a:xfrm>
        </p:spPr>
        <p:txBody>
          <a:bodyPr>
            <a:normAutofit/>
          </a:bodyPr>
          <a:lstStyle/>
          <a:p>
            <a:r>
              <a:rPr lang="en-US" altLang="zh-TW" sz="4000" dirty="0"/>
              <a:t>Implementation</a:t>
            </a:r>
            <a:endParaRPr lang="zh-TW" altLang="en-US" sz="4000" dirty="0"/>
          </a:p>
        </p:txBody>
      </p:sp>
      <p:sp>
        <p:nvSpPr>
          <p:cNvPr id="77" name="文字方塊 76"/>
          <p:cNvSpPr txBox="1"/>
          <p:nvPr/>
        </p:nvSpPr>
        <p:spPr>
          <a:xfrm>
            <a:off x="3006351" y="6097905"/>
            <a:ext cx="631069" cy="461665"/>
          </a:xfrm>
          <a:prstGeom prst="rect">
            <a:avLst/>
          </a:prstGeom>
          <a:noFill/>
        </p:spPr>
        <p:txBody>
          <a:bodyPr wrap="square" rtlCol="0">
            <a:spAutoFit/>
          </a:bodyPr>
          <a:lstStyle/>
          <a:p>
            <a:r>
              <a:rPr lang="en-US" altLang="zh-TW" sz="2400" dirty="0"/>
              <a:t>y</a:t>
            </a:r>
            <a:r>
              <a:rPr lang="en-US" altLang="zh-TW" sz="2400" baseline="-25000" dirty="0"/>
              <a:t>1</a:t>
            </a:r>
            <a:endParaRPr lang="zh-TW" altLang="en-US" sz="2400" baseline="-25000" dirty="0"/>
          </a:p>
        </p:txBody>
      </p:sp>
      <p:sp>
        <p:nvSpPr>
          <p:cNvPr id="78" name="文字方塊 77"/>
          <p:cNvSpPr txBox="1"/>
          <p:nvPr/>
        </p:nvSpPr>
        <p:spPr>
          <a:xfrm>
            <a:off x="3637420" y="6122958"/>
            <a:ext cx="631069" cy="461665"/>
          </a:xfrm>
          <a:prstGeom prst="rect">
            <a:avLst/>
          </a:prstGeom>
          <a:noFill/>
        </p:spPr>
        <p:txBody>
          <a:bodyPr wrap="square" rtlCol="0">
            <a:spAutoFit/>
          </a:bodyPr>
          <a:lstStyle/>
          <a:p>
            <a:r>
              <a:rPr lang="en-US" altLang="zh-TW" sz="2400" dirty="0"/>
              <a:t>y</a:t>
            </a:r>
            <a:r>
              <a:rPr lang="en-US" altLang="zh-TW" sz="2400" baseline="-25000" dirty="0"/>
              <a:t>2</a:t>
            </a:r>
            <a:endParaRPr lang="zh-TW" altLang="en-US" sz="2400" baseline="-25000" dirty="0"/>
          </a:p>
        </p:txBody>
      </p:sp>
      <p:sp>
        <p:nvSpPr>
          <p:cNvPr id="79" name="文字方塊 78"/>
          <p:cNvSpPr txBox="1"/>
          <p:nvPr/>
        </p:nvSpPr>
        <p:spPr>
          <a:xfrm>
            <a:off x="4704152" y="6131487"/>
            <a:ext cx="631069" cy="461665"/>
          </a:xfrm>
          <a:prstGeom prst="rect">
            <a:avLst/>
          </a:prstGeom>
          <a:noFill/>
        </p:spPr>
        <p:txBody>
          <a:bodyPr wrap="square" rtlCol="0">
            <a:spAutoFit/>
          </a:bodyPr>
          <a:lstStyle/>
          <a:p>
            <a:r>
              <a:rPr lang="en-US" altLang="zh-TW" sz="2400" dirty="0"/>
              <a:t>y</a:t>
            </a:r>
            <a:r>
              <a:rPr lang="en-US" altLang="zh-TW" sz="2400" baseline="-25000" dirty="0"/>
              <a:t>10</a:t>
            </a:r>
            <a:endParaRPr lang="zh-TW" altLang="en-US" sz="2400" baseline="-25000" dirty="0"/>
          </a:p>
        </p:txBody>
      </p:sp>
      <p:cxnSp>
        <p:nvCxnSpPr>
          <p:cNvPr id="10" name="直線單箭頭接點 9"/>
          <p:cNvCxnSpPr/>
          <p:nvPr/>
        </p:nvCxnSpPr>
        <p:spPr>
          <a:xfrm>
            <a:off x="3201755" y="5774589"/>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0" name="群組 89"/>
          <p:cNvGrpSpPr/>
          <p:nvPr/>
        </p:nvGrpSpPr>
        <p:grpSpPr>
          <a:xfrm flipH="1">
            <a:off x="2864140" y="1961451"/>
            <a:ext cx="2402403" cy="3494469"/>
            <a:chOff x="1404781" y="2208525"/>
            <a:chExt cx="2692215" cy="3916022"/>
          </a:xfrm>
        </p:grpSpPr>
        <p:sp>
          <p:nvSpPr>
            <p:cNvPr id="7" name="矩形 6"/>
            <p:cNvSpPr/>
            <p:nvPr/>
          </p:nvSpPr>
          <p:spPr>
            <a:xfrm rot="5400000">
              <a:off x="2491005" y="114547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2" name="矩形 11"/>
            <p:cNvSpPr/>
            <p:nvPr/>
          </p:nvSpPr>
          <p:spPr>
            <a:xfrm rot="5400000">
              <a:off x="2992414" y="22769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3" name="矩形 12"/>
            <p:cNvSpPr/>
            <p:nvPr/>
          </p:nvSpPr>
          <p:spPr>
            <a:xfrm rot="5400000">
              <a:off x="3562743" y="22827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pSp>
          <p:nvGrpSpPr>
            <p:cNvPr id="16" name="群組 15"/>
            <p:cNvGrpSpPr/>
            <p:nvPr/>
          </p:nvGrpSpPr>
          <p:grpSpPr>
            <a:xfrm rot="5400000">
              <a:off x="2361279" y="2435131"/>
              <a:ext cx="762871" cy="2675868"/>
              <a:chOff x="2504565" y="2224872"/>
              <a:chExt cx="762871" cy="2675868"/>
            </a:xfrm>
          </p:grpSpPr>
          <p:sp>
            <p:nvSpPr>
              <p:cNvPr id="17" name="矩形 16"/>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9" name="橢圓 18"/>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文字方塊 21"/>
              <p:cNvSpPr txBox="1"/>
              <p:nvPr/>
            </p:nvSpPr>
            <p:spPr>
              <a:xfrm rot="5400000">
                <a:off x="2589638" y="363319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sp>
          <p:nvSpPr>
            <p:cNvPr id="23" name="矩形 22"/>
            <p:cNvSpPr/>
            <p:nvPr/>
          </p:nvSpPr>
          <p:spPr>
            <a:xfrm rot="5400000">
              <a:off x="1594657" y="228643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5" name="文字方塊 24"/>
            <p:cNvSpPr txBox="1"/>
            <p:nvPr/>
          </p:nvSpPr>
          <p:spPr>
            <a:xfrm rot="10800000">
              <a:off x="2006376" y="2253830"/>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nvGrpSpPr>
            <p:cNvPr id="26" name="群組 25"/>
            <p:cNvGrpSpPr/>
            <p:nvPr/>
          </p:nvGrpSpPr>
          <p:grpSpPr>
            <a:xfrm rot="5400000">
              <a:off x="2382638" y="3755705"/>
              <a:ext cx="752847" cy="2675868"/>
              <a:chOff x="3830151" y="2208525"/>
              <a:chExt cx="752847" cy="2675868"/>
            </a:xfrm>
          </p:grpSpPr>
          <p:sp>
            <p:nvSpPr>
              <p:cNvPr id="27" name="矩形 26"/>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9" name="橢圓 28"/>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橢圓 29"/>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1" name="橢圓 30"/>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文字方塊 31"/>
              <p:cNvSpPr txBox="1"/>
              <p:nvPr/>
            </p:nvSpPr>
            <p:spPr>
              <a:xfrm rot="5400000">
                <a:off x="3905200" y="3633191"/>
                <a:ext cx="769257" cy="586338"/>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43" name="群組 42"/>
            <p:cNvGrpSpPr/>
            <p:nvPr/>
          </p:nvGrpSpPr>
          <p:grpSpPr>
            <a:xfrm rot="5400000">
              <a:off x="2399196" y="3423271"/>
              <a:ext cx="753037" cy="2013721"/>
              <a:chOff x="3166542" y="2522953"/>
              <a:chExt cx="753037" cy="2013721"/>
            </a:xfrm>
          </p:grpSpPr>
          <p:cxnSp>
            <p:nvCxnSpPr>
              <p:cNvPr id="44" name="直線單箭頭接點 43"/>
              <p:cNvCxnSpPr>
                <a:stCxn id="19" idx="6"/>
                <a:endCxn id="29" idx="2"/>
              </p:cNvCxnSpPr>
              <p:nvPr/>
            </p:nvCxnSpPr>
            <p:spPr>
              <a:xfrm>
                <a:off x="3175833" y="252295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a:stCxn id="20" idx="6"/>
                <a:endCxn id="29" idx="2"/>
              </p:cNvCxnSpPr>
              <p:nvPr/>
            </p:nvCxnSpPr>
            <p:spPr>
              <a:xfrm flipV="1">
                <a:off x="3178175" y="2522953"/>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a:stCxn id="19" idx="6"/>
                <a:endCxn id="30" idx="2"/>
              </p:cNvCxnSpPr>
              <p:nvPr/>
            </p:nvCxnSpPr>
            <p:spPr>
              <a:xfrm>
                <a:off x="3175833" y="2522953"/>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9" idx="6"/>
                <a:endCxn id="31" idx="2"/>
              </p:cNvCxnSpPr>
              <p:nvPr/>
            </p:nvCxnSpPr>
            <p:spPr>
              <a:xfrm>
                <a:off x="3175833" y="2522953"/>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20" idx="6"/>
                <a:endCxn id="31" idx="2"/>
              </p:cNvCxnSpPr>
              <p:nvPr/>
            </p:nvCxnSpPr>
            <p:spPr>
              <a:xfrm>
                <a:off x="3178175" y="3301523"/>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21" idx="6"/>
                <a:endCxn id="29" idx="2"/>
              </p:cNvCxnSpPr>
              <p:nvPr/>
            </p:nvCxnSpPr>
            <p:spPr>
              <a:xfrm flipV="1">
                <a:off x="3166542" y="2522953"/>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21" idx="6"/>
                <a:endCxn id="30" idx="2"/>
              </p:cNvCxnSpPr>
              <p:nvPr/>
            </p:nvCxnSpPr>
            <p:spPr>
              <a:xfrm flipV="1">
                <a:off x="3166542" y="3301523"/>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單箭頭接點 52"/>
            <p:cNvCxnSpPr>
              <a:endCxn id="19" idx="2"/>
            </p:cNvCxnSpPr>
            <p:nvPr/>
          </p:nvCxnSpPr>
          <p:spPr>
            <a:xfrm rot="5400000" flipV="1">
              <a:off x="3337870" y="304404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13" idx="3"/>
              <a:endCxn id="20" idx="2"/>
            </p:cNvCxnSpPr>
            <p:nvPr/>
          </p:nvCxnSpPr>
          <p:spPr>
            <a:xfrm rot="5400000">
              <a:off x="2936370" y="269325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13" idx="3"/>
              <a:endCxn id="21" idx="2"/>
            </p:cNvCxnSpPr>
            <p:nvPr/>
          </p:nvCxnSpPr>
          <p:spPr>
            <a:xfrm rot="5400000">
              <a:off x="2328181" y="207343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9" idx="2"/>
            </p:cNvCxnSpPr>
            <p:nvPr/>
          </p:nvCxnSpPr>
          <p:spPr>
            <a:xfrm rot="5400000" flipV="1">
              <a:off x="3067081" y="2773253"/>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a:stCxn id="12" idx="3"/>
              <a:endCxn id="20" idx="2"/>
            </p:cNvCxnSpPr>
            <p:nvPr/>
          </p:nvCxnSpPr>
          <p:spPr>
            <a:xfrm rot="5400000">
              <a:off x="2648297" y="2975514"/>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12" idx="3"/>
              <a:endCxn id="21" idx="2"/>
            </p:cNvCxnSpPr>
            <p:nvPr/>
          </p:nvCxnSpPr>
          <p:spPr>
            <a:xfrm rot="5400000">
              <a:off x="2040107" y="2355691"/>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a:endCxn id="19" idx="2"/>
            </p:cNvCxnSpPr>
            <p:nvPr/>
          </p:nvCxnSpPr>
          <p:spPr>
            <a:xfrm rot="5400000" flipV="1">
              <a:off x="2387237" y="209340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endCxn id="20" idx="2"/>
            </p:cNvCxnSpPr>
            <p:nvPr/>
          </p:nvCxnSpPr>
          <p:spPr>
            <a:xfrm rot="5400000" flipV="1">
              <a:off x="1983624" y="247070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a:endCxn id="21" idx="2"/>
            </p:cNvCxnSpPr>
            <p:nvPr/>
          </p:nvCxnSpPr>
          <p:spPr>
            <a:xfrm rot="5400000">
              <a:off x="1375435" y="3065492"/>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2" name="群組 61"/>
            <p:cNvGrpSpPr/>
            <p:nvPr/>
          </p:nvGrpSpPr>
          <p:grpSpPr>
            <a:xfrm rot="5400000">
              <a:off x="2406327" y="4741168"/>
              <a:ext cx="753037" cy="2013721"/>
              <a:chOff x="5357094" y="2515814"/>
              <a:chExt cx="753037" cy="2013721"/>
            </a:xfrm>
          </p:grpSpPr>
          <p:cxnSp>
            <p:nvCxnSpPr>
              <p:cNvPr id="63" name="直線單箭頭接點 62"/>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6" name="文字方塊 75"/>
          <p:cNvSpPr txBox="1"/>
          <p:nvPr/>
        </p:nvSpPr>
        <p:spPr>
          <a:xfrm rot="10800000">
            <a:off x="3819240" y="6331541"/>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92" name="直線單箭頭接點 91"/>
          <p:cNvCxnSpPr/>
          <p:nvPr/>
        </p:nvCxnSpPr>
        <p:spPr>
          <a:xfrm>
            <a:off x="3839471" y="5741622"/>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4965152" y="5774589"/>
            <a:ext cx="0" cy="4528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flipH="1">
            <a:off x="2878039" y="5465915"/>
            <a:ext cx="2367824" cy="4380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t>Softmax</a:t>
            </a:r>
            <a:endParaRPr lang="zh-TW" altLang="en-US" sz="2400" dirty="0"/>
          </a:p>
        </p:txBody>
      </p:sp>
      <p:sp>
        <p:nvSpPr>
          <p:cNvPr id="96" name="文字方塊 95"/>
          <p:cNvSpPr txBox="1"/>
          <p:nvPr/>
        </p:nvSpPr>
        <p:spPr>
          <a:xfrm>
            <a:off x="2180558" y="3146248"/>
            <a:ext cx="721217" cy="461665"/>
          </a:xfrm>
          <a:prstGeom prst="rect">
            <a:avLst/>
          </a:prstGeom>
          <a:noFill/>
        </p:spPr>
        <p:txBody>
          <a:bodyPr wrap="square" rtlCol="0">
            <a:spAutoFit/>
          </a:bodyPr>
          <a:lstStyle/>
          <a:p>
            <a:r>
              <a:rPr lang="en-US" altLang="zh-TW" sz="2400" dirty="0"/>
              <a:t>500</a:t>
            </a:r>
            <a:endParaRPr lang="zh-TW" altLang="en-US" sz="2400" dirty="0"/>
          </a:p>
        </p:txBody>
      </p:sp>
      <p:sp>
        <p:nvSpPr>
          <p:cNvPr id="97" name="文字方塊 96"/>
          <p:cNvSpPr txBox="1"/>
          <p:nvPr/>
        </p:nvSpPr>
        <p:spPr>
          <a:xfrm>
            <a:off x="2180559" y="4349132"/>
            <a:ext cx="721217" cy="461665"/>
          </a:xfrm>
          <a:prstGeom prst="rect">
            <a:avLst/>
          </a:prstGeom>
          <a:noFill/>
        </p:spPr>
        <p:txBody>
          <a:bodyPr wrap="square" rtlCol="0">
            <a:spAutoFit/>
          </a:bodyPr>
          <a:lstStyle/>
          <a:p>
            <a:r>
              <a:rPr lang="en-US" altLang="zh-TW" sz="2400" dirty="0"/>
              <a:t>500</a:t>
            </a:r>
            <a:endParaRPr lang="zh-TW" altLang="en-US" sz="2400" dirty="0"/>
          </a:p>
        </p:txBody>
      </p:sp>
      <p:pic>
        <p:nvPicPr>
          <p:cNvPr id="98" name="圖片 97"/>
          <p:cNvPicPr>
            <a:picLocks noChangeAspect="1"/>
          </p:cNvPicPr>
          <p:nvPr/>
        </p:nvPicPr>
        <p:blipFill>
          <a:blip r:embed="rId3"/>
          <a:stretch>
            <a:fillRect/>
          </a:stretch>
        </p:blipFill>
        <p:spPr>
          <a:xfrm>
            <a:off x="6180959" y="2219223"/>
            <a:ext cx="2647950" cy="285750"/>
          </a:xfrm>
          <a:prstGeom prst="rect">
            <a:avLst/>
          </a:prstGeom>
        </p:spPr>
      </p:pic>
      <p:pic>
        <p:nvPicPr>
          <p:cNvPr id="100" name="圖片 99"/>
          <p:cNvPicPr>
            <a:picLocks noChangeAspect="1"/>
          </p:cNvPicPr>
          <p:nvPr/>
        </p:nvPicPr>
        <p:blipFill>
          <a:blip r:embed="rId4"/>
          <a:stretch>
            <a:fillRect/>
          </a:stretch>
        </p:blipFill>
        <p:spPr>
          <a:xfrm>
            <a:off x="5373881" y="4300802"/>
            <a:ext cx="4562475" cy="542925"/>
          </a:xfrm>
          <a:prstGeom prst="rect">
            <a:avLst/>
          </a:prstGeom>
        </p:spPr>
      </p:pic>
      <p:pic>
        <p:nvPicPr>
          <p:cNvPr id="102" name="圖片 101"/>
          <p:cNvPicPr>
            <a:picLocks noChangeAspect="1"/>
          </p:cNvPicPr>
          <p:nvPr/>
        </p:nvPicPr>
        <p:blipFill>
          <a:blip r:embed="rId5"/>
          <a:stretch>
            <a:fillRect/>
          </a:stretch>
        </p:blipFill>
        <p:spPr>
          <a:xfrm>
            <a:off x="5373881" y="5504334"/>
            <a:ext cx="4391025" cy="542925"/>
          </a:xfrm>
          <a:prstGeom prst="rect">
            <a:avLst/>
          </a:prstGeom>
        </p:spPr>
      </p:pic>
      <p:sp>
        <p:nvSpPr>
          <p:cNvPr id="104" name="矩形 103"/>
          <p:cNvSpPr/>
          <p:nvPr/>
        </p:nvSpPr>
        <p:spPr>
          <a:xfrm>
            <a:off x="2846052" y="1918222"/>
            <a:ext cx="2420492" cy="171014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矩形 104"/>
          <p:cNvSpPr/>
          <p:nvPr/>
        </p:nvSpPr>
        <p:spPr>
          <a:xfrm>
            <a:off x="2843581" y="3628086"/>
            <a:ext cx="2420492" cy="12268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p:cNvSpPr/>
          <p:nvPr/>
        </p:nvSpPr>
        <p:spPr>
          <a:xfrm>
            <a:off x="2841110" y="4836808"/>
            <a:ext cx="2420492" cy="121045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7" name="圖片 106"/>
          <p:cNvPicPr>
            <a:picLocks noChangeAspect="1"/>
          </p:cNvPicPr>
          <p:nvPr/>
        </p:nvPicPr>
        <p:blipFill>
          <a:blip r:embed="rId6"/>
          <a:stretch>
            <a:fillRect/>
          </a:stretch>
        </p:blipFill>
        <p:spPr>
          <a:xfrm>
            <a:off x="5377592" y="2926833"/>
            <a:ext cx="4524375" cy="742950"/>
          </a:xfrm>
          <a:prstGeom prst="rect">
            <a:avLst/>
          </a:prstGeom>
        </p:spPr>
      </p:pic>
      <p:sp>
        <p:nvSpPr>
          <p:cNvPr id="147" name="文字方塊 146"/>
          <p:cNvSpPr txBox="1"/>
          <p:nvPr/>
        </p:nvSpPr>
        <p:spPr>
          <a:xfrm>
            <a:off x="1814010" y="1966891"/>
            <a:ext cx="1034047" cy="461665"/>
          </a:xfrm>
          <a:prstGeom prst="rect">
            <a:avLst/>
          </a:prstGeom>
          <a:noFill/>
        </p:spPr>
        <p:txBody>
          <a:bodyPr wrap="square" rtlCol="0">
            <a:spAutoFit/>
          </a:bodyPr>
          <a:lstStyle/>
          <a:p>
            <a:r>
              <a:rPr lang="en-US" altLang="zh-TW" sz="2400" dirty="0"/>
              <a:t>28x28</a:t>
            </a:r>
            <a:endParaRPr lang="zh-TW" altLang="en-US" sz="2400" dirty="0"/>
          </a:p>
        </p:txBody>
      </p:sp>
    </p:spTree>
    <p:extLst>
      <p:ext uri="{BB962C8B-B14F-4D97-AF65-F5344CB8AC3E}">
        <p14:creationId xmlns:p14="http://schemas.microsoft.com/office/powerpoint/2010/main" val="188130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animBg="1"/>
      <p:bldP spid="10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3882559" y="330137"/>
            <a:ext cx="6584974" cy="1312280"/>
          </a:xfrm>
          <a:prstGeom prst="rect">
            <a:avLst/>
          </a:prstGeom>
        </p:spPr>
      </p:pic>
      <p:sp>
        <p:nvSpPr>
          <p:cNvPr id="3" name="矩形 2"/>
          <p:cNvSpPr/>
          <p:nvPr/>
        </p:nvSpPr>
        <p:spPr>
          <a:xfrm>
            <a:off x="6248401" y="365126"/>
            <a:ext cx="1805189" cy="123507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4"/>
          <a:stretch>
            <a:fillRect/>
          </a:stretch>
        </p:blipFill>
        <p:spPr>
          <a:xfrm>
            <a:off x="2920753" y="5522152"/>
            <a:ext cx="6655294" cy="1072087"/>
          </a:xfrm>
          <a:prstGeom prst="rect">
            <a:avLst/>
          </a:prstGeom>
        </p:spPr>
      </p:pic>
      <p:cxnSp>
        <p:nvCxnSpPr>
          <p:cNvPr id="8" name="直線接點 7"/>
          <p:cNvCxnSpPr/>
          <p:nvPr/>
        </p:nvCxnSpPr>
        <p:spPr>
          <a:xfrm>
            <a:off x="5467686" y="5911402"/>
            <a:ext cx="1777285"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pic>
        <p:nvPicPr>
          <p:cNvPr id="11" name="圖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6682" y="1964276"/>
            <a:ext cx="7163436" cy="3284289"/>
          </a:xfrm>
          <a:prstGeom prst="rect">
            <a:avLst/>
          </a:prstGeom>
        </p:spPr>
      </p:pic>
      <p:cxnSp>
        <p:nvCxnSpPr>
          <p:cNvPr id="7" name="直線單箭頭接點 6"/>
          <p:cNvCxnSpPr/>
          <p:nvPr/>
        </p:nvCxnSpPr>
        <p:spPr>
          <a:xfrm flipV="1">
            <a:off x="6464300" y="4876802"/>
            <a:ext cx="2082800" cy="77469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61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a:t>
            </a:r>
            <a:endParaRPr lang="zh-TW" altLang="en-US" dirty="0"/>
          </a:p>
        </p:txBody>
      </p:sp>
      <p:pic>
        <p:nvPicPr>
          <p:cNvPr id="4" name="圖片 3"/>
          <p:cNvPicPr>
            <a:picLocks noChangeAspect="1"/>
          </p:cNvPicPr>
          <p:nvPr/>
        </p:nvPicPr>
        <p:blipFill>
          <a:blip r:embed="rId2"/>
          <a:stretch>
            <a:fillRect/>
          </a:stretch>
        </p:blipFill>
        <p:spPr>
          <a:xfrm>
            <a:off x="2395615" y="4644180"/>
            <a:ext cx="7393611" cy="1049338"/>
          </a:xfrm>
          <a:prstGeom prst="rect">
            <a:avLst/>
          </a:prstGeom>
        </p:spPr>
      </p:pic>
      <p:pic>
        <p:nvPicPr>
          <p:cNvPr id="5" name="圖片 4"/>
          <p:cNvPicPr>
            <a:picLocks noChangeAspect="1"/>
          </p:cNvPicPr>
          <p:nvPr/>
        </p:nvPicPr>
        <p:blipFill>
          <a:blip r:embed="rId3"/>
          <a:stretch>
            <a:fillRect/>
          </a:stretch>
        </p:blipFill>
        <p:spPr>
          <a:xfrm>
            <a:off x="2377371" y="2554813"/>
            <a:ext cx="7411855" cy="985044"/>
          </a:xfrm>
          <a:prstGeom prst="rect">
            <a:avLst/>
          </a:prstGeom>
        </p:spPr>
      </p:pic>
      <p:sp>
        <p:nvSpPr>
          <p:cNvPr id="8" name="文字方塊 7"/>
          <p:cNvSpPr txBox="1"/>
          <p:nvPr/>
        </p:nvSpPr>
        <p:spPr>
          <a:xfrm>
            <a:off x="2395614" y="1892063"/>
            <a:ext cx="2851910"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Square Error</a:t>
            </a:r>
            <a:endParaRPr lang="zh-TW" altLang="en-US" sz="2800" dirty="0"/>
          </a:p>
        </p:txBody>
      </p:sp>
      <p:sp>
        <p:nvSpPr>
          <p:cNvPr id="9" name="文字方塊 8"/>
          <p:cNvSpPr txBox="1"/>
          <p:nvPr/>
        </p:nvSpPr>
        <p:spPr>
          <a:xfrm>
            <a:off x="2377370" y="3988912"/>
            <a:ext cx="2870154" cy="523220"/>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800" dirty="0"/>
              <a:t>Cross Entropy</a:t>
            </a:r>
            <a:endParaRPr lang="zh-TW" altLang="en-US" sz="2800" dirty="0"/>
          </a:p>
        </p:txBody>
      </p:sp>
      <p:cxnSp>
        <p:nvCxnSpPr>
          <p:cNvPr id="10" name="直線接點 9"/>
          <p:cNvCxnSpPr/>
          <p:nvPr/>
        </p:nvCxnSpPr>
        <p:spPr>
          <a:xfrm>
            <a:off x="5377398" y="2895284"/>
            <a:ext cx="823779"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5377398" y="5000724"/>
            <a:ext cx="4043229"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995420" y="6116323"/>
            <a:ext cx="4601131" cy="461665"/>
          </a:xfrm>
          <a:prstGeom prst="rect">
            <a:avLst/>
          </a:prstGeom>
        </p:spPr>
        <p:txBody>
          <a:bodyPr wrap="none">
            <a:spAutoFit/>
          </a:bodyPr>
          <a:lstStyle/>
          <a:p>
            <a:r>
              <a:rPr lang="en-US" altLang="zh-TW" sz="2400" dirty="0"/>
              <a:t>Several alternatives</a:t>
            </a:r>
            <a:r>
              <a:rPr lang="en-IN" altLang="zh-TW" sz="2400" dirty="0"/>
              <a:t> in </a:t>
            </a:r>
            <a:r>
              <a:rPr lang="en-IN" altLang="zh-TW" sz="2400" dirty="0" err="1"/>
              <a:t>Keras</a:t>
            </a:r>
            <a:r>
              <a:rPr lang="en-IN" altLang="zh-TW" sz="2400" dirty="0"/>
              <a:t> Library</a:t>
            </a:r>
            <a:endParaRPr lang="zh-TW" altLang="en-US" sz="2400" dirty="0"/>
          </a:p>
        </p:txBody>
      </p:sp>
    </p:spTree>
    <p:extLst>
      <p:ext uri="{BB962C8B-B14F-4D97-AF65-F5344CB8AC3E}">
        <p14:creationId xmlns:p14="http://schemas.microsoft.com/office/powerpoint/2010/main" val="1630408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Choosing Proper Loss</a:t>
            </a:r>
            <a:endParaRPr lang="zh-TW" altLang="en-US" dirty="0"/>
          </a:p>
        </p:txBody>
      </p:sp>
      <p:sp>
        <p:nvSpPr>
          <p:cNvPr id="34" name="矩形 33"/>
          <p:cNvSpPr/>
          <p:nvPr/>
        </p:nvSpPr>
        <p:spPr>
          <a:xfrm>
            <a:off x="7499179" y="2350249"/>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35" name="矩形 34"/>
          <p:cNvSpPr/>
          <p:nvPr/>
        </p:nvSpPr>
        <p:spPr>
          <a:xfrm>
            <a:off x="4341906" y="2337988"/>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0" name="矩形 39"/>
          <p:cNvSpPr/>
          <p:nvPr/>
        </p:nvSpPr>
        <p:spPr>
          <a:xfrm>
            <a:off x="3158804" y="2365629"/>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43" name="直線單箭頭接點 42"/>
          <p:cNvCxnSpPr/>
          <p:nvPr/>
        </p:nvCxnSpPr>
        <p:spPr>
          <a:xfrm>
            <a:off x="6805458" y="3386408"/>
            <a:ext cx="6344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6914774" y="4632298"/>
            <a:ext cx="5251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6781574" y="2607605"/>
            <a:ext cx="6583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3227191" y="308332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47" name="矩形 46"/>
          <p:cNvSpPr/>
          <p:nvPr/>
        </p:nvSpPr>
        <p:spPr>
          <a:xfrm>
            <a:off x="3233009" y="251299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49" name="Object 12"/>
          <p:cNvGraphicFramePr>
            <a:graphicFrameLocks noChangeAspect="1"/>
          </p:cNvGraphicFramePr>
          <p:nvPr/>
        </p:nvGraphicFramePr>
        <p:xfrm>
          <a:off x="3245708" y="2417743"/>
          <a:ext cx="325438" cy="461962"/>
        </p:xfrm>
        <a:graphic>
          <a:graphicData uri="http://schemas.openxmlformats.org/presentationml/2006/ole">
            <mc:AlternateContent xmlns:mc="http://schemas.openxmlformats.org/markup-compatibility/2006">
              <mc:Choice xmlns:v="urn:schemas-microsoft-com:vml" Requires="v">
                <p:oleObj spid="_x0000_s6146" name="方程式" r:id="rId4" imgW="152280" imgH="215640" progId="Equation.3">
                  <p:embed/>
                </p:oleObj>
              </mc:Choice>
              <mc:Fallback>
                <p:oleObj name="方程式" r:id="rId4" imgW="152280" imgH="215640" progId="Equation.3">
                  <p:embed/>
                  <p:pic>
                    <p:nvPicPr>
                      <p:cNvPr id="49" name="Object 12"/>
                      <p:cNvPicPr>
                        <a:picLocks noChangeAspect="1" noChangeArrowheads="1"/>
                      </p:cNvPicPr>
                      <p:nvPr/>
                    </p:nvPicPr>
                    <p:blipFill>
                      <a:blip r:embed="rId5"/>
                      <a:srcRect/>
                      <a:stretch>
                        <a:fillRect/>
                      </a:stretch>
                    </p:blipFill>
                    <p:spPr bwMode="auto">
                      <a:xfrm>
                        <a:off x="3245708" y="2417743"/>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12"/>
          <p:cNvGraphicFramePr>
            <a:graphicFrameLocks noChangeAspect="1"/>
          </p:cNvGraphicFramePr>
          <p:nvPr/>
        </p:nvGraphicFramePr>
        <p:xfrm>
          <a:off x="3251005" y="3000473"/>
          <a:ext cx="352425" cy="461963"/>
        </p:xfrm>
        <a:graphic>
          <a:graphicData uri="http://schemas.openxmlformats.org/presentationml/2006/ole">
            <mc:AlternateContent xmlns:mc="http://schemas.openxmlformats.org/markup-compatibility/2006">
              <mc:Choice xmlns:v="urn:schemas-microsoft-com:vml" Requires="v">
                <p:oleObj spid="_x0000_s6147" name="方程式" r:id="rId6" imgW="164880" imgH="215640" progId="Equation.3">
                  <p:embed/>
                </p:oleObj>
              </mc:Choice>
              <mc:Fallback>
                <p:oleObj name="方程式" r:id="rId6" imgW="164880" imgH="215640" progId="Equation.3">
                  <p:embed/>
                  <p:pic>
                    <p:nvPicPr>
                      <p:cNvPr id="52" name="Object 12"/>
                      <p:cNvPicPr>
                        <a:picLocks noChangeAspect="1" noChangeArrowheads="1"/>
                      </p:cNvPicPr>
                      <p:nvPr/>
                    </p:nvPicPr>
                    <p:blipFill>
                      <a:blip r:embed="rId7"/>
                      <a:srcRect/>
                      <a:stretch>
                        <a:fillRect/>
                      </a:stretch>
                    </p:blipFill>
                    <p:spPr bwMode="auto">
                      <a:xfrm>
                        <a:off x="3251005" y="3000473"/>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橢圓 52"/>
          <p:cNvSpPr/>
          <p:nvPr/>
        </p:nvSpPr>
        <p:spPr>
          <a:xfrm>
            <a:off x="4439016" y="234899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4" name="橢圓 53"/>
          <p:cNvSpPr/>
          <p:nvPr/>
        </p:nvSpPr>
        <p:spPr>
          <a:xfrm>
            <a:off x="4441358" y="312756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5" name="橢圓 54"/>
          <p:cNvSpPr/>
          <p:nvPr/>
        </p:nvSpPr>
        <p:spPr>
          <a:xfrm>
            <a:off x="4429725" y="4355572"/>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6" name="文字方塊 55"/>
          <p:cNvSpPr txBox="1"/>
          <p:nvPr/>
        </p:nvSpPr>
        <p:spPr>
          <a:xfrm rot="5400000">
            <a:off x="4426979" y="377786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9" name="矩形 58"/>
          <p:cNvSpPr/>
          <p:nvPr/>
        </p:nvSpPr>
        <p:spPr>
          <a:xfrm>
            <a:off x="3236716" y="44810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62" name="Object 12"/>
          <p:cNvGraphicFramePr>
            <a:graphicFrameLocks noChangeAspect="1"/>
          </p:cNvGraphicFramePr>
          <p:nvPr/>
        </p:nvGraphicFramePr>
        <p:xfrm>
          <a:off x="3164793" y="4384312"/>
          <a:ext cx="544512" cy="488950"/>
        </p:xfrm>
        <a:graphic>
          <a:graphicData uri="http://schemas.openxmlformats.org/presentationml/2006/ole">
            <mc:AlternateContent xmlns:mc="http://schemas.openxmlformats.org/markup-compatibility/2006">
              <mc:Choice xmlns:v="urn:schemas-microsoft-com:vml" Requires="v">
                <p:oleObj spid="_x0000_s6148" name="方程式" r:id="rId8" imgW="253800" imgH="228600" progId="Equation.3">
                  <p:embed/>
                </p:oleObj>
              </mc:Choice>
              <mc:Fallback>
                <p:oleObj name="方程式" r:id="rId8" imgW="253800" imgH="228600" progId="Equation.3">
                  <p:embed/>
                  <p:pic>
                    <p:nvPicPr>
                      <p:cNvPr id="62" name="Object 12"/>
                      <p:cNvPicPr>
                        <a:picLocks noChangeAspect="1" noChangeArrowheads="1"/>
                      </p:cNvPicPr>
                      <p:nvPr/>
                    </p:nvPicPr>
                    <p:blipFill>
                      <a:blip r:embed="rId9"/>
                      <a:srcRect/>
                      <a:stretch>
                        <a:fillRect/>
                      </a:stretch>
                    </p:blipFill>
                    <p:spPr bwMode="auto">
                      <a:xfrm>
                        <a:off x="3164793" y="4384312"/>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文字方塊 62"/>
          <p:cNvSpPr txBox="1"/>
          <p:nvPr/>
        </p:nvSpPr>
        <p:spPr>
          <a:xfrm rot="5400000">
            <a:off x="3112649" y="376602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2" name="文字方塊 71"/>
          <p:cNvSpPr txBox="1"/>
          <p:nvPr/>
        </p:nvSpPr>
        <p:spPr>
          <a:xfrm>
            <a:off x="5666224" y="229040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3" name="文字方塊 72"/>
          <p:cNvSpPr txBox="1"/>
          <p:nvPr/>
        </p:nvSpPr>
        <p:spPr>
          <a:xfrm>
            <a:off x="5683847" y="307590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74" name="文字方塊 73"/>
          <p:cNvSpPr txBox="1"/>
          <p:nvPr/>
        </p:nvSpPr>
        <p:spPr>
          <a:xfrm>
            <a:off x="5696027" y="4332197"/>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5" name="直線單箭頭接點 74"/>
          <p:cNvCxnSpPr>
            <a:stCxn id="53" idx="6"/>
          </p:cNvCxnSpPr>
          <p:nvPr/>
        </p:nvCxnSpPr>
        <p:spPr>
          <a:xfrm>
            <a:off x="5013174" y="2636069"/>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p:nvPr/>
        </p:nvCxnSpPr>
        <p:spPr>
          <a:xfrm>
            <a:off x="5013174" y="342782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a:off x="5003883" y="464979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54" idx="6"/>
          </p:cNvCxnSpPr>
          <p:nvPr/>
        </p:nvCxnSpPr>
        <p:spPr>
          <a:xfrm flipV="1">
            <a:off x="5015516" y="2636069"/>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stCxn id="53" idx="6"/>
          </p:cNvCxnSpPr>
          <p:nvPr/>
        </p:nvCxnSpPr>
        <p:spPr>
          <a:xfrm>
            <a:off x="5013174" y="2636069"/>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stCxn id="53" idx="6"/>
          </p:cNvCxnSpPr>
          <p:nvPr/>
        </p:nvCxnSpPr>
        <p:spPr>
          <a:xfrm>
            <a:off x="5013175" y="2636069"/>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54" idx="6"/>
          </p:cNvCxnSpPr>
          <p:nvPr/>
        </p:nvCxnSpPr>
        <p:spPr>
          <a:xfrm>
            <a:off x="5015517" y="3414639"/>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5" idx="6"/>
          </p:cNvCxnSpPr>
          <p:nvPr/>
        </p:nvCxnSpPr>
        <p:spPr>
          <a:xfrm flipV="1">
            <a:off x="5003884" y="2636069"/>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55" idx="6"/>
          </p:cNvCxnSpPr>
          <p:nvPr/>
        </p:nvCxnSpPr>
        <p:spPr>
          <a:xfrm flipV="1">
            <a:off x="5003884" y="3414639"/>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endCxn id="53" idx="2"/>
          </p:cNvCxnSpPr>
          <p:nvPr/>
        </p:nvCxnSpPr>
        <p:spPr>
          <a:xfrm flipV="1">
            <a:off x="3579616" y="2636070"/>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a:stCxn id="47" idx="3"/>
            <a:endCxn id="54" idx="2"/>
          </p:cNvCxnSpPr>
          <p:nvPr/>
        </p:nvCxnSpPr>
        <p:spPr>
          <a:xfrm>
            <a:off x="3575910" y="2684443"/>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a:stCxn id="47" idx="3"/>
            <a:endCxn id="55" idx="2"/>
          </p:cNvCxnSpPr>
          <p:nvPr/>
        </p:nvCxnSpPr>
        <p:spPr>
          <a:xfrm>
            <a:off x="3575909" y="2684443"/>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a:stCxn id="52" idx="3"/>
            <a:endCxn id="53" idx="2"/>
          </p:cNvCxnSpPr>
          <p:nvPr/>
        </p:nvCxnSpPr>
        <p:spPr>
          <a:xfrm flipV="1">
            <a:off x="3603430" y="2636069"/>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a:stCxn id="46" idx="3"/>
            <a:endCxn id="54" idx="2"/>
          </p:cNvCxnSpPr>
          <p:nvPr/>
        </p:nvCxnSpPr>
        <p:spPr>
          <a:xfrm>
            <a:off x="3570092" y="3254773"/>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a:stCxn id="46" idx="3"/>
            <a:endCxn id="55" idx="2"/>
          </p:cNvCxnSpPr>
          <p:nvPr/>
        </p:nvCxnSpPr>
        <p:spPr>
          <a:xfrm>
            <a:off x="3570091" y="3254773"/>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a:stCxn id="62" idx="3"/>
            <a:endCxn id="53" idx="2"/>
          </p:cNvCxnSpPr>
          <p:nvPr/>
        </p:nvCxnSpPr>
        <p:spPr>
          <a:xfrm flipV="1">
            <a:off x="3641588" y="2636070"/>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a:stCxn id="62" idx="3"/>
            <a:endCxn id="54" idx="2"/>
          </p:cNvCxnSpPr>
          <p:nvPr/>
        </p:nvCxnSpPr>
        <p:spPr>
          <a:xfrm flipV="1">
            <a:off x="3615220" y="3414639"/>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a:stCxn id="62" idx="3"/>
            <a:endCxn id="55" idx="2"/>
          </p:cNvCxnSpPr>
          <p:nvPr/>
        </p:nvCxnSpPr>
        <p:spPr>
          <a:xfrm>
            <a:off x="3615219" y="4629245"/>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文字方塊 92"/>
          <p:cNvSpPr txBox="1"/>
          <p:nvPr/>
        </p:nvSpPr>
        <p:spPr>
          <a:xfrm rot="5400000">
            <a:off x="7441369" y="385124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4" name="文字方塊 93"/>
          <p:cNvSpPr txBox="1"/>
          <p:nvPr/>
        </p:nvSpPr>
        <p:spPr>
          <a:xfrm>
            <a:off x="7510462" y="2332424"/>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95" name="文字方塊 94"/>
          <p:cNvSpPr txBox="1"/>
          <p:nvPr/>
        </p:nvSpPr>
        <p:spPr>
          <a:xfrm>
            <a:off x="7531560" y="3140733"/>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96" name="文字方塊 95"/>
          <p:cNvSpPr txBox="1"/>
          <p:nvPr/>
        </p:nvSpPr>
        <p:spPr>
          <a:xfrm>
            <a:off x="7499179" y="4396876"/>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sp>
        <p:nvSpPr>
          <p:cNvPr id="9" name="文字方塊 8"/>
          <p:cNvSpPr txBox="1"/>
          <p:nvPr/>
        </p:nvSpPr>
        <p:spPr>
          <a:xfrm>
            <a:off x="4761501" y="3412667"/>
            <a:ext cx="65" cy="276999"/>
          </a:xfrm>
          <a:prstGeom prst="rect">
            <a:avLst/>
          </a:prstGeom>
          <a:noFill/>
        </p:spPr>
        <p:txBody>
          <a:bodyPr wrap="none" lIns="0" tIns="0" rIns="0" bIns="0" rtlCol="0">
            <a:spAutoFit/>
          </a:bodyPr>
          <a:lstStyle/>
          <a:p>
            <a:endParaRPr lang="zh-TW" altLang="en-US" dirty="0"/>
          </a:p>
        </p:txBody>
      </p:sp>
      <p:sp>
        <p:nvSpPr>
          <p:cNvPr id="71" name="文字方塊 70"/>
          <p:cNvSpPr txBox="1"/>
          <p:nvPr/>
        </p:nvSpPr>
        <p:spPr>
          <a:xfrm>
            <a:off x="8306524" y="3948711"/>
            <a:ext cx="1014273"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loss</a:t>
            </a:r>
          </a:p>
        </p:txBody>
      </p:sp>
      <p:pic>
        <p:nvPicPr>
          <p:cNvPr id="102" name="圖片 101"/>
          <p:cNvPicPr preferRelativeResize="0">
            <a:picLocks/>
          </p:cNvPicPr>
          <p:nvPr/>
        </p:nvPicPr>
        <p:blipFill>
          <a:blip r:embed="rId10"/>
          <a:stretch>
            <a:fillRect/>
          </a:stretch>
        </p:blipFill>
        <p:spPr>
          <a:xfrm>
            <a:off x="5414841" y="1390723"/>
            <a:ext cx="720000" cy="720000"/>
          </a:xfrm>
          <a:prstGeom prst="rect">
            <a:avLst/>
          </a:prstGeom>
          <a:ln w="38100">
            <a:solidFill>
              <a:schemeClr val="tx1"/>
            </a:solidFill>
          </a:ln>
        </p:spPr>
      </p:pic>
      <p:sp>
        <p:nvSpPr>
          <p:cNvPr id="103" name="文字方塊 102"/>
          <p:cNvSpPr txBox="1"/>
          <p:nvPr/>
        </p:nvSpPr>
        <p:spPr>
          <a:xfrm>
            <a:off x="6217568" y="1479784"/>
            <a:ext cx="654853" cy="523220"/>
          </a:xfrm>
          <a:prstGeom prst="rect">
            <a:avLst/>
          </a:prstGeom>
          <a:noFill/>
        </p:spPr>
        <p:txBody>
          <a:bodyPr wrap="square" rtlCol="0">
            <a:spAutoFit/>
          </a:bodyPr>
          <a:lstStyle/>
          <a:p>
            <a:r>
              <a:rPr lang="en-US" altLang="zh-TW" sz="2800" dirty="0"/>
              <a:t>“1”</a:t>
            </a:r>
            <a:endParaRPr lang="zh-TW" altLang="en-US" sz="2800" dirty="0"/>
          </a:p>
        </p:txBody>
      </p:sp>
      <p:pic>
        <p:nvPicPr>
          <p:cNvPr id="108" name="圖片 107"/>
          <p:cNvPicPr preferRelativeResize="0">
            <a:picLocks/>
          </p:cNvPicPr>
          <p:nvPr/>
        </p:nvPicPr>
        <p:blipFill>
          <a:blip r:embed="rId10"/>
          <a:stretch>
            <a:fillRect/>
          </a:stretch>
        </p:blipFill>
        <p:spPr>
          <a:xfrm>
            <a:off x="2141004" y="3341718"/>
            <a:ext cx="720000" cy="720000"/>
          </a:xfrm>
          <a:prstGeom prst="rect">
            <a:avLst/>
          </a:prstGeom>
          <a:ln w="38100">
            <a:solidFill>
              <a:schemeClr val="tx1"/>
            </a:solidFill>
          </a:ln>
        </p:spPr>
      </p:pic>
      <p:sp>
        <p:nvSpPr>
          <p:cNvPr id="110" name="矩形 109"/>
          <p:cNvSpPr/>
          <p:nvPr/>
        </p:nvSpPr>
        <p:spPr>
          <a:xfrm>
            <a:off x="9601385" y="2365629"/>
            <a:ext cx="498951" cy="262505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11" name="文字方塊 110"/>
          <p:cNvSpPr txBox="1"/>
          <p:nvPr/>
        </p:nvSpPr>
        <p:spPr>
          <a:xfrm rot="5400000">
            <a:off x="10049196" y="380010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12" name="文字方塊 111"/>
          <p:cNvSpPr txBox="1"/>
          <p:nvPr/>
        </p:nvSpPr>
        <p:spPr>
          <a:xfrm>
            <a:off x="10039351" y="2334572"/>
            <a:ext cx="631069" cy="523220"/>
          </a:xfrm>
          <a:prstGeom prst="rect">
            <a:avLst/>
          </a:prstGeom>
          <a:noFill/>
        </p:spPr>
        <p:txBody>
          <a:bodyPr wrap="square" rtlCol="0">
            <a:spAutoFit/>
          </a:bodyPr>
          <a:lstStyle/>
          <a:p>
            <a:pPr algn="ctr"/>
            <a:r>
              <a:rPr lang="en-US" altLang="zh-TW" sz="2800" dirty="0"/>
              <a:t>1</a:t>
            </a:r>
            <a:endParaRPr lang="zh-TW" altLang="en-US" sz="2800" baseline="-25000" dirty="0"/>
          </a:p>
        </p:txBody>
      </p:sp>
      <p:sp>
        <p:nvSpPr>
          <p:cNvPr id="113" name="文字方塊 112"/>
          <p:cNvSpPr txBox="1"/>
          <p:nvPr/>
        </p:nvSpPr>
        <p:spPr>
          <a:xfrm>
            <a:off x="10039351" y="3134698"/>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14" name="文字方塊 113"/>
          <p:cNvSpPr txBox="1"/>
          <p:nvPr/>
        </p:nvSpPr>
        <p:spPr>
          <a:xfrm>
            <a:off x="10023745" y="4424104"/>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15" name="左-右雙向箭號 114"/>
          <p:cNvSpPr/>
          <p:nvPr/>
        </p:nvSpPr>
        <p:spPr>
          <a:xfrm>
            <a:off x="8220372" y="3748108"/>
            <a:ext cx="1187596" cy="33487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15" name="直線接點 14"/>
          <p:cNvCxnSpPr/>
          <p:nvPr/>
        </p:nvCxnSpPr>
        <p:spPr>
          <a:xfrm flipH="1">
            <a:off x="2511423" y="1718124"/>
            <a:ext cx="27286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flipH="1">
            <a:off x="6872420" y="1741394"/>
            <a:ext cx="2987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2501004" y="1750723"/>
            <a:ext cx="0" cy="14807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a:off x="9859716" y="1750724"/>
            <a:ext cx="0" cy="5817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6340530" y="234841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9" name="橢圓 98"/>
          <p:cNvSpPr/>
          <p:nvPr/>
        </p:nvSpPr>
        <p:spPr>
          <a:xfrm>
            <a:off x="6416374" y="2340310"/>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4" name="橢圓 103"/>
          <p:cNvSpPr/>
          <p:nvPr/>
        </p:nvSpPr>
        <p:spPr>
          <a:xfrm>
            <a:off x="6418716" y="310021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5" name="橢圓 104"/>
          <p:cNvSpPr/>
          <p:nvPr/>
        </p:nvSpPr>
        <p:spPr>
          <a:xfrm>
            <a:off x="6425744" y="4346892"/>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6" name="文字方塊 105"/>
          <p:cNvSpPr txBox="1"/>
          <p:nvPr/>
        </p:nvSpPr>
        <p:spPr>
          <a:xfrm rot="5400000">
            <a:off x="6422998" y="376602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 name="矩形 2"/>
          <p:cNvSpPr/>
          <p:nvPr/>
        </p:nvSpPr>
        <p:spPr>
          <a:xfrm>
            <a:off x="9394784" y="5058186"/>
            <a:ext cx="930639" cy="46166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sz="2400" dirty="0"/>
              <a:t>target</a:t>
            </a:r>
            <a:endParaRPr lang="zh-TW" altLang="en-US" sz="2400" dirty="0"/>
          </a:p>
        </p:txBody>
      </p:sp>
      <p:sp>
        <p:nvSpPr>
          <p:cNvPr id="4" name="矩形 3"/>
          <p:cNvSpPr/>
          <p:nvPr/>
        </p:nvSpPr>
        <p:spPr>
          <a:xfrm rot="5400000">
            <a:off x="5376140" y="3312510"/>
            <a:ext cx="2691859" cy="70053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err="1"/>
              <a:t>Softmax</a:t>
            </a:r>
            <a:endParaRPr lang="zh-TW" altLang="en-US" sz="2400" dirty="0"/>
          </a:p>
        </p:txBody>
      </p:sp>
      <mc:AlternateContent xmlns:mc="http://schemas.openxmlformats.org/markup-compatibility/2006" xmlns:a14="http://schemas.microsoft.com/office/drawing/2010/main">
        <mc:Choice Requires="a14">
          <p:sp>
            <p:nvSpPr>
              <p:cNvPr id="70" name="文字方塊 69"/>
              <p:cNvSpPr txBox="1"/>
              <p:nvPr/>
            </p:nvSpPr>
            <p:spPr>
              <a:xfrm>
                <a:off x="3497277" y="5251610"/>
                <a:ext cx="2059475" cy="1211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zh-TW" altLang="en-US" sz="2800" i="1">
                              <a:latin typeface="Cambria Math" panose="02040503050406030204" pitchFamily="18" charset="0"/>
                            </a:rPr>
                          </m:ctrlPr>
                        </m:naryPr>
                        <m:sub>
                          <m:r>
                            <m:rPr>
                              <m:brk m:alnAt="23"/>
                            </m:rPr>
                            <a:rPr lang="en-US" altLang="zh-TW" sz="2800" i="1">
                              <a:latin typeface="Cambria Math" panose="02040503050406030204" pitchFamily="18" charset="0"/>
                            </a:rPr>
                            <m:t>𝑖</m:t>
                          </m:r>
                          <m:r>
                            <a:rPr lang="en-US" altLang="zh-TW" sz="2800" i="1">
                              <a:latin typeface="Cambria Math" panose="02040503050406030204" pitchFamily="18" charset="0"/>
                            </a:rPr>
                            <m:t>=1</m:t>
                          </m:r>
                        </m:sub>
                        <m:sup>
                          <m:r>
                            <a:rPr lang="en-US" altLang="zh-TW" sz="2800" i="1">
                              <a:latin typeface="Cambria Math" panose="02040503050406030204" pitchFamily="18" charset="0"/>
                            </a:rPr>
                            <m:t>10</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r>
                                    <a:rPr lang="en-US" altLang="zh-TW" sz="2800" i="1">
                                      <a:latin typeface="Cambria Math" panose="02040503050406030204" pitchFamily="18" charset="0"/>
                                    </a:rPr>
                                    <m:t>−</m:t>
                                  </m:r>
                                  <m:acc>
                                    <m:accPr>
                                      <m:chr m:val="̂"/>
                                      <m:ctrlPr>
                                        <a:rPr lang="en-US" altLang="zh-TW" sz="2800" i="1">
                                          <a:latin typeface="Cambria Math" panose="02040503050406030204" pitchFamily="18" charset="0"/>
                                        </a:rPr>
                                      </m:ctrlPr>
                                    </m:acc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acc>
                                </m:e>
                              </m:d>
                            </m:e>
                            <m:sup>
                              <m:r>
                                <a:rPr lang="en-US" altLang="zh-TW" sz="2800" i="1">
                                  <a:latin typeface="Cambria Math" panose="02040503050406030204" pitchFamily="18" charset="0"/>
                                </a:rPr>
                                <m:t>2</m:t>
                              </m:r>
                            </m:sup>
                          </m:sSup>
                        </m:e>
                      </m:nary>
                    </m:oMath>
                  </m:oMathPara>
                </a14:m>
                <a:endParaRPr lang="zh-TW" altLang="en-US" sz="28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3497277" y="5251610"/>
                <a:ext cx="2059475" cy="1211294"/>
              </a:xfrm>
              <a:prstGeom prst="rect">
                <a:avLst/>
              </a:prstGeom>
              <a:blipFill>
                <a:blip r:embed="rId11"/>
                <a:stretch>
                  <a:fillRect/>
                </a:stretch>
              </a:blipFill>
            </p:spPr>
            <p:txBody>
              <a:bodyPr/>
              <a:lstStyle/>
              <a:p>
                <a:r>
                  <a:rPr lang="en-IN">
                    <a:noFill/>
                  </a:rPr>
                  <a:t> </a:t>
                </a:r>
              </a:p>
            </p:txBody>
          </p:sp>
        </mc:Fallback>
      </mc:AlternateContent>
      <p:sp>
        <p:nvSpPr>
          <p:cNvPr id="97" name="文字方塊 96"/>
          <p:cNvSpPr txBox="1"/>
          <p:nvPr/>
        </p:nvSpPr>
        <p:spPr>
          <a:xfrm>
            <a:off x="2141004" y="5415854"/>
            <a:ext cx="1219136"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Square </a:t>
            </a:r>
          </a:p>
          <a:p>
            <a:pPr algn="ctr"/>
            <a:r>
              <a:rPr lang="en-US" altLang="zh-TW" sz="2400" dirty="0"/>
              <a:t>Error</a:t>
            </a:r>
            <a:endParaRPr lang="zh-TW" altLang="en-US" sz="2400" dirty="0"/>
          </a:p>
        </p:txBody>
      </p:sp>
      <p:sp>
        <p:nvSpPr>
          <p:cNvPr id="100" name="文字方塊 99"/>
          <p:cNvSpPr txBox="1"/>
          <p:nvPr/>
        </p:nvSpPr>
        <p:spPr>
          <a:xfrm>
            <a:off x="5841169" y="5443591"/>
            <a:ext cx="1248228" cy="83099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400" dirty="0"/>
              <a:t>Cross Entropy</a:t>
            </a:r>
            <a:endParaRPr lang="zh-TW" altLang="en-US" sz="2400" dirty="0"/>
          </a:p>
        </p:txBody>
      </p:sp>
      <mc:AlternateContent xmlns:mc="http://schemas.openxmlformats.org/markup-compatibility/2006" xmlns:a14="http://schemas.microsoft.com/office/drawing/2010/main">
        <mc:Choice Requires="a14">
          <p:sp>
            <p:nvSpPr>
              <p:cNvPr id="101" name="文字方塊 100"/>
              <p:cNvSpPr txBox="1"/>
              <p:nvPr/>
            </p:nvSpPr>
            <p:spPr>
              <a:xfrm>
                <a:off x="7134095" y="5263602"/>
                <a:ext cx="1881156" cy="1211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m:t>
                      </m:r>
                      <m:nary>
                        <m:naryPr>
                          <m:chr m:val="∑"/>
                          <m:ctrlPr>
                            <a:rPr lang="zh-TW" altLang="en-US" sz="2800" i="1">
                              <a:latin typeface="Cambria Math" panose="02040503050406030204" pitchFamily="18" charset="0"/>
                            </a:rPr>
                          </m:ctrlPr>
                        </m:naryPr>
                        <m:sub>
                          <m:r>
                            <m:rPr>
                              <m:brk m:alnAt="23"/>
                            </m:rPr>
                            <a:rPr lang="en-US" altLang="zh-TW" sz="2800" i="1">
                              <a:latin typeface="Cambria Math" panose="02040503050406030204" pitchFamily="18" charset="0"/>
                            </a:rPr>
                            <m:t>𝑖</m:t>
                          </m:r>
                          <m:r>
                            <a:rPr lang="en-US" altLang="zh-TW" sz="2800" i="1">
                              <a:latin typeface="Cambria Math" panose="02040503050406030204" pitchFamily="18" charset="0"/>
                            </a:rPr>
                            <m:t>=1</m:t>
                          </m:r>
                        </m:sub>
                        <m:sup>
                          <m:r>
                            <a:rPr lang="en-US" altLang="zh-TW" sz="2800" i="1">
                              <a:latin typeface="Cambria Math" panose="02040503050406030204" pitchFamily="18" charset="0"/>
                            </a:rPr>
                            <m:t>10</m:t>
                          </m:r>
                        </m:sup>
                        <m:e>
                          <m:acc>
                            <m:accPr>
                              <m:chr m:val="̂"/>
                              <m:ctrlPr>
                                <a:rPr lang="en-US" altLang="zh-TW" sz="2800" i="1">
                                  <a:latin typeface="Cambria Math" panose="02040503050406030204" pitchFamily="18" charset="0"/>
                                </a:rPr>
                              </m:ctrlPr>
                            </m:acc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acc>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nary>
                    </m:oMath>
                  </m:oMathPara>
                </a14:m>
                <a:endParaRPr lang="zh-TW" altLang="en-US" sz="2800"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7134095" y="5263602"/>
                <a:ext cx="1881156" cy="1211294"/>
              </a:xfrm>
              <a:prstGeom prst="rect">
                <a:avLst/>
              </a:prstGeom>
              <a:blipFill>
                <a:blip r:embed="rId12"/>
                <a:stretch>
                  <a:fillRect/>
                </a:stretch>
              </a:blipFill>
            </p:spPr>
            <p:txBody>
              <a:bodyPr/>
              <a:lstStyle/>
              <a:p>
                <a:r>
                  <a:rPr lang="en-IN">
                    <a:noFill/>
                  </a:rPr>
                  <a:t> </a:t>
                </a:r>
              </a:p>
            </p:txBody>
          </p:sp>
        </mc:Fallback>
      </mc:AlternateContent>
      <p:sp>
        <p:nvSpPr>
          <p:cNvPr id="107" name="文字方塊 106"/>
          <p:cNvSpPr txBox="1"/>
          <p:nvPr/>
        </p:nvSpPr>
        <p:spPr>
          <a:xfrm>
            <a:off x="2083183" y="4654194"/>
            <a:ext cx="5209843"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800" dirty="0">
                <a:solidFill>
                  <a:schemeClr val="bg1"/>
                </a:solidFill>
              </a:rPr>
              <a:t>Which one is better?</a:t>
            </a:r>
            <a:endParaRPr lang="zh-TW" altLang="en-US" sz="2800" dirty="0">
              <a:solidFill>
                <a:schemeClr val="bg1"/>
              </a:solidFill>
            </a:endParaRPr>
          </a:p>
        </p:txBody>
      </p:sp>
      <mc:AlternateContent xmlns:mc="http://schemas.openxmlformats.org/markup-compatibility/2006" xmlns:a14="http://schemas.microsoft.com/office/drawing/2010/main">
        <mc:Choice Requires="a14">
          <p:sp>
            <p:nvSpPr>
              <p:cNvPr id="5" name="文字方塊 4"/>
              <p:cNvSpPr txBox="1"/>
              <p:nvPr/>
            </p:nvSpPr>
            <p:spPr>
              <a:xfrm>
                <a:off x="9705920" y="2416335"/>
                <a:ext cx="36663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b>
                          <m:r>
                            <a:rPr lang="en-US" altLang="zh-TW" sz="2400" i="1">
                              <a:latin typeface="Cambria Math" panose="02040503050406030204" pitchFamily="18" charset="0"/>
                            </a:rPr>
                            <m:t>1</m:t>
                          </m:r>
                        </m:sub>
                      </m:sSub>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9705920" y="2416335"/>
                <a:ext cx="366639" cy="369332"/>
              </a:xfrm>
              <a:prstGeom prst="rect">
                <a:avLst/>
              </a:prstGeom>
              <a:blipFill>
                <a:blip r:embed="rId13"/>
                <a:stretch>
                  <a:fillRect l="-20000" t="-16393" r="-53333"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文字方塊 108"/>
              <p:cNvSpPr txBox="1"/>
              <p:nvPr/>
            </p:nvSpPr>
            <p:spPr>
              <a:xfrm>
                <a:off x="9705562" y="3181833"/>
                <a:ext cx="37375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b>
                          <m:r>
                            <a:rPr lang="en-US" altLang="zh-TW" sz="2400" i="1">
                              <a:latin typeface="Cambria Math" panose="02040503050406030204" pitchFamily="18" charset="0"/>
                            </a:rPr>
                            <m:t>2</m:t>
                          </m:r>
                        </m:sub>
                      </m:sSub>
                    </m:oMath>
                  </m:oMathPara>
                </a14:m>
                <a:endParaRPr lang="zh-TW" altLang="en-US" sz="2400" dirty="0"/>
              </a:p>
            </p:txBody>
          </p:sp>
        </mc:Choice>
        <mc:Fallback xmlns="">
          <p:sp>
            <p:nvSpPr>
              <p:cNvPr id="109" name="文字方塊 108"/>
              <p:cNvSpPr txBox="1">
                <a:spLocks noRot="1" noChangeAspect="1" noMove="1" noResize="1" noEditPoints="1" noAdjustHandles="1" noChangeArrowheads="1" noChangeShapeType="1" noTextEdit="1"/>
              </p:cNvSpPr>
              <p:nvPr/>
            </p:nvSpPr>
            <p:spPr>
              <a:xfrm>
                <a:off x="9705562" y="3181833"/>
                <a:ext cx="373757" cy="369332"/>
              </a:xfrm>
              <a:prstGeom prst="rect">
                <a:avLst/>
              </a:prstGeom>
              <a:blipFill>
                <a:blip r:embed="rId14"/>
                <a:stretch>
                  <a:fillRect l="-19672" t="-18033" r="-52459"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文字方塊 118"/>
              <p:cNvSpPr txBox="1"/>
              <p:nvPr/>
            </p:nvSpPr>
            <p:spPr>
              <a:xfrm>
                <a:off x="9690863" y="4503930"/>
                <a:ext cx="4964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b>
                          <m:r>
                            <a:rPr lang="en-US" altLang="zh-TW" sz="2400" i="1">
                              <a:latin typeface="Cambria Math" panose="02040503050406030204" pitchFamily="18" charset="0"/>
                            </a:rPr>
                            <m:t>10</m:t>
                          </m:r>
                        </m:sub>
                      </m:sSub>
                    </m:oMath>
                  </m:oMathPara>
                </a14:m>
                <a:endParaRPr lang="zh-TW" altLang="en-US" sz="2400" dirty="0"/>
              </a:p>
            </p:txBody>
          </p:sp>
        </mc:Choice>
        <mc:Fallback xmlns="">
          <p:sp>
            <p:nvSpPr>
              <p:cNvPr id="119" name="文字方塊 118"/>
              <p:cNvSpPr txBox="1">
                <a:spLocks noRot="1" noChangeAspect="1" noMove="1" noResize="1" noEditPoints="1" noAdjustHandles="1" noChangeArrowheads="1" noChangeShapeType="1" noTextEdit="1"/>
              </p:cNvSpPr>
              <p:nvPr/>
            </p:nvSpPr>
            <p:spPr>
              <a:xfrm>
                <a:off x="9690863" y="4503930"/>
                <a:ext cx="496483" cy="369332"/>
              </a:xfrm>
              <a:prstGeom prst="rect">
                <a:avLst/>
              </a:prstGeom>
              <a:blipFill>
                <a:blip r:embed="rId15"/>
                <a:stretch>
                  <a:fillRect l="-14815" t="-18333" r="-38272" b="-26667"/>
                </a:stretch>
              </a:blipFill>
            </p:spPr>
            <p:txBody>
              <a:bodyPr/>
              <a:lstStyle/>
              <a:p>
                <a:r>
                  <a:rPr lang="en-IN">
                    <a:noFill/>
                  </a:rPr>
                  <a:t> </a:t>
                </a:r>
              </a:p>
            </p:txBody>
          </p:sp>
        </mc:Fallback>
      </mc:AlternateContent>
      <p:sp>
        <p:nvSpPr>
          <p:cNvPr id="120" name="文字方塊 119"/>
          <p:cNvSpPr txBox="1"/>
          <p:nvPr/>
        </p:nvSpPr>
        <p:spPr>
          <a:xfrm rot="5400000">
            <a:off x="9603177" y="380010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24" name="文字方塊 123"/>
          <p:cNvSpPr txBox="1"/>
          <p:nvPr/>
        </p:nvSpPr>
        <p:spPr>
          <a:xfrm>
            <a:off x="7934496" y="2389745"/>
            <a:ext cx="631069" cy="523220"/>
          </a:xfrm>
          <a:prstGeom prst="rect">
            <a:avLst/>
          </a:prstGeom>
          <a:noFill/>
        </p:spPr>
        <p:txBody>
          <a:bodyPr wrap="square" rtlCol="0">
            <a:spAutoFit/>
          </a:bodyPr>
          <a:lstStyle/>
          <a:p>
            <a:pPr algn="ctr"/>
            <a:r>
              <a:rPr lang="en-US" altLang="zh-TW" sz="2800" dirty="0"/>
              <a:t>1</a:t>
            </a:r>
            <a:endParaRPr lang="zh-TW" altLang="en-US" sz="2800" baseline="-25000" dirty="0"/>
          </a:p>
        </p:txBody>
      </p:sp>
      <p:sp>
        <p:nvSpPr>
          <p:cNvPr id="125" name="文字方塊 124"/>
          <p:cNvSpPr txBox="1"/>
          <p:nvPr/>
        </p:nvSpPr>
        <p:spPr>
          <a:xfrm>
            <a:off x="7934496" y="3189871"/>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126" name="文字方塊 125"/>
          <p:cNvSpPr txBox="1"/>
          <p:nvPr/>
        </p:nvSpPr>
        <p:spPr>
          <a:xfrm>
            <a:off x="7918890" y="4479277"/>
            <a:ext cx="631069" cy="523220"/>
          </a:xfrm>
          <a:prstGeom prst="rect">
            <a:avLst/>
          </a:prstGeom>
          <a:noFill/>
        </p:spPr>
        <p:txBody>
          <a:bodyPr wrap="square" rtlCol="0">
            <a:spAutoFit/>
          </a:bodyPr>
          <a:lstStyle/>
          <a:p>
            <a:pPr algn="ctr"/>
            <a:r>
              <a:rPr lang="en-US" altLang="zh-TW" sz="2800" dirty="0"/>
              <a:t>0</a:t>
            </a:r>
            <a:endParaRPr lang="zh-TW" altLang="en-US" sz="2800" baseline="-25000" dirty="0"/>
          </a:p>
        </p:txBody>
      </p:sp>
      <p:sp>
        <p:nvSpPr>
          <p:cNvPr id="6" name="文字方塊 5"/>
          <p:cNvSpPr txBox="1"/>
          <p:nvPr/>
        </p:nvSpPr>
        <p:spPr>
          <a:xfrm>
            <a:off x="4761501" y="6139476"/>
            <a:ext cx="795251" cy="523220"/>
          </a:xfrm>
          <a:prstGeom prst="rect">
            <a:avLst/>
          </a:prstGeom>
          <a:noFill/>
        </p:spPr>
        <p:txBody>
          <a:bodyPr wrap="square" rtlCol="0">
            <a:spAutoFit/>
          </a:bodyPr>
          <a:lstStyle/>
          <a:p>
            <a:pPr algn="ctr"/>
            <a:r>
              <a:rPr lang="en-US" altLang="zh-TW" sz="2800" b="1" dirty="0">
                <a:solidFill>
                  <a:srgbClr val="FF0000"/>
                </a:solidFill>
              </a:rPr>
              <a:t>=0</a:t>
            </a:r>
            <a:endParaRPr lang="zh-TW" altLang="en-US" sz="2800" b="1" dirty="0">
              <a:solidFill>
                <a:srgbClr val="FF0000"/>
              </a:solidFill>
            </a:endParaRPr>
          </a:p>
        </p:txBody>
      </p:sp>
      <p:sp>
        <p:nvSpPr>
          <p:cNvPr id="127" name="文字方塊 126"/>
          <p:cNvSpPr txBox="1"/>
          <p:nvPr/>
        </p:nvSpPr>
        <p:spPr>
          <a:xfrm>
            <a:off x="8599533" y="6139476"/>
            <a:ext cx="795251" cy="523220"/>
          </a:xfrm>
          <a:prstGeom prst="rect">
            <a:avLst/>
          </a:prstGeom>
          <a:noFill/>
        </p:spPr>
        <p:txBody>
          <a:bodyPr wrap="square" rtlCol="0">
            <a:spAutoFit/>
          </a:bodyPr>
          <a:lstStyle/>
          <a:p>
            <a:pPr algn="ctr"/>
            <a:r>
              <a:rPr lang="en-US" altLang="zh-TW" sz="2800" b="1" dirty="0">
                <a:solidFill>
                  <a:srgbClr val="FF0000"/>
                </a:solidFill>
              </a:rPr>
              <a:t>=0</a:t>
            </a:r>
            <a:endParaRPr lang="zh-TW" altLang="en-US" sz="2800" b="1" dirty="0">
              <a:solidFill>
                <a:srgbClr val="FF0000"/>
              </a:solidFill>
            </a:endParaRPr>
          </a:p>
        </p:txBody>
      </p:sp>
    </p:spTree>
    <p:extLst>
      <p:ext uri="{BB962C8B-B14F-4D97-AF65-F5344CB8AC3E}">
        <p14:creationId xmlns:p14="http://schemas.microsoft.com/office/powerpoint/2010/main" val="126726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2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103" grpId="0"/>
      <p:bldP spid="110" grpId="0" animBg="1"/>
      <p:bldP spid="111" grpId="0"/>
      <p:bldP spid="112" grpId="0"/>
      <p:bldP spid="113" grpId="0"/>
      <p:bldP spid="114" grpId="0"/>
      <p:bldP spid="115" grpId="0" animBg="1"/>
      <p:bldP spid="3" grpId="0" animBg="1"/>
      <p:bldP spid="70" grpId="0"/>
      <p:bldP spid="97" grpId="0" animBg="1"/>
      <p:bldP spid="100" grpId="0" animBg="1"/>
      <p:bldP spid="101" grpId="0"/>
      <p:bldP spid="107" grpId="0" animBg="1"/>
      <p:bldP spid="5" grpId="0"/>
      <p:bldP spid="109" grpId="0"/>
      <p:bldP spid="119" grpId="0"/>
      <p:bldP spid="120" grpId="0"/>
      <p:bldP spid="124" grpId="0"/>
      <p:bldP spid="125" grpId="0"/>
      <p:bldP spid="126" grpId="0"/>
      <p:bldP spid="6" grpId="0"/>
      <p:bldP spid="1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Choosing Proper Loss</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4188" y="2123994"/>
            <a:ext cx="5881177" cy="4351338"/>
          </a:xfrm>
        </p:spPr>
      </p:pic>
      <p:sp>
        <p:nvSpPr>
          <p:cNvPr id="5" name="文字方塊 4"/>
          <p:cNvSpPr txBox="1"/>
          <p:nvPr/>
        </p:nvSpPr>
        <p:spPr>
          <a:xfrm>
            <a:off x="3275967" y="3868708"/>
            <a:ext cx="1002761" cy="830997"/>
          </a:xfrm>
          <a:prstGeom prst="rect">
            <a:avLst/>
          </a:prstGeom>
          <a:noFill/>
        </p:spPr>
        <p:txBody>
          <a:bodyPr wrap="square" rtlCol="0">
            <a:spAutoFit/>
          </a:bodyPr>
          <a:lstStyle/>
          <a:p>
            <a:pPr algn="ctr"/>
            <a:r>
              <a:rPr lang="en-US" altLang="zh-TW" sz="2400" dirty="0"/>
              <a:t>Total </a:t>
            </a:r>
          </a:p>
          <a:p>
            <a:pPr algn="ctr"/>
            <a:r>
              <a:rPr lang="en-US" altLang="zh-TW" sz="2400" dirty="0"/>
              <a:t>Loss</a:t>
            </a:r>
            <a:endParaRPr lang="zh-TW" altLang="en-US" sz="2400" dirty="0"/>
          </a:p>
        </p:txBody>
      </p:sp>
      <p:sp>
        <p:nvSpPr>
          <p:cNvPr id="6" name="文字方塊 5"/>
          <p:cNvSpPr txBox="1"/>
          <p:nvPr/>
        </p:nvSpPr>
        <p:spPr>
          <a:xfrm>
            <a:off x="5373417" y="6113453"/>
            <a:ext cx="1002761"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7" name="文字方塊 6"/>
          <p:cNvSpPr txBox="1"/>
          <p:nvPr/>
        </p:nvSpPr>
        <p:spPr>
          <a:xfrm>
            <a:off x="8617360" y="6013668"/>
            <a:ext cx="1002761"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sp>
        <p:nvSpPr>
          <p:cNvPr id="8" name="文字方塊 7"/>
          <p:cNvSpPr txBox="1"/>
          <p:nvPr/>
        </p:nvSpPr>
        <p:spPr>
          <a:xfrm>
            <a:off x="5965207" y="2753154"/>
            <a:ext cx="1248228" cy="83099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400" dirty="0"/>
              <a:t>Cross Entropy</a:t>
            </a:r>
            <a:endParaRPr lang="zh-TW" altLang="en-US" sz="2400" dirty="0"/>
          </a:p>
        </p:txBody>
      </p:sp>
      <p:sp>
        <p:nvSpPr>
          <p:cNvPr id="9" name="文字方塊 8"/>
          <p:cNvSpPr txBox="1"/>
          <p:nvPr/>
        </p:nvSpPr>
        <p:spPr>
          <a:xfrm>
            <a:off x="9125464" y="4749366"/>
            <a:ext cx="1211541"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Square</a:t>
            </a:r>
          </a:p>
          <a:p>
            <a:pPr algn="ctr"/>
            <a:r>
              <a:rPr lang="en-US" altLang="zh-TW" sz="2400" dirty="0"/>
              <a:t>Error</a:t>
            </a:r>
            <a:endParaRPr lang="zh-TW" altLang="en-US" sz="2400" dirty="0"/>
          </a:p>
        </p:txBody>
      </p:sp>
      <p:sp>
        <p:nvSpPr>
          <p:cNvPr id="10" name="橢圓 9"/>
          <p:cNvSpPr/>
          <p:nvPr/>
        </p:nvSpPr>
        <p:spPr>
          <a:xfrm>
            <a:off x="4823786" y="3598983"/>
            <a:ext cx="203200" cy="203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1" name="橢圓 10"/>
          <p:cNvSpPr/>
          <p:nvPr/>
        </p:nvSpPr>
        <p:spPr>
          <a:xfrm>
            <a:off x="4829596" y="5327501"/>
            <a:ext cx="203200" cy="203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13" name="直線單箭頭接點 12"/>
          <p:cNvCxnSpPr/>
          <p:nvPr/>
        </p:nvCxnSpPr>
        <p:spPr>
          <a:xfrm>
            <a:off x="4990970" y="3753692"/>
            <a:ext cx="514481" cy="58335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V="1">
            <a:off x="5034072" y="5356297"/>
            <a:ext cx="172928" cy="582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2058901" y="1808523"/>
            <a:ext cx="5095875" cy="954107"/>
          </a:xfrm>
          <a:prstGeom prst="rect">
            <a:avLst/>
          </a:prstGeom>
          <a:noFill/>
        </p:spPr>
        <p:txBody>
          <a:bodyPr wrap="square" rtlCol="0">
            <a:spAutoFit/>
          </a:bodyPr>
          <a:lstStyle/>
          <a:p>
            <a:r>
              <a:rPr lang="en-US" altLang="zh-TW" sz="2800" dirty="0"/>
              <a:t>When using </a:t>
            </a:r>
            <a:r>
              <a:rPr lang="en-US" altLang="zh-TW" sz="2800" dirty="0" err="1"/>
              <a:t>softmax</a:t>
            </a:r>
            <a:r>
              <a:rPr lang="en-US" altLang="zh-TW" sz="2800" dirty="0"/>
              <a:t> output layer, choose cross entropy</a:t>
            </a:r>
            <a:endParaRPr lang="zh-TW" altLang="en-US" sz="2800" dirty="0"/>
          </a:p>
        </p:txBody>
      </p:sp>
    </p:spTree>
    <p:extLst>
      <p:ext uri="{BB962C8B-B14F-4D97-AF65-F5344CB8AC3E}">
        <p14:creationId xmlns:p14="http://schemas.microsoft.com/office/powerpoint/2010/main" val="428748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How to pick the best function</a:t>
            </a:r>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1896952" y="1933024"/>
                <a:ext cx="8353220"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800" dirty="0"/>
                  <a:t>Find </a:t>
                </a:r>
                <a:r>
                  <a:rPr lang="en-US" altLang="zh-TW" sz="2800" b="1" i="1" u="sng" dirty="0"/>
                  <a:t>network parameters </a:t>
                </a:r>
                <a14:m>
                  <m:oMath xmlns:m="http://schemas.openxmlformats.org/officeDocument/2006/math">
                    <m:sSup>
                      <m:sSupPr>
                        <m:ctrlPr>
                          <a:rPr lang="en-US" altLang="zh-TW" sz="2800" b="1" i="1" u="sng">
                            <a:latin typeface="Cambria Math" panose="02040503050406030204" pitchFamily="18" charset="0"/>
                          </a:rPr>
                        </m:ctrlPr>
                      </m:sSupPr>
                      <m:e>
                        <m:r>
                          <a:rPr lang="zh-TW" altLang="en-US" sz="2800" b="1" i="1" u="sng">
                            <a:latin typeface="Cambria Math" panose="02040503050406030204" pitchFamily="18" charset="0"/>
                          </a:rPr>
                          <m:t>𝜽</m:t>
                        </m:r>
                      </m:e>
                      <m:sup>
                        <m:r>
                          <a:rPr lang="en-US" altLang="zh-TW" sz="2800" b="1" i="1" u="sng">
                            <a:latin typeface="Cambria Math" panose="02040503050406030204" pitchFamily="18" charset="0"/>
                          </a:rPr>
                          <m:t>∗</m:t>
                        </m:r>
                      </m:sup>
                    </m:sSup>
                  </m:oMath>
                </a14:m>
                <a:r>
                  <a:rPr lang="en-US" altLang="zh-TW" sz="2800" dirty="0"/>
                  <a:t> that minimize total loss L</a:t>
                </a:r>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896952" y="1933024"/>
                <a:ext cx="835322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2356482" y="3705755"/>
                <a:ext cx="4459518" cy="954107"/>
              </a:xfrm>
              <a:prstGeom prst="rect">
                <a:avLst/>
              </a:prstGeom>
              <a:noFill/>
            </p:spPr>
            <p:txBody>
              <a:bodyPr wrap="square" rtlCol="0">
                <a:spAutoFit/>
              </a:bodyPr>
              <a:lstStyle/>
              <a:p>
                <a:r>
                  <a:rPr lang="en-US" altLang="zh-TW" sz="2800" dirty="0"/>
                  <a:t>Network parameters </a:t>
                </a:r>
                <a14:m>
                  <m:oMath xmlns:m="http://schemas.openxmlformats.org/officeDocument/2006/math">
                    <m:r>
                      <a:rPr lang="zh-TW" altLang="en-US" sz="2800" i="1">
                        <a:latin typeface="Cambria Math" panose="02040503050406030204" pitchFamily="18" charset="0"/>
                      </a:rPr>
                      <m:t>𝜃</m:t>
                    </m:r>
                    <m:r>
                      <a:rPr lang="en-US" altLang="zh-TW" sz="2800" i="1">
                        <a:latin typeface="Cambria Math" panose="02040503050406030204" pitchFamily="18" charset="0"/>
                      </a:rPr>
                      <m:t>=</m:t>
                    </m:r>
                    <m:d>
                      <m:dPr>
                        <m:begChr m:val="{"/>
                        <m:endChr m:val="}"/>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𝑤</m:t>
                            </m:r>
                          </m:e>
                          <m:sub>
                            <m:r>
                              <a:rPr lang="en-US" altLang="zh-TW" sz="2800" i="1">
                                <a:latin typeface="Cambria Math" panose="02040503050406030204" pitchFamily="18" charset="0"/>
                              </a:rPr>
                              <m:t>3</m:t>
                            </m:r>
                          </m:sub>
                        </m:sSub>
                        <m:r>
                          <a:rPr lang="en-US" altLang="zh-TW"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𝑏</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𝑏</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𝑏</m:t>
                            </m:r>
                          </m:e>
                          <m:sub>
                            <m:r>
                              <a:rPr lang="en-US" altLang="zh-TW" sz="2800" i="1">
                                <a:latin typeface="Cambria Math" panose="02040503050406030204" pitchFamily="18" charset="0"/>
                              </a:rPr>
                              <m:t>3</m:t>
                            </m:r>
                          </m:sub>
                        </m:sSub>
                        <m:r>
                          <a:rPr lang="en-US" altLang="zh-TW"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m:t>
                        </m:r>
                      </m:e>
                    </m:d>
                  </m:oMath>
                </a14:m>
                <a:endParaRPr lang="zh-TW" altLang="en-US" sz="28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356482" y="3705755"/>
                <a:ext cx="4459518" cy="954107"/>
              </a:xfrm>
              <a:prstGeom prst="rect">
                <a:avLst/>
              </a:prstGeom>
              <a:blipFill>
                <a:blip r:embed="rId4"/>
                <a:stretch>
                  <a:fillRect l="-2873" t="-6410"/>
                </a:stretch>
              </a:blipFill>
            </p:spPr>
            <p:txBody>
              <a:bodyPr/>
              <a:lstStyle/>
              <a:p>
                <a:r>
                  <a:rPr lang="en-IN">
                    <a:noFill/>
                  </a:rPr>
                  <a:t> </a:t>
                </a:r>
              </a:p>
            </p:txBody>
          </p:sp>
        </mc:Fallback>
      </mc:AlternateContent>
      <p:sp>
        <p:nvSpPr>
          <p:cNvPr id="6" name="文字方塊 5"/>
          <p:cNvSpPr txBox="1"/>
          <p:nvPr/>
        </p:nvSpPr>
        <p:spPr>
          <a:xfrm>
            <a:off x="2226181" y="2909524"/>
            <a:ext cx="4502081" cy="523220"/>
          </a:xfrm>
          <a:prstGeom prst="rect">
            <a:avLst/>
          </a:prstGeom>
          <a:noFill/>
        </p:spPr>
        <p:txBody>
          <a:bodyPr wrap="square" rtlCol="0">
            <a:spAutoFit/>
          </a:bodyPr>
          <a:lstStyle/>
          <a:p>
            <a:r>
              <a:rPr lang="en-US" altLang="zh-TW" sz="2800" dirty="0"/>
              <a:t>Enumerate all possible values</a:t>
            </a:r>
            <a:endParaRPr lang="zh-TW" altLang="en-US" sz="2800" dirty="0"/>
          </a:p>
        </p:txBody>
      </p:sp>
      <p:grpSp>
        <p:nvGrpSpPr>
          <p:cNvPr id="8" name="群組 7"/>
          <p:cNvGrpSpPr/>
          <p:nvPr/>
        </p:nvGrpSpPr>
        <p:grpSpPr>
          <a:xfrm>
            <a:off x="7170200" y="2656146"/>
            <a:ext cx="1134648" cy="3130011"/>
            <a:chOff x="2332137" y="1770729"/>
            <a:chExt cx="1134648" cy="3130011"/>
          </a:xfrm>
        </p:grpSpPr>
        <p:sp>
          <p:nvSpPr>
            <p:cNvPr id="9" name="矩形 8"/>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0" name="文字方塊 9"/>
            <p:cNvSpPr txBox="1"/>
            <p:nvPr/>
          </p:nvSpPr>
          <p:spPr>
            <a:xfrm>
              <a:off x="2332137" y="1770729"/>
              <a:ext cx="1134648" cy="461665"/>
            </a:xfrm>
            <a:prstGeom prst="rect">
              <a:avLst/>
            </a:prstGeom>
            <a:noFill/>
          </p:spPr>
          <p:txBody>
            <a:bodyPr wrap="square" rtlCol="0">
              <a:spAutoFit/>
            </a:bodyPr>
            <a:lstStyle/>
            <a:p>
              <a:pPr algn="ctr"/>
              <a:r>
                <a:rPr lang="en-US" altLang="zh-TW" sz="2400" dirty="0"/>
                <a:t>Layer l</a:t>
              </a:r>
              <a:endParaRPr lang="zh-TW" altLang="en-US" sz="2400" dirty="0"/>
            </a:p>
          </p:txBody>
        </p:sp>
        <p:sp>
          <p:nvSpPr>
            <p:cNvPr id="11" name="橢圓 10"/>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2" name="橢圓 11"/>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4" name="文字方塊 13"/>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15" name="群組 14"/>
          <p:cNvGrpSpPr/>
          <p:nvPr/>
        </p:nvGrpSpPr>
        <p:grpSpPr>
          <a:xfrm>
            <a:off x="9234285" y="2627548"/>
            <a:ext cx="1368348" cy="3137533"/>
            <a:chOff x="4396222" y="1742131"/>
            <a:chExt cx="1368348" cy="3137533"/>
          </a:xfrm>
        </p:grpSpPr>
        <p:sp>
          <p:nvSpPr>
            <p:cNvPr id="16" name="矩形 15"/>
            <p:cNvSpPr/>
            <p:nvPr/>
          </p:nvSpPr>
          <p:spPr>
            <a:xfrm>
              <a:off x="4715522" y="220379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7" name="文字方塊 16"/>
            <p:cNvSpPr txBox="1"/>
            <p:nvPr/>
          </p:nvSpPr>
          <p:spPr>
            <a:xfrm>
              <a:off x="4396222" y="1742131"/>
              <a:ext cx="1368348" cy="461665"/>
            </a:xfrm>
            <a:prstGeom prst="rect">
              <a:avLst/>
            </a:prstGeom>
            <a:noFill/>
          </p:spPr>
          <p:txBody>
            <a:bodyPr wrap="square" rtlCol="0">
              <a:spAutoFit/>
            </a:bodyPr>
            <a:lstStyle/>
            <a:p>
              <a:pPr algn="ctr"/>
              <a:r>
                <a:rPr lang="en-US" altLang="zh-TW" sz="2400" dirty="0"/>
                <a:t>Layer l+1</a:t>
              </a:r>
              <a:endParaRPr lang="zh-TW" altLang="en-US" sz="2400" dirty="0"/>
            </a:p>
          </p:txBody>
        </p:sp>
        <p:sp>
          <p:nvSpPr>
            <p:cNvPr id="18" name="橢圓 17"/>
            <p:cNvSpPr/>
            <p:nvPr/>
          </p:nvSpPr>
          <p:spPr>
            <a:xfrm>
              <a:off x="4802608" y="223114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9" name="橢圓 18"/>
            <p:cNvSpPr/>
            <p:nvPr/>
          </p:nvSpPr>
          <p:spPr>
            <a:xfrm>
              <a:off x="4804950" y="300971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0" name="橢圓 19"/>
            <p:cNvSpPr/>
            <p:nvPr/>
          </p:nvSpPr>
          <p:spPr>
            <a:xfrm>
              <a:off x="4793317" y="423772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1" name="文字方塊 20"/>
            <p:cNvSpPr txBox="1"/>
            <p:nvPr/>
          </p:nvSpPr>
          <p:spPr>
            <a:xfrm rot="5400000">
              <a:off x="4790570" y="3660020"/>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cxnSp>
        <p:nvCxnSpPr>
          <p:cNvPr id="23" name="直線單箭頭接點 22"/>
          <p:cNvCxnSpPr>
            <a:stCxn id="11" idx="6"/>
            <a:endCxn id="18" idx="2"/>
          </p:cNvCxnSpPr>
          <p:nvPr/>
        </p:nvCxnSpPr>
        <p:spPr>
          <a:xfrm flipV="1">
            <a:off x="8013897" y="3403641"/>
            <a:ext cx="1626775" cy="47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19" idx="2"/>
          </p:cNvCxnSpPr>
          <p:nvPr/>
        </p:nvCxnSpPr>
        <p:spPr>
          <a:xfrm flipV="1">
            <a:off x="8013897" y="4182211"/>
            <a:ext cx="1629117" cy="179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8004606" y="5422090"/>
            <a:ext cx="16267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stCxn id="12" idx="6"/>
            <a:endCxn id="18" idx="2"/>
          </p:cNvCxnSpPr>
          <p:nvPr/>
        </p:nvCxnSpPr>
        <p:spPr>
          <a:xfrm flipV="1">
            <a:off x="8016239" y="3403641"/>
            <a:ext cx="1624433" cy="7832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11" idx="6"/>
            <a:endCxn id="19" idx="2"/>
          </p:cNvCxnSpPr>
          <p:nvPr/>
        </p:nvCxnSpPr>
        <p:spPr>
          <a:xfrm>
            <a:off x="8013897" y="3408370"/>
            <a:ext cx="1629117" cy="7738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a:stCxn id="11" idx="6"/>
            <a:endCxn id="20" idx="2"/>
          </p:cNvCxnSpPr>
          <p:nvPr/>
        </p:nvCxnSpPr>
        <p:spPr>
          <a:xfrm>
            <a:off x="8013896" y="3408370"/>
            <a:ext cx="1617484" cy="20018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a:stCxn id="12" idx="6"/>
            <a:endCxn id="20" idx="2"/>
          </p:cNvCxnSpPr>
          <p:nvPr/>
        </p:nvCxnSpPr>
        <p:spPr>
          <a:xfrm>
            <a:off x="8016238" y="4186940"/>
            <a:ext cx="1615142" cy="12232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a:stCxn id="13" idx="6"/>
            <a:endCxn id="18" idx="2"/>
          </p:cNvCxnSpPr>
          <p:nvPr/>
        </p:nvCxnSpPr>
        <p:spPr>
          <a:xfrm flipV="1">
            <a:off x="8004605" y="3403641"/>
            <a:ext cx="1636066" cy="20113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a:stCxn id="13" idx="6"/>
            <a:endCxn id="19" idx="2"/>
          </p:cNvCxnSpPr>
          <p:nvPr/>
        </p:nvCxnSpPr>
        <p:spPr>
          <a:xfrm flipV="1">
            <a:off x="8004605" y="4182211"/>
            <a:ext cx="1638408" cy="123274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p:cNvSpPr txBox="1"/>
          <p:nvPr/>
        </p:nvSpPr>
        <p:spPr>
          <a:xfrm>
            <a:off x="2356483" y="5588148"/>
            <a:ext cx="4831117" cy="830997"/>
          </a:xfrm>
          <a:prstGeom prst="rect">
            <a:avLst/>
          </a:prstGeom>
          <a:noFill/>
        </p:spPr>
        <p:txBody>
          <a:bodyPr wrap="square" rtlCol="0">
            <a:spAutoFit/>
          </a:bodyPr>
          <a:lstStyle/>
          <a:p>
            <a:r>
              <a:rPr lang="en-US" altLang="zh-TW" sz="2400" dirty="0"/>
              <a:t>E.g. Image Classification: 8 layers and 1000 neurons each layer</a:t>
            </a:r>
            <a:endParaRPr lang="zh-TW" altLang="en-US" sz="2400" dirty="0"/>
          </a:p>
        </p:txBody>
      </p:sp>
      <p:sp>
        <p:nvSpPr>
          <p:cNvPr id="49" name="文字方塊 48"/>
          <p:cNvSpPr txBox="1"/>
          <p:nvPr/>
        </p:nvSpPr>
        <p:spPr>
          <a:xfrm>
            <a:off x="6966724" y="5757579"/>
            <a:ext cx="1541601" cy="830997"/>
          </a:xfrm>
          <a:prstGeom prst="rect">
            <a:avLst/>
          </a:prstGeom>
          <a:noFill/>
        </p:spPr>
        <p:txBody>
          <a:bodyPr wrap="square" rtlCol="0">
            <a:spAutoFit/>
          </a:bodyPr>
          <a:lstStyle/>
          <a:p>
            <a:pPr algn="ctr"/>
            <a:r>
              <a:rPr lang="en-US" altLang="zh-TW" sz="2400" dirty="0"/>
              <a:t>1000</a:t>
            </a:r>
          </a:p>
          <a:p>
            <a:pPr algn="ctr"/>
            <a:r>
              <a:rPr lang="en-US" altLang="zh-TW" sz="2400" dirty="0"/>
              <a:t>neurons</a:t>
            </a:r>
            <a:endParaRPr lang="zh-TW" altLang="en-US" sz="2400" dirty="0"/>
          </a:p>
        </p:txBody>
      </p:sp>
      <p:sp>
        <p:nvSpPr>
          <p:cNvPr id="50" name="文字方塊 49"/>
          <p:cNvSpPr txBox="1"/>
          <p:nvPr/>
        </p:nvSpPr>
        <p:spPr>
          <a:xfrm>
            <a:off x="9186096" y="5799394"/>
            <a:ext cx="1541601" cy="830997"/>
          </a:xfrm>
          <a:prstGeom prst="rect">
            <a:avLst/>
          </a:prstGeom>
          <a:noFill/>
        </p:spPr>
        <p:txBody>
          <a:bodyPr wrap="square" rtlCol="0">
            <a:spAutoFit/>
          </a:bodyPr>
          <a:lstStyle/>
          <a:p>
            <a:pPr algn="ctr"/>
            <a:r>
              <a:rPr lang="en-US" altLang="zh-TW" sz="2400" dirty="0"/>
              <a:t>1000</a:t>
            </a:r>
          </a:p>
          <a:p>
            <a:pPr algn="ctr"/>
            <a:r>
              <a:rPr lang="en-US" altLang="zh-TW" sz="2400" dirty="0"/>
              <a:t>neurons</a:t>
            </a:r>
            <a:endParaRPr lang="zh-TW" altLang="en-US" sz="2400" dirty="0"/>
          </a:p>
        </p:txBody>
      </p:sp>
      <p:sp>
        <p:nvSpPr>
          <p:cNvPr id="51" name="文字方塊 50"/>
          <p:cNvSpPr txBox="1"/>
          <p:nvPr/>
        </p:nvSpPr>
        <p:spPr>
          <a:xfrm>
            <a:off x="8151500" y="3923463"/>
            <a:ext cx="1323692" cy="954107"/>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gn="ctr"/>
            <a:r>
              <a:rPr lang="en-US" altLang="zh-TW" sz="2800" dirty="0"/>
              <a:t>10</a:t>
            </a:r>
            <a:r>
              <a:rPr lang="en-US" altLang="zh-TW" sz="2800" baseline="30000" dirty="0"/>
              <a:t>6</a:t>
            </a:r>
          </a:p>
          <a:p>
            <a:pPr algn="ctr"/>
            <a:r>
              <a:rPr lang="en-US" altLang="zh-TW" sz="2800" dirty="0"/>
              <a:t>weights</a:t>
            </a:r>
            <a:endParaRPr lang="zh-TW" altLang="en-US" sz="2800" dirty="0"/>
          </a:p>
        </p:txBody>
      </p:sp>
      <p:grpSp>
        <p:nvGrpSpPr>
          <p:cNvPr id="3" name="群組 2"/>
          <p:cNvGrpSpPr/>
          <p:nvPr/>
        </p:nvGrpSpPr>
        <p:grpSpPr>
          <a:xfrm>
            <a:off x="2470106" y="4591822"/>
            <a:ext cx="4168310" cy="712695"/>
            <a:chOff x="588857" y="5086698"/>
            <a:chExt cx="4168310" cy="712695"/>
          </a:xfrm>
        </p:grpSpPr>
        <p:sp>
          <p:nvSpPr>
            <p:cNvPr id="48" name="文字方塊 47"/>
            <p:cNvSpPr txBox="1"/>
            <p:nvPr/>
          </p:nvSpPr>
          <p:spPr>
            <a:xfrm>
              <a:off x="765869" y="5276173"/>
              <a:ext cx="3783693" cy="523220"/>
            </a:xfrm>
            <a:prstGeom prst="rect">
              <a:avLst/>
            </a:prstGeom>
            <a:noFill/>
          </p:spPr>
          <p:txBody>
            <a:bodyPr wrap="square" rtlCol="0">
              <a:spAutoFit/>
            </a:bodyPr>
            <a:lstStyle/>
            <a:p>
              <a:pPr algn="ctr"/>
              <a:r>
                <a:rPr lang="en-US" altLang="zh-TW" sz="2800" dirty="0"/>
                <a:t>Millions of parameters</a:t>
              </a:r>
              <a:endParaRPr lang="zh-TW" altLang="en-US" sz="2800" dirty="0"/>
            </a:p>
          </p:txBody>
        </p:sp>
        <p:sp>
          <p:nvSpPr>
            <p:cNvPr id="22" name="左大括弧 21"/>
            <p:cNvSpPr/>
            <p:nvPr/>
          </p:nvSpPr>
          <p:spPr>
            <a:xfrm rot="16200000">
              <a:off x="2612787" y="3062768"/>
              <a:ext cx="120449" cy="4168310"/>
            </a:xfrm>
            <a:prstGeom prst="leftBrace">
              <a:avLst>
                <a:gd name="adj1" fmla="val 51771"/>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pic>
        <p:nvPicPr>
          <p:cNvPr id="7" name="Picture 2" descr="http://www.mobanwang.com/icon/UploadFiles_8971/200909/20090903224008317.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46178" y="3660779"/>
            <a:ext cx="1862084" cy="186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05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7" grpId="0"/>
      <p:bldP spid="49" grpId="0"/>
      <p:bldP spid="50" grpId="0"/>
      <p:bldP spid="5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Training NNs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Optimizing the loss function </a:t>
                </a:r>
                <a14:m>
                  <m:oMath xmlns:m="http://schemas.openxmlformats.org/officeDocument/2006/math">
                    <m:r>
                      <a:rPr lang="en-US" altLang="zh-TW" i="1" smtClean="0">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r>
                  <a:rPr lang="en-US" dirty="0"/>
                  <a:t> </a:t>
                </a:r>
              </a:p>
              <a:p>
                <a:pPr lvl="1"/>
                <a:r>
                  <a:rPr lang="en-US" dirty="0"/>
                  <a:t>Almost all DL models these days are trained with a variant of the </a:t>
                </a:r>
                <a:r>
                  <a:rPr lang="en-US" b="1" i="1" dirty="0">
                    <a:solidFill>
                      <a:srgbClr val="0070C0"/>
                    </a:solidFill>
                  </a:rPr>
                  <a:t>gradient descent </a:t>
                </a:r>
                <a:r>
                  <a:rPr lang="en-US" dirty="0"/>
                  <a:t>(GD) algorithm</a:t>
                </a:r>
              </a:p>
              <a:p>
                <a:pPr lvl="1"/>
                <a:r>
                  <a:rPr lang="en-US" dirty="0"/>
                  <a:t>GD applies iterative refinement of the network </a:t>
                </a:r>
                <a:r>
                  <a:rPr lang="en-US" dirty="0">
                    <a:solidFill>
                      <a:srgbClr val="FF0000"/>
                    </a:solidFill>
                  </a:rPr>
                  <a:t>parameters</a:t>
                </a:r>
                <a14:m>
                  <m:oMath xmlns:m="http://schemas.openxmlformats.org/officeDocument/2006/math">
                    <m:r>
                      <a:rPr lang="en-US" altLang="zh-TW" b="0" i="0" smtClean="0">
                        <a:solidFill>
                          <a:srgbClr val="FF0000"/>
                        </a:solidFill>
                        <a:latin typeface="Cambria Math" panose="02040503050406030204" pitchFamily="18" charset="0"/>
                      </a:rPr>
                      <m:t> </m:t>
                    </m:r>
                    <m:r>
                      <a:rPr lang="zh-TW" altLang="en-US" i="1">
                        <a:solidFill>
                          <a:srgbClr val="FF0000"/>
                        </a:solidFill>
                        <a:latin typeface="Cambria Math" panose="02040503050406030204" pitchFamily="18" charset="0"/>
                      </a:rPr>
                      <m:t>𝜃</m:t>
                    </m:r>
                  </m:oMath>
                </a14:m>
                <a:endParaRPr lang="en-US" dirty="0"/>
              </a:p>
              <a:p>
                <a:pPr lvl="1"/>
                <a:r>
                  <a:rPr lang="en-US" dirty="0"/>
                  <a:t>GD uses the opposite direction of the </a:t>
                </a:r>
                <a:r>
                  <a:rPr lang="en-US" dirty="0">
                    <a:solidFill>
                      <a:srgbClr val="FF0000"/>
                    </a:solidFill>
                  </a:rPr>
                  <a:t>gradient</a:t>
                </a:r>
                <a:r>
                  <a:rPr lang="en-US" dirty="0"/>
                  <a:t> of the loss with respect to the NN parameters (i.e.,</a:t>
                </a:r>
                <a14:m>
                  <m:oMath xmlns:m="http://schemas.openxmlformats.org/officeDocument/2006/math">
                    <m:r>
                      <a:rPr lang="zh-TW" altLang="en-US"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f>
                          <m:fPr>
                            <m:type m:val="lin"/>
                            <m:ctrlPr>
                              <a:rPr lang="en-US" altLang="zh-TW"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ℒ</m:t>
                            </m:r>
                          </m:num>
                          <m:den>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𝑖</m:t>
                                </m:r>
                              </m:sub>
                            </m:sSub>
                          </m:den>
                        </m:f>
                      </m:e>
                    </m:d>
                  </m:oMath>
                </a14:m>
                <a:r>
                  <a:rPr lang="en-US" dirty="0"/>
                  <a:t> ) for updating  </a:t>
                </a:r>
                <a14:m>
                  <m:oMath xmlns:m="http://schemas.openxmlformats.org/officeDocument/2006/math">
                    <m:r>
                      <a:rPr lang="zh-TW" altLang="en-US" i="1">
                        <a:latin typeface="Cambria Math" panose="02040503050406030204" pitchFamily="18" charset="0"/>
                      </a:rPr>
                      <m:t>𝜃</m:t>
                    </m:r>
                  </m:oMath>
                </a14:m>
                <a:endParaRPr lang="en-US" dirty="0"/>
              </a:p>
              <a:p>
                <a:pPr lvl="2"/>
                <a:r>
                  <a:rPr lang="en-US" dirty="0"/>
                  <a:t>The gradient of the loss function </a:t>
                </a:r>
                <a14:m>
                  <m:oMath xmlns:m="http://schemas.openxmlformats.org/officeDocument/2006/math">
                    <m:r>
                      <a:rPr lang="zh-TW" altLang="en-US"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r>
                  <a:rPr lang="en-US" dirty="0"/>
                  <a:t> gives the direction of fastest increase of the loss function </a:t>
                </a:r>
                <a14:m>
                  <m:oMath xmlns:m="http://schemas.openxmlformats.org/officeDocument/2006/math">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r>
                  <a:rPr lang="en-US" dirty="0"/>
                  <a:t> when the parameters</a:t>
                </a:r>
                <a14:m>
                  <m:oMath xmlns:m="http://schemas.openxmlformats.org/officeDocument/2006/math">
                    <m:r>
                      <a:rPr lang="en-US" altLang="zh-TW">
                        <a:latin typeface="Cambria Math" panose="02040503050406030204" pitchFamily="18" charset="0"/>
                      </a:rPr>
                      <m:t> </m:t>
                    </m:r>
                    <m:r>
                      <a:rPr lang="zh-TW" altLang="en-US" i="1">
                        <a:latin typeface="Cambria Math" panose="02040503050406030204" pitchFamily="18" charset="0"/>
                      </a:rPr>
                      <m:t>𝜃</m:t>
                    </m:r>
                  </m:oMath>
                </a14:m>
                <a:r>
                  <a:rPr lang="en-US" dirty="0"/>
                  <a:t> are changed</a:t>
                </a:r>
              </a:p>
              <a:p>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9" t="-795"/>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BD5D3087-E014-4AF3-ABBE-8D71C4B3211A}"/>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grpSp>
        <p:nvGrpSpPr>
          <p:cNvPr id="6" name="Group 5"/>
          <p:cNvGrpSpPr/>
          <p:nvPr/>
        </p:nvGrpSpPr>
        <p:grpSpPr>
          <a:xfrm>
            <a:off x="2537958" y="4191437"/>
            <a:ext cx="3113287" cy="2163535"/>
            <a:chOff x="5721123" y="4534272"/>
            <a:chExt cx="3687977" cy="2812597"/>
          </a:xfrm>
        </p:grpSpPr>
        <p:pic>
          <p:nvPicPr>
            <p:cNvPr id="4" name="Picture 3"/>
            <p:cNvPicPr>
              <a:picLocks noChangeAspect="1"/>
            </p:cNvPicPr>
            <p:nvPr/>
          </p:nvPicPr>
          <p:blipFill rotWithShape="1">
            <a:blip r:embed="rId3"/>
            <a:srcRect t="-1" b="13846"/>
            <a:stretch/>
          </p:blipFill>
          <p:spPr>
            <a:xfrm>
              <a:off x="5721123" y="4534273"/>
              <a:ext cx="3687977" cy="2808312"/>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037312" y="4534272"/>
                  <a:ext cx="504056" cy="437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1588" i="1">
                            <a:latin typeface="Cambria Math" panose="02040503050406030204" pitchFamily="18" charset="0"/>
                            <a:ea typeface="Cambria Math" panose="02040503050406030204" pitchFamily="18" charset="0"/>
                          </a:rPr>
                          <m:t>ℒ</m:t>
                        </m:r>
                        <m:d>
                          <m:dPr>
                            <m:ctrlPr>
                              <a:rPr lang="en-US" altLang="zh-TW" sz="1588" i="1">
                                <a:latin typeface="Cambria Math" panose="02040503050406030204" pitchFamily="18" charset="0"/>
                              </a:rPr>
                            </m:ctrlPr>
                          </m:dPr>
                          <m:e>
                            <m:r>
                              <a:rPr lang="zh-TW" altLang="en-US" sz="1588" i="1">
                                <a:latin typeface="Cambria Math" panose="02040503050406030204" pitchFamily="18" charset="0"/>
                              </a:rPr>
                              <m:t>𝜃</m:t>
                            </m:r>
                          </m:e>
                        </m:d>
                      </m:oMath>
                    </m:oMathPara>
                  </a14:m>
                  <a:endParaRPr lang="en-US" sz="1588" dirty="0"/>
                </a:p>
              </p:txBody>
            </p:sp>
          </mc:Choice>
          <mc:Fallback xmlns="">
            <p:sp>
              <p:nvSpPr>
                <p:cNvPr id="5" name="TextBox 4"/>
                <p:cNvSpPr txBox="1">
                  <a:spLocks noRot="1" noChangeAspect="1" noMove="1" noResize="1" noEditPoints="1" noAdjustHandles="1" noChangeArrowheads="1" noChangeShapeType="1" noTextEdit="1"/>
                </p:cNvSpPr>
                <p:nvPr/>
              </p:nvSpPr>
              <p:spPr>
                <a:xfrm>
                  <a:off x="6037312" y="4534272"/>
                  <a:ext cx="504056" cy="437704"/>
                </a:xfrm>
                <a:prstGeom prst="rect">
                  <a:avLst/>
                </a:prstGeom>
                <a:blipFill>
                  <a:blip r:embed="rId4"/>
                  <a:stretch>
                    <a:fillRect r="-15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868772" y="6909165"/>
                  <a:ext cx="504056" cy="437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588" i="1">
                                <a:latin typeface="Cambria Math" panose="02040503050406030204" pitchFamily="18" charset="0"/>
                              </a:rPr>
                            </m:ctrlPr>
                          </m:sSubPr>
                          <m:e>
                            <m:r>
                              <a:rPr lang="zh-TW" altLang="en-US" sz="1588" i="1">
                                <a:latin typeface="Cambria Math" panose="02040503050406030204" pitchFamily="18" charset="0"/>
                              </a:rPr>
                              <m:t>𝜃</m:t>
                            </m:r>
                          </m:e>
                          <m:sub>
                            <m:r>
                              <a:rPr lang="en-US" altLang="zh-TW" sz="1588" i="1">
                                <a:latin typeface="Cambria Math" panose="02040503050406030204" pitchFamily="18" charset="0"/>
                              </a:rPr>
                              <m:t>𝑖</m:t>
                            </m:r>
                          </m:sub>
                        </m:sSub>
                      </m:oMath>
                    </m:oMathPara>
                  </a14:m>
                  <a:endParaRPr lang="en-US" sz="1588" dirty="0"/>
                </a:p>
              </p:txBody>
            </p:sp>
          </mc:Choice>
          <mc:Fallback xmlns="">
            <p:sp>
              <p:nvSpPr>
                <p:cNvPr id="10" name="TextBox 9"/>
                <p:cNvSpPr txBox="1">
                  <a:spLocks noRot="1" noChangeAspect="1" noMove="1" noResize="1" noEditPoints="1" noAdjustHandles="1" noChangeArrowheads="1" noChangeShapeType="1" noTextEdit="1"/>
                </p:cNvSpPr>
                <p:nvPr/>
              </p:nvSpPr>
              <p:spPr>
                <a:xfrm>
                  <a:off x="8868772" y="6909165"/>
                  <a:ext cx="504056" cy="43770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8701608" y="4735209"/>
                  <a:ext cx="671220" cy="778381"/>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TW" sz="1588" i="1">
                                <a:latin typeface="Cambria Math" panose="02040503050406030204" pitchFamily="18" charset="0"/>
                              </a:rPr>
                            </m:ctrlPr>
                          </m:fPr>
                          <m:num>
                            <m:r>
                              <a:rPr lang="en-US" sz="1588" i="1">
                                <a:latin typeface="Cambria Math" panose="02040503050406030204" pitchFamily="18" charset="0"/>
                                <a:ea typeface="Cambria Math" panose="02040503050406030204" pitchFamily="18" charset="0"/>
                              </a:rPr>
                              <m:t>𝜕</m:t>
                            </m:r>
                            <m:r>
                              <a:rPr lang="en-US" sz="1588" i="1">
                                <a:latin typeface="Cambria Math" panose="02040503050406030204" pitchFamily="18" charset="0"/>
                                <a:ea typeface="Cambria Math" panose="02040503050406030204" pitchFamily="18" charset="0"/>
                              </a:rPr>
                              <m:t>ℒ</m:t>
                            </m:r>
                          </m:num>
                          <m:den>
                            <m:r>
                              <a:rPr lang="en-US" sz="1588" i="1">
                                <a:latin typeface="Cambria Math" panose="02040503050406030204" pitchFamily="18" charset="0"/>
                                <a:ea typeface="Cambria Math" panose="02040503050406030204" pitchFamily="18" charset="0"/>
                              </a:rPr>
                              <m:t>𝜕</m:t>
                            </m:r>
                            <m:sSub>
                              <m:sSubPr>
                                <m:ctrlPr>
                                  <a:rPr lang="en-US" sz="1588" i="1">
                                    <a:latin typeface="Cambria Math" panose="02040503050406030204" pitchFamily="18" charset="0"/>
                                    <a:ea typeface="Cambria Math" panose="02040503050406030204" pitchFamily="18" charset="0"/>
                                  </a:rPr>
                                </m:ctrlPr>
                              </m:sSubPr>
                              <m:e>
                                <m:r>
                                  <a:rPr lang="en-US" sz="1588" i="1">
                                    <a:latin typeface="Cambria Math" panose="02040503050406030204" pitchFamily="18" charset="0"/>
                                    <a:ea typeface="Cambria Math" panose="02040503050406030204" pitchFamily="18" charset="0"/>
                                  </a:rPr>
                                  <m:t>𝜃</m:t>
                                </m:r>
                              </m:e>
                              <m:sub>
                                <m:r>
                                  <a:rPr lang="en-US" sz="1588" i="1">
                                    <a:latin typeface="Cambria Math" panose="02040503050406030204" pitchFamily="18" charset="0"/>
                                    <a:ea typeface="Cambria Math" panose="02040503050406030204" pitchFamily="18" charset="0"/>
                                  </a:rPr>
                                  <m:t>𝑖</m:t>
                                </m:r>
                              </m:sub>
                            </m:sSub>
                          </m:den>
                        </m:f>
                      </m:oMath>
                    </m:oMathPara>
                  </a14:m>
                  <a:endParaRPr lang="en-US" sz="1588" dirty="0"/>
                </a:p>
              </p:txBody>
            </p:sp>
          </mc:Choice>
          <mc:Fallback xmlns="">
            <p:sp>
              <p:nvSpPr>
                <p:cNvPr id="11" name="TextBox 10"/>
                <p:cNvSpPr txBox="1">
                  <a:spLocks noRot="1" noChangeAspect="1" noMove="1" noResize="1" noEditPoints="1" noAdjustHandles="1" noChangeArrowheads="1" noChangeShapeType="1" noTextEdit="1"/>
                </p:cNvSpPr>
                <p:nvPr/>
              </p:nvSpPr>
              <p:spPr>
                <a:xfrm>
                  <a:off x="8701608" y="4735209"/>
                  <a:ext cx="671220" cy="778381"/>
                </a:xfrm>
                <a:prstGeom prst="rect">
                  <a:avLst/>
                </a:prstGeom>
                <a:blipFill>
                  <a:blip r:embed="rId6"/>
                  <a:stretch>
                    <a:fillRect/>
                  </a:stretch>
                </a:blipFill>
              </p:spPr>
              <p:txBody>
                <a:bodyPr/>
                <a:lstStyle/>
                <a:p>
                  <a:r>
                    <a:rPr lang="en-IN">
                      <a:noFill/>
                    </a:rPr>
                    <a:t> </a:t>
                  </a:r>
                </a:p>
              </p:txBody>
            </p:sp>
          </mc:Fallback>
        </mc:AlternateContent>
      </p:grpSp>
      <p:pic>
        <p:nvPicPr>
          <p:cNvPr id="8" name="Picture 7"/>
          <p:cNvPicPr>
            <a:picLocks noChangeAspect="1"/>
          </p:cNvPicPr>
          <p:nvPr/>
        </p:nvPicPr>
        <p:blipFill>
          <a:blip r:embed="rId7"/>
          <a:stretch>
            <a:fillRect/>
          </a:stretch>
        </p:blipFill>
        <p:spPr>
          <a:xfrm>
            <a:off x="6159537" y="4127901"/>
            <a:ext cx="3711580" cy="2289875"/>
          </a:xfrm>
          <a:prstGeom prst="rect">
            <a:avLst/>
          </a:prstGeom>
        </p:spPr>
      </p:pic>
    </p:spTree>
    <p:extLst>
      <p:ext uri="{BB962C8B-B14F-4D97-AF65-F5344CB8AC3E}">
        <p14:creationId xmlns:p14="http://schemas.microsoft.com/office/powerpoint/2010/main" val="1834971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Steps in the </a:t>
                </a:r>
                <a:r>
                  <a:rPr lang="en-US" b="1" i="1" dirty="0">
                    <a:solidFill>
                      <a:srgbClr val="0070C0"/>
                    </a:solidFill>
                  </a:rPr>
                  <a:t>gradient descent algorithm</a:t>
                </a:r>
                <a:r>
                  <a:rPr lang="en-US" dirty="0"/>
                  <a:t>:</a:t>
                </a:r>
              </a:p>
              <a:p>
                <a:pPr marL="712987" lvl="1" indent="-403433">
                  <a:buFont typeface="+mj-lt"/>
                  <a:buAutoNum type="arabicPeriod"/>
                </a:pPr>
                <a:r>
                  <a:rPr lang="en-US" dirty="0"/>
                  <a:t>Randomly initialize the model parameters</a:t>
                </a:r>
                <a14:m>
                  <m:oMath xmlns:m="http://schemas.openxmlformats.org/officeDocument/2006/math">
                    <m:r>
                      <a:rPr lang="en-US" altLang="zh-TW" b="0" i="0" smtClean="0">
                        <a:latin typeface="Cambria Math" panose="02040503050406030204" pitchFamily="18" charset="0"/>
                      </a:rPr>
                      <m:t>,</m:t>
                    </m:r>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0</m:t>
                        </m:r>
                      </m:sup>
                    </m:sSup>
                  </m:oMath>
                </a14:m>
                <a:endParaRPr lang="en-US" dirty="0"/>
              </a:p>
              <a:p>
                <a:pPr marL="712987" lvl="1" indent="-403433">
                  <a:buFont typeface="+mj-lt"/>
                  <a:buAutoNum type="arabicPeriod"/>
                </a:pPr>
                <a:r>
                  <a:rPr lang="en-US" altLang="zh-TW" dirty="0"/>
                  <a:t>Compute the gradient of the loss function at the initial parameters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0</m:t>
                        </m:r>
                      </m:sup>
                    </m:sSup>
                  </m:oMath>
                </a14:m>
                <a:r>
                  <a:rPr lang="en-US" dirty="0"/>
                  <a:t>: </a:t>
                </a:r>
                <a14:m>
                  <m:oMath xmlns:m="http://schemas.openxmlformats.org/officeDocument/2006/math">
                    <m:r>
                      <a:rPr lang="zh-TW" altLang="en-US" i="1">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0</m:t>
                            </m:r>
                          </m:sup>
                        </m:sSup>
                      </m:e>
                    </m:d>
                  </m:oMath>
                </a14:m>
                <a:endParaRPr lang="en-US" dirty="0"/>
              </a:p>
              <a:p>
                <a:pPr marL="712987" lvl="1" indent="-403433">
                  <a:buFont typeface="+mj-lt"/>
                  <a:buAutoNum type="arabicPeriod"/>
                </a:pPr>
                <a:r>
                  <a:rPr lang="en-US" dirty="0"/>
                  <a:t>Update the parameters as: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b="0" i="1" smtClean="0">
                            <a:latin typeface="Cambria Math" panose="02040503050406030204" pitchFamily="18" charset="0"/>
                          </a:rPr>
                          <m:t>𝑛𝑒𝑤</m:t>
                        </m:r>
                      </m:sup>
                    </m:sSup>
                    <m:r>
                      <a:rPr lang="en-US" altLang="zh-TW" b="0" i="1" smtClean="0">
                        <a:latin typeface="Cambria Math" panose="02040503050406030204" pitchFamily="18" charset="0"/>
                      </a:rPr>
                      <m:t>=</m:t>
                    </m:r>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b="0" i="1" smtClean="0">
                            <a:latin typeface="Cambria Math" panose="02040503050406030204" pitchFamily="18" charset="0"/>
                          </a:rPr>
                          <m:t>0</m:t>
                        </m:r>
                      </m:sup>
                    </m:sSup>
                    <m:r>
                      <a:rPr lang="en-US" altLang="zh-TW" b="0" i="1" smtClean="0">
                        <a:latin typeface="Cambria Math" panose="02040503050406030204" pitchFamily="18" charset="0"/>
                      </a:rPr>
                      <m:t>−</m:t>
                    </m:r>
                    <m:r>
                      <a:rPr lang="zh-TW" altLang="en-US" b="0" i="1" smtClean="0">
                        <a:latin typeface="Cambria Math" panose="02040503050406030204" pitchFamily="18" charset="0"/>
                      </a:rPr>
                      <m:t>𝛼</m:t>
                    </m:r>
                    <m:r>
                      <a:rPr lang="zh-TW" altLang="en-US"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sSup>
                          <m:sSupPr>
                            <m:ctrlPr>
                              <a:rPr lang="en-US" altLang="zh-TW" i="1">
                                <a:latin typeface="Cambria Math" panose="02040503050406030204" pitchFamily="18" charset="0"/>
                              </a:rPr>
                            </m:ctrlPr>
                          </m:sSupPr>
                          <m:e>
                            <m:r>
                              <a:rPr lang="zh-TW" altLang="en-US" i="1">
                                <a:latin typeface="Cambria Math" panose="02040503050406030204" pitchFamily="18" charset="0"/>
                              </a:rPr>
                              <m:t>𝜃</m:t>
                            </m:r>
                          </m:e>
                          <m:sup>
                            <m:r>
                              <a:rPr lang="en-US" altLang="zh-TW" i="1">
                                <a:latin typeface="Cambria Math" panose="02040503050406030204" pitchFamily="18" charset="0"/>
                              </a:rPr>
                              <m:t>0</m:t>
                            </m:r>
                          </m:sup>
                        </m:sSup>
                      </m:e>
                    </m:d>
                  </m:oMath>
                </a14:m>
                <a:endParaRPr lang="en-US" dirty="0"/>
              </a:p>
              <a:p>
                <a:pPr marL="1107999" lvl="2" indent="-201717"/>
                <a:r>
                  <a:rPr lang="en-US" dirty="0"/>
                  <a:t>Where </a:t>
                </a:r>
                <a:r>
                  <a:rPr lang="el-GR" dirty="0"/>
                  <a:t>α</a:t>
                </a:r>
                <a:r>
                  <a:rPr lang="en-US" dirty="0"/>
                  <a:t> is the learning rate</a:t>
                </a:r>
              </a:p>
              <a:p>
                <a:pPr marL="712987" lvl="1" indent="-403433">
                  <a:buFont typeface="+mj-lt"/>
                  <a:buAutoNum type="arabicPeriod"/>
                </a:pPr>
                <a:r>
                  <a:rPr lang="en-US" dirty="0"/>
                  <a:t>Go to step 2 and repeat (until a terminating criterion is reached)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9" t="-795"/>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30803083-5177-46C9-9C1A-934F65636EB2}"/>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pic>
        <p:nvPicPr>
          <p:cNvPr id="16" name="Picture 2" descr="Gradient Descent and Stochastic Gradient Descent - mlxtend">
            <a:extLst>
              <a:ext uri="{FF2B5EF4-FFF2-40B4-BE49-F238E27FC236}">
                <a16:creationId xmlns:a16="http://schemas.microsoft.com/office/drawing/2014/main" id="{C6869D82-75EB-462D-A80A-B7D43EF96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3324" y="3746683"/>
            <a:ext cx="4992223" cy="27051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989ABAA-50F4-450E-9E32-D013F7C6D0D9}"/>
                  </a:ext>
                </a:extLst>
              </p:cNvPr>
              <p:cNvSpPr txBox="1"/>
              <p:nvPr/>
            </p:nvSpPr>
            <p:spPr>
              <a:xfrm>
                <a:off x="2728568" y="4037481"/>
                <a:ext cx="889511" cy="336695"/>
              </a:xfrm>
              <a:prstGeom prst="rect">
                <a:avLst/>
              </a:prstGeom>
              <a:solidFill>
                <a:schemeClr val="bg1"/>
              </a:solidFill>
            </p:spPr>
            <p:txBody>
              <a:bodyPr wrap="square" rtlCol="0">
                <a:spAutoFit/>
              </a:bodyPr>
              <a:lstStyle/>
              <a:p>
                <a:pPr algn="r"/>
                <a:r>
                  <a:rPr lang="en-US" sz="1588" dirty="0"/>
                  <a:t>Loss </a:t>
                </a:r>
                <a14:m>
                  <m:oMath xmlns:m="http://schemas.openxmlformats.org/officeDocument/2006/math">
                    <m:r>
                      <a:rPr lang="en-US" sz="1588" i="1">
                        <a:latin typeface="Cambria Math" panose="02040503050406030204" pitchFamily="18" charset="0"/>
                        <a:ea typeface="Cambria Math" panose="02040503050406030204" pitchFamily="18" charset="0"/>
                      </a:rPr>
                      <m:t>ℒ</m:t>
                    </m:r>
                  </m:oMath>
                </a14:m>
                <a:r>
                  <a:rPr lang="en-US" sz="1588" dirty="0"/>
                  <a:t> </a:t>
                </a:r>
              </a:p>
            </p:txBody>
          </p:sp>
        </mc:Choice>
        <mc:Fallback xmlns="">
          <p:sp>
            <p:nvSpPr>
              <p:cNvPr id="17" name="TextBox 16">
                <a:extLst>
                  <a:ext uri="{FF2B5EF4-FFF2-40B4-BE49-F238E27FC236}">
                    <a16:creationId xmlns:a16="http://schemas.microsoft.com/office/drawing/2014/main" id="{E989ABAA-50F4-450E-9E32-D013F7C6D0D9}"/>
                  </a:ext>
                </a:extLst>
              </p:cNvPr>
              <p:cNvSpPr txBox="1">
                <a:spLocks noRot="1" noChangeAspect="1" noMove="1" noResize="1" noEditPoints="1" noAdjustHandles="1" noChangeArrowheads="1" noChangeShapeType="1" noTextEdit="1"/>
              </p:cNvSpPr>
              <p:nvPr/>
            </p:nvSpPr>
            <p:spPr>
              <a:xfrm>
                <a:off x="2728568" y="4037481"/>
                <a:ext cx="889511" cy="336695"/>
              </a:xfrm>
              <a:prstGeom prst="rect">
                <a:avLst/>
              </a:prstGeom>
              <a:blipFill>
                <a:blip r:embed="rId4"/>
                <a:stretch>
                  <a:fillRect t="-5357" b="-2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ED47F37-F5B8-4F24-B0B9-B52AC6FC6BC7}"/>
                  </a:ext>
                </a:extLst>
              </p:cNvPr>
              <p:cNvSpPr txBox="1"/>
              <p:nvPr/>
            </p:nvSpPr>
            <p:spPr>
              <a:xfrm>
                <a:off x="4271633" y="6197721"/>
                <a:ext cx="1715485" cy="336695"/>
              </a:xfrm>
              <a:prstGeom prst="rect">
                <a:avLst/>
              </a:prstGeom>
              <a:solidFill>
                <a:schemeClr val="bg1"/>
              </a:solidFill>
            </p:spPr>
            <p:txBody>
              <a:bodyPr wrap="square" rtlCol="0">
                <a:spAutoFit/>
              </a:bodyPr>
              <a:lstStyle/>
              <a:p>
                <a:pPr algn="ctr"/>
                <a:r>
                  <a:rPr lang="en-US" sz="1588" dirty="0"/>
                  <a:t>Parameters </a:t>
                </a:r>
                <a14:m>
                  <m:oMath xmlns:m="http://schemas.openxmlformats.org/officeDocument/2006/math">
                    <m:r>
                      <a:rPr lang="zh-TW" altLang="en-US" sz="1588" i="1">
                        <a:latin typeface="Cambria Math" panose="02040503050406030204" pitchFamily="18" charset="0"/>
                      </a:rPr>
                      <m:t>𝜃</m:t>
                    </m:r>
                  </m:oMath>
                </a14:m>
                <a:endParaRPr lang="en-US" sz="1588" dirty="0"/>
              </a:p>
            </p:txBody>
          </p:sp>
        </mc:Choice>
        <mc:Fallback xmlns="">
          <p:sp>
            <p:nvSpPr>
              <p:cNvPr id="18" name="TextBox 17">
                <a:extLst>
                  <a:ext uri="{FF2B5EF4-FFF2-40B4-BE49-F238E27FC236}">
                    <a16:creationId xmlns:a16="http://schemas.microsoft.com/office/drawing/2014/main" id="{CED47F37-F5B8-4F24-B0B9-B52AC6FC6BC7}"/>
                  </a:ext>
                </a:extLst>
              </p:cNvPr>
              <p:cNvSpPr txBox="1">
                <a:spLocks noRot="1" noChangeAspect="1" noMove="1" noResize="1" noEditPoints="1" noAdjustHandles="1" noChangeArrowheads="1" noChangeShapeType="1" noTextEdit="1"/>
              </p:cNvSpPr>
              <p:nvPr/>
            </p:nvSpPr>
            <p:spPr>
              <a:xfrm>
                <a:off x="4271633" y="6197721"/>
                <a:ext cx="1715485" cy="336695"/>
              </a:xfrm>
              <a:prstGeom prst="rect">
                <a:avLst/>
              </a:prstGeom>
              <a:blipFill>
                <a:blip r:embed="rId5"/>
                <a:stretch>
                  <a:fillRect t="-5455" b="-23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A10D6BC-7940-4C18-B85D-E025F96B504C}"/>
                  </a:ext>
                </a:extLst>
              </p:cNvPr>
              <p:cNvSpPr txBox="1"/>
              <p:nvPr/>
            </p:nvSpPr>
            <p:spPr>
              <a:xfrm>
                <a:off x="6368197" y="5371747"/>
                <a:ext cx="2709534" cy="581057"/>
              </a:xfrm>
              <a:prstGeom prst="rect">
                <a:avLst/>
              </a:prstGeom>
              <a:solidFill>
                <a:schemeClr val="bg1"/>
              </a:solidFill>
            </p:spPr>
            <p:txBody>
              <a:bodyPr wrap="square" rtlCol="0">
                <a:spAutoFit/>
              </a:bodyPr>
              <a:lstStyle/>
              <a:p>
                <a:endParaRPr lang="en-US" sz="1588" dirty="0"/>
              </a:p>
              <a:p>
                <a:r>
                  <a:rPr lang="en-US" sz="1588" dirty="0"/>
                  <a:t>Global loss minimum </a:t>
                </a:r>
                <a14:m>
                  <m:oMath xmlns:m="http://schemas.openxmlformats.org/officeDocument/2006/math">
                    <m:sSub>
                      <m:sSubPr>
                        <m:ctrlPr>
                          <a:rPr lang="en-US" sz="1588" i="1">
                            <a:latin typeface="Cambria Math" panose="02040503050406030204" pitchFamily="18" charset="0"/>
                            <a:ea typeface="Cambria Math" panose="02040503050406030204" pitchFamily="18" charset="0"/>
                          </a:rPr>
                        </m:ctrlPr>
                      </m:sSubPr>
                      <m:e>
                        <m:r>
                          <a:rPr lang="en-US" sz="1588" i="1">
                            <a:latin typeface="Cambria Math" panose="02040503050406030204" pitchFamily="18" charset="0"/>
                            <a:ea typeface="Cambria Math" panose="02040503050406030204" pitchFamily="18" charset="0"/>
                          </a:rPr>
                          <m:t>ℒ</m:t>
                        </m:r>
                      </m:e>
                      <m:sub>
                        <m:r>
                          <a:rPr lang="en-US" sz="1588" i="1">
                            <a:latin typeface="Cambria Math" panose="02040503050406030204" pitchFamily="18" charset="0"/>
                            <a:ea typeface="Cambria Math" panose="02040503050406030204" pitchFamily="18" charset="0"/>
                          </a:rPr>
                          <m:t>𝑚𝑖𝑛</m:t>
                        </m:r>
                      </m:sub>
                    </m:sSub>
                  </m:oMath>
                </a14:m>
                <a:endParaRPr lang="en-US" sz="1588" dirty="0"/>
              </a:p>
            </p:txBody>
          </p:sp>
        </mc:Choice>
        <mc:Fallback xmlns="">
          <p:sp>
            <p:nvSpPr>
              <p:cNvPr id="19" name="TextBox 18">
                <a:extLst>
                  <a:ext uri="{FF2B5EF4-FFF2-40B4-BE49-F238E27FC236}">
                    <a16:creationId xmlns:a16="http://schemas.microsoft.com/office/drawing/2014/main" id="{2A10D6BC-7940-4C18-B85D-E025F96B504C}"/>
                  </a:ext>
                </a:extLst>
              </p:cNvPr>
              <p:cNvSpPr txBox="1">
                <a:spLocks noRot="1" noChangeAspect="1" noMove="1" noResize="1" noEditPoints="1" noAdjustHandles="1" noChangeArrowheads="1" noChangeShapeType="1" noTextEdit="1"/>
              </p:cNvSpPr>
              <p:nvPr/>
            </p:nvSpPr>
            <p:spPr>
              <a:xfrm>
                <a:off x="6368197" y="5371747"/>
                <a:ext cx="2709534" cy="581057"/>
              </a:xfrm>
              <a:prstGeom prst="rect">
                <a:avLst/>
              </a:prstGeom>
              <a:blipFill>
                <a:blip r:embed="rId6"/>
                <a:stretch>
                  <a:fillRect l="-1351" b="-125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A884C47-C7E8-4EF9-951A-1E84D7AE3D2E}"/>
                  </a:ext>
                </a:extLst>
              </p:cNvPr>
              <p:cNvSpPr txBox="1"/>
              <p:nvPr/>
            </p:nvSpPr>
            <p:spPr>
              <a:xfrm>
                <a:off x="6965101" y="4000430"/>
                <a:ext cx="1799432" cy="452303"/>
              </a:xfrm>
              <a:prstGeom prst="rect">
                <a:avLst/>
              </a:prstGeom>
              <a:solidFill>
                <a:schemeClr val="bg1"/>
              </a:solidFill>
            </p:spPr>
            <p:txBody>
              <a:bodyPr wrap="square" rtlCol="0">
                <a:spAutoFit/>
              </a:bodyPr>
              <a:lstStyle/>
              <a:p>
                <a:r>
                  <a:rPr lang="en-US" sz="1588" dirty="0"/>
                  <a:t>Gradient </a:t>
                </a:r>
                <a14:m>
                  <m:oMath xmlns:m="http://schemas.openxmlformats.org/officeDocument/2006/math">
                    <m:r>
                      <a:rPr lang="zh-TW" altLang="en-US" sz="1588" i="1">
                        <a:latin typeface="Cambria Math" panose="02040503050406030204" pitchFamily="18" charset="0"/>
                      </a:rPr>
                      <m:t>𝛻</m:t>
                    </m:r>
                    <m:r>
                      <a:rPr lang="en-US" altLang="zh-TW" sz="1588" i="1">
                        <a:latin typeface="Cambria Math" panose="02040503050406030204" pitchFamily="18" charset="0"/>
                        <a:ea typeface="Cambria Math" panose="02040503050406030204" pitchFamily="18" charset="0"/>
                      </a:rPr>
                      <m:t>ℒ</m:t>
                    </m:r>
                    <m:r>
                      <a:rPr lang="en-US" altLang="zh-TW" sz="1588" i="1">
                        <a:latin typeface="Cambria Math" panose="02040503050406030204" pitchFamily="18" charset="0"/>
                        <a:ea typeface="Cambria Math" panose="02040503050406030204" pitchFamily="18" charset="0"/>
                      </a:rPr>
                      <m:t>=</m:t>
                    </m:r>
                    <m:f>
                      <m:fPr>
                        <m:ctrlPr>
                          <a:rPr lang="en-US" sz="1588" i="1">
                            <a:latin typeface="Cambria Math" panose="02040503050406030204" pitchFamily="18" charset="0"/>
                          </a:rPr>
                        </m:ctrlPr>
                      </m:fPr>
                      <m:num>
                        <m:r>
                          <a:rPr lang="en-US" sz="1588" i="1">
                            <a:latin typeface="Cambria Math" panose="02040503050406030204" pitchFamily="18" charset="0"/>
                            <a:ea typeface="Cambria Math" panose="02040503050406030204" pitchFamily="18" charset="0"/>
                          </a:rPr>
                          <m:t>𝜕</m:t>
                        </m:r>
                        <m:r>
                          <a:rPr lang="en-US" sz="1588" i="1">
                            <a:latin typeface="Cambria Math" panose="02040503050406030204" pitchFamily="18" charset="0"/>
                            <a:ea typeface="Cambria Math" panose="02040503050406030204" pitchFamily="18" charset="0"/>
                          </a:rPr>
                          <m:t>ℒ</m:t>
                        </m:r>
                      </m:num>
                      <m:den>
                        <m:r>
                          <a:rPr lang="en-US" sz="1588" i="1">
                            <a:latin typeface="Cambria Math" panose="02040503050406030204" pitchFamily="18" charset="0"/>
                            <a:ea typeface="Cambria Math" panose="02040503050406030204" pitchFamily="18" charset="0"/>
                          </a:rPr>
                          <m:t>𝜕</m:t>
                        </m:r>
                        <m:r>
                          <a:rPr lang="zh-TW" altLang="en-US" sz="2118" i="1">
                            <a:latin typeface="Cambria Math" panose="02040503050406030204" pitchFamily="18" charset="0"/>
                          </a:rPr>
                          <m:t>𝜃</m:t>
                        </m:r>
                      </m:den>
                    </m:f>
                  </m:oMath>
                </a14:m>
                <a:r>
                  <a:rPr lang="en-US" sz="1588" dirty="0"/>
                  <a:t> </a:t>
                </a:r>
              </a:p>
            </p:txBody>
          </p:sp>
        </mc:Choice>
        <mc:Fallback xmlns="">
          <p:sp>
            <p:nvSpPr>
              <p:cNvPr id="20" name="TextBox 19">
                <a:extLst>
                  <a:ext uri="{FF2B5EF4-FFF2-40B4-BE49-F238E27FC236}">
                    <a16:creationId xmlns:a16="http://schemas.microsoft.com/office/drawing/2014/main" id="{2A884C47-C7E8-4EF9-951A-1E84D7AE3D2E}"/>
                  </a:ext>
                </a:extLst>
              </p:cNvPr>
              <p:cNvSpPr txBox="1">
                <a:spLocks noRot="1" noChangeAspect="1" noMove="1" noResize="1" noEditPoints="1" noAdjustHandles="1" noChangeArrowheads="1" noChangeShapeType="1" noTextEdit="1"/>
              </p:cNvSpPr>
              <p:nvPr/>
            </p:nvSpPr>
            <p:spPr>
              <a:xfrm>
                <a:off x="6965101" y="4000430"/>
                <a:ext cx="1799432" cy="452303"/>
              </a:xfrm>
              <a:prstGeom prst="rect">
                <a:avLst/>
              </a:prstGeom>
              <a:blipFill>
                <a:blip r:embed="rId7"/>
                <a:stretch>
                  <a:fillRect l="-2034" b="-67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4C1F5C9-1E09-4121-A531-46C5A173D330}"/>
                  </a:ext>
                </a:extLst>
              </p:cNvPr>
              <p:cNvSpPr txBox="1"/>
              <p:nvPr/>
            </p:nvSpPr>
            <p:spPr>
              <a:xfrm>
                <a:off x="4062834" y="3975481"/>
                <a:ext cx="1415992" cy="581057"/>
              </a:xfrm>
              <a:prstGeom prst="rect">
                <a:avLst/>
              </a:prstGeom>
              <a:solidFill>
                <a:schemeClr val="bg1"/>
              </a:solidFill>
            </p:spPr>
            <p:txBody>
              <a:bodyPr wrap="square" rtlCol="0">
                <a:spAutoFit/>
              </a:bodyPr>
              <a:lstStyle/>
              <a:p>
                <a:pPr algn="ctr"/>
                <a:r>
                  <a:rPr lang="en-US" sz="1588" dirty="0"/>
                  <a:t>Initial </a:t>
                </a:r>
              </a:p>
              <a:p>
                <a:pPr algn="r"/>
                <a:r>
                  <a:rPr lang="en-US" sz="1588" dirty="0"/>
                  <a:t>parameters </a:t>
                </a:r>
                <a14:m>
                  <m:oMath xmlns:m="http://schemas.openxmlformats.org/officeDocument/2006/math">
                    <m:sSup>
                      <m:sSupPr>
                        <m:ctrlPr>
                          <a:rPr lang="en-US" altLang="zh-TW" sz="1588" i="1">
                            <a:latin typeface="Cambria Math" panose="02040503050406030204" pitchFamily="18" charset="0"/>
                          </a:rPr>
                        </m:ctrlPr>
                      </m:sSupPr>
                      <m:e>
                        <m:r>
                          <a:rPr lang="zh-TW" altLang="en-US" sz="1588" i="1">
                            <a:latin typeface="Cambria Math" panose="02040503050406030204" pitchFamily="18" charset="0"/>
                          </a:rPr>
                          <m:t>𝜃</m:t>
                        </m:r>
                      </m:e>
                      <m:sup>
                        <m:r>
                          <a:rPr lang="en-US" altLang="zh-TW" sz="1588" i="1">
                            <a:latin typeface="Cambria Math" panose="02040503050406030204" pitchFamily="18" charset="0"/>
                          </a:rPr>
                          <m:t>0</m:t>
                        </m:r>
                      </m:sup>
                    </m:sSup>
                  </m:oMath>
                </a14:m>
                <a:endParaRPr lang="en-US" sz="1588" dirty="0"/>
              </a:p>
            </p:txBody>
          </p:sp>
        </mc:Choice>
        <mc:Fallback xmlns="">
          <p:sp>
            <p:nvSpPr>
              <p:cNvPr id="21" name="TextBox 20">
                <a:extLst>
                  <a:ext uri="{FF2B5EF4-FFF2-40B4-BE49-F238E27FC236}">
                    <a16:creationId xmlns:a16="http://schemas.microsoft.com/office/drawing/2014/main" id="{94C1F5C9-1E09-4121-A531-46C5A173D330}"/>
                  </a:ext>
                </a:extLst>
              </p:cNvPr>
              <p:cNvSpPr txBox="1">
                <a:spLocks noRot="1" noChangeAspect="1" noMove="1" noResize="1" noEditPoints="1" noAdjustHandles="1" noChangeArrowheads="1" noChangeShapeType="1" noTextEdit="1"/>
              </p:cNvSpPr>
              <p:nvPr/>
            </p:nvSpPr>
            <p:spPr>
              <a:xfrm>
                <a:off x="4062834" y="3975481"/>
                <a:ext cx="1415992" cy="581057"/>
              </a:xfrm>
              <a:prstGeom prst="rect">
                <a:avLst/>
              </a:prstGeom>
              <a:blipFill>
                <a:blip r:embed="rId8"/>
                <a:stretch>
                  <a:fillRect t="-3158" b="-1368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4FD647C-DFA5-4799-80FE-E2BF487B70D3}"/>
                  </a:ext>
                </a:extLst>
              </p:cNvPr>
              <p:cNvSpPr txBox="1"/>
              <p:nvPr/>
            </p:nvSpPr>
            <p:spPr>
              <a:xfrm>
                <a:off x="6483932" y="4985444"/>
                <a:ext cx="3805474" cy="336695"/>
              </a:xfrm>
              <a:prstGeom prst="rect">
                <a:avLst/>
              </a:prstGeom>
              <a:solidFill>
                <a:schemeClr val="bg1"/>
              </a:solidFill>
            </p:spPr>
            <p:txBody>
              <a:bodyPr wrap="square" rtlCol="0">
                <a:spAutoFit/>
              </a:bodyPr>
              <a:lstStyle/>
              <a:p>
                <a:r>
                  <a:rPr lang="en-US" sz="1588" dirty="0"/>
                  <a:t>Parameter update:</a:t>
                </a:r>
                <a14:m>
                  <m:oMath xmlns:m="http://schemas.openxmlformats.org/officeDocument/2006/math">
                    <m:sSup>
                      <m:sSupPr>
                        <m:ctrlPr>
                          <a:rPr lang="en-US" altLang="zh-TW" sz="1588" i="1">
                            <a:latin typeface="Cambria Math" panose="02040503050406030204" pitchFamily="18" charset="0"/>
                          </a:rPr>
                        </m:ctrlPr>
                      </m:sSupPr>
                      <m:e>
                        <m:r>
                          <a:rPr lang="en-US" altLang="zh-TW" sz="1588" i="1">
                            <a:latin typeface="Cambria Math" panose="02040503050406030204" pitchFamily="18" charset="0"/>
                          </a:rPr>
                          <m:t> </m:t>
                        </m:r>
                        <m:r>
                          <a:rPr lang="zh-TW" altLang="en-US" sz="1588" i="1">
                            <a:latin typeface="Cambria Math" panose="02040503050406030204" pitchFamily="18" charset="0"/>
                          </a:rPr>
                          <m:t>𝜃</m:t>
                        </m:r>
                      </m:e>
                      <m:sup>
                        <m:r>
                          <a:rPr lang="en-US" altLang="zh-TW" sz="1588" i="1">
                            <a:latin typeface="Cambria Math" panose="02040503050406030204" pitchFamily="18" charset="0"/>
                          </a:rPr>
                          <m:t>𝑛𝑒𝑤</m:t>
                        </m:r>
                      </m:sup>
                    </m:sSup>
                    <m:r>
                      <a:rPr lang="en-US" altLang="zh-TW" sz="1588" i="1">
                        <a:latin typeface="Cambria Math" panose="02040503050406030204" pitchFamily="18" charset="0"/>
                      </a:rPr>
                      <m:t>=</m:t>
                    </m:r>
                    <m:r>
                      <a:rPr lang="zh-TW" altLang="en-US" sz="1588" i="1">
                        <a:latin typeface="Cambria Math" panose="02040503050406030204" pitchFamily="18" charset="0"/>
                      </a:rPr>
                      <m:t>𝜃</m:t>
                    </m:r>
                    <m:r>
                      <a:rPr lang="en-US" altLang="zh-TW" sz="1588" i="1">
                        <a:latin typeface="Cambria Math" panose="02040503050406030204" pitchFamily="18" charset="0"/>
                      </a:rPr>
                      <m:t>−</m:t>
                    </m:r>
                    <m:r>
                      <a:rPr lang="zh-TW" altLang="en-US" sz="1588" i="1">
                        <a:latin typeface="Cambria Math" panose="02040503050406030204" pitchFamily="18" charset="0"/>
                      </a:rPr>
                      <m:t>𝛼𝛻</m:t>
                    </m:r>
                    <m:r>
                      <a:rPr lang="en-US" altLang="zh-TW" sz="1588" i="1">
                        <a:latin typeface="Cambria Math" panose="02040503050406030204" pitchFamily="18" charset="0"/>
                        <a:ea typeface="Cambria Math" panose="02040503050406030204" pitchFamily="18" charset="0"/>
                      </a:rPr>
                      <m:t>ℒ</m:t>
                    </m:r>
                    <m:d>
                      <m:dPr>
                        <m:ctrlPr>
                          <a:rPr lang="en-US" altLang="zh-TW" sz="1588" i="1">
                            <a:latin typeface="Cambria Math" panose="02040503050406030204" pitchFamily="18" charset="0"/>
                          </a:rPr>
                        </m:ctrlPr>
                      </m:dPr>
                      <m:e>
                        <m:sSup>
                          <m:sSupPr>
                            <m:ctrlPr>
                              <a:rPr lang="en-US" altLang="zh-TW" sz="1588" i="1">
                                <a:latin typeface="Cambria Math" panose="02040503050406030204" pitchFamily="18" charset="0"/>
                              </a:rPr>
                            </m:ctrlPr>
                          </m:sSupPr>
                          <m:e>
                            <m:r>
                              <a:rPr lang="zh-TW" altLang="en-US" sz="1588" i="1">
                                <a:latin typeface="Cambria Math" panose="02040503050406030204" pitchFamily="18" charset="0"/>
                              </a:rPr>
                              <m:t>𝜃</m:t>
                            </m:r>
                          </m:e>
                          <m:sup>
                            <m:r>
                              <a:rPr lang="en-US" altLang="zh-TW" sz="1588" i="1">
                                <a:latin typeface="Cambria Math" panose="02040503050406030204" pitchFamily="18" charset="0"/>
                              </a:rPr>
                              <m:t>0</m:t>
                            </m:r>
                          </m:sup>
                        </m:sSup>
                      </m:e>
                    </m:d>
                  </m:oMath>
                </a14:m>
                <a:endParaRPr lang="en-US" sz="1588" dirty="0"/>
              </a:p>
            </p:txBody>
          </p:sp>
        </mc:Choice>
        <mc:Fallback xmlns="">
          <p:sp>
            <p:nvSpPr>
              <p:cNvPr id="22" name="TextBox 21">
                <a:extLst>
                  <a:ext uri="{FF2B5EF4-FFF2-40B4-BE49-F238E27FC236}">
                    <a16:creationId xmlns:a16="http://schemas.microsoft.com/office/drawing/2014/main" id="{A4FD647C-DFA5-4799-80FE-E2BF487B70D3}"/>
                  </a:ext>
                </a:extLst>
              </p:cNvPr>
              <p:cNvSpPr txBox="1">
                <a:spLocks noRot="1" noChangeAspect="1" noMove="1" noResize="1" noEditPoints="1" noAdjustHandles="1" noChangeArrowheads="1" noChangeShapeType="1" noTextEdit="1"/>
              </p:cNvSpPr>
              <p:nvPr/>
            </p:nvSpPr>
            <p:spPr>
              <a:xfrm>
                <a:off x="6483932" y="4985444"/>
                <a:ext cx="3805474" cy="336695"/>
              </a:xfrm>
              <a:prstGeom prst="rect">
                <a:avLst/>
              </a:prstGeom>
              <a:blipFill>
                <a:blip r:embed="rId9"/>
                <a:stretch>
                  <a:fillRect l="-962" t="-5455" b="-23636"/>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B1F21D73-0240-460C-B573-1CD9C3937B43}"/>
                  </a:ext>
                </a:extLst>
              </p14:cNvPr>
              <p14:cNvContentPartPr/>
              <p14:nvPr/>
            </p14:nvContentPartPr>
            <p14:xfrm>
              <a:off x="5915160" y="1684440"/>
              <a:ext cx="2887200" cy="1232280"/>
            </p14:xfrm>
          </p:contentPart>
        </mc:Choice>
        <mc:Fallback xmlns="">
          <p:pic>
            <p:nvPicPr>
              <p:cNvPr id="4" name="Ink 3">
                <a:extLst>
                  <a:ext uri="{FF2B5EF4-FFF2-40B4-BE49-F238E27FC236}">
                    <a16:creationId xmlns:a16="http://schemas.microsoft.com/office/drawing/2014/main" id="{B1F21D73-0240-460C-B573-1CD9C3937B43}"/>
                  </a:ext>
                </a:extLst>
              </p:cNvPr>
              <p:cNvPicPr/>
              <p:nvPr/>
            </p:nvPicPr>
            <p:blipFill>
              <a:blip r:embed="rId11"/>
              <a:stretch>
                <a:fillRect/>
              </a:stretch>
            </p:blipFill>
            <p:spPr>
              <a:xfrm>
                <a:off x="5905800" y="1675080"/>
                <a:ext cx="2905920" cy="1251000"/>
              </a:xfrm>
              <a:prstGeom prst="rect">
                <a:avLst/>
              </a:prstGeom>
            </p:spPr>
          </p:pic>
        </mc:Fallback>
      </mc:AlternateContent>
    </p:spTree>
    <p:extLst>
      <p:ext uri="{BB962C8B-B14F-4D97-AF65-F5344CB8AC3E}">
        <p14:creationId xmlns:p14="http://schemas.microsoft.com/office/powerpoint/2010/main" val="1132264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a NN with only 2 parameters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oMath>
                </a14:m>
                <a:r>
                  <a:rPr lang="en-US"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oMath>
                </a14:m>
                <a:r>
                  <a:rPr lang="en-US" dirty="0"/>
                  <a:t>, i.e., </a:t>
                </a:r>
                <a14:m>
                  <m:oMath xmlns:m="http://schemas.openxmlformats.org/officeDocument/2006/math">
                    <m:r>
                      <a:rPr lang="zh-TW" altLang="en-US" i="1">
                        <a:latin typeface="Cambria Math" panose="02040503050406030204" pitchFamily="18" charset="0"/>
                      </a:rPr>
                      <m:t>𝜃</m:t>
                    </m:r>
                    <m:r>
                      <a:rPr lang="en-US" altLang="zh-TW" i="1">
                        <a:latin typeface="Cambria Math" panose="02040503050406030204" pitchFamily="18" charset="0"/>
                      </a:rPr>
                      <m:t>=</m:t>
                    </m:r>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e>
                    </m:d>
                  </m:oMath>
                </a14:m>
                <a:endParaRPr lang="en-US" dirty="0"/>
              </a:p>
              <a:p>
                <a:pPr lvl="1"/>
                <a:r>
                  <a:rPr lang="en-US" dirty="0"/>
                  <a:t>The different colors represent the values of the loss (minimum loss</a:t>
                </a:r>
                <a14:m>
                  <m:oMath xmlns:m="http://schemas.openxmlformats.org/officeDocument/2006/math">
                    <m:r>
                      <a:rPr lang="en-US" altLang="zh-TW" b="0" i="0"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zh-TW" altLang="en-US" i="1">
                            <a:latin typeface="Cambria Math" panose="02040503050406030204" pitchFamily="18" charset="0"/>
                          </a:rPr>
                          <m:t>𝜃</m:t>
                        </m:r>
                      </m:e>
                      <m:sup>
                        <m:r>
                          <a:rPr lang="en-US" altLang="zh-TW" b="0" i="1" smtClean="0">
                            <a:latin typeface="Cambria Math" panose="02040503050406030204" pitchFamily="18" charset="0"/>
                          </a:rPr>
                          <m:t>∗</m:t>
                        </m:r>
                      </m:sup>
                    </m:sSup>
                  </m:oMath>
                </a14:m>
                <a:r>
                  <a:rPr lang="en-US" dirty="0"/>
                  <a:t> is ≈ 1.3)</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9" t="-795"/>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B796A4ED-2580-4313-8EA7-EF317461EBEF}"/>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grpSp>
        <p:nvGrpSpPr>
          <p:cNvPr id="21" name="群組 3"/>
          <p:cNvGrpSpPr/>
          <p:nvPr/>
        </p:nvGrpSpPr>
        <p:grpSpPr>
          <a:xfrm>
            <a:off x="2217202" y="2612687"/>
            <a:ext cx="5689789" cy="4049767"/>
            <a:chOff x="706835" y="2341625"/>
            <a:chExt cx="6113826" cy="4234774"/>
          </a:xfrm>
        </p:grpSpPr>
        <p:pic>
          <p:nvPicPr>
            <p:cNvPr id="22" name="圖片 4"/>
            <p:cNvPicPr>
              <a:picLocks noChangeAspect="1"/>
            </p:cNvPicPr>
            <p:nvPr/>
          </p:nvPicPr>
          <p:blipFill rotWithShape="1">
            <a:blip r:embed="rId4">
              <a:extLst>
                <a:ext uri="{28A0092B-C50C-407E-A947-70E740481C1C}">
                  <a14:useLocalDpi xmlns:a14="http://schemas.microsoft.com/office/drawing/2010/main" val="0"/>
                </a:ext>
              </a:extLst>
            </a:blip>
            <a:srcRect t="7191" b="5873"/>
            <a:stretch/>
          </p:blipFill>
          <p:spPr>
            <a:xfrm>
              <a:off x="706835" y="2341625"/>
              <a:ext cx="6113826" cy="3986343"/>
            </a:xfrm>
            <a:prstGeom prst="rect">
              <a:avLst/>
            </a:prstGeom>
          </p:spPr>
        </p:pic>
        <mc:AlternateContent xmlns:mc="http://schemas.openxmlformats.org/markup-compatibility/2006" xmlns:a14="http://schemas.microsoft.com/office/drawing/2010/main">
          <mc:Choice Requires="a14">
            <p:sp>
              <p:nvSpPr>
                <p:cNvPr id="23" name="文字方塊 5"/>
                <p:cNvSpPr txBox="1"/>
                <p:nvPr/>
              </p:nvSpPr>
              <p:spPr>
                <a:xfrm>
                  <a:off x="3292460" y="6235587"/>
                  <a:ext cx="400439" cy="340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rPr>
                              <m:t>𝑤</m:t>
                            </m:r>
                          </m:e>
                          <m:sub>
                            <m:r>
                              <a:rPr lang="en-US" altLang="zh-TW" sz="2118" i="1">
                                <a:latin typeface="Cambria Math" panose="02040503050406030204" pitchFamily="18" charset="0"/>
                              </a:rPr>
                              <m:t>1</m:t>
                            </m:r>
                          </m:sub>
                        </m:sSub>
                      </m:oMath>
                    </m:oMathPara>
                  </a14:m>
                  <a:endParaRPr lang="zh-TW" altLang="en-US" sz="2118" dirty="0"/>
                </a:p>
              </p:txBody>
            </p:sp>
          </mc:Choice>
          <mc:Fallback xmlns="">
            <p:sp>
              <p:nvSpPr>
                <p:cNvPr id="23" name="文字方塊 5"/>
                <p:cNvSpPr txBox="1">
                  <a:spLocks noRot="1" noChangeAspect="1" noMove="1" noResize="1" noEditPoints="1" noAdjustHandles="1" noChangeArrowheads="1" noChangeShapeType="1" noTextEdit="1"/>
                </p:cNvSpPr>
                <p:nvPr/>
              </p:nvSpPr>
              <p:spPr>
                <a:xfrm>
                  <a:off x="3292460" y="6235587"/>
                  <a:ext cx="400439" cy="340812"/>
                </a:xfrm>
                <a:prstGeom prst="rect">
                  <a:avLst/>
                </a:prstGeom>
                <a:blipFill>
                  <a:blip r:embed="rId5"/>
                  <a:stretch>
                    <a:fillRect l="-9677" r="-6452" b="-129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文字方塊 6"/>
                <p:cNvSpPr txBox="1"/>
                <p:nvPr/>
              </p:nvSpPr>
              <p:spPr>
                <a:xfrm>
                  <a:off x="843326" y="4119935"/>
                  <a:ext cx="407192" cy="340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rPr>
                              <m:t>𝑤</m:t>
                            </m:r>
                          </m:e>
                          <m:sub>
                            <m:r>
                              <a:rPr lang="en-US" altLang="zh-TW" sz="2118" i="1">
                                <a:latin typeface="Cambria Math" panose="02040503050406030204" pitchFamily="18" charset="0"/>
                              </a:rPr>
                              <m:t>2</m:t>
                            </m:r>
                          </m:sub>
                        </m:sSub>
                      </m:oMath>
                    </m:oMathPara>
                  </a14:m>
                  <a:endParaRPr lang="zh-TW" altLang="en-US" sz="2118" dirty="0"/>
                </a:p>
              </p:txBody>
            </p:sp>
          </mc:Choice>
          <mc:Fallback xmlns="">
            <p:sp>
              <p:nvSpPr>
                <p:cNvPr id="24" name="文字方塊 6"/>
                <p:cNvSpPr txBox="1">
                  <a:spLocks noRot="1" noChangeAspect="1" noMove="1" noResize="1" noEditPoints="1" noAdjustHandles="1" noChangeArrowheads="1" noChangeShapeType="1" noTextEdit="1"/>
                </p:cNvSpPr>
                <p:nvPr/>
              </p:nvSpPr>
              <p:spPr>
                <a:xfrm>
                  <a:off x="843326" y="4119935"/>
                  <a:ext cx="407192" cy="340812"/>
                </a:xfrm>
                <a:prstGeom prst="rect">
                  <a:avLst/>
                </a:prstGeom>
                <a:blipFill>
                  <a:blip r:embed="rId6"/>
                  <a:stretch>
                    <a:fillRect l="-9677" r="-6452" b="-13208"/>
                  </a:stretch>
                </a:blipFill>
              </p:spPr>
              <p:txBody>
                <a:bodyPr/>
                <a:lstStyle/>
                <a:p>
                  <a:r>
                    <a:rPr lang="en-IN">
                      <a:noFill/>
                    </a:rPr>
                    <a:t> </a:t>
                  </a:r>
                </a:p>
              </p:txBody>
            </p:sp>
          </mc:Fallback>
        </mc:AlternateContent>
      </p:grpSp>
      <p:sp>
        <p:nvSpPr>
          <p:cNvPr id="25" name="橢圓 8"/>
          <p:cNvSpPr/>
          <p:nvPr/>
        </p:nvSpPr>
        <p:spPr>
          <a:xfrm>
            <a:off x="3663209" y="5503917"/>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26" name="文字方塊 22"/>
              <p:cNvSpPr txBox="1"/>
              <p:nvPr/>
            </p:nvSpPr>
            <p:spPr>
              <a:xfrm>
                <a:off x="7809001" y="3385884"/>
                <a:ext cx="2335361" cy="635559"/>
              </a:xfrm>
              <a:prstGeom prst="rect">
                <a:avLst/>
              </a:prstGeom>
              <a:noFill/>
            </p:spPr>
            <p:txBody>
              <a:bodyPr wrap="square" rtlCol="0">
                <a:spAutoFit/>
              </a:bodyPr>
              <a:lstStyle/>
              <a:p>
                <a:r>
                  <a:rPr lang="en-US" altLang="zh-TW" sz="1765" dirty="0"/>
                  <a:t>2. Compute the gradient at </a:t>
                </a:r>
                <a14:m>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oMath>
                </a14:m>
                <a:r>
                  <a:rPr lang="en-US" altLang="zh-TW" sz="1765" dirty="0"/>
                  <a:t>, </a:t>
                </a:r>
                <a14:m>
                  <m:oMath xmlns:m="http://schemas.openxmlformats.org/officeDocument/2006/math">
                    <m:r>
                      <a:rPr lang="zh-TW" altLang="en-US" sz="1765" i="1">
                        <a:latin typeface="Cambria Math" panose="02040503050406030204" pitchFamily="18" charset="0"/>
                      </a:rPr>
                      <m:t>𝛻</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e>
                    </m:d>
                  </m:oMath>
                </a14:m>
                <a:endParaRPr lang="zh-TW" altLang="en-US" sz="1765" dirty="0"/>
              </a:p>
            </p:txBody>
          </p:sp>
        </mc:Choice>
        <mc:Fallback xmlns="">
          <p:sp>
            <p:nvSpPr>
              <p:cNvPr id="26" name="文字方塊 22"/>
              <p:cNvSpPr txBox="1">
                <a:spLocks noRot="1" noChangeAspect="1" noMove="1" noResize="1" noEditPoints="1" noAdjustHandles="1" noChangeArrowheads="1" noChangeShapeType="1" noTextEdit="1"/>
              </p:cNvSpPr>
              <p:nvPr/>
            </p:nvSpPr>
            <p:spPr>
              <a:xfrm>
                <a:off x="7809001" y="3385884"/>
                <a:ext cx="2335361" cy="635559"/>
              </a:xfrm>
              <a:prstGeom prst="rect">
                <a:avLst/>
              </a:prstGeom>
              <a:blipFill>
                <a:blip r:embed="rId7"/>
                <a:stretch>
                  <a:fillRect l="-1828" t="-3810"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文字方塊 25"/>
              <p:cNvSpPr txBox="1"/>
              <p:nvPr/>
            </p:nvSpPr>
            <p:spPr>
              <a:xfrm>
                <a:off x="3893067" y="5503408"/>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0</m:t>
                          </m:r>
                        </m:sup>
                      </m:sSup>
                    </m:oMath>
                  </m:oMathPara>
                </a14:m>
                <a:endParaRPr lang="zh-TW" altLang="en-US" sz="2118" dirty="0"/>
              </a:p>
            </p:txBody>
          </p:sp>
        </mc:Choice>
        <mc:Fallback xmlns="">
          <p:sp>
            <p:nvSpPr>
              <p:cNvPr id="28" name="文字方塊 25"/>
              <p:cNvSpPr txBox="1">
                <a:spLocks noRot="1" noChangeAspect="1" noMove="1" noResize="1" noEditPoints="1" noAdjustHandles="1" noChangeArrowheads="1" noChangeShapeType="1" noTextEdit="1"/>
              </p:cNvSpPr>
              <p:nvPr/>
            </p:nvSpPr>
            <p:spPr>
              <a:xfrm>
                <a:off x="3893067" y="5503408"/>
                <a:ext cx="404911" cy="41825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文字方塊 29"/>
              <p:cNvSpPr txBox="1"/>
              <p:nvPr/>
            </p:nvSpPr>
            <p:spPr>
              <a:xfrm>
                <a:off x="7836301" y="4194435"/>
                <a:ext cx="2434129" cy="907171"/>
              </a:xfrm>
              <a:prstGeom prst="rect">
                <a:avLst/>
              </a:prstGeom>
              <a:noFill/>
            </p:spPr>
            <p:txBody>
              <a:bodyPr wrap="square" rtlCol="0">
                <a:spAutoFit/>
              </a:bodyPr>
              <a:lstStyle/>
              <a:p>
                <a:r>
                  <a:rPr lang="en-US" altLang="zh-TW" sz="1765" dirty="0"/>
                  <a:t>3. Times the learning rate </a:t>
                </a:r>
                <a14:m>
                  <m:oMath xmlns:m="http://schemas.openxmlformats.org/officeDocument/2006/math">
                    <m:r>
                      <a:rPr lang="zh-TW" altLang="en-US" sz="1765" i="1">
                        <a:latin typeface="Cambria Math" panose="02040503050406030204" pitchFamily="18" charset="0"/>
                      </a:rPr>
                      <m:t>𝜂</m:t>
                    </m:r>
                  </m:oMath>
                </a14:m>
                <a:r>
                  <a:rPr lang="en-US" altLang="zh-TW" sz="1765" dirty="0"/>
                  <a:t>, and update </a:t>
                </a:r>
                <a14:m>
                  <m:oMath xmlns:m="http://schemas.openxmlformats.org/officeDocument/2006/math">
                    <m:r>
                      <a:rPr lang="zh-TW" altLang="en-US" sz="1765" i="1">
                        <a:latin typeface="Cambria Math" panose="02040503050406030204" pitchFamily="18" charset="0"/>
                      </a:rPr>
                      <m:t>𝜃</m:t>
                    </m:r>
                    <m:r>
                      <a:rPr lang="en-US" altLang="zh-TW" sz="1765" i="1">
                        <a:latin typeface="Cambria Math" panose="02040503050406030204" pitchFamily="18" charset="0"/>
                      </a:rPr>
                      <m:t>,</m:t>
                    </m:r>
                  </m:oMath>
                </a14:m>
                <a:endParaRPr lang="en-US" altLang="zh-TW" sz="1765" dirty="0"/>
              </a:p>
              <a:p>
                <a:pPr/>
                <a14:m>
                  <m:oMathPara xmlns:m="http://schemas.openxmlformats.org/officeDocument/2006/math">
                    <m:oMathParaPr>
                      <m:jc m:val="centerGroup"/>
                    </m:oMathParaPr>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𝑛𝑒𝑤</m:t>
                          </m:r>
                        </m:sup>
                      </m:sSup>
                      <m:r>
                        <a:rPr lang="en-US" altLang="zh-TW" sz="1765" i="1">
                          <a:latin typeface="Cambria Math" panose="02040503050406030204" pitchFamily="18" charset="0"/>
                        </a:rPr>
                        <m:t>=</m:t>
                      </m:r>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r>
                        <a:rPr lang="en-US" altLang="zh-TW" sz="1765" i="1">
                          <a:latin typeface="Cambria Math" panose="02040503050406030204" pitchFamily="18" charset="0"/>
                        </a:rPr>
                        <m:t>−</m:t>
                      </m:r>
                      <m:r>
                        <a:rPr lang="zh-TW" altLang="en-US" sz="1765" i="1">
                          <a:latin typeface="Cambria Math" panose="02040503050406030204" pitchFamily="18" charset="0"/>
                        </a:rPr>
                        <m:t>𝛼𝛻</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e>
                      </m:d>
                    </m:oMath>
                  </m:oMathPara>
                </a14:m>
                <a:endParaRPr lang="zh-TW" altLang="en-US" sz="1765" dirty="0"/>
              </a:p>
            </p:txBody>
          </p:sp>
        </mc:Choice>
        <mc:Fallback xmlns="">
          <p:sp>
            <p:nvSpPr>
              <p:cNvPr id="29" name="文字方塊 29"/>
              <p:cNvSpPr txBox="1">
                <a:spLocks noRot="1" noChangeAspect="1" noMove="1" noResize="1" noEditPoints="1" noAdjustHandles="1" noChangeArrowheads="1" noChangeShapeType="1" noTextEdit="1"/>
              </p:cNvSpPr>
              <p:nvPr/>
            </p:nvSpPr>
            <p:spPr>
              <a:xfrm>
                <a:off x="7836301" y="4194435"/>
                <a:ext cx="2434129" cy="907171"/>
              </a:xfrm>
              <a:prstGeom prst="rect">
                <a:avLst/>
              </a:prstGeom>
              <a:blipFill>
                <a:blip r:embed="rId9"/>
                <a:stretch>
                  <a:fillRect l="-1750" t="-2685"/>
                </a:stretch>
              </a:blipFill>
            </p:spPr>
            <p:txBody>
              <a:bodyPr/>
              <a:lstStyle/>
              <a:p>
                <a:r>
                  <a:rPr lang="en-IN">
                    <a:noFill/>
                  </a:rPr>
                  <a:t> </a:t>
                </a:r>
              </a:p>
            </p:txBody>
          </p:sp>
        </mc:Fallback>
      </mc:AlternateContent>
      <p:cxnSp>
        <p:nvCxnSpPr>
          <p:cNvPr id="33" name="直線單箭頭接點 23"/>
          <p:cNvCxnSpPr/>
          <p:nvPr/>
        </p:nvCxnSpPr>
        <p:spPr>
          <a:xfrm flipV="1">
            <a:off x="3789454" y="4699928"/>
            <a:ext cx="250876" cy="8104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橢圓 28"/>
          <p:cNvSpPr/>
          <p:nvPr/>
        </p:nvSpPr>
        <p:spPr>
          <a:xfrm>
            <a:off x="3996076" y="4519385"/>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35" name="文字方塊 33"/>
              <p:cNvSpPr txBox="1"/>
              <p:nvPr/>
            </p:nvSpPr>
            <p:spPr>
              <a:xfrm>
                <a:off x="4225934" y="4518876"/>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1</m:t>
                          </m:r>
                        </m:sup>
                      </m:sSup>
                    </m:oMath>
                  </m:oMathPara>
                </a14:m>
                <a:endParaRPr lang="zh-TW" altLang="en-US" sz="2118" dirty="0"/>
              </a:p>
            </p:txBody>
          </p:sp>
        </mc:Choice>
        <mc:Fallback xmlns="">
          <p:sp>
            <p:nvSpPr>
              <p:cNvPr id="35" name="文字方塊 33"/>
              <p:cNvSpPr txBox="1">
                <a:spLocks noRot="1" noChangeAspect="1" noMove="1" noResize="1" noEditPoints="1" noAdjustHandles="1" noChangeArrowheads="1" noChangeShapeType="1" noTextEdit="1"/>
              </p:cNvSpPr>
              <p:nvPr/>
            </p:nvSpPr>
            <p:spPr>
              <a:xfrm>
                <a:off x="4225934" y="4518876"/>
                <a:ext cx="404911" cy="418256"/>
              </a:xfrm>
              <a:prstGeom prst="rect">
                <a:avLst/>
              </a:prstGeom>
              <a:blipFill>
                <a:blip r:embed="rId10"/>
                <a:stretch>
                  <a:fillRect/>
                </a:stretch>
              </a:blipFill>
            </p:spPr>
            <p:txBody>
              <a:bodyPr/>
              <a:lstStyle/>
              <a:p>
                <a:r>
                  <a:rPr lang="en-IN">
                    <a:noFill/>
                  </a:rPr>
                  <a:t> </a:t>
                </a:r>
              </a:p>
            </p:txBody>
          </p:sp>
        </mc:Fallback>
      </mc:AlternateContent>
      <p:sp>
        <p:nvSpPr>
          <p:cNvPr id="40" name="橢圓 38"/>
          <p:cNvSpPr/>
          <p:nvPr/>
        </p:nvSpPr>
        <p:spPr>
          <a:xfrm>
            <a:off x="4432805" y="4127642"/>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47" name="文字方塊 44"/>
              <p:cNvSpPr txBox="1"/>
              <p:nvPr/>
            </p:nvSpPr>
            <p:spPr>
              <a:xfrm>
                <a:off x="7787245" y="2603027"/>
                <a:ext cx="2173756" cy="635559"/>
              </a:xfrm>
              <a:prstGeom prst="rect">
                <a:avLst/>
              </a:prstGeom>
              <a:noFill/>
            </p:spPr>
            <p:txBody>
              <a:bodyPr wrap="square" rtlCol="0">
                <a:spAutoFit/>
              </a:bodyPr>
              <a:lstStyle/>
              <a:p>
                <a:r>
                  <a:rPr lang="en-US" altLang="zh-TW" sz="1765" dirty="0"/>
                  <a:t>1. Randomly pick a starting point </a:t>
                </a:r>
                <a14:m>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oMath>
                </a14:m>
                <a:endParaRPr lang="zh-TW" altLang="en-US" sz="1765" dirty="0"/>
              </a:p>
            </p:txBody>
          </p:sp>
        </mc:Choice>
        <mc:Fallback xmlns="">
          <p:sp>
            <p:nvSpPr>
              <p:cNvPr id="47" name="文字方塊 44"/>
              <p:cNvSpPr txBox="1">
                <a:spLocks noRot="1" noChangeAspect="1" noMove="1" noResize="1" noEditPoints="1" noAdjustHandles="1" noChangeArrowheads="1" noChangeShapeType="1" noTextEdit="1"/>
              </p:cNvSpPr>
              <p:nvPr/>
            </p:nvSpPr>
            <p:spPr>
              <a:xfrm>
                <a:off x="7787245" y="2603027"/>
                <a:ext cx="2173756" cy="635559"/>
              </a:xfrm>
              <a:prstGeom prst="rect">
                <a:avLst/>
              </a:prstGeom>
              <a:blipFill>
                <a:blip r:embed="rId11"/>
                <a:stretch>
                  <a:fillRect l="-1961" t="-3846" b="-14423"/>
                </a:stretch>
              </a:blipFill>
            </p:spPr>
            <p:txBody>
              <a:bodyPr/>
              <a:lstStyle/>
              <a:p>
                <a:r>
                  <a:rPr lang="en-IN">
                    <a:noFill/>
                  </a:rPr>
                  <a:t> </a:t>
                </a:r>
              </a:p>
            </p:txBody>
          </p:sp>
        </mc:Fallback>
      </mc:AlternateContent>
      <p:sp>
        <p:nvSpPr>
          <p:cNvPr id="48" name="文字方塊 44"/>
          <p:cNvSpPr txBox="1"/>
          <p:nvPr/>
        </p:nvSpPr>
        <p:spPr>
          <a:xfrm>
            <a:off x="7853352" y="5274555"/>
            <a:ext cx="2417078" cy="363946"/>
          </a:xfrm>
          <a:prstGeom prst="rect">
            <a:avLst/>
          </a:prstGeom>
          <a:noFill/>
        </p:spPr>
        <p:txBody>
          <a:bodyPr wrap="square" rtlCol="0">
            <a:spAutoFit/>
          </a:bodyPr>
          <a:lstStyle/>
          <a:p>
            <a:r>
              <a:rPr lang="en-US" altLang="zh-TW" sz="1765" dirty="0"/>
              <a:t>4. Go to step 2, repeat</a:t>
            </a:r>
            <a:endParaRPr lang="zh-TW" altLang="en-US" sz="1765" dirty="0"/>
          </a:p>
        </p:txBody>
      </p:sp>
      <p:sp>
        <p:nvSpPr>
          <p:cNvPr id="49" name="Rectangle 48"/>
          <p:cNvSpPr/>
          <p:nvPr/>
        </p:nvSpPr>
        <p:spPr>
          <a:xfrm>
            <a:off x="7716382" y="2603026"/>
            <a:ext cx="2491430" cy="30915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mc:AlternateContent xmlns:mc="http://schemas.openxmlformats.org/markup-compatibility/2006" xmlns:a14="http://schemas.microsoft.com/office/drawing/2010/main">
        <mc:Choice Requires="a14">
          <p:sp>
            <p:nvSpPr>
              <p:cNvPr id="50" name="文字方塊 39"/>
              <p:cNvSpPr txBox="1"/>
              <p:nvPr/>
            </p:nvSpPr>
            <p:spPr>
              <a:xfrm>
                <a:off x="3982627" y="5118780"/>
                <a:ext cx="1117870" cy="325923"/>
              </a:xfrm>
              <a:prstGeom prst="rect">
                <a:avLst/>
              </a:prstGeom>
            </p:spPr>
            <p:style>
              <a:lnRef idx="0">
                <a:schemeClr val="accent4"/>
              </a:lnRef>
              <a:fillRef idx="3">
                <a:schemeClr val="accent4"/>
              </a:fillRef>
              <a:effectRef idx="3">
                <a:schemeClr val="accent4"/>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118" i="1">
                          <a:latin typeface="Cambria Math" panose="02040503050406030204" pitchFamily="18" charset="0"/>
                        </a:rPr>
                        <m:t>−</m:t>
                      </m:r>
                      <m:r>
                        <a:rPr lang="zh-TW" altLang="en-US" sz="2118" i="1">
                          <a:latin typeface="Cambria Math" panose="02040503050406030204" pitchFamily="18" charset="0"/>
                        </a:rPr>
                        <m:t>𝛻</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0</m:t>
                              </m:r>
                            </m:sup>
                          </m:sSup>
                        </m:e>
                      </m:d>
                    </m:oMath>
                  </m:oMathPara>
                </a14:m>
                <a:endParaRPr lang="zh-TW" altLang="en-US" sz="2118" dirty="0"/>
              </a:p>
            </p:txBody>
          </p:sp>
        </mc:Choice>
        <mc:Fallback xmlns="">
          <p:sp>
            <p:nvSpPr>
              <p:cNvPr id="50" name="文字方塊 39"/>
              <p:cNvSpPr txBox="1">
                <a:spLocks noRot="1" noChangeAspect="1" noMove="1" noResize="1" noEditPoints="1" noAdjustHandles="1" noChangeArrowheads="1" noChangeShapeType="1" noTextEdit="1"/>
              </p:cNvSpPr>
              <p:nvPr/>
            </p:nvSpPr>
            <p:spPr>
              <a:xfrm>
                <a:off x="3982627" y="5118780"/>
                <a:ext cx="1117870" cy="325923"/>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文字方塊 36"/>
              <p:cNvSpPr txBox="1"/>
              <p:nvPr/>
            </p:nvSpPr>
            <p:spPr>
              <a:xfrm>
                <a:off x="1839057" y="4869990"/>
                <a:ext cx="1777016" cy="651845"/>
              </a:xfrm>
              <a:prstGeom prst="rect">
                <a:avLst/>
              </a:prstGeom>
            </p:spPr>
            <p:style>
              <a:lnRef idx="0">
                <a:schemeClr val="accent2"/>
              </a:lnRef>
              <a:fillRef idx="3">
                <a:schemeClr val="accent2"/>
              </a:fillRef>
              <a:effectRef idx="3">
                <a:schemeClr val="accent2"/>
              </a:effectRef>
              <a:fontRef idx="minor">
                <a:schemeClr val="lt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1</m:t>
                          </m:r>
                        </m:sup>
                      </m:sSup>
                      <m:r>
                        <a:rPr lang="en-US" altLang="zh-TW" sz="2118" i="1">
                          <a:latin typeface="Cambria Math" panose="02040503050406030204" pitchFamily="18" charset="0"/>
                        </a:rPr>
                        <m:t>=</m:t>
                      </m:r>
                    </m:oMath>
                  </m:oMathPara>
                </a14:m>
                <a:endParaRPr lang="en-US" altLang="zh-TW" sz="2118"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0</m:t>
                          </m:r>
                        </m:sup>
                      </m:sSup>
                      <m:r>
                        <a:rPr lang="en-US" altLang="zh-TW" sz="2118" i="1">
                          <a:latin typeface="Cambria Math" panose="02040503050406030204" pitchFamily="18" charset="0"/>
                        </a:rPr>
                        <m:t>−</m:t>
                      </m:r>
                      <m:r>
                        <a:rPr lang="zh-TW" altLang="en-US" sz="2118" i="1">
                          <a:latin typeface="Cambria Math" panose="02040503050406030204" pitchFamily="18" charset="0"/>
                        </a:rPr>
                        <m:t>𝛼𝛻</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0</m:t>
                              </m:r>
                            </m:sup>
                          </m:sSup>
                        </m:e>
                      </m:d>
                    </m:oMath>
                  </m:oMathPara>
                </a14:m>
                <a:endParaRPr lang="zh-TW" altLang="en-US" sz="2118" dirty="0"/>
              </a:p>
            </p:txBody>
          </p:sp>
        </mc:Choice>
        <mc:Fallback xmlns="">
          <p:sp>
            <p:nvSpPr>
              <p:cNvPr id="51" name="文字方塊 36"/>
              <p:cNvSpPr txBox="1">
                <a:spLocks noRot="1" noChangeAspect="1" noMove="1" noResize="1" noEditPoints="1" noAdjustHandles="1" noChangeArrowheads="1" noChangeShapeType="1" noTextEdit="1"/>
              </p:cNvSpPr>
              <p:nvPr/>
            </p:nvSpPr>
            <p:spPr>
              <a:xfrm>
                <a:off x="1839057" y="4869990"/>
                <a:ext cx="1777016" cy="65184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2" name="文字方塊 25"/>
              <p:cNvSpPr txBox="1"/>
              <p:nvPr/>
            </p:nvSpPr>
            <p:spPr>
              <a:xfrm>
                <a:off x="4677607" y="3905955"/>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m:t>
                          </m:r>
                        </m:sup>
                      </m:sSup>
                    </m:oMath>
                  </m:oMathPara>
                </a14:m>
                <a:endParaRPr lang="zh-TW" altLang="en-US" sz="2118" dirty="0"/>
              </a:p>
            </p:txBody>
          </p:sp>
        </mc:Choice>
        <mc:Fallback xmlns="">
          <p:sp>
            <p:nvSpPr>
              <p:cNvPr id="52" name="文字方塊 25"/>
              <p:cNvSpPr txBox="1">
                <a:spLocks noRot="1" noChangeAspect="1" noMove="1" noResize="1" noEditPoints="1" noAdjustHandles="1" noChangeArrowheads="1" noChangeShapeType="1" noTextEdit="1"/>
              </p:cNvSpPr>
              <p:nvPr/>
            </p:nvSpPr>
            <p:spPr>
              <a:xfrm>
                <a:off x="4677607" y="3905955"/>
                <a:ext cx="404911" cy="418256"/>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文字方塊 23"/>
              <p:cNvSpPr txBox="1"/>
              <p:nvPr/>
            </p:nvSpPr>
            <p:spPr>
              <a:xfrm>
                <a:off x="7716381" y="5810431"/>
                <a:ext cx="2435860" cy="604396"/>
              </a:xfrm>
              <a:prstGeom prst="rect">
                <a:avLst/>
              </a:prstGeom>
            </p:spPr>
            <p:style>
              <a:lnRef idx="1">
                <a:schemeClr val="accent3"/>
              </a:lnRef>
              <a:fillRef idx="2">
                <a:schemeClr val="accent3"/>
              </a:fillRef>
              <a:effectRef idx="1">
                <a:schemeClr val="accent3"/>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1765" i="1">
                          <a:latin typeface="Cambria Math" panose="02040503050406030204" pitchFamily="18" charset="0"/>
                        </a:rPr>
                        <m:t>𝛻</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e>
                      </m:d>
                      <m:r>
                        <a:rPr lang="en-US" altLang="zh-TW" sz="1765" i="1">
                          <a:latin typeface="Cambria Math" panose="02040503050406030204" pitchFamily="18" charset="0"/>
                        </a:rPr>
                        <m:t>=</m:t>
                      </m:r>
                      <m:d>
                        <m:dPr>
                          <m:begChr m:val="["/>
                          <m:endChr m:val="]"/>
                          <m:ctrlPr>
                            <a:rPr lang="en-US" altLang="zh-TW" sz="1765" i="1">
                              <a:latin typeface="Cambria Math" panose="02040503050406030204" pitchFamily="18" charset="0"/>
                            </a:rPr>
                          </m:ctrlPr>
                        </m:dPr>
                        <m:e>
                          <m:m>
                            <m:mPr>
                              <m:mcs>
                                <m:mc>
                                  <m:mcPr>
                                    <m:count m:val="1"/>
                                    <m:mcJc m:val="center"/>
                                  </m:mcPr>
                                </m:mc>
                              </m:mcs>
                              <m:ctrlPr>
                                <a:rPr lang="en-US" altLang="zh-TW" sz="1765" i="1">
                                  <a:latin typeface="Cambria Math" panose="02040503050406030204" pitchFamily="18" charset="0"/>
                                </a:rPr>
                              </m:ctrlPr>
                            </m:mPr>
                            <m:mr>
                              <m:e>
                                <m:r>
                                  <m:rPr>
                                    <m:brk m:alnAt="7"/>
                                  </m:rPr>
                                  <a:rPr lang="zh-TW" altLang="en-US" sz="1765" i="1">
                                    <a:latin typeface="Cambria Math" panose="02040503050406030204" pitchFamily="18" charset="0"/>
                                  </a:rPr>
                                  <m:t>𝜕</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e>
                                </m:d>
                                <m:r>
                                  <m:rPr>
                                    <m:brk m:alnAt="7"/>
                                  </m:rPr>
                                  <a:rPr lang="en-US" altLang="zh-TW" sz="1765" i="1">
                                    <a:latin typeface="Cambria Math" panose="02040503050406030204" pitchFamily="18" charset="0"/>
                                  </a:rPr>
                                  <m:t>/</m:t>
                                </m:r>
                                <m:r>
                                  <a:rPr lang="zh-TW" altLang="en-US" sz="1765" i="1">
                                    <a:latin typeface="Cambria Math" panose="02040503050406030204" pitchFamily="18" charset="0"/>
                                  </a:rPr>
                                  <m:t>𝜕</m:t>
                                </m:r>
                                <m:sSub>
                                  <m:sSubPr>
                                    <m:ctrlPr>
                                      <a:rPr lang="en-US" altLang="zh-TW" sz="1765" i="1">
                                        <a:latin typeface="Cambria Math" panose="02040503050406030204" pitchFamily="18" charset="0"/>
                                      </a:rPr>
                                    </m:ctrlPr>
                                  </m:sSubPr>
                                  <m:e>
                                    <m:r>
                                      <a:rPr lang="en-US" altLang="zh-TW" sz="1765" i="1">
                                        <a:latin typeface="Cambria Math" panose="02040503050406030204" pitchFamily="18" charset="0"/>
                                      </a:rPr>
                                      <m:t>𝑤</m:t>
                                    </m:r>
                                  </m:e>
                                  <m:sub>
                                    <m:r>
                                      <a:rPr lang="en-US" altLang="zh-TW" sz="1765" i="1">
                                        <a:latin typeface="Cambria Math" panose="02040503050406030204" pitchFamily="18" charset="0"/>
                                      </a:rPr>
                                      <m:t>1</m:t>
                                    </m:r>
                                  </m:sub>
                                </m:sSub>
                              </m:e>
                            </m:mr>
                            <m:mr>
                              <m:e>
                                <m:r>
                                  <m:rPr>
                                    <m:brk m:alnAt="7"/>
                                  </m:rPr>
                                  <a:rPr lang="zh-TW" altLang="en-US" sz="1765" i="1">
                                    <a:latin typeface="Cambria Math" panose="02040503050406030204" pitchFamily="18" charset="0"/>
                                  </a:rPr>
                                  <m:t>𝜕</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e>
                                </m:d>
                                <m:r>
                                  <m:rPr>
                                    <m:brk m:alnAt="7"/>
                                  </m:rPr>
                                  <a:rPr lang="en-US" altLang="zh-TW" sz="1765" i="1">
                                    <a:latin typeface="Cambria Math" panose="02040503050406030204" pitchFamily="18" charset="0"/>
                                  </a:rPr>
                                  <m:t>/</m:t>
                                </m:r>
                                <m:r>
                                  <a:rPr lang="zh-TW" altLang="en-US" sz="1765" i="1">
                                    <a:latin typeface="Cambria Math" panose="02040503050406030204" pitchFamily="18" charset="0"/>
                                  </a:rPr>
                                  <m:t>𝜕</m:t>
                                </m:r>
                                <m:sSub>
                                  <m:sSubPr>
                                    <m:ctrlPr>
                                      <a:rPr lang="en-US" altLang="zh-TW" sz="1765" i="1">
                                        <a:latin typeface="Cambria Math" panose="02040503050406030204" pitchFamily="18" charset="0"/>
                                      </a:rPr>
                                    </m:ctrlPr>
                                  </m:sSubPr>
                                  <m:e>
                                    <m:r>
                                      <a:rPr lang="en-US" altLang="zh-TW" sz="1765" i="1">
                                        <a:latin typeface="Cambria Math" panose="02040503050406030204" pitchFamily="18" charset="0"/>
                                      </a:rPr>
                                      <m:t>𝑤</m:t>
                                    </m:r>
                                  </m:e>
                                  <m:sub>
                                    <m:r>
                                      <a:rPr lang="en-US" altLang="zh-TW" sz="1765" i="1">
                                        <a:latin typeface="Cambria Math" panose="02040503050406030204" pitchFamily="18" charset="0"/>
                                      </a:rPr>
                                      <m:t>2</m:t>
                                    </m:r>
                                  </m:sub>
                                </m:sSub>
                              </m:e>
                            </m:mr>
                          </m:m>
                        </m:e>
                      </m:d>
                    </m:oMath>
                  </m:oMathPara>
                </a14:m>
                <a:endParaRPr lang="zh-TW" altLang="en-US" sz="1765" dirty="0"/>
              </a:p>
            </p:txBody>
          </p:sp>
        </mc:Choice>
        <mc:Fallback xmlns="">
          <p:sp>
            <p:nvSpPr>
              <p:cNvPr id="53" name="文字方塊 23"/>
              <p:cNvSpPr txBox="1">
                <a:spLocks noRot="1" noChangeAspect="1" noMove="1" noResize="1" noEditPoints="1" noAdjustHandles="1" noChangeArrowheads="1" noChangeShapeType="1" noTextEdit="1"/>
              </p:cNvSpPr>
              <p:nvPr/>
            </p:nvSpPr>
            <p:spPr>
              <a:xfrm>
                <a:off x="7716381" y="5810431"/>
                <a:ext cx="2435860" cy="604396"/>
              </a:xfrm>
              <a:prstGeom prst="rect">
                <a:avLst/>
              </a:prstGeom>
              <a:blipFill>
                <a:blip r:embed="rId15"/>
                <a:stretch>
                  <a:fillRect/>
                </a:stretch>
              </a:blipFill>
            </p:spPr>
            <p:txBody>
              <a:bodyPr/>
              <a:lstStyle/>
              <a:p>
                <a:r>
                  <a:rPr lang="en-IN">
                    <a:noFill/>
                  </a:rPr>
                  <a:t> </a:t>
                </a:r>
              </a:p>
            </p:txBody>
          </p:sp>
        </mc:Fallback>
      </mc:AlternateContent>
      <p:sp>
        <p:nvSpPr>
          <p:cNvPr id="27" name="TextBox 26">
            <a:extLst>
              <a:ext uri="{FF2B5EF4-FFF2-40B4-BE49-F238E27FC236}">
                <a16:creationId xmlns:a16="http://schemas.microsoft.com/office/drawing/2014/main" id="{7FBCF524-9BF8-4823-A749-1D8B2731AD65}"/>
              </a:ext>
            </a:extLst>
          </p:cNvPr>
          <p:cNvSpPr txBox="1"/>
          <p:nvPr/>
        </p:nvSpPr>
        <p:spPr>
          <a:xfrm>
            <a:off x="4444052" y="6638845"/>
            <a:ext cx="4055359" cy="228076"/>
          </a:xfrm>
          <a:prstGeom prst="rect">
            <a:avLst/>
          </a:prstGeom>
          <a:noFill/>
        </p:spPr>
        <p:txBody>
          <a:bodyPr wrap="square" rtlCol="0">
            <a:spAutoFit/>
          </a:bodyPr>
          <a:lstStyle/>
          <a:p>
            <a:pPr algn="ctr"/>
            <a:r>
              <a:rPr lang="en-US" sz="882" dirty="0"/>
              <a:t>Slide credit: Hung-</a:t>
            </a:r>
            <a:r>
              <a:rPr lang="en-US" sz="882" dirty="0" err="1"/>
              <a:t>yi</a:t>
            </a:r>
            <a:r>
              <a:rPr lang="en-US" sz="882" dirty="0"/>
              <a:t> Lee – Deep Learning Tutorial</a:t>
            </a:r>
          </a:p>
        </p:txBody>
      </p:sp>
    </p:spTree>
    <p:extLst>
      <p:ext uri="{BB962C8B-B14F-4D97-AF65-F5344CB8AC3E}">
        <p14:creationId xmlns:p14="http://schemas.microsoft.com/office/powerpoint/2010/main" val="36328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50" grpId="0" animBg="1"/>
      <p:bldP spid="5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Algorithm</a:t>
            </a:r>
          </a:p>
        </p:txBody>
      </p:sp>
      <p:sp>
        <p:nvSpPr>
          <p:cNvPr id="3" name="Content Placeholder 2"/>
          <p:cNvSpPr>
            <a:spLocks noGrp="1"/>
          </p:cNvSpPr>
          <p:nvPr>
            <p:ph idx="1"/>
          </p:nvPr>
        </p:nvSpPr>
        <p:spPr/>
        <p:txBody>
          <a:bodyPr/>
          <a:lstStyle/>
          <a:p>
            <a:r>
              <a:rPr lang="en-US" dirty="0"/>
              <a:t>Example (contd.)</a:t>
            </a:r>
          </a:p>
        </p:txBody>
      </p:sp>
      <p:sp>
        <p:nvSpPr>
          <p:cNvPr id="4" name="Content Placeholder 3">
            <a:extLst>
              <a:ext uri="{FF2B5EF4-FFF2-40B4-BE49-F238E27FC236}">
                <a16:creationId xmlns:a16="http://schemas.microsoft.com/office/drawing/2014/main" id="{7211E974-4FF3-4043-BBCD-11772FCAC65D}"/>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grpSp>
        <p:nvGrpSpPr>
          <p:cNvPr id="21" name="群組 3"/>
          <p:cNvGrpSpPr/>
          <p:nvPr/>
        </p:nvGrpSpPr>
        <p:grpSpPr>
          <a:xfrm>
            <a:off x="2121696" y="2730100"/>
            <a:ext cx="5689789" cy="4049157"/>
            <a:chOff x="706835" y="2341625"/>
            <a:chExt cx="6113826" cy="4234137"/>
          </a:xfrm>
        </p:grpSpPr>
        <p:pic>
          <p:nvPicPr>
            <p:cNvPr id="22" name="圖片 4"/>
            <p:cNvPicPr>
              <a:picLocks noChangeAspect="1"/>
            </p:cNvPicPr>
            <p:nvPr/>
          </p:nvPicPr>
          <p:blipFill rotWithShape="1">
            <a:blip r:embed="rId2">
              <a:extLst>
                <a:ext uri="{28A0092B-C50C-407E-A947-70E740481C1C}">
                  <a14:useLocalDpi xmlns:a14="http://schemas.microsoft.com/office/drawing/2010/main" val="0"/>
                </a:ext>
              </a:extLst>
            </a:blip>
            <a:srcRect t="7191" b="5873"/>
            <a:stretch/>
          </p:blipFill>
          <p:spPr>
            <a:xfrm>
              <a:off x="706835" y="2341625"/>
              <a:ext cx="6113826" cy="3986343"/>
            </a:xfrm>
            <a:prstGeom prst="rect">
              <a:avLst/>
            </a:prstGeom>
          </p:spPr>
        </p:pic>
        <mc:AlternateContent xmlns:mc="http://schemas.openxmlformats.org/markup-compatibility/2006" xmlns:a14="http://schemas.microsoft.com/office/drawing/2010/main">
          <mc:Choice Requires="a14">
            <p:sp>
              <p:nvSpPr>
                <p:cNvPr id="23" name="文字方塊 5"/>
                <p:cNvSpPr txBox="1"/>
                <p:nvPr/>
              </p:nvSpPr>
              <p:spPr>
                <a:xfrm>
                  <a:off x="3402379" y="6234950"/>
                  <a:ext cx="400439" cy="340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rPr>
                              <m:t>𝑤</m:t>
                            </m:r>
                          </m:e>
                          <m:sub>
                            <m:r>
                              <a:rPr lang="en-US" altLang="zh-TW" sz="2118" i="1">
                                <a:latin typeface="Cambria Math" panose="02040503050406030204" pitchFamily="18" charset="0"/>
                              </a:rPr>
                              <m:t>1</m:t>
                            </m:r>
                          </m:sub>
                        </m:sSub>
                      </m:oMath>
                    </m:oMathPara>
                  </a14:m>
                  <a:endParaRPr lang="zh-TW" altLang="en-US" sz="2118" dirty="0"/>
                </a:p>
              </p:txBody>
            </p:sp>
          </mc:Choice>
          <mc:Fallback xmlns="">
            <p:sp>
              <p:nvSpPr>
                <p:cNvPr id="23" name="文字方塊 5"/>
                <p:cNvSpPr txBox="1">
                  <a:spLocks noRot="1" noChangeAspect="1" noMove="1" noResize="1" noEditPoints="1" noAdjustHandles="1" noChangeArrowheads="1" noChangeShapeType="1" noTextEdit="1"/>
                </p:cNvSpPr>
                <p:nvPr/>
              </p:nvSpPr>
              <p:spPr>
                <a:xfrm>
                  <a:off x="3402379" y="6234950"/>
                  <a:ext cx="400439" cy="340812"/>
                </a:xfrm>
                <a:prstGeom prst="rect">
                  <a:avLst/>
                </a:prstGeom>
                <a:blipFill>
                  <a:blip r:embed="rId3"/>
                  <a:stretch>
                    <a:fillRect l="-9836" r="-6557" b="-132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文字方塊 6"/>
                <p:cNvSpPr txBox="1"/>
                <p:nvPr/>
              </p:nvSpPr>
              <p:spPr>
                <a:xfrm>
                  <a:off x="843326" y="4119935"/>
                  <a:ext cx="407192" cy="340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118" i="1">
                                <a:latin typeface="Cambria Math" panose="02040503050406030204" pitchFamily="18" charset="0"/>
                              </a:rPr>
                            </m:ctrlPr>
                          </m:sSubPr>
                          <m:e>
                            <m:r>
                              <a:rPr lang="en-US" altLang="zh-TW" sz="2118" i="1">
                                <a:latin typeface="Cambria Math" panose="02040503050406030204" pitchFamily="18" charset="0"/>
                              </a:rPr>
                              <m:t>𝑤</m:t>
                            </m:r>
                          </m:e>
                          <m:sub>
                            <m:r>
                              <a:rPr lang="en-US" altLang="zh-TW" sz="2118" i="1">
                                <a:latin typeface="Cambria Math" panose="02040503050406030204" pitchFamily="18" charset="0"/>
                              </a:rPr>
                              <m:t>2</m:t>
                            </m:r>
                          </m:sub>
                        </m:sSub>
                      </m:oMath>
                    </m:oMathPara>
                  </a14:m>
                  <a:endParaRPr lang="zh-TW" altLang="en-US" sz="2118" dirty="0"/>
                </a:p>
              </p:txBody>
            </p:sp>
          </mc:Choice>
          <mc:Fallback xmlns="">
            <p:sp>
              <p:nvSpPr>
                <p:cNvPr id="24" name="文字方塊 6"/>
                <p:cNvSpPr txBox="1">
                  <a:spLocks noRot="1" noChangeAspect="1" noMove="1" noResize="1" noEditPoints="1" noAdjustHandles="1" noChangeArrowheads="1" noChangeShapeType="1" noTextEdit="1"/>
                </p:cNvSpPr>
                <p:nvPr/>
              </p:nvSpPr>
              <p:spPr>
                <a:xfrm>
                  <a:off x="843326" y="4119935"/>
                  <a:ext cx="407192" cy="340812"/>
                </a:xfrm>
                <a:prstGeom prst="rect">
                  <a:avLst/>
                </a:prstGeom>
                <a:blipFill>
                  <a:blip r:embed="rId4"/>
                  <a:stretch>
                    <a:fillRect l="-9677" r="-6452" b="-13208"/>
                  </a:stretch>
                </a:blipFill>
              </p:spPr>
              <p:txBody>
                <a:bodyPr/>
                <a:lstStyle/>
                <a:p>
                  <a:r>
                    <a:rPr lang="en-IN">
                      <a:noFill/>
                    </a:rPr>
                    <a:t> </a:t>
                  </a:r>
                </a:p>
              </p:txBody>
            </p:sp>
          </mc:Fallback>
        </mc:AlternateContent>
      </p:grpSp>
      <p:sp>
        <p:nvSpPr>
          <p:cNvPr id="25" name="橢圓 8"/>
          <p:cNvSpPr/>
          <p:nvPr/>
        </p:nvSpPr>
        <p:spPr>
          <a:xfrm>
            <a:off x="3567703" y="5621330"/>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28" name="文字方塊 25"/>
              <p:cNvSpPr txBox="1"/>
              <p:nvPr/>
            </p:nvSpPr>
            <p:spPr>
              <a:xfrm>
                <a:off x="3797561" y="5620821"/>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0</m:t>
                          </m:r>
                        </m:sup>
                      </m:sSup>
                    </m:oMath>
                  </m:oMathPara>
                </a14:m>
                <a:endParaRPr lang="zh-TW" altLang="en-US" sz="2118" dirty="0"/>
              </a:p>
            </p:txBody>
          </p:sp>
        </mc:Choice>
        <mc:Fallback xmlns="">
          <p:sp>
            <p:nvSpPr>
              <p:cNvPr id="28" name="文字方塊 25"/>
              <p:cNvSpPr txBox="1">
                <a:spLocks noRot="1" noChangeAspect="1" noMove="1" noResize="1" noEditPoints="1" noAdjustHandles="1" noChangeArrowheads="1" noChangeShapeType="1" noTextEdit="1"/>
              </p:cNvSpPr>
              <p:nvPr/>
            </p:nvSpPr>
            <p:spPr>
              <a:xfrm>
                <a:off x="3797561" y="5620821"/>
                <a:ext cx="404911" cy="418256"/>
              </a:xfrm>
              <a:prstGeom prst="rect">
                <a:avLst/>
              </a:prstGeom>
              <a:blipFill>
                <a:blip r:embed="rId5"/>
                <a:stretch>
                  <a:fillRect/>
                </a:stretch>
              </a:blipFill>
            </p:spPr>
            <p:txBody>
              <a:bodyPr/>
              <a:lstStyle/>
              <a:p>
                <a:r>
                  <a:rPr lang="en-IN">
                    <a:noFill/>
                  </a:rPr>
                  <a:t> </a:t>
                </a:r>
              </a:p>
            </p:txBody>
          </p:sp>
        </mc:Fallback>
      </mc:AlternateContent>
      <p:cxnSp>
        <p:nvCxnSpPr>
          <p:cNvPr id="33" name="直線單箭頭接點 23"/>
          <p:cNvCxnSpPr/>
          <p:nvPr/>
        </p:nvCxnSpPr>
        <p:spPr>
          <a:xfrm flipV="1">
            <a:off x="3693948" y="4817340"/>
            <a:ext cx="250876" cy="8104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橢圓 28"/>
          <p:cNvSpPr/>
          <p:nvPr/>
        </p:nvSpPr>
        <p:spPr>
          <a:xfrm>
            <a:off x="3900570" y="4636798"/>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35" name="文字方塊 33"/>
              <p:cNvSpPr txBox="1"/>
              <p:nvPr/>
            </p:nvSpPr>
            <p:spPr>
              <a:xfrm>
                <a:off x="4130428" y="4636289"/>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1</m:t>
                          </m:r>
                        </m:sup>
                      </m:sSup>
                    </m:oMath>
                  </m:oMathPara>
                </a14:m>
                <a:endParaRPr lang="zh-TW" altLang="en-US" sz="2118" dirty="0"/>
              </a:p>
            </p:txBody>
          </p:sp>
        </mc:Choice>
        <mc:Fallback xmlns="">
          <p:sp>
            <p:nvSpPr>
              <p:cNvPr id="35" name="文字方塊 33"/>
              <p:cNvSpPr txBox="1">
                <a:spLocks noRot="1" noChangeAspect="1" noMove="1" noResize="1" noEditPoints="1" noAdjustHandles="1" noChangeArrowheads="1" noChangeShapeType="1" noTextEdit="1"/>
              </p:cNvSpPr>
              <p:nvPr/>
            </p:nvSpPr>
            <p:spPr>
              <a:xfrm>
                <a:off x="4130428" y="4636289"/>
                <a:ext cx="404911" cy="41825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文字方塊 36"/>
              <p:cNvSpPr txBox="1"/>
              <p:nvPr/>
            </p:nvSpPr>
            <p:spPr>
              <a:xfrm>
                <a:off x="2448327" y="4194212"/>
                <a:ext cx="1682768" cy="325923"/>
              </a:xfrm>
              <a:prstGeom prst="rect">
                <a:avLst/>
              </a:prstGeom>
            </p:spPr>
            <p:style>
              <a:lnRef idx="0">
                <a:schemeClr val="accent2"/>
              </a:lnRef>
              <a:fillRef idx="3">
                <a:schemeClr val="accent2"/>
              </a:fillRef>
              <a:effectRef idx="3">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1</m:t>
                          </m:r>
                        </m:sup>
                      </m:sSup>
                      <m:r>
                        <a:rPr lang="en-US" altLang="zh-TW" sz="2118" i="1">
                          <a:latin typeface="Cambria Math" panose="02040503050406030204" pitchFamily="18" charset="0"/>
                        </a:rPr>
                        <m:t>−</m:t>
                      </m:r>
                      <m:r>
                        <a:rPr lang="zh-TW" altLang="en-US" sz="2118" i="1">
                          <a:latin typeface="Cambria Math" panose="02040503050406030204" pitchFamily="18" charset="0"/>
                        </a:rPr>
                        <m:t>𝛼𝛻</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1</m:t>
                              </m:r>
                            </m:sup>
                          </m:sSup>
                        </m:e>
                      </m:d>
                    </m:oMath>
                  </m:oMathPara>
                </a14:m>
                <a:endParaRPr lang="zh-TW" altLang="en-US" sz="2118" dirty="0"/>
              </a:p>
            </p:txBody>
          </p:sp>
        </mc:Choice>
        <mc:Fallback xmlns="">
          <p:sp>
            <p:nvSpPr>
              <p:cNvPr id="38" name="文字方塊 36"/>
              <p:cNvSpPr txBox="1">
                <a:spLocks noRot="1" noChangeAspect="1" noMove="1" noResize="1" noEditPoints="1" noAdjustHandles="1" noChangeArrowheads="1" noChangeShapeType="1" noTextEdit="1"/>
              </p:cNvSpPr>
              <p:nvPr/>
            </p:nvSpPr>
            <p:spPr>
              <a:xfrm>
                <a:off x="2448327" y="4194212"/>
                <a:ext cx="1682768" cy="325923"/>
              </a:xfrm>
              <a:prstGeom prst="rect">
                <a:avLst/>
              </a:prstGeom>
              <a:blipFill>
                <a:blip r:embed="rId7"/>
                <a:stretch>
                  <a:fillRect/>
                </a:stretch>
              </a:blipFill>
            </p:spPr>
            <p:txBody>
              <a:bodyPr/>
              <a:lstStyle/>
              <a:p>
                <a:r>
                  <a:rPr lang="en-IN">
                    <a:noFill/>
                  </a:rPr>
                  <a:t> </a:t>
                </a:r>
              </a:p>
            </p:txBody>
          </p:sp>
        </mc:Fallback>
      </mc:AlternateContent>
      <p:cxnSp>
        <p:nvCxnSpPr>
          <p:cNvPr id="39" name="直線單箭頭接點 37"/>
          <p:cNvCxnSpPr/>
          <p:nvPr/>
        </p:nvCxnSpPr>
        <p:spPr>
          <a:xfrm flipV="1">
            <a:off x="4006163" y="4406571"/>
            <a:ext cx="343836" cy="2852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橢圓 38"/>
          <p:cNvSpPr/>
          <p:nvPr/>
        </p:nvSpPr>
        <p:spPr>
          <a:xfrm>
            <a:off x="4337299" y="4245055"/>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42" name="文字方塊 40"/>
              <p:cNvSpPr txBox="1"/>
              <p:nvPr/>
            </p:nvSpPr>
            <p:spPr>
              <a:xfrm>
                <a:off x="4787314" y="4338703"/>
                <a:ext cx="1694438" cy="325923"/>
              </a:xfrm>
              <a:prstGeom prst="rect">
                <a:avLst/>
              </a:prstGeom>
            </p:spPr>
            <p:style>
              <a:lnRef idx="0">
                <a:schemeClr val="accent2"/>
              </a:lnRef>
              <a:fillRef idx="3">
                <a:schemeClr val="accent2"/>
              </a:fillRef>
              <a:effectRef idx="3">
                <a:schemeClr val="accent2"/>
              </a:effectRef>
              <a:fontRef idx="minor">
                <a:schemeClr val="lt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2</m:t>
                          </m:r>
                        </m:sup>
                      </m:sSup>
                      <m:r>
                        <a:rPr lang="en-US" altLang="zh-TW" sz="2118" i="1">
                          <a:latin typeface="Cambria Math" panose="02040503050406030204" pitchFamily="18" charset="0"/>
                        </a:rPr>
                        <m:t>−</m:t>
                      </m:r>
                      <m:r>
                        <a:rPr lang="zh-TW" altLang="en-US" sz="2118" i="1">
                          <a:latin typeface="Cambria Math" panose="02040503050406030204" pitchFamily="18" charset="0"/>
                        </a:rPr>
                        <m:t>𝛼𝛻</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2</m:t>
                              </m:r>
                            </m:sup>
                          </m:sSup>
                        </m:e>
                      </m:d>
                    </m:oMath>
                  </m:oMathPara>
                </a14:m>
                <a:endParaRPr lang="zh-TW" altLang="en-US" sz="2118" dirty="0"/>
              </a:p>
            </p:txBody>
          </p:sp>
        </mc:Choice>
        <mc:Fallback xmlns="">
          <p:sp>
            <p:nvSpPr>
              <p:cNvPr id="42" name="文字方塊 40"/>
              <p:cNvSpPr txBox="1">
                <a:spLocks noRot="1" noChangeAspect="1" noMove="1" noResize="1" noEditPoints="1" noAdjustHandles="1" noChangeArrowheads="1" noChangeShapeType="1" noTextEdit="1"/>
              </p:cNvSpPr>
              <p:nvPr/>
            </p:nvSpPr>
            <p:spPr>
              <a:xfrm>
                <a:off x="4787314" y="4338703"/>
                <a:ext cx="1694438" cy="325923"/>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文字方塊 41"/>
              <p:cNvSpPr txBox="1"/>
              <p:nvPr/>
            </p:nvSpPr>
            <p:spPr>
              <a:xfrm>
                <a:off x="4190955" y="3768670"/>
                <a:ext cx="404911" cy="41825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118" i="1">
                              <a:latin typeface="Cambria Math" panose="02040503050406030204" pitchFamily="18" charset="0"/>
                            </a:rPr>
                          </m:ctrlPr>
                        </m:sSupPr>
                        <m:e>
                          <m:r>
                            <a:rPr lang="zh-TW" altLang="en-US" sz="2118" i="1">
                              <a:latin typeface="Cambria Math" panose="02040503050406030204" pitchFamily="18" charset="0"/>
                            </a:rPr>
                            <m:t>𝜃</m:t>
                          </m:r>
                        </m:e>
                        <m:sup>
                          <m:r>
                            <a:rPr lang="en-US" altLang="zh-TW" sz="2118" i="1">
                              <a:latin typeface="Cambria Math" panose="02040503050406030204" pitchFamily="18" charset="0"/>
                            </a:rPr>
                            <m:t>2</m:t>
                          </m:r>
                        </m:sup>
                      </m:sSup>
                    </m:oMath>
                  </m:oMathPara>
                </a14:m>
                <a:endParaRPr lang="zh-TW" altLang="en-US" sz="2118" dirty="0"/>
              </a:p>
            </p:txBody>
          </p:sp>
        </mc:Choice>
        <mc:Fallback xmlns="">
          <p:sp>
            <p:nvSpPr>
              <p:cNvPr id="43" name="文字方塊 41"/>
              <p:cNvSpPr txBox="1">
                <a:spLocks noRot="1" noChangeAspect="1" noMove="1" noResize="1" noEditPoints="1" noAdjustHandles="1" noChangeArrowheads="1" noChangeShapeType="1" noTextEdit="1"/>
              </p:cNvSpPr>
              <p:nvPr/>
            </p:nvSpPr>
            <p:spPr>
              <a:xfrm>
                <a:off x="4190955" y="3768670"/>
                <a:ext cx="404911" cy="418256"/>
              </a:xfrm>
              <a:prstGeom prst="rect">
                <a:avLst/>
              </a:prstGeom>
              <a:blipFill>
                <a:blip r:embed="rId9"/>
                <a:stretch>
                  <a:fillRect/>
                </a:stretch>
              </a:blipFill>
            </p:spPr>
            <p:txBody>
              <a:bodyPr/>
              <a:lstStyle/>
              <a:p>
                <a:r>
                  <a:rPr lang="en-IN">
                    <a:noFill/>
                  </a:rPr>
                  <a:t> </a:t>
                </a:r>
              </a:p>
            </p:txBody>
          </p:sp>
        </mc:Fallback>
      </mc:AlternateContent>
      <p:cxnSp>
        <p:nvCxnSpPr>
          <p:cNvPr id="44" name="直線單箭頭接點 42"/>
          <p:cNvCxnSpPr/>
          <p:nvPr/>
        </p:nvCxnSpPr>
        <p:spPr>
          <a:xfrm flipV="1">
            <a:off x="4517630" y="4245055"/>
            <a:ext cx="464160" cy="541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12"/>
          <p:cNvSpPr/>
          <p:nvPr/>
        </p:nvSpPr>
        <p:spPr>
          <a:xfrm>
            <a:off x="3046250" y="2330840"/>
            <a:ext cx="4120316" cy="43745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1765" dirty="0"/>
              <a:t>Eventually, we would reach a minimum …..</a:t>
            </a:r>
            <a:endParaRPr lang="zh-TW" altLang="en-US" sz="1765" dirty="0"/>
          </a:p>
        </p:txBody>
      </p:sp>
      <p:sp>
        <p:nvSpPr>
          <p:cNvPr id="30" name="TextBox 29">
            <a:extLst>
              <a:ext uri="{FF2B5EF4-FFF2-40B4-BE49-F238E27FC236}">
                <a16:creationId xmlns:a16="http://schemas.microsoft.com/office/drawing/2014/main" id="{69259399-69D1-458C-9A1E-63AC716058C1}"/>
              </a:ext>
            </a:extLst>
          </p:cNvPr>
          <p:cNvSpPr txBox="1"/>
          <p:nvPr/>
        </p:nvSpPr>
        <p:spPr>
          <a:xfrm>
            <a:off x="4826580" y="6640746"/>
            <a:ext cx="3685114" cy="228076"/>
          </a:xfrm>
          <a:prstGeom prst="rect">
            <a:avLst/>
          </a:prstGeom>
          <a:noFill/>
        </p:spPr>
        <p:txBody>
          <a:bodyPr wrap="square" rtlCol="0">
            <a:spAutoFit/>
          </a:bodyPr>
          <a:lstStyle/>
          <a:p>
            <a:pPr algn="ctr"/>
            <a:r>
              <a:rPr lang="en-US" sz="882" dirty="0"/>
              <a:t>Slide credit: Hung-</a:t>
            </a:r>
            <a:r>
              <a:rPr lang="en-US" sz="882" dirty="0" err="1"/>
              <a:t>yi</a:t>
            </a:r>
            <a:r>
              <a:rPr lang="en-US" sz="882" dirty="0"/>
              <a:t> Lee – Deep Learning Tutorial</a:t>
            </a:r>
          </a:p>
        </p:txBody>
      </p:sp>
      <mc:AlternateContent xmlns:mc="http://schemas.openxmlformats.org/markup-compatibility/2006" xmlns:a14="http://schemas.microsoft.com/office/drawing/2010/main">
        <mc:Choice Requires="a14">
          <p:sp>
            <p:nvSpPr>
              <p:cNvPr id="27" name="文字方塊 22"/>
              <p:cNvSpPr txBox="1"/>
              <p:nvPr/>
            </p:nvSpPr>
            <p:spPr>
              <a:xfrm>
                <a:off x="7628029" y="3503296"/>
                <a:ext cx="2547900" cy="670505"/>
              </a:xfrm>
              <a:prstGeom prst="rect">
                <a:avLst/>
              </a:prstGeom>
              <a:noFill/>
            </p:spPr>
            <p:txBody>
              <a:bodyPr wrap="square" rtlCol="0">
                <a:spAutoFit/>
              </a:bodyPr>
              <a:lstStyle/>
              <a:p>
                <a:r>
                  <a:rPr lang="en-US" altLang="zh-TW" sz="1765" dirty="0"/>
                  <a:t>2. Compute the gradient at </a:t>
                </a:r>
                <a14:m>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𝑜𝑙𝑑</m:t>
                        </m:r>
                      </m:sup>
                    </m:sSup>
                  </m:oMath>
                </a14:m>
                <a:r>
                  <a:rPr lang="en-US" altLang="zh-TW" sz="1765" dirty="0"/>
                  <a:t>, </a:t>
                </a:r>
                <a14:m>
                  <m:oMath xmlns:m="http://schemas.openxmlformats.org/officeDocument/2006/math">
                    <m:r>
                      <a:rPr lang="zh-TW" altLang="en-US" sz="1765" i="1">
                        <a:latin typeface="Cambria Math" panose="02040503050406030204" pitchFamily="18" charset="0"/>
                      </a:rPr>
                      <m:t>𝛻</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𝑜𝑙𝑑</m:t>
                            </m:r>
                          </m:sup>
                        </m:sSup>
                      </m:e>
                    </m:d>
                  </m:oMath>
                </a14:m>
                <a:endParaRPr lang="zh-TW" altLang="en-US" sz="1765" dirty="0"/>
              </a:p>
            </p:txBody>
          </p:sp>
        </mc:Choice>
        <mc:Fallback xmlns="">
          <p:sp>
            <p:nvSpPr>
              <p:cNvPr id="27" name="文字方塊 22"/>
              <p:cNvSpPr txBox="1">
                <a:spLocks noRot="1" noChangeAspect="1" noMove="1" noResize="1" noEditPoints="1" noAdjustHandles="1" noChangeArrowheads="1" noChangeShapeType="1" noTextEdit="1"/>
              </p:cNvSpPr>
              <p:nvPr/>
            </p:nvSpPr>
            <p:spPr>
              <a:xfrm>
                <a:off x="7628029" y="3503296"/>
                <a:ext cx="2547900" cy="670505"/>
              </a:xfrm>
              <a:prstGeom prst="rect">
                <a:avLst/>
              </a:prstGeom>
              <a:blipFill>
                <a:blip r:embed="rId10"/>
                <a:stretch>
                  <a:fillRect l="-1675" t="-3636" b="-10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文字方塊 29"/>
              <p:cNvSpPr txBox="1"/>
              <p:nvPr/>
            </p:nvSpPr>
            <p:spPr>
              <a:xfrm>
                <a:off x="7628028" y="4311848"/>
                <a:ext cx="2673969" cy="942117"/>
              </a:xfrm>
              <a:prstGeom prst="rect">
                <a:avLst/>
              </a:prstGeom>
              <a:noFill/>
            </p:spPr>
            <p:txBody>
              <a:bodyPr wrap="square" rtlCol="0">
                <a:spAutoFit/>
              </a:bodyPr>
              <a:lstStyle/>
              <a:p>
                <a:r>
                  <a:rPr lang="en-US" altLang="zh-TW" sz="1765" dirty="0"/>
                  <a:t>3. Times the learning rate </a:t>
                </a:r>
                <a14:m>
                  <m:oMath xmlns:m="http://schemas.openxmlformats.org/officeDocument/2006/math">
                    <m:r>
                      <a:rPr lang="zh-TW" altLang="en-US" sz="1765" i="1">
                        <a:latin typeface="Cambria Math" panose="02040503050406030204" pitchFamily="18" charset="0"/>
                      </a:rPr>
                      <m:t>𝜂</m:t>
                    </m:r>
                  </m:oMath>
                </a14:m>
                <a:r>
                  <a:rPr lang="en-US" altLang="zh-TW" sz="1765" dirty="0"/>
                  <a:t>, and update </a:t>
                </a:r>
                <a14:m>
                  <m:oMath xmlns:m="http://schemas.openxmlformats.org/officeDocument/2006/math">
                    <m:r>
                      <a:rPr lang="zh-TW" altLang="en-US" sz="1765" i="1">
                        <a:latin typeface="Cambria Math" panose="02040503050406030204" pitchFamily="18" charset="0"/>
                      </a:rPr>
                      <m:t>𝜃</m:t>
                    </m:r>
                    <m:r>
                      <a:rPr lang="en-US" altLang="zh-TW" sz="1765" i="1">
                        <a:latin typeface="Cambria Math" panose="02040503050406030204" pitchFamily="18" charset="0"/>
                      </a:rPr>
                      <m:t>,</m:t>
                    </m:r>
                  </m:oMath>
                </a14:m>
                <a:endParaRPr lang="en-US" altLang="zh-TW" sz="1765" dirty="0"/>
              </a:p>
              <a:p>
                <a:pPr/>
                <a14:m>
                  <m:oMathPara xmlns:m="http://schemas.openxmlformats.org/officeDocument/2006/math">
                    <m:oMathParaPr>
                      <m:jc m:val="centerGroup"/>
                    </m:oMathParaPr>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𝑛𝑒𝑤</m:t>
                          </m:r>
                        </m:sup>
                      </m:sSup>
                      <m:r>
                        <a:rPr lang="en-US" altLang="zh-TW" sz="1765" i="1">
                          <a:latin typeface="Cambria Math" panose="02040503050406030204" pitchFamily="18" charset="0"/>
                        </a:rPr>
                        <m:t>=</m:t>
                      </m:r>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𝑜𝑙𝑑</m:t>
                          </m:r>
                        </m:sup>
                      </m:sSup>
                      <m:r>
                        <a:rPr lang="en-US" altLang="zh-TW" sz="1765" i="1">
                          <a:latin typeface="Cambria Math" panose="02040503050406030204" pitchFamily="18" charset="0"/>
                        </a:rPr>
                        <m:t>−</m:t>
                      </m:r>
                      <m:r>
                        <a:rPr lang="zh-TW" altLang="en-US" sz="1765" i="1">
                          <a:latin typeface="Cambria Math" panose="02040503050406030204" pitchFamily="18" charset="0"/>
                        </a:rPr>
                        <m:t>𝛼𝛻</m:t>
                      </m:r>
                      <m:r>
                        <a:rPr lang="en-US" altLang="zh-TW" sz="1765" i="1">
                          <a:latin typeface="Cambria Math" panose="02040503050406030204" pitchFamily="18" charset="0"/>
                          <a:ea typeface="Cambria Math" panose="02040503050406030204" pitchFamily="18" charset="0"/>
                        </a:rPr>
                        <m:t>ℒ</m:t>
                      </m:r>
                      <m:d>
                        <m:dPr>
                          <m:ctrlPr>
                            <a:rPr lang="en-US" altLang="zh-TW" sz="1765" i="1">
                              <a:latin typeface="Cambria Math" panose="02040503050406030204" pitchFamily="18" charset="0"/>
                            </a:rPr>
                          </m:ctrlPr>
                        </m:dPr>
                        <m:e>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𝑜𝑙𝑑</m:t>
                              </m:r>
                            </m:sup>
                          </m:sSup>
                        </m:e>
                      </m:d>
                    </m:oMath>
                  </m:oMathPara>
                </a14:m>
                <a:endParaRPr lang="zh-TW" altLang="en-US" sz="1765" dirty="0"/>
              </a:p>
            </p:txBody>
          </p:sp>
        </mc:Choice>
        <mc:Fallback xmlns="">
          <p:sp>
            <p:nvSpPr>
              <p:cNvPr id="31" name="文字方塊 29"/>
              <p:cNvSpPr txBox="1">
                <a:spLocks noRot="1" noChangeAspect="1" noMove="1" noResize="1" noEditPoints="1" noAdjustHandles="1" noChangeArrowheads="1" noChangeShapeType="1" noTextEdit="1"/>
              </p:cNvSpPr>
              <p:nvPr/>
            </p:nvSpPr>
            <p:spPr>
              <a:xfrm>
                <a:off x="7628028" y="4311848"/>
                <a:ext cx="2673969" cy="942117"/>
              </a:xfrm>
              <a:prstGeom prst="rect">
                <a:avLst/>
              </a:prstGeom>
              <a:blipFill>
                <a:blip r:embed="rId11"/>
                <a:stretch>
                  <a:fillRect l="-1595" t="-2581"/>
                </a:stretch>
              </a:blipFill>
            </p:spPr>
            <p:txBody>
              <a:bodyPr/>
              <a:lstStyle/>
              <a:p>
                <a:r>
                  <a:rPr lang="en-IN">
                    <a:noFill/>
                  </a:rPr>
                  <a:t> </a:t>
                </a:r>
              </a:p>
            </p:txBody>
          </p:sp>
        </mc:Fallback>
      </mc:AlternateContent>
      <p:sp>
        <p:nvSpPr>
          <p:cNvPr id="32" name="文字方塊 44"/>
          <p:cNvSpPr txBox="1"/>
          <p:nvPr/>
        </p:nvSpPr>
        <p:spPr>
          <a:xfrm>
            <a:off x="7745257" y="5391968"/>
            <a:ext cx="2417078" cy="363946"/>
          </a:xfrm>
          <a:prstGeom prst="rect">
            <a:avLst/>
          </a:prstGeom>
          <a:noFill/>
        </p:spPr>
        <p:txBody>
          <a:bodyPr wrap="square" rtlCol="0">
            <a:spAutoFit/>
          </a:bodyPr>
          <a:lstStyle/>
          <a:p>
            <a:r>
              <a:rPr lang="en-US" altLang="zh-TW" sz="1765" dirty="0"/>
              <a:t>4. Go to step 2, repeat</a:t>
            </a:r>
            <a:endParaRPr lang="zh-TW" altLang="en-US" sz="1765" dirty="0"/>
          </a:p>
        </p:txBody>
      </p:sp>
      <p:sp>
        <p:nvSpPr>
          <p:cNvPr id="36" name="Rectangle 35"/>
          <p:cNvSpPr/>
          <p:nvPr/>
        </p:nvSpPr>
        <p:spPr>
          <a:xfrm>
            <a:off x="7603881" y="3365464"/>
            <a:ext cx="2755417" cy="24465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p:spTree>
    <p:extLst>
      <p:ext uri="{BB962C8B-B14F-4D97-AF65-F5344CB8AC3E}">
        <p14:creationId xmlns:p14="http://schemas.microsoft.com/office/powerpoint/2010/main" val="151085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3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40" grpId="0" animBg="1"/>
      <p:bldP spid="42" grpId="0" animBg="1"/>
      <p:bldP spid="43" grpId="0" animBg="1"/>
      <p:bldP spid="4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8471" y="404666"/>
            <a:ext cx="8875059" cy="926976"/>
          </a:xfrm>
        </p:spPr>
        <p:txBody>
          <a:bodyPr/>
          <a:lstStyle/>
          <a:p>
            <a:r>
              <a:rPr lang="en-US" dirty="0"/>
              <a:t>Gradient Descent Algorithm</a:t>
            </a:r>
          </a:p>
        </p:txBody>
      </p:sp>
      <p:sp>
        <p:nvSpPr>
          <p:cNvPr id="3" name="Content Placeholder 2"/>
          <p:cNvSpPr>
            <a:spLocks noGrp="1"/>
          </p:cNvSpPr>
          <p:nvPr>
            <p:ph idx="1"/>
          </p:nvPr>
        </p:nvSpPr>
        <p:spPr>
          <a:xfrm>
            <a:off x="1902594" y="1844827"/>
            <a:ext cx="8456704" cy="4736177"/>
          </a:xfrm>
        </p:spPr>
        <p:txBody>
          <a:bodyPr/>
          <a:lstStyle/>
          <a:p>
            <a:r>
              <a:rPr lang="en-US" dirty="0"/>
              <a:t>Gradient descent algorithm stops when a </a:t>
            </a:r>
            <a:r>
              <a:rPr lang="en-US" dirty="0">
                <a:solidFill>
                  <a:srgbClr val="FF0000"/>
                </a:solidFill>
              </a:rPr>
              <a:t>local minimum </a:t>
            </a:r>
            <a:r>
              <a:rPr lang="en-US" dirty="0"/>
              <a:t>of the loss surface is reached</a:t>
            </a:r>
          </a:p>
          <a:p>
            <a:pPr lvl="1"/>
            <a:r>
              <a:rPr lang="en-US" dirty="0"/>
              <a:t>GD does not guarantee reaching a </a:t>
            </a:r>
            <a:r>
              <a:rPr lang="en-US" dirty="0">
                <a:solidFill>
                  <a:srgbClr val="FF0000"/>
                </a:solidFill>
              </a:rPr>
              <a:t>global minimum</a:t>
            </a:r>
          </a:p>
          <a:p>
            <a:pPr lvl="1"/>
            <a:r>
              <a:rPr lang="en-US" dirty="0"/>
              <a:t>However, empirical evidence suggests that GD works well for NNs</a:t>
            </a:r>
          </a:p>
          <a:p>
            <a:endParaRPr lang="en-US" dirty="0"/>
          </a:p>
        </p:txBody>
      </p:sp>
      <p:sp>
        <p:nvSpPr>
          <p:cNvPr id="7" name="Content Placeholder 6">
            <a:extLst>
              <a:ext uri="{FF2B5EF4-FFF2-40B4-BE49-F238E27FC236}">
                <a16:creationId xmlns:a16="http://schemas.microsoft.com/office/drawing/2014/main" id="{2DE6E5ED-CBB5-41BC-AE21-653F1AA3B923}"/>
              </a:ext>
            </a:extLst>
          </p:cNvPr>
          <p:cNvSpPr>
            <a:spLocks noGrp="1"/>
          </p:cNvSpPr>
          <p:nvPr>
            <p:ph idx="4294967295"/>
          </p:nvPr>
        </p:nvSpPr>
        <p:spPr>
          <a:xfrm>
            <a:off x="1902594" y="1332297"/>
            <a:ext cx="5464136" cy="309082"/>
          </a:xfrm>
        </p:spPr>
        <p:txBody>
          <a:bodyPr>
            <a:normAutofit fontScale="70000" lnSpcReduction="20000"/>
          </a:bodyPr>
          <a:lstStyle/>
          <a:p>
            <a:r>
              <a:rPr lang="en-US" dirty="0"/>
              <a:t>Training Neural Networks</a:t>
            </a:r>
          </a:p>
          <a:p>
            <a:endParaRPr lang="en-US" dirty="0"/>
          </a:p>
        </p:txBody>
      </p:sp>
      <p:grpSp>
        <p:nvGrpSpPr>
          <p:cNvPr id="8" name="Group 7"/>
          <p:cNvGrpSpPr/>
          <p:nvPr/>
        </p:nvGrpSpPr>
        <p:grpSpPr>
          <a:xfrm>
            <a:off x="1809692" y="3429000"/>
            <a:ext cx="4286308" cy="2699420"/>
            <a:chOff x="1684483" y="3814192"/>
            <a:chExt cx="6873109" cy="384585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860848" y="3814192"/>
              <a:ext cx="6696744" cy="3758603"/>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684483" y="4060750"/>
                  <a:ext cx="862135" cy="479688"/>
                </a:xfrm>
                <a:prstGeom prst="rect">
                  <a:avLst/>
                </a:prstGeom>
                <a:solidFill>
                  <a:schemeClr val="bg1"/>
                </a:solidFill>
              </p:spPr>
              <p:txBody>
                <a:bodyPr wrap="square" rtlCol="0">
                  <a:spAutoFit/>
                </a:bodyPr>
                <a:lstStyle/>
                <a:p>
                  <a14:m>
                    <m:oMath xmlns:m="http://schemas.openxmlformats.org/officeDocument/2006/math">
                      <m:r>
                        <a:rPr lang="en-US" altLang="zh-TW" sz="1588" i="1">
                          <a:latin typeface="Cambria Math" panose="02040503050406030204" pitchFamily="18" charset="0"/>
                          <a:ea typeface="Cambria Math" panose="02040503050406030204" pitchFamily="18" charset="0"/>
                        </a:rPr>
                        <m:t>ℒ</m:t>
                      </m:r>
                      <m:d>
                        <m:dPr>
                          <m:ctrlPr>
                            <a:rPr lang="en-US" altLang="zh-TW" sz="1588" i="1">
                              <a:latin typeface="Cambria Math" panose="02040503050406030204" pitchFamily="18" charset="0"/>
                            </a:rPr>
                          </m:ctrlPr>
                        </m:dPr>
                        <m:e>
                          <m:r>
                            <a:rPr lang="zh-TW" altLang="en-US" sz="1588" i="1">
                              <a:latin typeface="Cambria Math" panose="02040503050406030204" pitchFamily="18" charset="0"/>
                            </a:rPr>
                            <m:t>𝜃</m:t>
                          </m:r>
                        </m:e>
                      </m:d>
                    </m:oMath>
                  </a14:m>
                  <a:r>
                    <a:rPr lang="en-US" sz="1588" dirty="0"/>
                    <a:t> </a:t>
                  </a:r>
                </a:p>
              </p:txBody>
            </p:sp>
          </mc:Choice>
          <mc:Fallback xmlns="">
            <p:sp>
              <p:nvSpPr>
                <p:cNvPr id="5" name="TextBox 4"/>
                <p:cNvSpPr txBox="1">
                  <a:spLocks noRot="1" noChangeAspect="1" noMove="1" noResize="1" noEditPoints="1" noAdjustHandles="1" noChangeArrowheads="1" noChangeShapeType="1" noTextEdit="1"/>
                </p:cNvSpPr>
                <p:nvPr/>
              </p:nvSpPr>
              <p:spPr>
                <a:xfrm>
                  <a:off x="1684483" y="4060750"/>
                  <a:ext cx="862135" cy="47968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911702" y="7180354"/>
                  <a:ext cx="289655" cy="479688"/>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1588" i="1">
                            <a:latin typeface="Cambria Math" panose="02040503050406030204" pitchFamily="18" charset="0"/>
                          </a:rPr>
                          <m:t>𝜃</m:t>
                        </m:r>
                      </m:oMath>
                    </m:oMathPara>
                  </a14:m>
                  <a:endParaRPr lang="en-US" sz="1588" dirty="0"/>
                </a:p>
              </p:txBody>
            </p:sp>
          </mc:Choice>
          <mc:Fallback xmlns="">
            <p:sp>
              <p:nvSpPr>
                <p:cNvPr id="6" name="TextBox 5"/>
                <p:cNvSpPr txBox="1">
                  <a:spLocks noRot="1" noChangeAspect="1" noMove="1" noResize="1" noEditPoints="1" noAdjustHandles="1" noChangeArrowheads="1" noChangeShapeType="1" noTextEdit="1"/>
                </p:cNvSpPr>
                <p:nvPr/>
              </p:nvSpPr>
              <p:spPr>
                <a:xfrm>
                  <a:off x="7911702" y="7180354"/>
                  <a:ext cx="289655" cy="479688"/>
                </a:xfrm>
                <a:prstGeom prst="rect">
                  <a:avLst/>
                </a:prstGeom>
                <a:blipFill>
                  <a:blip r:embed="rId5"/>
                  <a:stretch>
                    <a:fillRect r="-53333"/>
                  </a:stretch>
                </a:blipFill>
              </p:spPr>
              <p:txBody>
                <a:bodyPr/>
                <a:lstStyle/>
                <a:p>
                  <a:r>
                    <a:rPr lang="en-IN">
                      <a:noFill/>
                    </a:rPr>
                    <a:t> </a:t>
                  </a:r>
                </a:p>
              </p:txBody>
            </p:sp>
          </mc:Fallback>
        </mc:AlternateContent>
      </p:grpSp>
      <p:pic>
        <p:nvPicPr>
          <p:cNvPr id="9" name="Picture 8"/>
          <p:cNvPicPr>
            <a:picLocks noChangeAspect="1"/>
          </p:cNvPicPr>
          <p:nvPr/>
        </p:nvPicPr>
        <p:blipFill>
          <a:blip r:embed="rId6"/>
          <a:stretch>
            <a:fillRect/>
          </a:stretch>
        </p:blipFill>
        <p:spPr>
          <a:xfrm>
            <a:off x="6325355" y="3047781"/>
            <a:ext cx="4091126" cy="3025413"/>
          </a:xfrm>
          <a:prstGeom prst="rect">
            <a:avLst/>
          </a:prstGeom>
        </p:spPr>
      </p:pic>
      <p:sp>
        <p:nvSpPr>
          <p:cNvPr id="10" name="TextBox 9"/>
          <p:cNvSpPr txBox="1"/>
          <p:nvPr/>
        </p:nvSpPr>
        <p:spPr>
          <a:xfrm>
            <a:off x="2410885" y="6640746"/>
            <a:ext cx="7687913" cy="228076"/>
          </a:xfrm>
          <a:prstGeom prst="rect">
            <a:avLst/>
          </a:prstGeom>
          <a:noFill/>
        </p:spPr>
        <p:txBody>
          <a:bodyPr wrap="square" rtlCol="0">
            <a:spAutoFit/>
          </a:bodyPr>
          <a:lstStyle/>
          <a:p>
            <a:pPr algn="ctr"/>
            <a:r>
              <a:rPr lang="en-US" sz="882" dirty="0"/>
              <a:t>Picture from: </a:t>
            </a:r>
            <a:r>
              <a:rPr lang="en-US" sz="882" dirty="0">
                <a:hlinkClick r:id="rId7"/>
              </a:rPr>
              <a:t>https://blog.paperspace.com/intro-to-optimization-in-deep-learning-gradient-descent/</a:t>
            </a:r>
            <a:endParaRPr lang="en-US" sz="882" dirty="0"/>
          </a:p>
        </p:txBody>
      </p:sp>
    </p:spTree>
    <p:extLst>
      <p:ext uri="{BB962C8B-B14F-4D97-AF65-F5344CB8AC3E}">
        <p14:creationId xmlns:p14="http://schemas.microsoft.com/office/powerpoint/2010/main" val="3250376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For most tasks, the </a:t>
                </a:r>
                <a:r>
                  <a:rPr lang="en-US" dirty="0">
                    <a:solidFill>
                      <a:srgbClr val="FF0000"/>
                    </a:solidFill>
                  </a:rPr>
                  <a:t>loss surface </a:t>
                </a:r>
                <a14:m>
                  <m:oMath xmlns:m="http://schemas.openxmlformats.org/officeDocument/2006/math">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e>
                    </m:d>
                  </m:oMath>
                </a14:m>
                <a:r>
                  <a:rPr lang="en-US" dirty="0"/>
                  <a:t> is highly complex (and non-convex)</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9" t="-795"/>
                </a:stretch>
              </a:blipFill>
            </p:spPr>
            <p:txBody>
              <a:bodyPr/>
              <a:lstStyle/>
              <a:p>
                <a:r>
                  <a:rPr lang="en-US">
                    <a:noFill/>
                  </a:rPr>
                  <a:t> </a:t>
                </a:r>
              </a:p>
            </p:txBody>
          </p:sp>
        </mc:Fallback>
      </mc:AlternateContent>
      <p:sp>
        <p:nvSpPr>
          <p:cNvPr id="11" name="Content Placeholder 10">
            <a:extLst>
              <a:ext uri="{FF2B5EF4-FFF2-40B4-BE49-F238E27FC236}">
                <a16:creationId xmlns:a16="http://schemas.microsoft.com/office/drawing/2014/main" id="{A3ABDB2A-40C5-4383-9047-1053D60051CA}"/>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grpSp>
        <p:nvGrpSpPr>
          <p:cNvPr id="4" name="群組 3"/>
          <p:cNvGrpSpPr>
            <a:grpSpLocks noChangeAspect="1"/>
          </p:cNvGrpSpPr>
          <p:nvPr/>
        </p:nvGrpSpPr>
        <p:grpSpPr>
          <a:xfrm>
            <a:off x="6350146" y="2348880"/>
            <a:ext cx="4025649" cy="3319918"/>
            <a:chOff x="2297793" y="1985961"/>
            <a:chExt cx="5260923" cy="4338638"/>
          </a:xfrm>
        </p:grpSpPr>
        <p:pic>
          <p:nvPicPr>
            <p:cNvPr id="5" name="圖片 4"/>
            <p:cNvPicPr>
              <a:picLocks noChangeAspect="1"/>
            </p:cNvPicPr>
            <p:nvPr/>
          </p:nvPicPr>
          <p:blipFill>
            <a:blip r:embed="rId4"/>
            <a:stretch>
              <a:fillRect/>
            </a:stretch>
          </p:blipFill>
          <p:spPr>
            <a:xfrm>
              <a:off x="2297793" y="1985961"/>
              <a:ext cx="5260923" cy="4338638"/>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2805890" y="2318092"/>
                  <a:ext cx="352527" cy="4969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71" i="1">
                            <a:latin typeface="Cambria Math" panose="02040503050406030204" pitchFamily="18" charset="0"/>
                            <a:ea typeface="Cambria Math" panose="02040503050406030204" pitchFamily="18" charset="0"/>
                          </a:rPr>
                          <m:t>ℒ</m:t>
                        </m:r>
                      </m:oMath>
                    </m:oMathPara>
                  </a14:m>
                  <a:endParaRPr lang="zh-TW" altLang="en-US" sz="2471"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805890" y="2318092"/>
                  <a:ext cx="352527" cy="496907"/>
                </a:xfrm>
                <a:prstGeom prst="rect">
                  <a:avLst/>
                </a:prstGeom>
                <a:blipFill>
                  <a:blip r:embed="rId5"/>
                  <a:stretch>
                    <a:fillRect l="-24444" r="-20000" b="-64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3427448" y="5437130"/>
                  <a:ext cx="569976" cy="4969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71" i="1">
                                <a:latin typeface="Cambria Math" panose="02040503050406030204" pitchFamily="18" charset="0"/>
                              </a:rPr>
                            </m:ctrlPr>
                          </m:sSubPr>
                          <m:e>
                            <m:r>
                              <a:rPr lang="en-US" altLang="zh-TW" sz="2471" i="1">
                                <a:latin typeface="Cambria Math" panose="02040503050406030204" pitchFamily="18" charset="0"/>
                              </a:rPr>
                              <m:t>𝑤</m:t>
                            </m:r>
                          </m:e>
                          <m:sub>
                            <m:r>
                              <a:rPr lang="en-US" altLang="zh-TW" sz="2471" i="1">
                                <a:latin typeface="Cambria Math" panose="02040503050406030204" pitchFamily="18" charset="0"/>
                              </a:rPr>
                              <m:t>1</m:t>
                            </m:r>
                          </m:sub>
                        </m:sSub>
                      </m:oMath>
                    </m:oMathPara>
                  </a14:m>
                  <a:endParaRPr lang="zh-TW" altLang="en-US" sz="2471"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427448" y="5437130"/>
                  <a:ext cx="569976" cy="496907"/>
                </a:xfrm>
                <a:prstGeom prst="rect">
                  <a:avLst/>
                </a:prstGeom>
                <a:blipFill>
                  <a:blip r:embed="rId6"/>
                  <a:stretch>
                    <a:fillRect l="-8333" r="-2778" b="-1290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6309167" y="5396258"/>
                  <a:ext cx="579530" cy="4969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71" i="1">
                                <a:latin typeface="Cambria Math" panose="02040503050406030204" pitchFamily="18" charset="0"/>
                              </a:rPr>
                            </m:ctrlPr>
                          </m:sSubPr>
                          <m:e>
                            <m:r>
                              <a:rPr lang="en-US" altLang="zh-TW" sz="2471" i="1">
                                <a:latin typeface="Cambria Math" panose="02040503050406030204" pitchFamily="18" charset="0"/>
                              </a:rPr>
                              <m:t>𝑤</m:t>
                            </m:r>
                          </m:e>
                          <m:sub>
                            <m:r>
                              <a:rPr lang="en-US" altLang="zh-TW" sz="2471" i="1">
                                <a:latin typeface="Cambria Math" panose="02040503050406030204" pitchFamily="18" charset="0"/>
                              </a:rPr>
                              <m:t>2</m:t>
                            </m:r>
                          </m:sub>
                        </m:sSub>
                      </m:oMath>
                    </m:oMathPara>
                  </a14:m>
                  <a:endParaRPr lang="zh-TW" altLang="en-US" sz="2471"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6309167" y="5396258"/>
                  <a:ext cx="579530" cy="496907"/>
                </a:xfrm>
                <a:prstGeom prst="rect">
                  <a:avLst/>
                </a:prstGeom>
                <a:blipFill>
                  <a:blip r:embed="rId7"/>
                  <a:stretch>
                    <a:fillRect l="-8219" r="-2740" b="-11111"/>
                  </a:stretch>
                </a:blipFill>
              </p:spPr>
              <p:txBody>
                <a:bodyPr/>
                <a:lstStyle/>
                <a:p>
                  <a:r>
                    <a:rPr lang="en-IN">
                      <a:noFill/>
                    </a:rPr>
                    <a:t> </a:t>
                  </a:r>
                </a:p>
              </p:txBody>
            </p:sp>
          </mc:Fallback>
        </mc:AlternateContent>
      </p:grpSp>
      <p:sp>
        <p:nvSpPr>
          <p:cNvPr id="10" name="TextBox 9">
            <a:extLst>
              <a:ext uri="{FF2B5EF4-FFF2-40B4-BE49-F238E27FC236}">
                <a16:creationId xmlns:a16="http://schemas.microsoft.com/office/drawing/2014/main" id="{EA266884-562C-4133-A035-68A38AE7DE9A}"/>
              </a:ext>
            </a:extLst>
          </p:cNvPr>
          <p:cNvSpPr txBox="1"/>
          <p:nvPr/>
        </p:nvSpPr>
        <p:spPr>
          <a:xfrm>
            <a:off x="3046250" y="6640746"/>
            <a:ext cx="6099501" cy="228076"/>
          </a:xfrm>
          <a:prstGeom prst="rect">
            <a:avLst/>
          </a:prstGeom>
          <a:noFill/>
        </p:spPr>
        <p:txBody>
          <a:bodyPr wrap="square" rtlCol="0">
            <a:spAutoFit/>
          </a:bodyPr>
          <a:lstStyle/>
          <a:p>
            <a:pPr algn="ctr"/>
            <a:r>
              <a:rPr lang="en-US" sz="882" dirty="0"/>
              <a:t>Slide credit: Hung-</a:t>
            </a:r>
            <a:r>
              <a:rPr lang="en-US" sz="882" dirty="0" err="1"/>
              <a:t>yi</a:t>
            </a:r>
            <a:r>
              <a:rPr lang="en-US" sz="882" dirty="0"/>
              <a:t> Lee – Deep Learning Tutorial</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4C9E6AAF-7305-45A7-85ED-9709782B0228}"/>
                  </a:ext>
                </a:extLst>
              </p:cNvPr>
              <p:cNvSpPr txBox="1">
                <a:spLocks/>
              </p:cNvSpPr>
              <p:nvPr/>
            </p:nvSpPr>
            <p:spPr>
              <a:xfrm>
                <a:off x="1902594" y="2183091"/>
                <a:ext cx="4193406" cy="3850904"/>
              </a:xfrm>
              <a:prstGeom prst="rect">
                <a:avLst/>
              </a:prstGeom>
            </p:spPr>
            <p:txBody>
              <a:bodyPr vert="horz" lIns="80682" tIns="40341" rIns="80682" bIns="40341" rtlCol="0">
                <a:normAutofit/>
              </a:bodyPr>
              <a:lstStyle>
                <a:lvl1pPr marL="288925" indent="-288925" algn="l" defTabSz="914323" rtl="0" eaLnBrk="1" latinLnBrk="0" hangingPunct="1">
                  <a:spcBef>
                    <a:spcPct val="20000"/>
                  </a:spcBef>
                  <a:buClr>
                    <a:schemeClr val="tx2"/>
                  </a:buClr>
                  <a:buSzPct val="90000"/>
                  <a:buFont typeface="Palatino Linotype" panose="02040502050505030304" pitchFamily="18" charset="0"/>
                  <a:buChar char="•"/>
                  <a:defRPr sz="2000" kern="1200">
                    <a:solidFill>
                      <a:schemeClr val="tx1"/>
                    </a:solidFill>
                    <a:latin typeface="Palatino Linotype" panose="02040502050505030304" pitchFamily="18" charset="0"/>
                    <a:ea typeface="+mn-ea"/>
                    <a:cs typeface="+mn-cs"/>
                  </a:defRPr>
                </a:lvl1pPr>
                <a:lvl2pPr marL="631825" indent="-227013" algn="l" defTabSz="914323" rtl="0" eaLnBrk="1" latinLnBrk="0" hangingPunct="1">
                  <a:spcBef>
                    <a:spcPct val="20000"/>
                  </a:spcBef>
                  <a:buClr>
                    <a:schemeClr val="tx2"/>
                  </a:buClr>
                  <a:buSzPct val="90000"/>
                  <a:buFont typeface="Wingdings" panose="05000000000000000000" pitchFamily="2" charset="2"/>
                  <a:buChar char="§"/>
                  <a:defRPr sz="1800" kern="1200">
                    <a:solidFill>
                      <a:schemeClr val="tx1"/>
                    </a:solidFill>
                    <a:latin typeface="Palatino Linotype" panose="02040502050505030304" pitchFamily="18" charset="0"/>
                    <a:ea typeface="+mn-ea"/>
                    <a:cs typeface="+mn-cs"/>
                  </a:defRPr>
                </a:lvl2pPr>
                <a:lvl3pPr marL="973138" indent="-231775" algn="l" defTabSz="914323" rtl="0" eaLnBrk="1" latinLnBrk="0" hangingPunct="1">
                  <a:spcBef>
                    <a:spcPct val="20000"/>
                  </a:spcBef>
                  <a:buClr>
                    <a:schemeClr val="tx2"/>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3pPr>
                <a:lvl4pPr marL="1254125" indent="-222250" algn="l" defTabSz="914323" rtl="0" eaLnBrk="1" latinLnBrk="0" hangingPunct="1">
                  <a:spcBef>
                    <a:spcPct val="20000"/>
                  </a:spcBef>
                  <a:buClr>
                    <a:schemeClr val="tx2"/>
                  </a:buClr>
                  <a:buFont typeface="Arial" panose="020B0604020202020204" pitchFamily="34" charset="0"/>
                  <a:buChar char="–"/>
                  <a:defRPr sz="1400" kern="1200">
                    <a:solidFill>
                      <a:schemeClr val="tx1"/>
                    </a:solidFill>
                    <a:latin typeface="Palatino Linotype" panose="02040502050505030304" pitchFamily="18" charset="0"/>
                    <a:ea typeface="+mn-ea"/>
                    <a:cs typeface="+mn-cs"/>
                  </a:defRPr>
                </a:lvl4pPr>
                <a:lvl5pPr marL="1430338" indent="-176213" algn="l" defTabSz="914323" rtl="0" eaLnBrk="1" latinLnBrk="0" hangingPunct="1">
                  <a:spcBef>
                    <a:spcPct val="20000"/>
                  </a:spcBef>
                  <a:buClr>
                    <a:schemeClr val="tx2"/>
                  </a:buClr>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765" dirty="0"/>
                  <a:t>Random initialization in NNs results in different initial parameters </a:t>
                </a:r>
                <a14:m>
                  <m:oMath xmlns:m="http://schemas.openxmlformats.org/officeDocument/2006/math">
                    <m:sSup>
                      <m:sSupPr>
                        <m:ctrlPr>
                          <a:rPr lang="en-US" altLang="zh-TW" sz="1765" i="1">
                            <a:latin typeface="Cambria Math" panose="02040503050406030204" pitchFamily="18" charset="0"/>
                          </a:rPr>
                        </m:ctrlPr>
                      </m:sSupPr>
                      <m:e>
                        <m:r>
                          <a:rPr lang="zh-TW" altLang="en-US" sz="1765" i="1">
                            <a:latin typeface="Cambria Math" panose="02040503050406030204" pitchFamily="18" charset="0"/>
                          </a:rPr>
                          <m:t>𝜃</m:t>
                        </m:r>
                      </m:e>
                      <m:sup>
                        <m:r>
                          <a:rPr lang="en-US" altLang="zh-TW" sz="1765" i="1">
                            <a:latin typeface="Cambria Math" panose="02040503050406030204" pitchFamily="18" charset="0"/>
                          </a:rPr>
                          <m:t>0</m:t>
                        </m:r>
                      </m:sup>
                    </m:sSup>
                  </m:oMath>
                </a14:m>
                <a:r>
                  <a:rPr lang="en-US" sz="1765" dirty="0"/>
                  <a:t> every time the NN is trained</a:t>
                </a:r>
              </a:p>
              <a:p>
                <a:pPr lvl="1"/>
                <a:r>
                  <a:rPr lang="en-US" sz="1588" dirty="0"/>
                  <a:t>Gradient descent may reach different minima at every run</a:t>
                </a:r>
              </a:p>
              <a:p>
                <a:pPr lvl="1"/>
                <a:r>
                  <a:rPr lang="en-US" sz="1588" dirty="0"/>
                  <a:t>Therefore, NN will produce different predicted outputs </a:t>
                </a:r>
              </a:p>
              <a:p>
                <a:r>
                  <a:rPr lang="en-US" sz="1765" dirty="0"/>
                  <a:t>In addition, currently we don’t have algorithms that guarantee reaching a </a:t>
                </a:r>
                <a:r>
                  <a:rPr lang="en-US" sz="1765" dirty="0">
                    <a:solidFill>
                      <a:srgbClr val="FF0000"/>
                    </a:solidFill>
                  </a:rPr>
                  <a:t>global minimum </a:t>
                </a:r>
                <a:r>
                  <a:rPr lang="en-US" sz="1765" dirty="0"/>
                  <a:t>for an arbitrary loss function</a:t>
                </a:r>
              </a:p>
              <a:p>
                <a:endParaRPr lang="en-US" sz="1765" dirty="0"/>
              </a:p>
            </p:txBody>
          </p:sp>
        </mc:Choice>
        <mc:Fallback xmlns="">
          <p:sp>
            <p:nvSpPr>
              <p:cNvPr id="12" name="Content Placeholder 2">
                <a:extLst>
                  <a:ext uri="{FF2B5EF4-FFF2-40B4-BE49-F238E27FC236}">
                    <a16:creationId xmlns:a16="http://schemas.microsoft.com/office/drawing/2014/main" id="{4C9E6AAF-7305-45A7-85ED-9709782B0228}"/>
                  </a:ext>
                </a:extLst>
              </p:cNvPr>
              <p:cNvSpPr txBox="1">
                <a:spLocks noRot="1" noChangeAspect="1" noMove="1" noResize="1" noEditPoints="1" noAdjustHandles="1" noChangeArrowheads="1" noChangeShapeType="1" noTextEdit="1"/>
              </p:cNvSpPr>
              <p:nvPr/>
            </p:nvSpPr>
            <p:spPr>
              <a:xfrm>
                <a:off x="1902594" y="2183091"/>
                <a:ext cx="4193406" cy="3850904"/>
              </a:xfrm>
              <a:prstGeom prst="rect">
                <a:avLst/>
              </a:prstGeom>
              <a:blipFill>
                <a:blip r:embed="rId8"/>
                <a:stretch>
                  <a:fillRect l="-1453" t="-949" r="-872"/>
                </a:stretch>
              </a:blipFill>
            </p:spPr>
            <p:txBody>
              <a:bodyPr/>
              <a:lstStyle/>
              <a:p>
                <a:r>
                  <a:rPr lang="en-IN">
                    <a:noFill/>
                  </a:rPr>
                  <a:t> </a:t>
                </a:r>
              </a:p>
            </p:txBody>
          </p:sp>
        </mc:Fallback>
      </mc:AlternateContent>
    </p:spTree>
    <p:extLst>
      <p:ext uri="{BB962C8B-B14F-4D97-AF65-F5344CB8AC3E}">
        <p14:creationId xmlns:p14="http://schemas.microsoft.com/office/powerpoint/2010/main" val="1482681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Mini-batch 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It is wasteful to compute the loss over the </a:t>
                </a:r>
                <a:r>
                  <a:rPr lang="en-US" dirty="0">
                    <a:solidFill>
                      <a:srgbClr val="FF0000"/>
                    </a:solidFill>
                  </a:rPr>
                  <a:t>entire training dataset </a:t>
                </a:r>
                <a:r>
                  <a:rPr lang="en-US" dirty="0"/>
                  <a:t>to perform a single parameter update for large datasets</a:t>
                </a:r>
              </a:p>
              <a:p>
                <a:pPr lvl="1"/>
                <a:r>
                  <a:rPr lang="en-US" dirty="0"/>
                  <a:t>E.g., ImageNet has 14M images</a:t>
                </a:r>
              </a:p>
              <a:p>
                <a:pPr lvl="1"/>
                <a:r>
                  <a:rPr lang="en-US" dirty="0"/>
                  <a:t>Therefore, GD (a.k.a. vanilla GD) is almost always replaced with mini-batch GD</a:t>
                </a:r>
              </a:p>
              <a:p>
                <a:r>
                  <a:rPr lang="en-US" b="1" i="1" dirty="0">
                    <a:solidFill>
                      <a:srgbClr val="0070C0"/>
                    </a:solidFill>
                  </a:rPr>
                  <a:t>Mini-batch gradient descent</a:t>
                </a:r>
              </a:p>
              <a:p>
                <a:pPr lvl="1"/>
                <a:r>
                  <a:rPr lang="en-US" altLang="zh-TW" dirty="0"/>
                  <a:t>Approach:</a:t>
                </a:r>
              </a:p>
              <a:p>
                <a:pPr lvl="2"/>
                <a:r>
                  <a:rPr lang="en-US" altLang="zh-TW" dirty="0"/>
                  <a:t>Compute the loss </a:t>
                </a:r>
                <a14:m>
                  <m:oMath xmlns:m="http://schemas.openxmlformats.org/officeDocument/2006/math">
                    <m:r>
                      <a:rPr lang="en-US" altLang="zh-TW" i="1">
                        <a:latin typeface="Cambria Math" panose="02040503050406030204" pitchFamily="18" charset="0"/>
                        <a:ea typeface="Cambria Math" panose="02040503050406030204" pitchFamily="18" charset="0"/>
                      </a:rPr>
                      <m:t>ℒ</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r>
                  <a:rPr lang="en-US" dirty="0"/>
                  <a:t> </a:t>
                </a:r>
                <a:r>
                  <a:rPr lang="en-US" altLang="zh-TW" dirty="0"/>
                  <a:t>on a mini-batch of images, update the parameters </a:t>
                </a:r>
                <a14:m>
                  <m:oMath xmlns:m="http://schemas.openxmlformats.org/officeDocument/2006/math">
                    <m:r>
                      <a:rPr lang="zh-TW" altLang="en-US" i="1">
                        <a:latin typeface="Cambria Math" panose="02040503050406030204" pitchFamily="18" charset="0"/>
                      </a:rPr>
                      <m:t>𝜃</m:t>
                    </m:r>
                  </m:oMath>
                </a14:m>
                <a:r>
                  <a:rPr lang="en-US" altLang="zh-TW" dirty="0"/>
                  <a:t>, and repeat until all images are used</a:t>
                </a:r>
              </a:p>
              <a:p>
                <a:pPr lvl="2"/>
                <a:r>
                  <a:rPr lang="en-US" altLang="zh-TW" dirty="0"/>
                  <a:t>At the next epoch, shuffle the training data, and repeat the above process</a:t>
                </a:r>
              </a:p>
              <a:p>
                <a:pPr lvl="1"/>
                <a:r>
                  <a:rPr lang="en-US" altLang="zh-TW" dirty="0"/>
                  <a:t>Mini-batch GD results in much faster training</a:t>
                </a:r>
              </a:p>
              <a:p>
                <a:pPr lvl="1"/>
                <a:r>
                  <a:rPr lang="en-US" altLang="zh-TW" dirty="0"/>
                  <a:t>Typical mini-batch size: 32 to 256 images</a:t>
                </a:r>
              </a:p>
              <a:p>
                <a:pPr lvl="1"/>
                <a:r>
                  <a:rPr lang="en-US" altLang="zh-TW" dirty="0"/>
                  <a:t>It works because the gradient from a mini-batch is a good approximation of the gradient from the entire training set</a:t>
                </a:r>
              </a:p>
              <a:p>
                <a:endParaRPr lang="zh-TW" altLang="en-US" baseline="30000" dirty="0"/>
              </a:p>
              <a:p>
                <a:endParaRPr lang="zh-TW"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99" t="-795"/>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722C4E5F-0A65-4EF7-A19D-7E6C930D91A9}"/>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spTree>
    <p:extLst>
      <p:ext uri="{BB962C8B-B14F-4D97-AF65-F5344CB8AC3E}">
        <p14:creationId xmlns:p14="http://schemas.microsoft.com/office/powerpoint/2010/main" val="3693819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Mini-batch</a:t>
            </a:r>
            <a:endParaRPr lang="zh-TW" altLang="en-US" dirty="0"/>
          </a:p>
        </p:txBody>
      </p:sp>
      <p:grpSp>
        <p:nvGrpSpPr>
          <p:cNvPr id="4" name="群組 3"/>
          <p:cNvGrpSpPr/>
          <p:nvPr/>
        </p:nvGrpSpPr>
        <p:grpSpPr>
          <a:xfrm>
            <a:off x="2782865" y="1778497"/>
            <a:ext cx="421911" cy="671513"/>
            <a:chOff x="510563" y="3417283"/>
            <a:chExt cx="421911" cy="671513"/>
          </a:xfrm>
        </p:grpSpPr>
        <p:sp>
          <p:nvSpPr>
            <p:cNvPr id="5" name="矩形 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6" name="矩形 5"/>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13" name="矩形 12"/>
          <p:cNvSpPr/>
          <p:nvPr/>
        </p:nvSpPr>
        <p:spPr>
          <a:xfrm>
            <a:off x="3582790" y="178106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17" name="文字方塊 16"/>
          <p:cNvSpPr txBox="1"/>
          <p:nvPr/>
        </p:nvSpPr>
        <p:spPr>
          <a:xfrm rot="5400000">
            <a:off x="3805308" y="3323803"/>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8" name="直線單箭頭接點 17"/>
          <p:cNvCxnSpPr/>
          <p:nvPr/>
        </p:nvCxnSpPr>
        <p:spPr>
          <a:xfrm flipV="1">
            <a:off x="3151407" y="211425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V="1">
            <a:off x="4551656" y="210904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p:cNvGrpSpPr/>
          <p:nvPr/>
        </p:nvGrpSpPr>
        <p:grpSpPr>
          <a:xfrm>
            <a:off x="4950171" y="1778497"/>
            <a:ext cx="428323" cy="671513"/>
            <a:chOff x="507357" y="3417283"/>
            <a:chExt cx="428323" cy="671513"/>
          </a:xfrm>
        </p:grpSpPr>
        <p:sp>
          <p:nvSpPr>
            <p:cNvPr id="25" name="矩形 24"/>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26" name="矩形 25"/>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33" name="矩形 32"/>
          <p:cNvSpPr/>
          <p:nvPr/>
        </p:nvSpPr>
        <p:spPr>
          <a:xfrm>
            <a:off x="5968215" y="1778497"/>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36" name="文字方塊 35"/>
              <p:cNvSpPr txBox="1"/>
              <p:nvPr/>
            </p:nvSpPr>
            <p:spPr>
              <a:xfrm>
                <a:off x="5957773" y="1952099"/>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36" name="文字方塊 35"/>
              <p:cNvSpPr txBox="1">
                <a:spLocks noRot="1" noChangeAspect="1" noMove="1" noResize="1" noEditPoints="1" noAdjustHandles="1" noChangeArrowheads="1" noChangeShapeType="1" noTextEdit="1"/>
              </p:cNvSpPr>
              <p:nvPr/>
            </p:nvSpPr>
            <p:spPr>
              <a:xfrm>
                <a:off x="5957773" y="1952099"/>
                <a:ext cx="391454" cy="369332"/>
              </a:xfrm>
              <a:prstGeom prst="rect">
                <a:avLst/>
              </a:prstGeom>
              <a:blipFill>
                <a:blip r:embed="rId3"/>
                <a:stretch>
                  <a:fillRect l="-18462" t="-16393" r="-47692" b="-24590"/>
                </a:stretch>
              </a:blipFill>
            </p:spPr>
            <p:txBody>
              <a:bodyPr/>
              <a:lstStyle/>
              <a:p>
                <a:r>
                  <a:rPr lang="en-IN">
                    <a:noFill/>
                  </a:rPr>
                  <a:t> </a:t>
                </a:r>
              </a:p>
            </p:txBody>
          </p:sp>
        </mc:Fallback>
      </mc:AlternateContent>
      <p:sp>
        <p:nvSpPr>
          <p:cNvPr id="39" name="左-右雙向箭號 38"/>
          <p:cNvSpPr/>
          <p:nvPr/>
        </p:nvSpPr>
        <p:spPr>
          <a:xfrm>
            <a:off x="5309800" y="2070471"/>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2" name="文字方塊 41"/>
              <p:cNvSpPr txBox="1"/>
              <p:nvPr/>
            </p:nvSpPr>
            <p:spPr>
              <a:xfrm>
                <a:off x="5451373" y="2265204"/>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5451373" y="2265204"/>
                <a:ext cx="312458" cy="369332"/>
              </a:xfrm>
              <a:prstGeom prst="rect">
                <a:avLst/>
              </a:prstGeom>
              <a:blipFill>
                <a:blip r:embed="rId4"/>
                <a:stretch>
                  <a:fillRect l="-23077" t="-1667" r="-7692" b="-8333"/>
                </a:stretch>
              </a:blipFill>
            </p:spPr>
            <p:txBody>
              <a:bodyPr/>
              <a:lstStyle/>
              <a:p>
                <a:r>
                  <a:rPr lang="en-IN">
                    <a:noFill/>
                  </a:rPr>
                  <a:t> </a:t>
                </a:r>
              </a:p>
            </p:txBody>
          </p:sp>
        </mc:Fallback>
      </mc:AlternateContent>
      <p:grpSp>
        <p:nvGrpSpPr>
          <p:cNvPr id="47" name="群組 46"/>
          <p:cNvGrpSpPr/>
          <p:nvPr/>
        </p:nvGrpSpPr>
        <p:grpSpPr>
          <a:xfrm>
            <a:off x="2733850" y="2586462"/>
            <a:ext cx="526106" cy="671513"/>
            <a:chOff x="458466" y="3417283"/>
            <a:chExt cx="526106" cy="671513"/>
          </a:xfrm>
        </p:grpSpPr>
        <p:sp>
          <p:nvSpPr>
            <p:cNvPr id="48" name="矩形 47"/>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49" name="矩形 48"/>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31</a:t>
              </a:r>
              <a:endParaRPr lang="zh-TW" altLang="en-US" sz="2400" baseline="30000" dirty="0"/>
            </a:p>
          </p:txBody>
        </p:sp>
      </p:grpSp>
      <p:sp>
        <p:nvSpPr>
          <p:cNvPr id="50" name="矩形 49"/>
          <p:cNvSpPr/>
          <p:nvPr/>
        </p:nvSpPr>
        <p:spPr>
          <a:xfrm>
            <a:off x="3585874" y="258063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51" name="直線單箭頭接點 50"/>
          <p:cNvCxnSpPr/>
          <p:nvPr/>
        </p:nvCxnSpPr>
        <p:spPr>
          <a:xfrm flipV="1">
            <a:off x="3151530" y="292221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p:nvPr/>
        </p:nvCxnSpPr>
        <p:spPr>
          <a:xfrm flipV="1">
            <a:off x="4551779" y="291700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3" name="群組 52"/>
          <p:cNvGrpSpPr/>
          <p:nvPr/>
        </p:nvGrpSpPr>
        <p:grpSpPr>
          <a:xfrm>
            <a:off x="4901157" y="2586462"/>
            <a:ext cx="532518" cy="671513"/>
            <a:chOff x="455261" y="3417283"/>
            <a:chExt cx="532518" cy="671513"/>
          </a:xfrm>
        </p:grpSpPr>
        <p:sp>
          <p:nvSpPr>
            <p:cNvPr id="54" name="矩形 53"/>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55" name="矩形 54"/>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31</a:t>
              </a:r>
              <a:endParaRPr lang="zh-TW" altLang="en-US" sz="2400" baseline="30000" dirty="0"/>
            </a:p>
          </p:txBody>
        </p:sp>
      </p:grpSp>
      <p:sp>
        <p:nvSpPr>
          <p:cNvPr id="56" name="矩形 55"/>
          <p:cNvSpPr/>
          <p:nvPr/>
        </p:nvSpPr>
        <p:spPr>
          <a:xfrm>
            <a:off x="5971298" y="2586462"/>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7" name="文字方塊 56"/>
              <p:cNvSpPr txBox="1"/>
              <p:nvPr/>
            </p:nvSpPr>
            <p:spPr>
              <a:xfrm>
                <a:off x="5971298" y="2748469"/>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57" name="文字方塊 56"/>
              <p:cNvSpPr txBox="1">
                <a:spLocks noRot="1" noChangeAspect="1" noMove="1" noResize="1" noEditPoints="1" noAdjustHandles="1" noChangeArrowheads="1" noChangeShapeType="1" noTextEdit="1"/>
              </p:cNvSpPr>
              <p:nvPr/>
            </p:nvSpPr>
            <p:spPr>
              <a:xfrm>
                <a:off x="5971298" y="2748469"/>
                <a:ext cx="527901" cy="369332"/>
              </a:xfrm>
              <a:prstGeom prst="rect">
                <a:avLst/>
              </a:prstGeom>
              <a:blipFill>
                <a:blip r:embed="rId5"/>
                <a:stretch>
                  <a:fillRect l="-13953" t="-18333" r="-33721" b="-26667"/>
                </a:stretch>
              </a:blipFill>
            </p:spPr>
            <p:txBody>
              <a:bodyPr/>
              <a:lstStyle/>
              <a:p>
                <a:r>
                  <a:rPr lang="en-IN">
                    <a:noFill/>
                  </a:rPr>
                  <a:t> </a:t>
                </a:r>
              </a:p>
            </p:txBody>
          </p:sp>
        </mc:Fallback>
      </mc:AlternateContent>
      <p:sp>
        <p:nvSpPr>
          <p:cNvPr id="58" name="左-右雙向箭號 57"/>
          <p:cNvSpPr/>
          <p:nvPr/>
        </p:nvSpPr>
        <p:spPr>
          <a:xfrm>
            <a:off x="5307522" y="2852031"/>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9" name="文字方塊 58"/>
              <p:cNvSpPr txBox="1"/>
              <p:nvPr/>
            </p:nvSpPr>
            <p:spPr>
              <a:xfrm>
                <a:off x="5450812" y="3109079"/>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59" name="文字方塊 58"/>
              <p:cNvSpPr txBox="1">
                <a:spLocks noRot="1" noChangeAspect="1" noMove="1" noResize="1" noEditPoints="1" noAdjustHandles="1" noChangeArrowheads="1" noChangeShapeType="1" noTextEdit="1"/>
              </p:cNvSpPr>
              <p:nvPr/>
            </p:nvSpPr>
            <p:spPr>
              <a:xfrm>
                <a:off x="5450812" y="3109079"/>
                <a:ext cx="448905" cy="369332"/>
              </a:xfrm>
              <a:prstGeom prst="rect">
                <a:avLst/>
              </a:prstGeom>
              <a:blipFill>
                <a:blip r:embed="rId6"/>
                <a:stretch>
                  <a:fillRect l="-16216" r="-5405" b="-6557"/>
                </a:stretch>
              </a:blipFill>
            </p:spPr>
            <p:txBody>
              <a:bodyPr/>
              <a:lstStyle/>
              <a:p>
                <a:r>
                  <a:rPr lang="en-IN">
                    <a:noFill/>
                  </a:rPr>
                  <a:t> </a:t>
                </a:r>
              </a:p>
            </p:txBody>
          </p:sp>
        </mc:Fallback>
      </mc:AlternateContent>
      <p:pic>
        <p:nvPicPr>
          <p:cNvPr id="60" name="圖片 59"/>
          <p:cNvPicPr preferRelativeResize="0">
            <a:picLocks/>
          </p:cNvPicPr>
          <p:nvPr/>
        </p:nvPicPr>
        <p:blipFill>
          <a:blip r:embed="rId7"/>
          <a:stretch>
            <a:fillRect/>
          </a:stretch>
        </p:blipFill>
        <p:spPr>
          <a:xfrm>
            <a:off x="2377541" y="1961431"/>
            <a:ext cx="360000" cy="360000"/>
          </a:xfrm>
          <a:prstGeom prst="rect">
            <a:avLst/>
          </a:prstGeom>
          <a:ln w="38100">
            <a:solidFill>
              <a:schemeClr val="tx1"/>
            </a:solidFill>
          </a:ln>
        </p:spPr>
      </p:pic>
      <p:pic>
        <p:nvPicPr>
          <p:cNvPr id="61" name="圖片 60"/>
          <p:cNvPicPr preferRelativeResize="0">
            <a:picLocks/>
          </p:cNvPicPr>
          <p:nvPr/>
        </p:nvPicPr>
        <p:blipFill>
          <a:blip r:embed="rId8"/>
          <a:stretch>
            <a:fillRect/>
          </a:stretch>
        </p:blipFill>
        <p:spPr>
          <a:xfrm>
            <a:off x="2335991" y="4331374"/>
            <a:ext cx="360000" cy="360000"/>
          </a:xfrm>
          <a:prstGeom prst="rect">
            <a:avLst/>
          </a:prstGeom>
          <a:ln w="38100">
            <a:solidFill>
              <a:schemeClr val="tx1"/>
            </a:solidFill>
          </a:ln>
        </p:spPr>
      </p:pic>
      <p:pic>
        <p:nvPicPr>
          <p:cNvPr id="62" name="圖片 61"/>
          <p:cNvPicPr preferRelativeResize="0">
            <a:picLocks/>
          </p:cNvPicPr>
          <p:nvPr/>
        </p:nvPicPr>
        <p:blipFill>
          <a:blip r:embed="rId9"/>
          <a:stretch>
            <a:fillRect/>
          </a:stretch>
        </p:blipFill>
        <p:spPr>
          <a:xfrm>
            <a:off x="2348563" y="2718563"/>
            <a:ext cx="360000" cy="360000"/>
          </a:xfrm>
          <a:prstGeom prst="rect">
            <a:avLst/>
          </a:prstGeom>
          <a:ln w="38100">
            <a:solidFill>
              <a:schemeClr val="tx1"/>
            </a:solidFill>
          </a:ln>
        </p:spPr>
      </p:pic>
      <p:pic>
        <p:nvPicPr>
          <p:cNvPr id="63" name="圖片 62"/>
          <p:cNvPicPr preferRelativeResize="0">
            <a:picLocks/>
          </p:cNvPicPr>
          <p:nvPr/>
        </p:nvPicPr>
        <p:blipFill>
          <a:blip r:embed="rId10"/>
          <a:stretch>
            <a:fillRect/>
          </a:stretch>
        </p:blipFill>
        <p:spPr>
          <a:xfrm>
            <a:off x="2302436" y="5322008"/>
            <a:ext cx="360000" cy="360000"/>
          </a:xfrm>
          <a:prstGeom prst="rect">
            <a:avLst/>
          </a:prstGeom>
          <a:ln w="38100">
            <a:solidFill>
              <a:schemeClr val="tx1"/>
            </a:solidFill>
          </a:ln>
        </p:spPr>
      </p:pic>
      <p:grpSp>
        <p:nvGrpSpPr>
          <p:cNvPr id="65" name="群組 64"/>
          <p:cNvGrpSpPr/>
          <p:nvPr/>
        </p:nvGrpSpPr>
        <p:grpSpPr>
          <a:xfrm>
            <a:off x="2768871" y="4218356"/>
            <a:ext cx="421910" cy="671513"/>
            <a:chOff x="510564" y="3417283"/>
            <a:chExt cx="421910" cy="671513"/>
          </a:xfrm>
        </p:grpSpPr>
        <p:sp>
          <p:nvSpPr>
            <p:cNvPr id="66" name="矩形 65"/>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67" name="矩形 66"/>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2</a:t>
              </a:r>
              <a:endParaRPr lang="zh-TW" altLang="en-US" sz="2400" baseline="30000" dirty="0"/>
            </a:p>
          </p:txBody>
        </p:sp>
      </p:grpSp>
      <p:sp>
        <p:nvSpPr>
          <p:cNvPr id="68" name="矩形 67"/>
          <p:cNvSpPr/>
          <p:nvPr/>
        </p:nvSpPr>
        <p:spPr>
          <a:xfrm>
            <a:off x="3568796" y="4220926"/>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69" name="文字方塊 68"/>
          <p:cNvSpPr txBox="1"/>
          <p:nvPr/>
        </p:nvSpPr>
        <p:spPr>
          <a:xfrm rot="5400000">
            <a:off x="3790553" y="5908663"/>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70" name="直線單箭頭接點 69"/>
          <p:cNvCxnSpPr/>
          <p:nvPr/>
        </p:nvCxnSpPr>
        <p:spPr>
          <a:xfrm flipV="1">
            <a:off x="3137413" y="4554110"/>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4537662" y="4548903"/>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群組 71"/>
          <p:cNvGrpSpPr/>
          <p:nvPr/>
        </p:nvGrpSpPr>
        <p:grpSpPr>
          <a:xfrm>
            <a:off x="4936177" y="4218356"/>
            <a:ext cx="428322" cy="671513"/>
            <a:chOff x="507358" y="3417283"/>
            <a:chExt cx="428322" cy="671513"/>
          </a:xfrm>
        </p:grpSpPr>
        <p:sp>
          <p:nvSpPr>
            <p:cNvPr id="73" name="矩形 72"/>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74" name="矩形 73"/>
            <p:cNvSpPr/>
            <p:nvPr/>
          </p:nvSpPr>
          <p:spPr>
            <a:xfrm>
              <a:off x="507358" y="3522206"/>
              <a:ext cx="428322" cy="461665"/>
            </a:xfrm>
            <a:prstGeom prst="rect">
              <a:avLst/>
            </a:prstGeom>
          </p:spPr>
          <p:txBody>
            <a:bodyPr wrap="none">
              <a:spAutoFit/>
            </a:bodyPr>
            <a:lstStyle/>
            <a:p>
              <a:pPr algn="ctr"/>
              <a:r>
                <a:rPr lang="en-US" altLang="zh-TW" sz="2400" dirty="0"/>
                <a:t>y</a:t>
              </a:r>
              <a:r>
                <a:rPr lang="en-US" altLang="zh-TW" sz="2400" baseline="30000" dirty="0"/>
                <a:t>2</a:t>
              </a:r>
              <a:endParaRPr lang="zh-TW" altLang="en-US" sz="2400" baseline="30000" dirty="0"/>
            </a:p>
          </p:txBody>
        </p:sp>
      </p:grpSp>
      <p:sp>
        <p:nvSpPr>
          <p:cNvPr id="75" name="矩形 74"/>
          <p:cNvSpPr/>
          <p:nvPr/>
        </p:nvSpPr>
        <p:spPr>
          <a:xfrm>
            <a:off x="5954221" y="4218356"/>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76" name="文字方塊 75"/>
              <p:cNvSpPr txBox="1"/>
              <p:nvPr/>
            </p:nvSpPr>
            <p:spPr>
              <a:xfrm>
                <a:off x="5943779" y="4391958"/>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5943779" y="4391958"/>
                <a:ext cx="398058" cy="369332"/>
              </a:xfrm>
              <a:prstGeom prst="rect">
                <a:avLst/>
              </a:prstGeom>
              <a:blipFill>
                <a:blip r:embed="rId11"/>
                <a:stretch>
                  <a:fillRect l="-18462" t="-16393" r="-49231" b="-24590"/>
                </a:stretch>
              </a:blipFill>
            </p:spPr>
            <p:txBody>
              <a:bodyPr/>
              <a:lstStyle/>
              <a:p>
                <a:r>
                  <a:rPr lang="en-IN">
                    <a:noFill/>
                  </a:rPr>
                  <a:t> </a:t>
                </a:r>
              </a:p>
            </p:txBody>
          </p:sp>
        </mc:Fallback>
      </mc:AlternateContent>
      <p:sp>
        <p:nvSpPr>
          <p:cNvPr id="77" name="左-右雙向箭號 76"/>
          <p:cNvSpPr/>
          <p:nvPr/>
        </p:nvSpPr>
        <p:spPr>
          <a:xfrm>
            <a:off x="5295806" y="451033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8" name="文字方塊 77"/>
              <p:cNvSpPr txBox="1"/>
              <p:nvPr/>
            </p:nvSpPr>
            <p:spPr>
              <a:xfrm>
                <a:off x="5437379" y="4705063"/>
                <a:ext cx="3190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5437379" y="4705063"/>
                <a:ext cx="319062" cy="369332"/>
              </a:xfrm>
              <a:prstGeom prst="rect">
                <a:avLst/>
              </a:prstGeom>
              <a:blipFill>
                <a:blip r:embed="rId12"/>
                <a:stretch>
                  <a:fillRect l="-23077" r="-9615" b="-8333"/>
                </a:stretch>
              </a:blipFill>
            </p:spPr>
            <p:txBody>
              <a:bodyPr/>
              <a:lstStyle/>
              <a:p>
                <a:r>
                  <a:rPr lang="en-IN">
                    <a:noFill/>
                  </a:rPr>
                  <a:t> </a:t>
                </a:r>
              </a:p>
            </p:txBody>
          </p:sp>
        </mc:Fallback>
      </mc:AlternateContent>
      <p:grpSp>
        <p:nvGrpSpPr>
          <p:cNvPr id="79" name="群組 78"/>
          <p:cNvGrpSpPr/>
          <p:nvPr/>
        </p:nvGrpSpPr>
        <p:grpSpPr>
          <a:xfrm>
            <a:off x="2734370" y="5171461"/>
            <a:ext cx="526106" cy="671513"/>
            <a:chOff x="458466" y="3417283"/>
            <a:chExt cx="526106" cy="671513"/>
          </a:xfrm>
        </p:grpSpPr>
        <p:sp>
          <p:nvSpPr>
            <p:cNvPr id="80" name="矩形 79"/>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81" name="矩形 80"/>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16</a:t>
              </a:r>
              <a:endParaRPr lang="zh-TW" altLang="en-US" sz="2400" baseline="30000" dirty="0"/>
            </a:p>
          </p:txBody>
        </p:sp>
      </p:grpSp>
      <p:sp>
        <p:nvSpPr>
          <p:cNvPr id="82" name="矩形 81"/>
          <p:cNvSpPr/>
          <p:nvPr/>
        </p:nvSpPr>
        <p:spPr>
          <a:xfrm>
            <a:off x="3586394" y="5165636"/>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83" name="直線單箭頭接點 82"/>
          <p:cNvCxnSpPr/>
          <p:nvPr/>
        </p:nvCxnSpPr>
        <p:spPr>
          <a:xfrm flipV="1">
            <a:off x="3152050" y="5507215"/>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4552299" y="5502008"/>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5" name="群組 84"/>
          <p:cNvGrpSpPr/>
          <p:nvPr/>
        </p:nvGrpSpPr>
        <p:grpSpPr>
          <a:xfrm>
            <a:off x="4901677" y="5171461"/>
            <a:ext cx="532518" cy="671513"/>
            <a:chOff x="455261" y="3417283"/>
            <a:chExt cx="532518" cy="671513"/>
          </a:xfrm>
        </p:grpSpPr>
        <p:sp>
          <p:nvSpPr>
            <p:cNvPr id="86" name="矩形 85"/>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87" name="矩形 86"/>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16</a:t>
              </a:r>
              <a:endParaRPr lang="zh-TW" altLang="en-US" sz="2400" baseline="30000" dirty="0"/>
            </a:p>
          </p:txBody>
        </p:sp>
      </p:grpSp>
      <p:sp>
        <p:nvSpPr>
          <p:cNvPr id="88" name="矩形 87"/>
          <p:cNvSpPr/>
          <p:nvPr/>
        </p:nvSpPr>
        <p:spPr>
          <a:xfrm>
            <a:off x="5971818" y="517146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89" name="文字方塊 88"/>
              <p:cNvSpPr txBox="1"/>
              <p:nvPr/>
            </p:nvSpPr>
            <p:spPr>
              <a:xfrm>
                <a:off x="5971818" y="5333468"/>
                <a:ext cx="5212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16</m:t>
                          </m:r>
                        </m:sup>
                      </m:sSup>
                    </m:oMath>
                  </m:oMathPara>
                </a14:m>
                <a:endParaRPr lang="zh-TW" altLang="en-US" sz="2400" dirty="0"/>
              </a:p>
            </p:txBody>
          </p:sp>
        </mc:Choice>
        <mc:Fallback xmlns="">
          <p:sp>
            <p:nvSpPr>
              <p:cNvPr id="89" name="文字方塊 88"/>
              <p:cNvSpPr txBox="1">
                <a:spLocks noRot="1" noChangeAspect="1" noMove="1" noResize="1" noEditPoints="1" noAdjustHandles="1" noChangeArrowheads="1" noChangeShapeType="1" noTextEdit="1"/>
              </p:cNvSpPr>
              <p:nvPr/>
            </p:nvSpPr>
            <p:spPr>
              <a:xfrm>
                <a:off x="5971818" y="5333468"/>
                <a:ext cx="521297" cy="369332"/>
              </a:xfrm>
              <a:prstGeom prst="rect">
                <a:avLst/>
              </a:prstGeom>
              <a:blipFill>
                <a:blip r:embed="rId13"/>
                <a:stretch>
                  <a:fillRect l="-14118" t="-18333" r="-35294" b="-26667"/>
                </a:stretch>
              </a:blipFill>
            </p:spPr>
            <p:txBody>
              <a:bodyPr/>
              <a:lstStyle/>
              <a:p>
                <a:r>
                  <a:rPr lang="en-IN">
                    <a:noFill/>
                  </a:rPr>
                  <a:t> </a:t>
                </a:r>
              </a:p>
            </p:txBody>
          </p:sp>
        </mc:Fallback>
      </mc:AlternateContent>
      <p:sp>
        <p:nvSpPr>
          <p:cNvPr id="90" name="左-右雙向箭號 89"/>
          <p:cNvSpPr/>
          <p:nvPr/>
        </p:nvSpPr>
        <p:spPr>
          <a:xfrm>
            <a:off x="5308042" y="543703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1" name="文字方塊 90"/>
              <p:cNvSpPr txBox="1"/>
              <p:nvPr/>
            </p:nvSpPr>
            <p:spPr>
              <a:xfrm>
                <a:off x="5451332" y="5694078"/>
                <a:ext cx="4423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16</m:t>
                          </m:r>
                        </m:sup>
                      </m:sSup>
                    </m:oMath>
                  </m:oMathPara>
                </a14:m>
                <a:endParaRPr lang="zh-TW" altLang="en-US" sz="2400" dirty="0"/>
              </a:p>
            </p:txBody>
          </p:sp>
        </mc:Choice>
        <mc:Fallback xmlns="">
          <p:sp>
            <p:nvSpPr>
              <p:cNvPr id="91" name="文字方塊 90"/>
              <p:cNvSpPr txBox="1">
                <a:spLocks noRot="1" noChangeAspect="1" noMove="1" noResize="1" noEditPoints="1" noAdjustHandles="1" noChangeArrowheads="1" noChangeShapeType="1" noTextEdit="1"/>
              </p:cNvSpPr>
              <p:nvPr/>
            </p:nvSpPr>
            <p:spPr>
              <a:xfrm>
                <a:off x="5451332" y="5694078"/>
                <a:ext cx="442301" cy="369332"/>
              </a:xfrm>
              <a:prstGeom prst="rect">
                <a:avLst/>
              </a:prstGeom>
              <a:blipFill>
                <a:blip r:embed="rId14"/>
                <a:stretch>
                  <a:fillRect l="-16438" r="-5479" b="-6557"/>
                </a:stretch>
              </a:blipFill>
            </p:spPr>
            <p:txBody>
              <a:bodyPr/>
              <a:lstStyle/>
              <a:p>
                <a:r>
                  <a:rPr lang="en-IN">
                    <a:noFill/>
                  </a:rPr>
                  <a:t> </a:t>
                </a:r>
              </a:p>
            </p:txBody>
          </p:sp>
        </mc:Fallback>
      </mc:AlternateContent>
      <p:sp>
        <p:nvSpPr>
          <p:cNvPr id="94" name="文字方塊 93"/>
          <p:cNvSpPr txBox="1"/>
          <p:nvPr/>
        </p:nvSpPr>
        <p:spPr>
          <a:xfrm>
            <a:off x="6725055" y="1759133"/>
            <a:ext cx="3069419" cy="461665"/>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Pick the 1</a:t>
            </a:r>
            <a:r>
              <a:rPr lang="en-US" altLang="zh-TW" sz="2400" baseline="30000" dirty="0"/>
              <a:t>st</a:t>
            </a:r>
            <a:r>
              <a:rPr lang="en-US" altLang="zh-TW" sz="2400" dirty="0"/>
              <a:t> batch</a:t>
            </a:r>
            <a:endParaRPr lang="zh-TW" altLang="en-US" sz="2400" baseline="30000" dirty="0"/>
          </a:p>
        </p:txBody>
      </p:sp>
      <p:sp>
        <p:nvSpPr>
          <p:cNvPr id="95" name="文字方塊 94"/>
          <p:cNvSpPr txBox="1"/>
          <p:nvPr/>
        </p:nvSpPr>
        <p:spPr>
          <a:xfrm>
            <a:off x="6703448" y="904754"/>
            <a:ext cx="3438906" cy="830997"/>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Randomly initialize network parameters</a:t>
            </a:r>
            <a:endParaRPr lang="zh-TW" altLang="en-US" sz="2400" baseline="30000" dirty="0"/>
          </a:p>
        </p:txBody>
      </p:sp>
      <p:sp>
        <p:nvSpPr>
          <p:cNvPr id="97" name="文字方塊 96"/>
          <p:cNvSpPr txBox="1"/>
          <p:nvPr/>
        </p:nvSpPr>
        <p:spPr>
          <a:xfrm>
            <a:off x="6738991" y="3136166"/>
            <a:ext cx="3069419" cy="461665"/>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Pick the 2</a:t>
            </a:r>
            <a:r>
              <a:rPr lang="en-US" altLang="zh-TW" sz="2400" baseline="30000" dirty="0"/>
              <a:t>nd</a:t>
            </a:r>
            <a:r>
              <a:rPr lang="en-US" altLang="zh-TW" sz="2400" dirty="0"/>
              <a:t> batch</a:t>
            </a:r>
            <a:endParaRPr lang="zh-TW" altLang="en-US" sz="2400" baseline="30000" dirty="0"/>
          </a:p>
        </p:txBody>
      </p:sp>
      <p:sp>
        <p:nvSpPr>
          <p:cNvPr id="107" name="文字方塊 106"/>
          <p:cNvSpPr txBox="1"/>
          <p:nvPr/>
        </p:nvSpPr>
        <p:spPr>
          <a:xfrm rot="16200000">
            <a:off x="1044335" y="2468682"/>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08" name="文字方塊 107"/>
          <p:cNvSpPr txBox="1"/>
          <p:nvPr/>
        </p:nvSpPr>
        <p:spPr>
          <a:xfrm rot="16200000">
            <a:off x="1035624" y="4939477"/>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09" name="矩形 108"/>
          <p:cNvSpPr/>
          <p:nvPr/>
        </p:nvSpPr>
        <p:spPr>
          <a:xfrm>
            <a:off x="2172662" y="1634943"/>
            <a:ext cx="4279192"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矩形 109"/>
          <p:cNvSpPr/>
          <p:nvPr/>
        </p:nvSpPr>
        <p:spPr>
          <a:xfrm>
            <a:off x="2172662" y="4132045"/>
            <a:ext cx="4279192"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2" name="文字方塊 111"/>
              <p:cNvSpPr txBox="1"/>
              <p:nvPr/>
            </p:nvSpPr>
            <p:spPr>
              <a:xfrm>
                <a:off x="7319309" y="2244813"/>
                <a:ext cx="233127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𝐿</m:t>
                      </m:r>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31</m:t>
                          </m:r>
                        </m:sup>
                      </m:sSup>
                      <m:r>
                        <a:rPr lang="en-US" altLang="zh-TW" sz="2400" i="1">
                          <a:latin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112" name="文字方塊 111"/>
              <p:cNvSpPr txBox="1">
                <a:spLocks noRot="1" noChangeAspect="1" noMove="1" noResize="1" noEditPoints="1" noAdjustHandles="1" noChangeArrowheads="1" noChangeShapeType="1" noTextEdit="1"/>
              </p:cNvSpPr>
              <p:nvPr/>
            </p:nvSpPr>
            <p:spPr>
              <a:xfrm>
                <a:off x="7319309" y="2244813"/>
                <a:ext cx="2331279" cy="369332"/>
              </a:xfrm>
              <a:prstGeom prst="rect">
                <a:avLst/>
              </a:prstGeom>
              <a:blipFill>
                <a:blip r:embed="rId15"/>
                <a:stretch>
                  <a:fillRect l="-3403" t="-1639" r="-524" b="-98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3" name="文字方塊 112"/>
              <p:cNvSpPr txBox="1"/>
              <p:nvPr/>
            </p:nvSpPr>
            <p:spPr>
              <a:xfrm>
                <a:off x="7319309" y="3621097"/>
                <a:ext cx="241142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𝐿</m:t>
                      </m:r>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16</m:t>
                          </m:r>
                        </m:sup>
                      </m:sSup>
                      <m:r>
                        <a:rPr lang="en-US" altLang="zh-TW" sz="2400" i="1">
                          <a:latin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113" name="文字方塊 112"/>
              <p:cNvSpPr txBox="1">
                <a:spLocks noRot="1" noChangeAspect="1" noMove="1" noResize="1" noEditPoints="1" noAdjustHandles="1" noChangeArrowheads="1" noChangeShapeType="1" noTextEdit="1"/>
              </p:cNvSpPr>
              <p:nvPr/>
            </p:nvSpPr>
            <p:spPr>
              <a:xfrm>
                <a:off x="7319309" y="3621097"/>
                <a:ext cx="2411429" cy="369332"/>
              </a:xfrm>
              <a:prstGeom prst="rect">
                <a:avLst/>
              </a:prstGeom>
              <a:blipFill>
                <a:blip r:embed="rId16"/>
                <a:stretch>
                  <a:fillRect l="-3038" t="-1639" r="-506" b="-9836"/>
                </a:stretch>
              </a:blipFill>
            </p:spPr>
            <p:txBody>
              <a:bodyPr/>
              <a:lstStyle/>
              <a:p>
                <a:r>
                  <a:rPr lang="en-IN">
                    <a:noFill/>
                  </a:rPr>
                  <a:t> </a:t>
                </a:r>
              </a:p>
            </p:txBody>
          </p:sp>
        </mc:Fallback>
      </mc:AlternateContent>
      <p:sp>
        <p:nvSpPr>
          <p:cNvPr id="7" name="文字方塊 6"/>
          <p:cNvSpPr txBox="1"/>
          <p:nvPr/>
        </p:nvSpPr>
        <p:spPr>
          <a:xfrm>
            <a:off x="7250242" y="2614146"/>
            <a:ext cx="3507698" cy="461665"/>
          </a:xfrm>
          <a:prstGeom prst="rect">
            <a:avLst/>
          </a:prstGeom>
          <a:noFill/>
        </p:spPr>
        <p:txBody>
          <a:bodyPr wrap="square" rtlCol="0">
            <a:spAutoFit/>
          </a:bodyPr>
          <a:lstStyle/>
          <a:p>
            <a:r>
              <a:rPr lang="en-US" altLang="zh-TW" sz="2400" dirty="0"/>
              <a:t>Update parameters once</a:t>
            </a:r>
            <a:endParaRPr lang="zh-TW" altLang="en-US" sz="2400" dirty="0"/>
          </a:p>
        </p:txBody>
      </p:sp>
      <p:sp>
        <p:nvSpPr>
          <p:cNvPr id="92" name="文字方塊 91"/>
          <p:cNvSpPr txBox="1"/>
          <p:nvPr/>
        </p:nvSpPr>
        <p:spPr>
          <a:xfrm>
            <a:off x="7250242" y="3950554"/>
            <a:ext cx="3507698" cy="461665"/>
          </a:xfrm>
          <a:prstGeom prst="rect">
            <a:avLst/>
          </a:prstGeom>
          <a:noFill/>
        </p:spPr>
        <p:txBody>
          <a:bodyPr wrap="square" rtlCol="0">
            <a:spAutoFit/>
          </a:bodyPr>
          <a:lstStyle/>
          <a:p>
            <a:r>
              <a:rPr lang="en-US" altLang="zh-TW" sz="2400" dirty="0"/>
              <a:t>Update parameters once</a:t>
            </a:r>
            <a:endParaRPr lang="zh-TW" altLang="en-US" sz="2400" dirty="0"/>
          </a:p>
        </p:txBody>
      </p:sp>
      <p:sp>
        <p:nvSpPr>
          <p:cNvPr id="93" name="文字方塊 92"/>
          <p:cNvSpPr txBox="1"/>
          <p:nvPr/>
        </p:nvSpPr>
        <p:spPr>
          <a:xfrm>
            <a:off x="6752849" y="4734288"/>
            <a:ext cx="3537276" cy="830997"/>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Until all mini-batches have been picked</a:t>
            </a:r>
            <a:endParaRPr lang="zh-TW" altLang="en-US" sz="2400" baseline="30000" dirty="0"/>
          </a:p>
        </p:txBody>
      </p:sp>
      <p:sp>
        <p:nvSpPr>
          <p:cNvPr id="96" name="文字方塊 95"/>
          <p:cNvSpPr txBox="1"/>
          <p:nvPr/>
        </p:nvSpPr>
        <p:spPr>
          <a:xfrm rot="5400000">
            <a:off x="8047363" y="4589260"/>
            <a:ext cx="751076" cy="461665"/>
          </a:xfrm>
          <a:prstGeom prst="rect">
            <a:avLst/>
          </a:prstGeom>
          <a:noFill/>
        </p:spPr>
        <p:txBody>
          <a:bodyPr wrap="square" rtlCol="0">
            <a:spAutoFit/>
          </a:bodyPr>
          <a:lstStyle/>
          <a:p>
            <a:r>
              <a:rPr lang="en-US" altLang="zh-TW" sz="2400" dirty="0"/>
              <a:t>…</a:t>
            </a:r>
            <a:endParaRPr lang="zh-TW" altLang="en-US" sz="2400" baseline="30000" dirty="0"/>
          </a:p>
        </p:txBody>
      </p:sp>
      <p:sp>
        <p:nvSpPr>
          <p:cNvPr id="98" name="矩形 97"/>
          <p:cNvSpPr/>
          <p:nvPr/>
        </p:nvSpPr>
        <p:spPr>
          <a:xfrm>
            <a:off x="7373734" y="5596571"/>
            <a:ext cx="2209169" cy="447161"/>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400" dirty="0"/>
              <a:t>one epoch</a:t>
            </a:r>
            <a:endParaRPr lang="zh-TW" altLang="en-US" sz="2400" dirty="0"/>
          </a:p>
        </p:txBody>
      </p:sp>
      <p:sp>
        <p:nvSpPr>
          <p:cNvPr id="99" name="矩形 98"/>
          <p:cNvSpPr/>
          <p:nvPr/>
        </p:nvSpPr>
        <p:spPr>
          <a:xfrm>
            <a:off x="6725054" y="1796342"/>
            <a:ext cx="3820463" cy="3728024"/>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p:nvSpPr>
        <p:spPr>
          <a:xfrm>
            <a:off x="6760214" y="6141504"/>
            <a:ext cx="3436207" cy="51835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sz="2400" dirty="0"/>
              <a:t>Repeat the above process</a:t>
            </a:r>
            <a:endParaRPr lang="zh-TW" altLang="en-US" sz="2400" dirty="0"/>
          </a:p>
        </p:txBody>
      </p:sp>
      <p:sp>
        <p:nvSpPr>
          <p:cNvPr id="3" name="文字方塊 2"/>
          <p:cNvSpPr txBox="1"/>
          <p:nvPr/>
        </p:nvSpPr>
        <p:spPr>
          <a:xfrm>
            <a:off x="4936178" y="156580"/>
            <a:ext cx="5559485"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800" dirty="0"/>
              <a:t>We do not really minimize total loss!</a:t>
            </a:r>
            <a:endParaRPr lang="zh-TW" altLang="en-US" sz="2800" dirty="0"/>
          </a:p>
        </p:txBody>
      </p:sp>
    </p:spTree>
    <p:extLst>
      <p:ext uri="{BB962C8B-B14F-4D97-AF65-F5344CB8AC3E}">
        <p14:creationId xmlns:p14="http://schemas.microsoft.com/office/powerpoint/2010/main" val="418359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95" grpId="0"/>
      <p:bldP spid="97" grpId="0"/>
      <p:bldP spid="107" grpId="0"/>
      <p:bldP spid="108" grpId="0"/>
      <p:bldP spid="109" grpId="0" animBg="1"/>
      <p:bldP spid="110" grpId="0" animBg="1"/>
      <p:bldP spid="112" grpId="0"/>
      <p:bldP spid="113" grpId="0"/>
      <p:bldP spid="7" grpId="0"/>
      <p:bldP spid="92" grpId="0"/>
      <p:bldP spid="93" grpId="0"/>
      <p:bldP spid="96" grpId="0"/>
      <p:bldP spid="98" grpId="0" animBg="1"/>
      <p:bldP spid="99" grpId="0" animBg="1"/>
      <p:bldP spid="100" grpId="0" animBg="1"/>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Mini-batch</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745016" y="1507903"/>
            <a:ext cx="8771898" cy="441579"/>
          </a:xfrm>
          <a:prstGeom prst="rect">
            <a:avLst/>
          </a:prstGeom>
        </p:spPr>
      </p:pic>
      <p:grpSp>
        <p:nvGrpSpPr>
          <p:cNvPr id="36" name="群組 35"/>
          <p:cNvGrpSpPr/>
          <p:nvPr/>
        </p:nvGrpSpPr>
        <p:grpSpPr>
          <a:xfrm>
            <a:off x="1675086" y="2470838"/>
            <a:ext cx="4789170" cy="2364808"/>
            <a:chOff x="186028" y="1634942"/>
            <a:chExt cx="4789170" cy="2364808"/>
          </a:xfrm>
        </p:grpSpPr>
        <p:grpSp>
          <p:nvGrpSpPr>
            <p:cNvPr id="5" name="群組 4"/>
            <p:cNvGrpSpPr/>
            <p:nvPr/>
          </p:nvGrpSpPr>
          <p:grpSpPr>
            <a:xfrm>
              <a:off x="1258864" y="1778496"/>
              <a:ext cx="421911" cy="671513"/>
              <a:chOff x="510563" y="3417283"/>
              <a:chExt cx="421911" cy="671513"/>
            </a:xfrm>
          </p:grpSpPr>
          <p:sp>
            <p:nvSpPr>
              <p:cNvPr id="6" name="矩形 5"/>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7" name="矩形 6"/>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8" name="矩形 7"/>
            <p:cNvSpPr/>
            <p:nvPr/>
          </p:nvSpPr>
          <p:spPr>
            <a:xfrm>
              <a:off x="2058789" y="178106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9" name="文字方塊 8"/>
            <p:cNvSpPr txBox="1"/>
            <p:nvPr/>
          </p:nvSpPr>
          <p:spPr>
            <a:xfrm rot="5400000">
              <a:off x="2281307" y="3323803"/>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0" name="直線單箭頭接點 9"/>
            <p:cNvCxnSpPr/>
            <p:nvPr/>
          </p:nvCxnSpPr>
          <p:spPr>
            <a:xfrm flipV="1">
              <a:off x="1627406" y="211425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V="1">
              <a:off x="3027655" y="210904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群組 11"/>
            <p:cNvGrpSpPr/>
            <p:nvPr/>
          </p:nvGrpSpPr>
          <p:grpSpPr>
            <a:xfrm>
              <a:off x="3426170" y="1778496"/>
              <a:ext cx="428323" cy="671513"/>
              <a:chOff x="507357" y="3417283"/>
              <a:chExt cx="428323" cy="671513"/>
            </a:xfrm>
          </p:grpSpPr>
          <p:sp>
            <p:nvSpPr>
              <p:cNvPr id="13" name="矩形 12"/>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4" name="矩形 13"/>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15" name="矩形 14"/>
            <p:cNvSpPr/>
            <p:nvPr/>
          </p:nvSpPr>
          <p:spPr>
            <a:xfrm>
              <a:off x="4444214" y="1778496"/>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6" name="文字方塊 15"/>
                <p:cNvSpPr txBox="1"/>
                <p:nvPr/>
              </p:nvSpPr>
              <p:spPr>
                <a:xfrm>
                  <a:off x="4433773" y="1952099"/>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4433773" y="1952099"/>
                  <a:ext cx="391454" cy="369332"/>
                </a:xfrm>
                <a:prstGeom prst="rect">
                  <a:avLst/>
                </a:prstGeom>
                <a:blipFill rotWithShape="0">
                  <a:blip r:embed="rId3"/>
                  <a:stretch>
                    <a:fillRect l="-18750" t="-16393" r="-48438" b="-24590"/>
                  </a:stretch>
                </a:blipFill>
              </p:spPr>
              <p:txBody>
                <a:bodyPr/>
                <a:lstStyle/>
                <a:p>
                  <a:r>
                    <a:rPr lang="zh-TW" altLang="en-US">
                      <a:noFill/>
                    </a:rPr>
                    <a:t> </a:t>
                  </a:r>
                </a:p>
              </p:txBody>
            </p:sp>
          </mc:Fallback>
        </mc:AlternateContent>
        <p:sp>
          <p:nvSpPr>
            <p:cNvPr id="17" name="左-右雙向箭號 16"/>
            <p:cNvSpPr/>
            <p:nvPr/>
          </p:nvSpPr>
          <p:spPr>
            <a:xfrm>
              <a:off x="3785800" y="207047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 name="文字方塊 17"/>
                <p:cNvSpPr txBox="1"/>
                <p:nvPr/>
              </p:nvSpPr>
              <p:spPr>
                <a:xfrm>
                  <a:off x="3927373" y="2265204"/>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3927373" y="2265204"/>
                  <a:ext cx="312458" cy="369332"/>
                </a:xfrm>
                <a:prstGeom prst="rect">
                  <a:avLst/>
                </a:prstGeom>
                <a:blipFill rotWithShape="0">
                  <a:blip r:embed="rId4"/>
                  <a:stretch>
                    <a:fillRect l="-23529" t="-1667" r="-9804" b="-8333"/>
                  </a:stretch>
                </a:blipFill>
              </p:spPr>
              <p:txBody>
                <a:bodyPr/>
                <a:lstStyle/>
                <a:p>
                  <a:r>
                    <a:rPr lang="zh-TW" altLang="en-US">
                      <a:noFill/>
                    </a:rPr>
                    <a:t> </a:t>
                  </a:r>
                </a:p>
              </p:txBody>
            </p:sp>
          </mc:Fallback>
        </mc:AlternateContent>
        <p:grpSp>
          <p:nvGrpSpPr>
            <p:cNvPr id="19" name="群組 18"/>
            <p:cNvGrpSpPr/>
            <p:nvPr/>
          </p:nvGrpSpPr>
          <p:grpSpPr>
            <a:xfrm>
              <a:off x="1209850" y="2586461"/>
              <a:ext cx="526106" cy="671513"/>
              <a:chOff x="458466" y="3417283"/>
              <a:chExt cx="526106" cy="671513"/>
            </a:xfrm>
          </p:grpSpPr>
          <p:sp>
            <p:nvSpPr>
              <p:cNvPr id="20" name="矩形 19"/>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1" name="矩形 20"/>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31</a:t>
                </a:r>
                <a:endParaRPr lang="zh-TW" altLang="en-US" sz="2400" baseline="30000" dirty="0"/>
              </a:p>
            </p:txBody>
          </p:sp>
        </p:grpSp>
        <p:sp>
          <p:nvSpPr>
            <p:cNvPr id="22" name="矩形 21"/>
            <p:cNvSpPr/>
            <p:nvPr/>
          </p:nvSpPr>
          <p:spPr>
            <a:xfrm>
              <a:off x="2061873" y="2580637"/>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23" name="直線單箭頭接點 22"/>
            <p:cNvCxnSpPr/>
            <p:nvPr/>
          </p:nvCxnSpPr>
          <p:spPr>
            <a:xfrm flipV="1">
              <a:off x="1627529" y="292221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3027778" y="291700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群組 24"/>
            <p:cNvGrpSpPr/>
            <p:nvPr/>
          </p:nvGrpSpPr>
          <p:grpSpPr>
            <a:xfrm>
              <a:off x="3377157" y="2586461"/>
              <a:ext cx="532518" cy="671513"/>
              <a:chOff x="455261" y="3417283"/>
              <a:chExt cx="532518" cy="671513"/>
            </a:xfrm>
          </p:grpSpPr>
          <p:sp>
            <p:nvSpPr>
              <p:cNvPr id="26" name="矩形 25"/>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27" name="矩形 26"/>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31</a:t>
                </a:r>
                <a:endParaRPr lang="zh-TW" altLang="en-US" sz="2400" baseline="30000" dirty="0"/>
              </a:p>
            </p:txBody>
          </p:sp>
        </p:grpSp>
        <p:sp>
          <p:nvSpPr>
            <p:cNvPr id="28" name="矩形 27"/>
            <p:cNvSpPr/>
            <p:nvPr/>
          </p:nvSpPr>
          <p:spPr>
            <a:xfrm>
              <a:off x="4447297" y="2586461"/>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29" name="文字方塊 28"/>
                <p:cNvSpPr txBox="1"/>
                <p:nvPr/>
              </p:nvSpPr>
              <p:spPr>
                <a:xfrm>
                  <a:off x="4447297" y="2748469"/>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4447297" y="2748469"/>
                  <a:ext cx="527901" cy="369332"/>
                </a:xfrm>
                <a:prstGeom prst="rect">
                  <a:avLst/>
                </a:prstGeom>
                <a:blipFill rotWithShape="0">
                  <a:blip r:embed="rId5"/>
                  <a:stretch>
                    <a:fillRect l="-13953" t="-18033" r="-33721" b="-24590"/>
                  </a:stretch>
                </a:blipFill>
              </p:spPr>
              <p:txBody>
                <a:bodyPr/>
                <a:lstStyle/>
                <a:p>
                  <a:r>
                    <a:rPr lang="zh-TW" altLang="en-US">
                      <a:noFill/>
                    </a:rPr>
                    <a:t> </a:t>
                  </a:r>
                </a:p>
              </p:txBody>
            </p:sp>
          </mc:Fallback>
        </mc:AlternateContent>
        <p:sp>
          <p:nvSpPr>
            <p:cNvPr id="30" name="左-右雙向箭號 29"/>
            <p:cNvSpPr/>
            <p:nvPr/>
          </p:nvSpPr>
          <p:spPr>
            <a:xfrm>
              <a:off x="3783522" y="2852030"/>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1" name="文字方塊 30"/>
                <p:cNvSpPr txBox="1"/>
                <p:nvPr/>
              </p:nvSpPr>
              <p:spPr>
                <a:xfrm>
                  <a:off x="3926811" y="3109079"/>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3926811" y="3109079"/>
                  <a:ext cx="448905" cy="369332"/>
                </a:xfrm>
                <a:prstGeom prst="rect">
                  <a:avLst/>
                </a:prstGeom>
                <a:blipFill rotWithShape="0">
                  <a:blip r:embed="rId6"/>
                  <a:stretch>
                    <a:fillRect l="-16216" r="-5405" b="-6557"/>
                  </a:stretch>
                </a:blipFill>
              </p:spPr>
              <p:txBody>
                <a:bodyPr/>
                <a:lstStyle/>
                <a:p>
                  <a:r>
                    <a:rPr lang="zh-TW" altLang="en-US">
                      <a:noFill/>
                    </a:rPr>
                    <a:t> </a:t>
                  </a:r>
                </a:p>
              </p:txBody>
            </p:sp>
          </mc:Fallback>
        </mc:AlternateContent>
        <p:pic>
          <p:nvPicPr>
            <p:cNvPr id="32" name="圖片 31"/>
            <p:cNvPicPr preferRelativeResize="0">
              <a:picLocks/>
            </p:cNvPicPr>
            <p:nvPr/>
          </p:nvPicPr>
          <p:blipFill>
            <a:blip r:embed="rId7"/>
            <a:stretch>
              <a:fillRect/>
            </a:stretch>
          </p:blipFill>
          <p:spPr>
            <a:xfrm>
              <a:off x="853541" y="1961431"/>
              <a:ext cx="360000" cy="360000"/>
            </a:xfrm>
            <a:prstGeom prst="rect">
              <a:avLst/>
            </a:prstGeom>
            <a:ln w="38100">
              <a:solidFill>
                <a:schemeClr val="tx1"/>
              </a:solidFill>
            </a:ln>
          </p:spPr>
        </p:pic>
        <p:pic>
          <p:nvPicPr>
            <p:cNvPr id="33" name="圖片 32"/>
            <p:cNvPicPr preferRelativeResize="0">
              <a:picLocks/>
            </p:cNvPicPr>
            <p:nvPr/>
          </p:nvPicPr>
          <p:blipFill>
            <a:blip r:embed="rId8"/>
            <a:stretch>
              <a:fillRect/>
            </a:stretch>
          </p:blipFill>
          <p:spPr>
            <a:xfrm>
              <a:off x="824563" y="2718563"/>
              <a:ext cx="360000" cy="360000"/>
            </a:xfrm>
            <a:prstGeom prst="rect">
              <a:avLst/>
            </a:prstGeom>
            <a:ln w="38100">
              <a:solidFill>
                <a:schemeClr val="tx1"/>
              </a:solidFill>
            </a:ln>
          </p:spPr>
        </p:pic>
        <p:sp>
          <p:nvSpPr>
            <p:cNvPr id="34" name="文字方塊 33"/>
            <p:cNvSpPr txBox="1"/>
            <p:nvPr/>
          </p:nvSpPr>
          <p:spPr>
            <a:xfrm rot="16200000">
              <a:off x="-422074" y="2569533"/>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35" name="矩形 34"/>
            <p:cNvSpPr/>
            <p:nvPr/>
          </p:nvSpPr>
          <p:spPr>
            <a:xfrm>
              <a:off x="648662" y="1634942"/>
              <a:ext cx="4279192"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7" name="群組 46"/>
          <p:cNvGrpSpPr/>
          <p:nvPr/>
        </p:nvGrpSpPr>
        <p:grpSpPr>
          <a:xfrm>
            <a:off x="6560780" y="2470839"/>
            <a:ext cx="4032887" cy="4199709"/>
            <a:chOff x="5201053" y="1759132"/>
            <a:chExt cx="4032887" cy="4199709"/>
          </a:xfrm>
        </p:grpSpPr>
        <p:sp>
          <p:nvSpPr>
            <p:cNvPr id="37" name="文字方塊 36"/>
            <p:cNvSpPr txBox="1"/>
            <p:nvPr/>
          </p:nvSpPr>
          <p:spPr>
            <a:xfrm>
              <a:off x="5201054" y="1759132"/>
              <a:ext cx="3069419" cy="461665"/>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Pick the 1</a:t>
              </a:r>
              <a:r>
                <a:rPr lang="en-US" altLang="zh-TW" sz="2400" baseline="30000" dirty="0"/>
                <a:t>st</a:t>
              </a:r>
              <a:r>
                <a:rPr lang="en-US" altLang="zh-TW" sz="2400" dirty="0"/>
                <a:t> batch</a:t>
              </a:r>
              <a:endParaRPr lang="zh-TW" altLang="en-US" sz="2400" baseline="30000" dirty="0"/>
            </a:p>
          </p:txBody>
        </p:sp>
        <p:sp>
          <p:nvSpPr>
            <p:cNvPr id="38" name="文字方塊 37"/>
            <p:cNvSpPr txBox="1"/>
            <p:nvPr/>
          </p:nvSpPr>
          <p:spPr>
            <a:xfrm>
              <a:off x="5214990" y="3136165"/>
              <a:ext cx="3069419" cy="461665"/>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Pick the 2</a:t>
              </a:r>
              <a:r>
                <a:rPr lang="en-US" altLang="zh-TW" sz="2400" baseline="30000" dirty="0"/>
                <a:t>nd</a:t>
              </a:r>
              <a:r>
                <a:rPr lang="en-US" altLang="zh-TW" sz="2400" dirty="0"/>
                <a:t> batch</a:t>
              </a:r>
              <a:endParaRPr lang="zh-TW" altLang="en-US" sz="2400" baseline="30000" dirty="0"/>
            </a:p>
          </p:txBody>
        </p:sp>
        <mc:AlternateContent xmlns:mc="http://schemas.openxmlformats.org/markup-compatibility/2006" xmlns:a14="http://schemas.microsoft.com/office/drawing/2010/main">
          <mc:Choice Requires="a14">
            <p:sp>
              <p:nvSpPr>
                <p:cNvPr id="39" name="文字方塊 38"/>
                <p:cNvSpPr txBox="1"/>
                <p:nvPr/>
              </p:nvSpPr>
              <p:spPr>
                <a:xfrm>
                  <a:off x="5795308" y="2244813"/>
                  <a:ext cx="233127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𝐿</m:t>
                        </m:r>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31</m:t>
                            </m:r>
                          </m:sup>
                        </m:sSup>
                        <m:r>
                          <a:rPr lang="en-US" altLang="zh-TW" sz="2400" i="1">
                            <a:latin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5795308" y="2244813"/>
                  <a:ext cx="2331279" cy="369332"/>
                </a:xfrm>
                <a:prstGeom prst="rect">
                  <a:avLst/>
                </a:prstGeom>
                <a:blipFill rotWithShape="0">
                  <a:blip r:embed="rId9"/>
                  <a:stretch>
                    <a:fillRect l="-3403" t="-1639" r="-524" b="-81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5795308" y="3621097"/>
                  <a:ext cx="241142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𝐿</m:t>
                        </m:r>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16</m:t>
                            </m:r>
                          </m:sup>
                        </m:sSup>
                        <m:r>
                          <a:rPr lang="en-US" altLang="zh-TW" sz="2400" i="1">
                            <a:latin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5795308" y="3621097"/>
                  <a:ext cx="2411429" cy="369332"/>
                </a:xfrm>
                <a:prstGeom prst="rect">
                  <a:avLst/>
                </a:prstGeom>
                <a:blipFill rotWithShape="0">
                  <a:blip r:embed="rId10"/>
                  <a:stretch>
                    <a:fillRect l="-3038" t="-1667" r="-506" b="-10000"/>
                  </a:stretch>
                </a:blipFill>
              </p:spPr>
              <p:txBody>
                <a:bodyPr/>
                <a:lstStyle/>
                <a:p>
                  <a:r>
                    <a:rPr lang="zh-TW" altLang="en-US">
                      <a:noFill/>
                    </a:rPr>
                    <a:t> </a:t>
                  </a:r>
                </a:p>
              </p:txBody>
            </p:sp>
          </mc:Fallback>
        </mc:AlternateContent>
        <p:sp>
          <p:nvSpPr>
            <p:cNvPr id="41" name="文字方塊 40"/>
            <p:cNvSpPr txBox="1"/>
            <p:nvPr/>
          </p:nvSpPr>
          <p:spPr>
            <a:xfrm>
              <a:off x="5726242" y="2614145"/>
              <a:ext cx="3507698" cy="461665"/>
            </a:xfrm>
            <a:prstGeom prst="rect">
              <a:avLst/>
            </a:prstGeom>
            <a:noFill/>
          </p:spPr>
          <p:txBody>
            <a:bodyPr wrap="square" rtlCol="0">
              <a:spAutoFit/>
            </a:bodyPr>
            <a:lstStyle/>
            <a:p>
              <a:r>
                <a:rPr lang="en-US" altLang="zh-TW" sz="2400" dirty="0"/>
                <a:t>Update parameters once</a:t>
              </a:r>
              <a:endParaRPr lang="zh-TW" altLang="en-US" sz="2400" dirty="0"/>
            </a:p>
          </p:txBody>
        </p:sp>
        <p:sp>
          <p:nvSpPr>
            <p:cNvPr id="42" name="文字方塊 41"/>
            <p:cNvSpPr txBox="1"/>
            <p:nvPr/>
          </p:nvSpPr>
          <p:spPr>
            <a:xfrm>
              <a:off x="5726242" y="3950553"/>
              <a:ext cx="3507698" cy="461665"/>
            </a:xfrm>
            <a:prstGeom prst="rect">
              <a:avLst/>
            </a:prstGeom>
            <a:noFill/>
          </p:spPr>
          <p:txBody>
            <a:bodyPr wrap="square" rtlCol="0">
              <a:spAutoFit/>
            </a:bodyPr>
            <a:lstStyle/>
            <a:p>
              <a:r>
                <a:rPr lang="en-US" altLang="zh-TW" sz="2400" dirty="0"/>
                <a:t>Update parameters once</a:t>
              </a:r>
              <a:endParaRPr lang="zh-TW" altLang="en-US" sz="2400" dirty="0"/>
            </a:p>
          </p:txBody>
        </p:sp>
        <p:sp>
          <p:nvSpPr>
            <p:cNvPr id="43" name="文字方塊 42"/>
            <p:cNvSpPr txBox="1"/>
            <p:nvPr/>
          </p:nvSpPr>
          <p:spPr>
            <a:xfrm>
              <a:off x="5228849" y="4734287"/>
              <a:ext cx="3537276" cy="830997"/>
            </a:xfrm>
            <a:prstGeom prst="rect">
              <a:avLst/>
            </a:prstGeom>
            <a:noFill/>
          </p:spPr>
          <p:txBody>
            <a:bodyPr wrap="square" rtlCol="0">
              <a:spAutoFit/>
            </a:bodyPr>
            <a:lstStyle/>
            <a:p>
              <a:pPr marL="514350" indent="-514350">
                <a:buFont typeface="Wingdings" panose="05000000000000000000" pitchFamily="2" charset="2"/>
                <a:buChar char="Ø"/>
              </a:pPr>
              <a:r>
                <a:rPr lang="en-US" altLang="zh-TW" sz="2400" dirty="0"/>
                <a:t>Until all mini-batches have been picked</a:t>
              </a:r>
              <a:endParaRPr lang="zh-TW" altLang="en-US" sz="2400" baseline="30000" dirty="0"/>
            </a:p>
          </p:txBody>
        </p:sp>
        <p:sp>
          <p:nvSpPr>
            <p:cNvPr id="44" name="文字方塊 43"/>
            <p:cNvSpPr txBox="1"/>
            <p:nvPr/>
          </p:nvSpPr>
          <p:spPr>
            <a:xfrm rot="5400000">
              <a:off x="6523363" y="4589259"/>
              <a:ext cx="751076" cy="461665"/>
            </a:xfrm>
            <a:prstGeom prst="rect">
              <a:avLst/>
            </a:prstGeom>
            <a:noFill/>
          </p:spPr>
          <p:txBody>
            <a:bodyPr wrap="square" rtlCol="0">
              <a:spAutoFit/>
            </a:bodyPr>
            <a:lstStyle/>
            <a:p>
              <a:r>
                <a:rPr lang="en-US" altLang="zh-TW" sz="2400" dirty="0"/>
                <a:t>…</a:t>
              </a:r>
              <a:endParaRPr lang="zh-TW" altLang="en-US" sz="2400" baseline="30000" dirty="0"/>
            </a:p>
          </p:txBody>
        </p:sp>
        <p:sp>
          <p:nvSpPr>
            <p:cNvPr id="45" name="矩形 44"/>
            <p:cNvSpPr/>
            <p:nvPr/>
          </p:nvSpPr>
          <p:spPr>
            <a:xfrm>
              <a:off x="6025149" y="5511680"/>
              <a:ext cx="2209169" cy="447161"/>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400" dirty="0"/>
                <a:t>one epoch</a:t>
              </a:r>
              <a:endParaRPr lang="zh-TW" altLang="en-US" sz="2400" dirty="0"/>
            </a:p>
          </p:txBody>
        </p:sp>
        <p:sp>
          <p:nvSpPr>
            <p:cNvPr id="46" name="矩形 45"/>
            <p:cNvSpPr/>
            <p:nvPr/>
          </p:nvSpPr>
          <p:spPr>
            <a:xfrm>
              <a:off x="5201053" y="1796342"/>
              <a:ext cx="3820463" cy="3728024"/>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49" name="直線接點 48"/>
          <p:cNvCxnSpPr/>
          <p:nvPr/>
        </p:nvCxnSpPr>
        <p:spPr>
          <a:xfrm>
            <a:off x="6130965" y="1851025"/>
            <a:ext cx="222624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線接點 49"/>
          <p:cNvCxnSpPr/>
          <p:nvPr/>
        </p:nvCxnSpPr>
        <p:spPr>
          <a:xfrm>
            <a:off x="8596632" y="1851025"/>
            <a:ext cx="178461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p:nvPr/>
        </p:nvCxnSpPr>
        <p:spPr>
          <a:xfrm flipH="1">
            <a:off x="4866216" y="1858522"/>
            <a:ext cx="2348841" cy="58830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flipH="1">
            <a:off x="8357214" y="1883446"/>
            <a:ext cx="1204203" cy="651284"/>
          </a:xfrm>
          <a:prstGeom prst="straightConnector1">
            <a:avLst/>
          </a:prstGeom>
          <a:ln w="762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2073132" y="4801685"/>
            <a:ext cx="4395721" cy="523220"/>
          </a:xfrm>
          <a:prstGeom prst="rect">
            <a:avLst/>
          </a:prstGeom>
          <a:noFill/>
        </p:spPr>
        <p:txBody>
          <a:bodyPr wrap="square" rtlCol="0">
            <a:spAutoFit/>
          </a:bodyPr>
          <a:lstStyle/>
          <a:p>
            <a:pPr algn="ctr"/>
            <a:r>
              <a:rPr lang="en-US" altLang="zh-TW" sz="2800" dirty="0">
                <a:solidFill>
                  <a:srgbClr val="FF0000"/>
                </a:solidFill>
              </a:rPr>
              <a:t>100 examples in a mini-batch</a:t>
            </a:r>
            <a:endParaRPr lang="zh-TW" altLang="en-US" sz="2800" dirty="0">
              <a:solidFill>
                <a:srgbClr val="FF0000"/>
              </a:solidFill>
            </a:endParaRPr>
          </a:p>
        </p:txBody>
      </p:sp>
      <p:sp>
        <p:nvSpPr>
          <p:cNvPr id="57" name="文字方塊 56"/>
          <p:cNvSpPr txBox="1"/>
          <p:nvPr/>
        </p:nvSpPr>
        <p:spPr>
          <a:xfrm>
            <a:off x="3903105" y="5827346"/>
            <a:ext cx="2744816" cy="523220"/>
          </a:xfrm>
          <a:prstGeom prst="rect">
            <a:avLst/>
          </a:prstGeom>
          <a:noFill/>
        </p:spPr>
        <p:txBody>
          <a:bodyPr wrap="square" rtlCol="0">
            <a:spAutoFit/>
          </a:bodyPr>
          <a:lstStyle/>
          <a:p>
            <a:pPr algn="ctr"/>
            <a:r>
              <a:rPr lang="en-US" altLang="zh-TW" sz="2800" dirty="0">
                <a:solidFill>
                  <a:srgbClr val="0000FF"/>
                </a:solidFill>
              </a:rPr>
              <a:t>Repeat 20 times</a:t>
            </a:r>
            <a:endParaRPr lang="zh-TW" altLang="en-US" sz="2800" dirty="0">
              <a:solidFill>
                <a:srgbClr val="0000FF"/>
              </a:solidFill>
            </a:endParaRPr>
          </a:p>
        </p:txBody>
      </p:sp>
    </p:spTree>
    <p:extLst>
      <p:ext uri="{BB962C8B-B14F-4D97-AF65-F5344CB8AC3E}">
        <p14:creationId xmlns:p14="http://schemas.microsoft.com/office/powerpoint/2010/main" val="140994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p:cNvGrpSpPr/>
          <p:nvPr/>
        </p:nvGrpSpPr>
        <p:grpSpPr>
          <a:xfrm>
            <a:off x="2276682" y="1654280"/>
            <a:ext cx="421911" cy="671513"/>
            <a:chOff x="510563" y="3417283"/>
            <a:chExt cx="421911" cy="671513"/>
          </a:xfrm>
        </p:grpSpPr>
        <p:sp>
          <p:nvSpPr>
            <p:cNvPr id="5" name="矩形 4"/>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6" name="矩形 5"/>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7" name="矩形 6"/>
          <p:cNvSpPr/>
          <p:nvPr/>
        </p:nvSpPr>
        <p:spPr>
          <a:xfrm>
            <a:off x="3076607" y="1656850"/>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8" name="文字方塊 7"/>
          <p:cNvSpPr txBox="1"/>
          <p:nvPr/>
        </p:nvSpPr>
        <p:spPr>
          <a:xfrm rot="5400000">
            <a:off x="3299125" y="3199586"/>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9" name="直線單箭頭接點 8"/>
          <p:cNvCxnSpPr/>
          <p:nvPr/>
        </p:nvCxnSpPr>
        <p:spPr>
          <a:xfrm flipV="1">
            <a:off x="2645224" y="199003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V="1">
            <a:off x="4045473" y="198482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群組 10"/>
          <p:cNvGrpSpPr/>
          <p:nvPr/>
        </p:nvGrpSpPr>
        <p:grpSpPr>
          <a:xfrm>
            <a:off x="4443988" y="1654280"/>
            <a:ext cx="428323" cy="671513"/>
            <a:chOff x="507357" y="3417283"/>
            <a:chExt cx="428323" cy="671513"/>
          </a:xfrm>
        </p:grpSpPr>
        <p:sp>
          <p:nvSpPr>
            <p:cNvPr id="12" name="矩形 11"/>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3" name="矩形 12"/>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14" name="矩形 13"/>
          <p:cNvSpPr/>
          <p:nvPr/>
        </p:nvSpPr>
        <p:spPr>
          <a:xfrm>
            <a:off x="5462032" y="1654280"/>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5" name="文字方塊 14"/>
              <p:cNvSpPr txBox="1"/>
              <p:nvPr/>
            </p:nvSpPr>
            <p:spPr>
              <a:xfrm>
                <a:off x="5451590" y="1827882"/>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5451590" y="1827882"/>
                <a:ext cx="391454" cy="369332"/>
              </a:xfrm>
              <a:prstGeom prst="rect">
                <a:avLst/>
              </a:prstGeom>
              <a:blipFill>
                <a:blip r:embed="rId2"/>
                <a:stretch>
                  <a:fillRect l="-18462" t="-18333" r="-47692" b="-26667"/>
                </a:stretch>
              </a:blipFill>
            </p:spPr>
            <p:txBody>
              <a:bodyPr/>
              <a:lstStyle/>
              <a:p>
                <a:r>
                  <a:rPr lang="en-IN">
                    <a:noFill/>
                  </a:rPr>
                  <a:t> </a:t>
                </a:r>
              </a:p>
            </p:txBody>
          </p:sp>
        </mc:Fallback>
      </mc:AlternateContent>
      <p:sp>
        <p:nvSpPr>
          <p:cNvPr id="16" name="左-右雙向箭號 15"/>
          <p:cNvSpPr/>
          <p:nvPr/>
        </p:nvSpPr>
        <p:spPr>
          <a:xfrm>
            <a:off x="4803617" y="1946254"/>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 name="文字方塊 16"/>
              <p:cNvSpPr txBox="1"/>
              <p:nvPr/>
            </p:nvSpPr>
            <p:spPr>
              <a:xfrm>
                <a:off x="4945190" y="2140987"/>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4945190" y="2140987"/>
                <a:ext cx="312458" cy="369332"/>
              </a:xfrm>
              <a:prstGeom prst="rect">
                <a:avLst/>
              </a:prstGeom>
              <a:blipFill>
                <a:blip r:embed="rId3"/>
                <a:stretch>
                  <a:fillRect l="-23529" r="-9804" b="-6557"/>
                </a:stretch>
              </a:blipFill>
            </p:spPr>
            <p:txBody>
              <a:bodyPr/>
              <a:lstStyle/>
              <a:p>
                <a:r>
                  <a:rPr lang="en-IN">
                    <a:noFill/>
                  </a:rPr>
                  <a:t> </a:t>
                </a:r>
              </a:p>
            </p:txBody>
          </p:sp>
        </mc:Fallback>
      </mc:AlternateContent>
      <p:grpSp>
        <p:nvGrpSpPr>
          <p:cNvPr id="18" name="群組 17"/>
          <p:cNvGrpSpPr/>
          <p:nvPr/>
        </p:nvGrpSpPr>
        <p:grpSpPr>
          <a:xfrm>
            <a:off x="2227667" y="2462245"/>
            <a:ext cx="526106" cy="671513"/>
            <a:chOff x="458466" y="3417283"/>
            <a:chExt cx="526106" cy="671513"/>
          </a:xfrm>
        </p:grpSpPr>
        <p:sp>
          <p:nvSpPr>
            <p:cNvPr id="19" name="矩形 18"/>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20" name="矩形 19"/>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31</a:t>
              </a:r>
              <a:endParaRPr lang="zh-TW" altLang="en-US" sz="2400" baseline="30000" dirty="0"/>
            </a:p>
          </p:txBody>
        </p:sp>
      </p:grpSp>
      <p:sp>
        <p:nvSpPr>
          <p:cNvPr id="21" name="矩形 20"/>
          <p:cNvSpPr/>
          <p:nvPr/>
        </p:nvSpPr>
        <p:spPr>
          <a:xfrm>
            <a:off x="3079691" y="2456420"/>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22" name="直線單箭頭接點 21"/>
          <p:cNvCxnSpPr/>
          <p:nvPr/>
        </p:nvCxnSpPr>
        <p:spPr>
          <a:xfrm flipV="1">
            <a:off x="2645347" y="279799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4045596" y="2792792"/>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群組 23"/>
          <p:cNvGrpSpPr/>
          <p:nvPr/>
        </p:nvGrpSpPr>
        <p:grpSpPr>
          <a:xfrm>
            <a:off x="4394974" y="2462245"/>
            <a:ext cx="532518" cy="671513"/>
            <a:chOff x="455261" y="3417283"/>
            <a:chExt cx="532518" cy="671513"/>
          </a:xfrm>
        </p:grpSpPr>
        <p:sp>
          <p:nvSpPr>
            <p:cNvPr id="25" name="矩形 24"/>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26" name="矩形 25"/>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31</a:t>
              </a:r>
              <a:endParaRPr lang="zh-TW" altLang="en-US" sz="2400" baseline="30000" dirty="0"/>
            </a:p>
          </p:txBody>
        </p:sp>
      </p:grpSp>
      <p:sp>
        <p:nvSpPr>
          <p:cNvPr id="27" name="矩形 26"/>
          <p:cNvSpPr/>
          <p:nvPr/>
        </p:nvSpPr>
        <p:spPr>
          <a:xfrm>
            <a:off x="5465115" y="2462245"/>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28" name="文字方塊 27"/>
              <p:cNvSpPr txBox="1"/>
              <p:nvPr/>
            </p:nvSpPr>
            <p:spPr>
              <a:xfrm>
                <a:off x="5465115" y="2624252"/>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465115" y="2624252"/>
                <a:ext cx="527901" cy="369332"/>
              </a:xfrm>
              <a:prstGeom prst="rect">
                <a:avLst/>
              </a:prstGeom>
              <a:blipFill>
                <a:blip r:embed="rId4"/>
                <a:stretch>
                  <a:fillRect l="-13953" t="-16393" r="-33721" b="-24590"/>
                </a:stretch>
              </a:blipFill>
            </p:spPr>
            <p:txBody>
              <a:bodyPr/>
              <a:lstStyle/>
              <a:p>
                <a:r>
                  <a:rPr lang="en-IN">
                    <a:noFill/>
                  </a:rPr>
                  <a:t> </a:t>
                </a:r>
              </a:p>
            </p:txBody>
          </p:sp>
        </mc:Fallback>
      </mc:AlternateContent>
      <p:sp>
        <p:nvSpPr>
          <p:cNvPr id="29" name="左-右雙向箭號 28"/>
          <p:cNvSpPr/>
          <p:nvPr/>
        </p:nvSpPr>
        <p:spPr>
          <a:xfrm>
            <a:off x="4801339" y="2727814"/>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0" name="文字方塊 29"/>
              <p:cNvSpPr txBox="1"/>
              <p:nvPr/>
            </p:nvSpPr>
            <p:spPr>
              <a:xfrm>
                <a:off x="4944629" y="2984862"/>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31</m:t>
                          </m:r>
                        </m:sup>
                      </m:sSup>
                    </m:oMath>
                  </m:oMathPara>
                </a14:m>
                <a:endParaRPr lang="zh-TW" altLang="en-US" sz="24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4944629" y="2984862"/>
                <a:ext cx="448905" cy="369332"/>
              </a:xfrm>
              <a:prstGeom prst="rect">
                <a:avLst/>
              </a:prstGeom>
              <a:blipFill>
                <a:blip r:embed="rId5"/>
                <a:stretch>
                  <a:fillRect l="-16216" t="-1667" r="-5405" b="-8333"/>
                </a:stretch>
              </a:blipFill>
            </p:spPr>
            <p:txBody>
              <a:bodyPr/>
              <a:lstStyle/>
              <a:p>
                <a:r>
                  <a:rPr lang="en-IN">
                    <a:noFill/>
                  </a:rPr>
                  <a:t> </a:t>
                </a:r>
              </a:p>
            </p:txBody>
          </p:sp>
        </mc:Fallback>
      </mc:AlternateContent>
      <p:grpSp>
        <p:nvGrpSpPr>
          <p:cNvPr id="35" name="群組 34"/>
          <p:cNvGrpSpPr/>
          <p:nvPr/>
        </p:nvGrpSpPr>
        <p:grpSpPr>
          <a:xfrm>
            <a:off x="2262688" y="4094139"/>
            <a:ext cx="421910" cy="671513"/>
            <a:chOff x="510564" y="3417283"/>
            <a:chExt cx="421910" cy="671513"/>
          </a:xfrm>
        </p:grpSpPr>
        <p:sp>
          <p:nvSpPr>
            <p:cNvPr id="36" name="矩形 35"/>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37" name="矩形 36"/>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2</a:t>
              </a:r>
              <a:endParaRPr lang="zh-TW" altLang="en-US" sz="2400" baseline="30000" dirty="0"/>
            </a:p>
          </p:txBody>
        </p:sp>
      </p:grpSp>
      <p:sp>
        <p:nvSpPr>
          <p:cNvPr id="38" name="矩形 37"/>
          <p:cNvSpPr/>
          <p:nvPr/>
        </p:nvSpPr>
        <p:spPr>
          <a:xfrm>
            <a:off x="3062613" y="4096709"/>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39" name="文字方塊 38"/>
          <p:cNvSpPr txBox="1"/>
          <p:nvPr/>
        </p:nvSpPr>
        <p:spPr>
          <a:xfrm rot="5400000">
            <a:off x="3284370" y="5784446"/>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40" name="直線單箭頭接點 39"/>
          <p:cNvCxnSpPr/>
          <p:nvPr/>
        </p:nvCxnSpPr>
        <p:spPr>
          <a:xfrm flipV="1">
            <a:off x="2631230" y="4429893"/>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V="1">
            <a:off x="4031479" y="442468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2" name="群組 41"/>
          <p:cNvGrpSpPr/>
          <p:nvPr/>
        </p:nvGrpSpPr>
        <p:grpSpPr>
          <a:xfrm>
            <a:off x="4429994" y="4094139"/>
            <a:ext cx="428322" cy="671513"/>
            <a:chOff x="507358" y="3417283"/>
            <a:chExt cx="428322" cy="671513"/>
          </a:xfrm>
        </p:grpSpPr>
        <p:sp>
          <p:nvSpPr>
            <p:cNvPr id="43" name="矩形 42"/>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44" name="矩形 43"/>
            <p:cNvSpPr/>
            <p:nvPr/>
          </p:nvSpPr>
          <p:spPr>
            <a:xfrm>
              <a:off x="507358" y="3522206"/>
              <a:ext cx="428322" cy="461665"/>
            </a:xfrm>
            <a:prstGeom prst="rect">
              <a:avLst/>
            </a:prstGeom>
          </p:spPr>
          <p:txBody>
            <a:bodyPr wrap="none">
              <a:spAutoFit/>
            </a:bodyPr>
            <a:lstStyle/>
            <a:p>
              <a:pPr algn="ctr"/>
              <a:r>
                <a:rPr lang="en-US" altLang="zh-TW" sz="2400" dirty="0"/>
                <a:t>y</a:t>
              </a:r>
              <a:r>
                <a:rPr lang="en-US" altLang="zh-TW" sz="2400" baseline="30000" dirty="0"/>
                <a:t>2</a:t>
              </a:r>
              <a:endParaRPr lang="zh-TW" altLang="en-US" sz="2400" baseline="30000" dirty="0"/>
            </a:p>
          </p:txBody>
        </p:sp>
      </p:grpSp>
      <p:sp>
        <p:nvSpPr>
          <p:cNvPr id="45" name="矩形 44"/>
          <p:cNvSpPr/>
          <p:nvPr/>
        </p:nvSpPr>
        <p:spPr>
          <a:xfrm>
            <a:off x="5448038" y="4094139"/>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46" name="文字方塊 45"/>
              <p:cNvSpPr txBox="1"/>
              <p:nvPr/>
            </p:nvSpPr>
            <p:spPr>
              <a:xfrm>
                <a:off x="5437596" y="4267741"/>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5437596" y="4267741"/>
                <a:ext cx="398058" cy="369332"/>
              </a:xfrm>
              <a:prstGeom prst="rect">
                <a:avLst/>
              </a:prstGeom>
              <a:blipFill>
                <a:blip r:embed="rId6"/>
                <a:stretch>
                  <a:fillRect l="-18462" t="-16393" r="-47692" b="-24590"/>
                </a:stretch>
              </a:blipFill>
            </p:spPr>
            <p:txBody>
              <a:bodyPr/>
              <a:lstStyle/>
              <a:p>
                <a:r>
                  <a:rPr lang="en-IN">
                    <a:noFill/>
                  </a:rPr>
                  <a:t> </a:t>
                </a:r>
              </a:p>
            </p:txBody>
          </p:sp>
        </mc:Fallback>
      </mc:AlternateContent>
      <p:sp>
        <p:nvSpPr>
          <p:cNvPr id="47" name="左-右雙向箭號 46"/>
          <p:cNvSpPr/>
          <p:nvPr/>
        </p:nvSpPr>
        <p:spPr>
          <a:xfrm>
            <a:off x="4789623" y="4386113"/>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8" name="文字方塊 47"/>
              <p:cNvSpPr txBox="1"/>
              <p:nvPr/>
            </p:nvSpPr>
            <p:spPr>
              <a:xfrm>
                <a:off x="4931196" y="4580846"/>
                <a:ext cx="3190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4931196" y="4580846"/>
                <a:ext cx="319062" cy="369332"/>
              </a:xfrm>
              <a:prstGeom prst="rect">
                <a:avLst/>
              </a:prstGeom>
              <a:blipFill>
                <a:blip r:embed="rId7"/>
                <a:stretch>
                  <a:fillRect l="-23077" r="-9615" b="-6557"/>
                </a:stretch>
              </a:blipFill>
            </p:spPr>
            <p:txBody>
              <a:bodyPr/>
              <a:lstStyle/>
              <a:p>
                <a:r>
                  <a:rPr lang="en-IN">
                    <a:noFill/>
                  </a:rPr>
                  <a:t> </a:t>
                </a:r>
              </a:p>
            </p:txBody>
          </p:sp>
        </mc:Fallback>
      </mc:AlternateContent>
      <p:grpSp>
        <p:nvGrpSpPr>
          <p:cNvPr id="49" name="群組 48"/>
          <p:cNvGrpSpPr/>
          <p:nvPr/>
        </p:nvGrpSpPr>
        <p:grpSpPr>
          <a:xfrm>
            <a:off x="2228187" y="5047244"/>
            <a:ext cx="526106" cy="671513"/>
            <a:chOff x="458466" y="3417283"/>
            <a:chExt cx="526106" cy="671513"/>
          </a:xfrm>
        </p:grpSpPr>
        <p:sp>
          <p:nvSpPr>
            <p:cNvPr id="50" name="矩形 49"/>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51" name="矩形 50"/>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16</a:t>
              </a:r>
              <a:endParaRPr lang="zh-TW" altLang="en-US" sz="2400" baseline="30000" dirty="0"/>
            </a:p>
          </p:txBody>
        </p:sp>
      </p:grpSp>
      <p:sp>
        <p:nvSpPr>
          <p:cNvPr id="52" name="矩形 51"/>
          <p:cNvSpPr/>
          <p:nvPr/>
        </p:nvSpPr>
        <p:spPr>
          <a:xfrm>
            <a:off x="3080211" y="5041419"/>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53" name="直線單箭頭接點 52"/>
          <p:cNvCxnSpPr/>
          <p:nvPr/>
        </p:nvCxnSpPr>
        <p:spPr>
          <a:xfrm flipV="1">
            <a:off x="2645867" y="5382998"/>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flipV="1">
            <a:off x="4046116" y="537779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5" name="群組 54"/>
          <p:cNvGrpSpPr/>
          <p:nvPr/>
        </p:nvGrpSpPr>
        <p:grpSpPr>
          <a:xfrm>
            <a:off x="4395494" y="5047244"/>
            <a:ext cx="532518" cy="671513"/>
            <a:chOff x="455261" y="3417283"/>
            <a:chExt cx="532518" cy="671513"/>
          </a:xfrm>
        </p:grpSpPr>
        <p:sp>
          <p:nvSpPr>
            <p:cNvPr id="56" name="矩形 55"/>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57" name="矩形 56"/>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16</a:t>
              </a:r>
              <a:endParaRPr lang="zh-TW" altLang="en-US" sz="2400" baseline="30000" dirty="0"/>
            </a:p>
          </p:txBody>
        </p:sp>
      </p:grpSp>
      <p:sp>
        <p:nvSpPr>
          <p:cNvPr id="58" name="矩形 57"/>
          <p:cNvSpPr/>
          <p:nvPr/>
        </p:nvSpPr>
        <p:spPr>
          <a:xfrm>
            <a:off x="5465635" y="5047244"/>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59" name="文字方塊 58"/>
              <p:cNvSpPr txBox="1"/>
              <p:nvPr/>
            </p:nvSpPr>
            <p:spPr>
              <a:xfrm>
                <a:off x="5465635" y="5209251"/>
                <a:ext cx="5212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16</m:t>
                          </m:r>
                        </m:sup>
                      </m:sSup>
                    </m:oMath>
                  </m:oMathPara>
                </a14:m>
                <a:endParaRPr lang="zh-TW" altLang="en-US" sz="2400" dirty="0"/>
              </a:p>
            </p:txBody>
          </p:sp>
        </mc:Choice>
        <mc:Fallback xmlns="">
          <p:sp>
            <p:nvSpPr>
              <p:cNvPr id="59" name="文字方塊 58"/>
              <p:cNvSpPr txBox="1">
                <a:spLocks noRot="1" noChangeAspect="1" noMove="1" noResize="1" noEditPoints="1" noAdjustHandles="1" noChangeArrowheads="1" noChangeShapeType="1" noTextEdit="1"/>
              </p:cNvSpPr>
              <p:nvPr/>
            </p:nvSpPr>
            <p:spPr>
              <a:xfrm>
                <a:off x="5465635" y="5209251"/>
                <a:ext cx="521297" cy="369332"/>
              </a:xfrm>
              <a:prstGeom prst="rect">
                <a:avLst/>
              </a:prstGeom>
              <a:blipFill>
                <a:blip r:embed="rId8"/>
                <a:stretch>
                  <a:fillRect l="-14118" t="-18333" r="-35294" b="-26667"/>
                </a:stretch>
              </a:blipFill>
            </p:spPr>
            <p:txBody>
              <a:bodyPr/>
              <a:lstStyle/>
              <a:p>
                <a:r>
                  <a:rPr lang="en-IN">
                    <a:noFill/>
                  </a:rPr>
                  <a:t> </a:t>
                </a:r>
              </a:p>
            </p:txBody>
          </p:sp>
        </mc:Fallback>
      </mc:AlternateContent>
      <p:sp>
        <p:nvSpPr>
          <p:cNvPr id="60" name="左-右雙向箭號 59"/>
          <p:cNvSpPr/>
          <p:nvPr/>
        </p:nvSpPr>
        <p:spPr>
          <a:xfrm>
            <a:off x="4801859" y="5312813"/>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1" name="文字方塊 60"/>
              <p:cNvSpPr txBox="1"/>
              <p:nvPr/>
            </p:nvSpPr>
            <p:spPr>
              <a:xfrm>
                <a:off x="4945149" y="5569861"/>
                <a:ext cx="4423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16</m:t>
                          </m:r>
                        </m:sup>
                      </m:sSup>
                    </m:oMath>
                  </m:oMathPara>
                </a14:m>
                <a:endParaRPr lang="zh-TW" altLang="en-US" sz="24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4945149" y="5569861"/>
                <a:ext cx="442301" cy="369332"/>
              </a:xfrm>
              <a:prstGeom prst="rect">
                <a:avLst/>
              </a:prstGeom>
              <a:blipFill>
                <a:blip r:embed="rId9"/>
                <a:stretch>
                  <a:fillRect l="-16438" t="-1667" r="-5479" b="-8333"/>
                </a:stretch>
              </a:blipFill>
            </p:spPr>
            <p:txBody>
              <a:bodyPr/>
              <a:lstStyle/>
              <a:p>
                <a:r>
                  <a:rPr lang="en-IN">
                    <a:noFill/>
                  </a:rPr>
                  <a:t> </a:t>
                </a:r>
              </a:p>
            </p:txBody>
          </p:sp>
        </mc:Fallback>
      </mc:AlternateContent>
      <p:sp>
        <p:nvSpPr>
          <p:cNvPr id="62" name="文字方塊 61"/>
          <p:cNvSpPr txBox="1"/>
          <p:nvPr/>
        </p:nvSpPr>
        <p:spPr>
          <a:xfrm rot="16200000">
            <a:off x="1138831" y="2452112"/>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63" name="文字方塊 62"/>
          <p:cNvSpPr txBox="1"/>
          <p:nvPr/>
        </p:nvSpPr>
        <p:spPr>
          <a:xfrm rot="16200000">
            <a:off x="1130120" y="4922907"/>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64" name="矩形 63"/>
          <p:cNvSpPr/>
          <p:nvPr/>
        </p:nvSpPr>
        <p:spPr>
          <a:xfrm>
            <a:off x="2227667" y="1510726"/>
            <a:ext cx="3718004"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p:nvSpPr>
        <p:spPr>
          <a:xfrm>
            <a:off x="2227667" y="4007828"/>
            <a:ext cx="3718004"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p:nvSpPr>
        <p:spPr>
          <a:xfrm>
            <a:off x="2341570" y="285044"/>
            <a:ext cx="7767639" cy="584775"/>
          </a:xfrm>
          <a:prstGeom prst="rect">
            <a:avLst/>
          </a:prstGeom>
        </p:spPr>
        <p:txBody>
          <a:bodyPr wrap="none">
            <a:spAutoFit/>
          </a:bodyPr>
          <a:lstStyle/>
          <a:p>
            <a:r>
              <a:rPr lang="en-US" altLang="zh-TW" sz="3200" b="1" i="1" u="sng" dirty="0"/>
              <a:t>Shuffle the training examples for each epoch</a:t>
            </a:r>
            <a:endParaRPr lang="zh-TW" altLang="en-US" sz="3200" b="1" i="1" u="sng" dirty="0"/>
          </a:p>
        </p:txBody>
      </p:sp>
      <p:sp>
        <p:nvSpPr>
          <p:cNvPr id="67" name="矩形 66"/>
          <p:cNvSpPr/>
          <p:nvPr/>
        </p:nvSpPr>
        <p:spPr>
          <a:xfrm>
            <a:off x="3418121" y="957909"/>
            <a:ext cx="1337097" cy="523220"/>
          </a:xfrm>
          <a:prstGeom prst="rect">
            <a:avLst/>
          </a:prstGeom>
        </p:spPr>
        <p:txBody>
          <a:bodyPr wrap="none">
            <a:spAutoFit/>
          </a:bodyPr>
          <a:lstStyle/>
          <a:p>
            <a:pPr algn="ctr"/>
            <a:r>
              <a:rPr lang="en-US" altLang="zh-TW" sz="2800" b="1" i="1" u="sng" dirty="0"/>
              <a:t>Epoch 1</a:t>
            </a:r>
            <a:endParaRPr lang="zh-TW" altLang="en-US" sz="2800" b="1" i="1" u="sng" dirty="0"/>
          </a:p>
        </p:txBody>
      </p:sp>
      <p:grpSp>
        <p:nvGrpSpPr>
          <p:cNvPr id="131" name="群組 130"/>
          <p:cNvGrpSpPr/>
          <p:nvPr/>
        </p:nvGrpSpPr>
        <p:grpSpPr>
          <a:xfrm>
            <a:off x="6743738" y="1645915"/>
            <a:ext cx="421911" cy="671513"/>
            <a:chOff x="510563" y="3417283"/>
            <a:chExt cx="421911" cy="671513"/>
          </a:xfrm>
        </p:grpSpPr>
        <p:sp>
          <p:nvSpPr>
            <p:cNvPr id="132" name="矩形 131"/>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33" name="矩形 132"/>
            <p:cNvSpPr/>
            <p:nvPr/>
          </p:nvSpPr>
          <p:spPr>
            <a:xfrm>
              <a:off x="510563" y="3522206"/>
              <a:ext cx="421911" cy="461665"/>
            </a:xfrm>
            <a:prstGeom prst="rect">
              <a:avLst/>
            </a:prstGeom>
          </p:spPr>
          <p:txBody>
            <a:bodyPr wrap="none">
              <a:spAutoFit/>
            </a:bodyPr>
            <a:lstStyle/>
            <a:p>
              <a:pPr algn="ctr"/>
              <a:r>
                <a:rPr lang="en-US" altLang="zh-TW" sz="2400" dirty="0"/>
                <a:t>x</a:t>
              </a:r>
              <a:r>
                <a:rPr lang="en-US" altLang="zh-TW" sz="2400" baseline="30000" dirty="0"/>
                <a:t>1</a:t>
              </a:r>
              <a:endParaRPr lang="zh-TW" altLang="en-US" sz="2400" baseline="30000" dirty="0"/>
            </a:p>
          </p:txBody>
        </p:sp>
      </p:grpSp>
      <p:sp>
        <p:nvSpPr>
          <p:cNvPr id="134" name="矩形 133"/>
          <p:cNvSpPr/>
          <p:nvPr/>
        </p:nvSpPr>
        <p:spPr>
          <a:xfrm>
            <a:off x="7543663" y="164848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135" name="文字方塊 134"/>
          <p:cNvSpPr txBox="1"/>
          <p:nvPr/>
        </p:nvSpPr>
        <p:spPr>
          <a:xfrm rot="5400000">
            <a:off x="7766181" y="3191221"/>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36" name="直線單箭頭接點 135"/>
          <p:cNvCxnSpPr/>
          <p:nvPr/>
        </p:nvCxnSpPr>
        <p:spPr>
          <a:xfrm flipV="1">
            <a:off x="7112280" y="1981669"/>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線單箭頭接點 136"/>
          <p:cNvCxnSpPr/>
          <p:nvPr/>
        </p:nvCxnSpPr>
        <p:spPr>
          <a:xfrm flipV="1">
            <a:off x="8512529" y="1976462"/>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8" name="群組 137"/>
          <p:cNvGrpSpPr/>
          <p:nvPr/>
        </p:nvGrpSpPr>
        <p:grpSpPr>
          <a:xfrm>
            <a:off x="8911044" y="1645915"/>
            <a:ext cx="428323" cy="671513"/>
            <a:chOff x="507357" y="3417283"/>
            <a:chExt cx="428323" cy="671513"/>
          </a:xfrm>
        </p:grpSpPr>
        <p:sp>
          <p:nvSpPr>
            <p:cNvPr id="139" name="矩形 138"/>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40" name="矩形 139"/>
            <p:cNvSpPr/>
            <p:nvPr/>
          </p:nvSpPr>
          <p:spPr>
            <a:xfrm>
              <a:off x="507357" y="3522206"/>
              <a:ext cx="428323" cy="461665"/>
            </a:xfrm>
            <a:prstGeom prst="rect">
              <a:avLst/>
            </a:prstGeom>
          </p:spPr>
          <p:txBody>
            <a:bodyPr wrap="none">
              <a:spAutoFit/>
            </a:bodyPr>
            <a:lstStyle/>
            <a:p>
              <a:pPr algn="ctr"/>
              <a:r>
                <a:rPr lang="en-US" altLang="zh-TW" sz="2400" dirty="0"/>
                <a:t>y</a:t>
              </a:r>
              <a:r>
                <a:rPr lang="en-US" altLang="zh-TW" sz="2400" baseline="30000" dirty="0"/>
                <a:t>1</a:t>
              </a:r>
              <a:endParaRPr lang="zh-TW" altLang="en-US" sz="2400" baseline="30000" dirty="0"/>
            </a:p>
          </p:txBody>
        </p:sp>
      </p:grpSp>
      <p:sp>
        <p:nvSpPr>
          <p:cNvPr id="141" name="矩形 140"/>
          <p:cNvSpPr/>
          <p:nvPr/>
        </p:nvSpPr>
        <p:spPr>
          <a:xfrm>
            <a:off x="9929088" y="1645915"/>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42" name="文字方塊 141"/>
              <p:cNvSpPr txBox="1"/>
              <p:nvPr/>
            </p:nvSpPr>
            <p:spPr>
              <a:xfrm>
                <a:off x="9918646" y="1819517"/>
                <a:ext cx="3914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42" name="文字方塊 141"/>
              <p:cNvSpPr txBox="1">
                <a:spLocks noRot="1" noChangeAspect="1" noMove="1" noResize="1" noEditPoints="1" noAdjustHandles="1" noChangeArrowheads="1" noChangeShapeType="1" noTextEdit="1"/>
              </p:cNvSpPr>
              <p:nvPr/>
            </p:nvSpPr>
            <p:spPr>
              <a:xfrm>
                <a:off x="9918646" y="1819517"/>
                <a:ext cx="391454" cy="369332"/>
              </a:xfrm>
              <a:prstGeom prst="rect">
                <a:avLst/>
              </a:prstGeom>
              <a:blipFill>
                <a:blip r:embed="rId10"/>
                <a:stretch>
                  <a:fillRect l="-18750" t="-16393" r="-50000" b="-24590"/>
                </a:stretch>
              </a:blipFill>
            </p:spPr>
            <p:txBody>
              <a:bodyPr/>
              <a:lstStyle/>
              <a:p>
                <a:r>
                  <a:rPr lang="en-IN">
                    <a:noFill/>
                  </a:rPr>
                  <a:t> </a:t>
                </a:r>
              </a:p>
            </p:txBody>
          </p:sp>
        </mc:Fallback>
      </mc:AlternateContent>
      <p:sp>
        <p:nvSpPr>
          <p:cNvPr id="143" name="左-右雙向箭號 142"/>
          <p:cNvSpPr/>
          <p:nvPr/>
        </p:nvSpPr>
        <p:spPr>
          <a:xfrm>
            <a:off x="9270673" y="1937889"/>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4" name="文字方塊 143"/>
              <p:cNvSpPr txBox="1"/>
              <p:nvPr/>
            </p:nvSpPr>
            <p:spPr>
              <a:xfrm>
                <a:off x="9412246" y="2132622"/>
                <a:ext cx="312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9412246" y="2132622"/>
                <a:ext cx="312458" cy="369332"/>
              </a:xfrm>
              <a:prstGeom prst="rect">
                <a:avLst/>
              </a:prstGeom>
              <a:blipFill>
                <a:blip r:embed="rId11"/>
                <a:stretch>
                  <a:fillRect l="-23529" r="-9804" b="-8333"/>
                </a:stretch>
              </a:blipFill>
            </p:spPr>
            <p:txBody>
              <a:bodyPr/>
              <a:lstStyle/>
              <a:p>
                <a:r>
                  <a:rPr lang="en-IN">
                    <a:noFill/>
                  </a:rPr>
                  <a:t> </a:t>
                </a:r>
              </a:p>
            </p:txBody>
          </p:sp>
        </mc:Fallback>
      </mc:AlternateContent>
      <p:grpSp>
        <p:nvGrpSpPr>
          <p:cNvPr id="145" name="群組 144"/>
          <p:cNvGrpSpPr/>
          <p:nvPr/>
        </p:nvGrpSpPr>
        <p:grpSpPr>
          <a:xfrm>
            <a:off x="6694722" y="2453880"/>
            <a:ext cx="526106" cy="671513"/>
            <a:chOff x="458465" y="3417283"/>
            <a:chExt cx="526106" cy="671513"/>
          </a:xfrm>
        </p:grpSpPr>
        <p:sp>
          <p:nvSpPr>
            <p:cNvPr id="146" name="矩形 145"/>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47" name="矩形 146"/>
            <p:cNvSpPr/>
            <p:nvPr/>
          </p:nvSpPr>
          <p:spPr>
            <a:xfrm>
              <a:off x="458465" y="3522206"/>
              <a:ext cx="526106" cy="461665"/>
            </a:xfrm>
            <a:prstGeom prst="rect">
              <a:avLst/>
            </a:prstGeom>
          </p:spPr>
          <p:txBody>
            <a:bodyPr wrap="none">
              <a:spAutoFit/>
            </a:bodyPr>
            <a:lstStyle/>
            <a:p>
              <a:pPr algn="ctr"/>
              <a:r>
                <a:rPr lang="en-US" altLang="zh-TW" sz="2400" dirty="0"/>
                <a:t>x</a:t>
              </a:r>
              <a:r>
                <a:rPr lang="en-US" altLang="zh-TW" sz="2400" baseline="30000" dirty="0"/>
                <a:t>17</a:t>
              </a:r>
              <a:endParaRPr lang="zh-TW" altLang="en-US" sz="2400" baseline="30000" dirty="0"/>
            </a:p>
          </p:txBody>
        </p:sp>
      </p:grpSp>
      <p:sp>
        <p:nvSpPr>
          <p:cNvPr id="148" name="矩形 147"/>
          <p:cNvSpPr/>
          <p:nvPr/>
        </p:nvSpPr>
        <p:spPr>
          <a:xfrm>
            <a:off x="7546747" y="2448055"/>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149" name="直線單箭頭接點 148"/>
          <p:cNvCxnSpPr/>
          <p:nvPr/>
        </p:nvCxnSpPr>
        <p:spPr>
          <a:xfrm flipV="1">
            <a:off x="7112403" y="2789634"/>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p:nvPr/>
        </p:nvCxnSpPr>
        <p:spPr>
          <a:xfrm flipV="1">
            <a:off x="8512652" y="2784427"/>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1" name="群組 150"/>
          <p:cNvGrpSpPr/>
          <p:nvPr/>
        </p:nvGrpSpPr>
        <p:grpSpPr>
          <a:xfrm>
            <a:off x="8862029" y="2453880"/>
            <a:ext cx="532518" cy="671513"/>
            <a:chOff x="455260" y="3417283"/>
            <a:chExt cx="532518" cy="671513"/>
          </a:xfrm>
        </p:grpSpPr>
        <p:sp>
          <p:nvSpPr>
            <p:cNvPr id="152" name="矩形 151"/>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53" name="矩形 152"/>
            <p:cNvSpPr/>
            <p:nvPr/>
          </p:nvSpPr>
          <p:spPr>
            <a:xfrm>
              <a:off x="455260" y="3522206"/>
              <a:ext cx="532518" cy="461665"/>
            </a:xfrm>
            <a:prstGeom prst="rect">
              <a:avLst/>
            </a:prstGeom>
          </p:spPr>
          <p:txBody>
            <a:bodyPr wrap="none">
              <a:spAutoFit/>
            </a:bodyPr>
            <a:lstStyle/>
            <a:p>
              <a:pPr algn="ctr"/>
              <a:r>
                <a:rPr lang="en-US" altLang="zh-TW" sz="2400" dirty="0"/>
                <a:t>y</a:t>
              </a:r>
              <a:r>
                <a:rPr lang="en-US" altLang="zh-TW" sz="2400" baseline="30000" dirty="0"/>
                <a:t>17</a:t>
              </a:r>
              <a:endParaRPr lang="zh-TW" altLang="en-US" sz="2400" baseline="30000" dirty="0"/>
            </a:p>
          </p:txBody>
        </p:sp>
      </p:grpSp>
      <p:sp>
        <p:nvSpPr>
          <p:cNvPr id="154" name="矩形 153"/>
          <p:cNvSpPr/>
          <p:nvPr/>
        </p:nvSpPr>
        <p:spPr>
          <a:xfrm>
            <a:off x="9932171" y="2453880"/>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55" name="文字方塊 154"/>
              <p:cNvSpPr txBox="1"/>
              <p:nvPr/>
            </p:nvSpPr>
            <p:spPr>
              <a:xfrm>
                <a:off x="9932171" y="2615887"/>
                <a:ext cx="5212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17</m:t>
                          </m:r>
                        </m:sup>
                      </m:sSup>
                    </m:oMath>
                  </m:oMathPara>
                </a14:m>
                <a:endParaRPr lang="zh-TW" altLang="en-US" sz="2400" dirty="0"/>
              </a:p>
            </p:txBody>
          </p:sp>
        </mc:Choice>
        <mc:Fallback xmlns="">
          <p:sp>
            <p:nvSpPr>
              <p:cNvPr id="155" name="文字方塊 154"/>
              <p:cNvSpPr txBox="1">
                <a:spLocks noRot="1" noChangeAspect="1" noMove="1" noResize="1" noEditPoints="1" noAdjustHandles="1" noChangeArrowheads="1" noChangeShapeType="1" noTextEdit="1"/>
              </p:cNvSpPr>
              <p:nvPr/>
            </p:nvSpPr>
            <p:spPr>
              <a:xfrm>
                <a:off x="9932171" y="2615887"/>
                <a:ext cx="521297" cy="369332"/>
              </a:xfrm>
              <a:prstGeom prst="rect">
                <a:avLst/>
              </a:prstGeom>
              <a:blipFill>
                <a:blip r:embed="rId12"/>
                <a:stretch>
                  <a:fillRect l="-13953" t="-16393" r="-34884" b="-24590"/>
                </a:stretch>
              </a:blipFill>
            </p:spPr>
            <p:txBody>
              <a:bodyPr/>
              <a:lstStyle/>
              <a:p>
                <a:r>
                  <a:rPr lang="en-IN">
                    <a:noFill/>
                  </a:rPr>
                  <a:t> </a:t>
                </a:r>
              </a:p>
            </p:txBody>
          </p:sp>
        </mc:Fallback>
      </mc:AlternateContent>
      <p:sp>
        <p:nvSpPr>
          <p:cNvPr id="156" name="左-右雙向箭號 155"/>
          <p:cNvSpPr/>
          <p:nvPr/>
        </p:nvSpPr>
        <p:spPr>
          <a:xfrm>
            <a:off x="9268395" y="2719449"/>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57" name="文字方塊 156"/>
              <p:cNvSpPr txBox="1"/>
              <p:nvPr/>
            </p:nvSpPr>
            <p:spPr>
              <a:xfrm>
                <a:off x="9411685" y="2976497"/>
                <a:ext cx="4423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17</m:t>
                          </m:r>
                        </m:sup>
                      </m:sSup>
                    </m:oMath>
                  </m:oMathPara>
                </a14:m>
                <a:endParaRPr lang="zh-TW" altLang="en-US" sz="2400" dirty="0"/>
              </a:p>
            </p:txBody>
          </p:sp>
        </mc:Choice>
        <mc:Fallback xmlns="">
          <p:sp>
            <p:nvSpPr>
              <p:cNvPr id="157" name="文字方塊 156"/>
              <p:cNvSpPr txBox="1">
                <a:spLocks noRot="1" noChangeAspect="1" noMove="1" noResize="1" noEditPoints="1" noAdjustHandles="1" noChangeArrowheads="1" noChangeShapeType="1" noTextEdit="1"/>
              </p:cNvSpPr>
              <p:nvPr/>
            </p:nvSpPr>
            <p:spPr>
              <a:xfrm>
                <a:off x="9411685" y="2976497"/>
                <a:ext cx="442301" cy="369332"/>
              </a:xfrm>
              <a:prstGeom prst="rect">
                <a:avLst/>
              </a:prstGeom>
              <a:blipFill>
                <a:blip r:embed="rId13"/>
                <a:stretch>
                  <a:fillRect l="-16667" r="-6944" b="-6557"/>
                </a:stretch>
              </a:blipFill>
            </p:spPr>
            <p:txBody>
              <a:bodyPr/>
              <a:lstStyle/>
              <a:p>
                <a:r>
                  <a:rPr lang="en-IN">
                    <a:noFill/>
                  </a:rPr>
                  <a:t> </a:t>
                </a:r>
              </a:p>
            </p:txBody>
          </p:sp>
        </mc:Fallback>
      </mc:AlternateContent>
      <p:grpSp>
        <p:nvGrpSpPr>
          <p:cNvPr id="158" name="群組 157"/>
          <p:cNvGrpSpPr/>
          <p:nvPr/>
        </p:nvGrpSpPr>
        <p:grpSpPr>
          <a:xfrm>
            <a:off x="6729744" y="4085774"/>
            <a:ext cx="421910" cy="671513"/>
            <a:chOff x="510564" y="3417283"/>
            <a:chExt cx="421910" cy="671513"/>
          </a:xfrm>
        </p:grpSpPr>
        <p:sp>
          <p:nvSpPr>
            <p:cNvPr id="159" name="矩形 158"/>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60" name="矩形 159"/>
            <p:cNvSpPr/>
            <p:nvPr/>
          </p:nvSpPr>
          <p:spPr>
            <a:xfrm>
              <a:off x="510564" y="3522206"/>
              <a:ext cx="421910" cy="461665"/>
            </a:xfrm>
            <a:prstGeom prst="rect">
              <a:avLst/>
            </a:prstGeom>
          </p:spPr>
          <p:txBody>
            <a:bodyPr wrap="none">
              <a:spAutoFit/>
            </a:bodyPr>
            <a:lstStyle/>
            <a:p>
              <a:pPr algn="ctr"/>
              <a:r>
                <a:rPr lang="en-US" altLang="zh-TW" sz="2400" dirty="0"/>
                <a:t>x</a:t>
              </a:r>
              <a:r>
                <a:rPr lang="en-US" altLang="zh-TW" sz="2400" baseline="30000" dirty="0"/>
                <a:t>2</a:t>
              </a:r>
              <a:endParaRPr lang="zh-TW" altLang="en-US" sz="2400" baseline="30000" dirty="0"/>
            </a:p>
          </p:txBody>
        </p:sp>
      </p:grpSp>
      <p:sp>
        <p:nvSpPr>
          <p:cNvPr id="161" name="矩形 160"/>
          <p:cNvSpPr/>
          <p:nvPr/>
        </p:nvSpPr>
        <p:spPr>
          <a:xfrm>
            <a:off x="7529669" y="4088344"/>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sp>
        <p:nvSpPr>
          <p:cNvPr id="162" name="文字方塊 161"/>
          <p:cNvSpPr txBox="1"/>
          <p:nvPr/>
        </p:nvSpPr>
        <p:spPr>
          <a:xfrm rot="5400000">
            <a:off x="7751426" y="5776081"/>
            <a:ext cx="828675"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63" name="直線單箭頭接點 162"/>
          <p:cNvCxnSpPr/>
          <p:nvPr/>
        </p:nvCxnSpPr>
        <p:spPr>
          <a:xfrm flipV="1">
            <a:off x="7098286" y="4421528"/>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線單箭頭接點 163"/>
          <p:cNvCxnSpPr/>
          <p:nvPr/>
        </p:nvCxnSpPr>
        <p:spPr>
          <a:xfrm flipV="1">
            <a:off x="8498535" y="4416321"/>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5" name="群組 164"/>
          <p:cNvGrpSpPr/>
          <p:nvPr/>
        </p:nvGrpSpPr>
        <p:grpSpPr>
          <a:xfrm>
            <a:off x="8897050" y="4085774"/>
            <a:ext cx="428322" cy="671513"/>
            <a:chOff x="507358" y="3417283"/>
            <a:chExt cx="428322" cy="671513"/>
          </a:xfrm>
        </p:grpSpPr>
        <p:sp>
          <p:nvSpPr>
            <p:cNvPr id="166" name="矩形 165"/>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67" name="矩形 166"/>
            <p:cNvSpPr/>
            <p:nvPr/>
          </p:nvSpPr>
          <p:spPr>
            <a:xfrm>
              <a:off x="507358" y="3522206"/>
              <a:ext cx="428322" cy="461665"/>
            </a:xfrm>
            <a:prstGeom prst="rect">
              <a:avLst/>
            </a:prstGeom>
          </p:spPr>
          <p:txBody>
            <a:bodyPr wrap="none">
              <a:spAutoFit/>
            </a:bodyPr>
            <a:lstStyle/>
            <a:p>
              <a:pPr algn="ctr"/>
              <a:r>
                <a:rPr lang="en-US" altLang="zh-TW" sz="2400" dirty="0"/>
                <a:t>y</a:t>
              </a:r>
              <a:r>
                <a:rPr lang="en-US" altLang="zh-TW" sz="2400" baseline="30000" dirty="0"/>
                <a:t>2</a:t>
              </a:r>
              <a:endParaRPr lang="zh-TW" altLang="en-US" sz="2400" baseline="30000" dirty="0"/>
            </a:p>
          </p:txBody>
        </p:sp>
      </p:grpSp>
      <p:sp>
        <p:nvSpPr>
          <p:cNvPr id="168" name="矩形 167"/>
          <p:cNvSpPr/>
          <p:nvPr/>
        </p:nvSpPr>
        <p:spPr>
          <a:xfrm>
            <a:off x="9915094" y="4085774"/>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69" name="文字方塊 168"/>
              <p:cNvSpPr txBox="1"/>
              <p:nvPr/>
            </p:nvSpPr>
            <p:spPr>
              <a:xfrm>
                <a:off x="9904652" y="4259376"/>
                <a:ext cx="398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169" name="文字方塊 168"/>
              <p:cNvSpPr txBox="1">
                <a:spLocks noRot="1" noChangeAspect="1" noMove="1" noResize="1" noEditPoints="1" noAdjustHandles="1" noChangeArrowheads="1" noChangeShapeType="1" noTextEdit="1"/>
              </p:cNvSpPr>
              <p:nvPr/>
            </p:nvSpPr>
            <p:spPr>
              <a:xfrm>
                <a:off x="9904652" y="4259376"/>
                <a:ext cx="398058" cy="369332"/>
              </a:xfrm>
              <a:prstGeom prst="rect">
                <a:avLst/>
              </a:prstGeom>
              <a:blipFill>
                <a:blip r:embed="rId14"/>
                <a:stretch>
                  <a:fillRect l="-18462" t="-18333" r="-47692" b="-26667"/>
                </a:stretch>
              </a:blipFill>
            </p:spPr>
            <p:txBody>
              <a:bodyPr/>
              <a:lstStyle/>
              <a:p>
                <a:r>
                  <a:rPr lang="en-IN">
                    <a:noFill/>
                  </a:rPr>
                  <a:t> </a:t>
                </a:r>
              </a:p>
            </p:txBody>
          </p:sp>
        </mc:Fallback>
      </mc:AlternateContent>
      <p:sp>
        <p:nvSpPr>
          <p:cNvPr id="170" name="左-右雙向箭號 169"/>
          <p:cNvSpPr/>
          <p:nvPr/>
        </p:nvSpPr>
        <p:spPr>
          <a:xfrm>
            <a:off x="9256679" y="4377748"/>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1" name="文字方塊 170"/>
              <p:cNvSpPr txBox="1"/>
              <p:nvPr/>
            </p:nvSpPr>
            <p:spPr>
              <a:xfrm>
                <a:off x="9398252" y="4572481"/>
                <a:ext cx="3190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171" name="文字方塊 170"/>
              <p:cNvSpPr txBox="1">
                <a:spLocks noRot="1" noChangeAspect="1" noMove="1" noResize="1" noEditPoints="1" noAdjustHandles="1" noChangeArrowheads="1" noChangeShapeType="1" noTextEdit="1"/>
              </p:cNvSpPr>
              <p:nvPr/>
            </p:nvSpPr>
            <p:spPr>
              <a:xfrm>
                <a:off x="9398252" y="4572481"/>
                <a:ext cx="319062" cy="369332"/>
              </a:xfrm>
              <a:prstGeom prst="rect">
                <a:avLst/>
              </a:prstGeom>
              <a:blipFill>
                <a:blip r:embed="rId15"/>
                <a:stretch>
                  <a:fillRect l="-23077" r="-9615" b="-6557"/>
                </a:stretch>
              </a:blipFill>
            </p:spPr>
            <p:txBody>
              <a:bodyPr/>
              <a:lstStyle/>
              <a:p>
                <a:r>
                  <a:rPr lang="en-IN">
                    <a:noFill/>
                  </a:rPr>
                  <a:t> </a:t>
                </a:r>
              </a:p>
            </p:txBody>
          </p:sp>
        </mc:Fallback>
      </mc:AlternateContent>
      <p:grpSp>
        <p:nvGrpSpPr>
          <p:cNvPr id="172" name="群組 171"/>
          <p:cNvGrpSpPr/>
          <p:nvPr/>
        </p:nvGrpSpPr>
        <p:grpSpPr>
          <a:xfrm>
            <a:off x="6695243" y="5038879"/>
            <a:ext cx="526106" cy="671513"/>
            <a:chOff x="458466" y="3417283"/>
            <a:chExt cx="526106" cy="671513"/>
          </a:xfrm>
        </p:grpSpPr>
        <p:sp>
          <p:nvSpPr>
            <p:cNvPr id="173" name="矩形 172"/>
            <p:cNvSpPr/>
            <p:nvPr/>
          </p:nvSpPr>
          <p:spPr>
            <a:xfrm>
              <a:off x="557212" y="3417283"/>
              <a:ext cx="271463" cy="67151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baseline="30000" dirty="0"/>
            </a:p>
          </p:txBody>
        </p:sp>
        <p:sp>
          <p:nvSpPr>
            <p:cNvPr id="174" name="矩形 173"/>
            <p:cNvSpPr/>
            <p:nvPr/>
          </p:nvSpPr>
          <p:spPr>
            <a:xfrm>
              <a:off x="458466" y="3522206"/>
              <a:ext cx="526106" cy="461665"/>
            </a:xfrm>
            <a:prstGeom prst="rect">
              <a:avLst/>
            </a:prstGeom>
          </p:spPr>
          <p:txBody>
            <a:bodyPr wrap="none">
              <a:spAutoFit/>
            </a:bodyPr>
            <a:lstStyle/>
            <a:p>
              <a:pPr algn="ctr"/>
              <a:r>
                <a:rPr lang="en-US" altLang="zh-TW" sz="2400" dirty="0"/>
                <a:t>x</a:t>
              </a:r>
              <a:r>
                <a:rPr lang="en-US" altLang="zh-TW" sz="2400" baseline="30000" dirty="0"/>
                <a:t>26</a:t>
              </a:r>
              <a:endParaRPr lang="zh-TW" altLang="en-US" sz="2400" baseline="30000" dirty="0"/>
            </a:p>
          </p:txBody>
        </p:sp>
      </p:grpSp>
      <p:sp>
        <p:nvSpPr>
          <p:cNvPr id="175" name="矩形 174"/>
          <p:cNvSpPr/>
          <p:nvPr/>
        </p:nvSpPr>
        <p:spPr>
          <a:xfrm>
            <a:off x="7547267" y="5033054"/>
            <a:ext cx="965905" cy="68315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NN</a:t>
            </a:r>
            <a:endParaRPr lang="zh-TW" altLang="en-US" sz="2400" dirty="0"/>
          </a:p>
        </p:txBody>
      </p:sp>
      <p:cxnSp>
        <p:nvCxnSpPr>
          <p:cNvPr id="176" name="直線單箭頭接點 175"/>
          <p:cNvCxnSpPr/>
          <p:nvPr/>
        </p:nvCxnSpPr>
        <p:spPr>
          <a:xfrm flipV="1">
            <a:off x="7112923" y="5374633"/>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p:nvPr/>
        </p:nvCxnSpPr>
        <p:spPr>
          <a:xfrm flipV="1">
            <a:off x="8513172" y="5369426"/>
            <a:ext cx="41709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8" name="群組 177"/>
          <p:cNvGrpSpPr/>
          <p:nvPr/>
        </p:nvGrpSpPr>
        <p:grpSpPr>
          <a:xfrm>
            <a:off x="8862550" y="5038879"/>
            <a:ext cx="532518" cy="671513"/>
            <a:chOff x="455261" y="3417283"/>
            <a:chExt cx="532518" cy="671513"/>
          </a:xfrm>
        </p:grpSpPr>
        <p:sp>
          <p:nvSpPr>
            <p:cNvPr id="179" name="矩形 178"/>
            <p:cNvSpPr/>
            <p:nvPr/>
          </p:nvSpPr>
          <p:spPr>
            <a:xfrm>
              <a:off x="557212" y="3417283"/>
              <a:ext cx="271463" cy="67151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2400" baseline="30000" dirty="0"/>
            </a:p>
          </p:txBody>
        </p:sp>
        <p:sp>
          <p:nvSpPr>
            <p:cNvPr id="180" name="矩形 179"/>
            <p:cNvSpPr/>
            <p:nvPr/>
          </p:nvSpPr>
          <p:spPr>
            <a:xfrm>
              <a:off x="455261" y="3522206"/>
              <a:ext cx="532518" cy="461665"/>
            </a:xfrm>
            <a:prstGeom prst="rect">
              <a:avLst/>
            </a:prstGeom>
          </p:spPr>
          <p:txBody>
            <a:bodyPr wrap="none">
              <a:spAutoFit/>
            </a:bodyPr>
            <a:lstStyle/>
            <a:p>
              <a:pPr algn="ctr"/>
              <a:r>
                <a:rPr lang="en-US" altLang="zh-TW" sz="2400" dirty="0"/>
                <a:t>y</a:t>
              </a:r>
              <a:r>
                <a:rPr lang="en-US" altLang="zh-TW" sz="2400" baseline="30000" dirty="0"/>
                <a:t>26</a:t>
              </a:r>
              <a:endParaRPr lang="zh-TW" altLang="en-US" sz="2400" baseline="30000" dirty="0"/>
            </a:p>
          </p:txBody>
        </p:sp>
      </p:grpSp>
      <p:sp>
        <p:nvSpPr>
          <p:cNvPr id="181" name="矩形 180"/>
          <p:cNvSpPr/>
          <p:nvPr/>
        </p:nvSpPr>
        <p:spPr>
          <a:xfrm>
            <a:off x="9932691" y="5038879"/>
            <a:ext cx="271463" cy="67151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baseline="30000" dirty="0"/>
          </a:p>
        </p:txBody>
      </p:sp>
      <mc:AlternateContent xmlns:mc="http://schemas.openxmlformats.org/markup-compatibility/2006" xmlns:a14="http://schemas.microsoft.com/office/drawing/2010/main">
        <mc:Choice Requires="a14">
          <p:sp>
            <p:nvSpPr>
              <p:cNvPr id="182" name="文字方塊 181"/>
              <p:cNvSpPr txBox="1"/>
              <p:nvPr/>
            </p:nvSpPr>
            <p:spPr>
              <a:xfrm>
                <a:off x="9932691" y="5200886"/>
                <a:ext cx="52790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26</m:t>
                          </m:r>
                        </m:sup>
                      </m:sSup>
                    </m:oMath>
                  </m:oMathPara>
                </a14:m>
                <a:endParaRPr lang="zh-TW" altLang="en-US" sz="2400" dirty="0"/>
              </a:p>
            </p:txBody>
          </p:sp>
        </mc:Choice>
        <mc:Fallback xmlns="">
          <p:sp>
            <p:nvSpPr>
              <p:cNvPr id="182" name="文字方塊 181"/>
              <p:cNvSpPr txBox="1">
                <a:spLocks noRot="1" noChangeAspect="1" noMove="1" noResize="1" noEditPoints="1" noAdjustHandles="1" noChangeArrowheads="1" noChangeShapeType="1" noTextEdit="1"/>
              </p:cNvSpPr>
              <p:nvPr/>
            </p:nvSpPr>
            <p:spPr>
              <a:xfrm>
                <a:off x="9932691" y="5200886"/>
                <a:ext cx="527901" cy="369332"/>
              </a:xfrm>
              <a:prstGeom prst="rect">
                <a:avLst/>
              </a:prstGeom>
              <a:blipFill>
                <a:blip r:embed="rId16"/>
                <a:stretch>
                  <a:fillRect l="-13793" t="-16393" r="-33333" b="-24590"/>
                </a:stretch>
              </a:blipFill>
            </p:spPr>
            <p:txBody>
              <a:bodyPr/>
              <a:lstStyle/>
              <a:p>
                <a:r>
                  <a:rPr lang="en-IN">
                    <a:noFill/>
                  </a:rPr>
                  <a:t> </a:t>
                </a:r>
              </a:p>
            </p:txBody>
          </p:sp>
        </mc:Fallback>
      </mc:AlternateContent>
      <p:sp>
        <p:nvSpPr>
          <p:cNvPr id="183" name="左-右雙向箭號 182"/>
          <p:cNvSpPr/>
          <p:nvPr/>
        </p:nvSpPr>
        <p:spPr>
          <a:xfrm>
            <a:off x="9268915" y="5304448"/>
            <a:ext cx="602650" cy="1810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4" name="文字方塊 183"/>
              <p:cNvSpPr txBox="1"/>
              <p:nvPr/>
            </p:nvSpPr>
            <p:spPr>
              <a:xfrm>
                <a:off x="9412205" y="5561496"/>
                <a:ext cx="4489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𝑙</m:t>
                          </m:r>
                        </m:e>
                        <m:sup>
                          <m:r>
                            <a:rPr lang="en-US" altLang="zh-TW" sz="2400" i="1">
                              <a:latin typeface="Cambria Math" panose="02040503050406030204" pitchFamily="18" charset="0"/>
                            </a:rPr>
                            <m:t>26</m:t>
                          </m:r>
                        </m:sup>
                      </m:sSup>
                    </m:oMath>
                  </m:oMathPara>
                </a14:m>
                <a:endParaRPr lang="zh-TW" altLang="en-US" sz="2400" dirty="0"/>
              </a:p>
            </p:txBody>
          </p:sp>
        </mc:Choice>
        <mc:Fallback xmlns="">
          <p:sp>
            <p:nvSpPr>
              <p:cNvPr id="184" name="文字方塊 183"/>
              <p:cNvSpPr txBox="1">
                <a:spLocks noRot="1" noChangeAspect="1" noMove="1" noResize="1" noEditPoints="1" noAdjustHandles="1" noChangeArrowheads="1" noChangeShapeType="1" noTextEdit="1"/>
              </p:cNvSpPr>
              <p:nvPr/>
            </p:nvSpPr>
            <p:spPr>
              <a:xfrm>
                <a:off x="9412205" y="5561496"/>
                <a:ext cx="448905" cy="369332"/>
              </a:xfrm>
              <a:prstGeom prst="rect">
                <a:avLst/>
              </a:prstGeom>
              <a:blipFill>
                <a:blip r:embed="rId17"/>
                <a:stretch>
                  <a:fillRect l="-16216" r="-5405" b="-6557"/>
                </a:stretch>
              </a:blipFill>
            </p:spPr>
            <p:txBody>
              <a:bodyPr/>
              <a:lstStyle/>
              <a:p>
                <a:r>
                  <a:rPr lang="en-IN">
                    <a:noFill/>
                  </a:rPr>
                  <a:t> </a:t>
                </a:r>
              </a:p>
            </p:txBody>
          </p:sp>
        </mc:Fallback>
      </mc:AlternateContent>
      <p:sp>
        <p:nvSpPr>
          <p:cNvPr id="185" name="文字方塊 184"/>
          <p:cNvSpPr txBox="1"/>
          <p:nvPr/>
        </p:nvSpPr>
        <p:spPr>
          <a:xfrm rot="16200000">
            <a:off x="5605887" y="2443747"/>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86" name="文字方塊 185"/>
          <p:cNvSpPr txBox="1"/>
          <p:nvPr/>
        </p:nvSpPr>
        <p:spPr>
          <a:xfrm rot="16200000">
            <a:off x="5597176" y="4914542"/>
            <a:ext cx="1677869" cy="461665"/>
          </a:xfrm>
          <a:prstGeom prst="rect">
            <a:avLst/>
          </a:prstGeom>
          <a:noFill/>
        </p:spPr>
        <p:txBody>
          <a:bodyPr wrap="square" rtlCol="0">
            <a:spAutoFit/>
          </a:bodyPr>
          <a:lstStyle/>
          <a:p>
            <a:pPr algn="ctr"/>
            <a:r>
              <a:rPr lang="en-US" altLang="zh-TW" sz="2400" dirty="0">
                <a:solidFill>
                  <a:srgbClr val="0000FF"/>
                </a:solidFill>
              </a:rPr>
              <a:t>Mini-batch</a:t>
            </a:r>
            <a:endParaRPr lang="zh-TW" altLang="en-US" sz="2400" dirty="0">
              <a:solidFill>
                <a:srgbClr val="0000FF"/>
              </a:solidFill>
            </a:endParaRPr>
          </a:p>
        </p:txBody>
      </p:sp>
      <p:sp>
        <p:nvSpPr>
          <p:cNvPr id="187" name="矩形 186"/>
          <p:cNvSpPr/>
          <p:nvPr/>
        </p:nvSpPr>
        <p:spPr>
          <a:xfrm>
            <a:off x="6694723" y="1502361"/>
            <a:ext cx="3718004"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8" name="矩形 187"/>
          <p:cNvSpPr/>
          <p:nvPr/>
        </p:nvSpPr>
        <p:spPr>
          <a:xfrm>
            <a:off x="6694723" y="3999463"/>
            <a:ext cx="3718004" cy="23100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9" name="矩形 188"/>
          <p:cNvSpPr/>
          <p:nvPr/>
        </p:nvSpPr>
        <p:spPr>
          <a:xfrm>
            <a:off x="7885177" y="949544"/>
            <a:ext cx="1337097" cy="523220"/>
          </a:xfrm>
          <a:prstGeom prst="rect">
            <a:avLst/>
          </a:prstGeom>
        </p:spPr>
        <p:txBody>
          <a:bodyPr wrap="none">
            <a:spAutoFit/>
          </a:bodyPr>
          <a:lstStyle/>
          <a:p>
            <a:pPr algn="ctr"/>
            <a:r>
              <a:rPr lang="en-US" altLang="zh-TW" sz="2800" b="1" i="1" u="sng" dirty="0"/>
              <a:t>Epoch 2</a:t>
            </a:r>
            <a:endParaRPr lang="zh-TW" altLang="en-US" sz="2800" b="1" i="1" u="sng" dirty="0"/>
          </a:p>
        </p:txBody>
      </p:sp>
    </p:spTree>
    <p:extLst>
      <p:ext uri="{BB962C8B-B14F-4D97-AF65-F5344CB8AC3E}">
        <p14:creationId xmlns:p14="http://schemas.microsoft.com/office/powerpoint/2010/main" val="42328045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3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3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3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3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3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4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4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44"/>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48"/>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4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5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5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5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5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5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61"/>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6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6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6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6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6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6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70"/>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71"/>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7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75"/>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76"/>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77"/>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7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8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8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8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8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8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86"/>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87"/>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8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4" grpId="0" animBg="1"/>
      <p:bldP spid="15" grpId="0"/>
      <p:bldP spid="16" grpId="0" animBg="1"/>
      <p:bldP spid="17" grpId="0"/>
      <p:bldP spid="21" grpId="0" animBg="1"/>
      <p:bldP spid="27" grpId="0" animBg="1"/>
      <p:bldP spid="28" grpId="0"/>
      <p:bldP spid="29" grpId="0" animBg="1"/>
      <p:bldP spid="30" grpId="0"/>
      <p:bldP spid="38" grpId="0" animBg="1"/>
      <p:bldP spid="39" grpId="0"/>
      <p:bldP spid="45" grpId="0" animBg="1"/>
      <p:bldP spid="46" grpId="0"/>
      <p:bldP spid="47" grpId="0" animBg="1"/>
      <p:bldP spid="48" grpId="0"/>
      <p:bldP spid="52" grpId="0" animBg="1"/>
      <p:bldP spid="58" grpId="0" animBg="1"/>
      <p:bldP spid="59" grpId="0"/>
      <p:bldP spid="60" grpId="0" animBg="1"/>
      <p:bldP spid="61" grpId="0"/>
      <p:bldP spid="62" grpId="0"/>
      <p:bldP spid="63" grpId="0"/>
      <p:bldP spid="64" grpId="0" animBg="1"/>
      <p:bldP spid="65" grpId="0" animBg="1"/>
      <p:bldP spid="67" grpId="0"/>
      <p:bldP spid="134" grpId="0" animBg="1"/>
      <p:bldP spid="135" grpId="0"/>
      <p:bldP spid="141" grpId="0" animBg="1"/>
      <p:bldP spid="142" grpId="0"/>
      <p:bldP spid="143" grpId="0" animBg="1"/>
      <p:bldP spid="144" grpId="0"/>
      <p:bldP spid="148" grpId="0" animBg="1"/>
      <p:bldP spid="154" grpId="0" animBg="1"/>
      <p:bldP spid="155" grpId="0"/>
      <p:bldP spid="156" grpId="0" animBg="1"/>
      <p:bldP spid="157" grpId="0"/>
      <p:bldP spid="161" grpId="0" animBg="1"/>
      <p:bldP spid="162" grpId="0"/>
      <p:bldP spid="168" grpId="0" animBg="1"/>
      <p:bldP spid="169" grpId="0"/>
      <p:bldP spid="170" grpId="0" animBg="1"/>
      <p:bldP spid="171" grpId="0"/>
      <p:bldP spid="175" grpId="0" animBg="1"/>
      <p:bldP spid="181" grpId="0" animBg="1"/>
      <p:bldP spid="182" grpId="0"/>
      <p:bldP spid="183" grpId="0" animBg="1"/>
      <p:bldP spid="184" grpId="0"/>
      <p:bldP spid="185" grpId="0"/>
      <p:bldP spid="186" grpId="0"/>
      <p:bldP spid="187" grpId="0" animBg="1"/>
      <p:bldP spid="188" grpId="0" animBg="1"/>
      <p:bldP spid="18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Gradient Descent</a:t>
            </a:r>
          </a:p>
        </p:txBody>
      </p:sp>
      <p:sp>
        <p:nvSpPr>
          <p:cNvPr id="3" name="Content Placeholder 2"/>
          <p:cNvSpPr>
            <a:spLocks noGrp="1"/>
          </p:cNvSpPr>
          <p:nvPr>
            <p:ph idx="1"/>
          </p:nvPr>
        </p:nvSpPr>
        <p:spPr/>
        <p:txBody>
          <a:bodyPr/>
          <a:lstStyle/>
          <a:p>
            <a:r>
              <a:rPr lang="en-US" dirty="0"/>
              <a:t>Besides the local minima problem, the GD algorithm can be very slow at </a:t>
            </a:r>
            <a:r>
              <a:rPr lang="en-US" dirty="0">
                <a:solidFill>
                  <a:srgbClr val="FF0000"/>
                </a:solidFill>
              </a:rPr>
              <a:t>plateaus</a:t>
            </a:r>
            <a:r>
              <a:rPr lang="en-US" dirty="0"/>
              <a:t>, and it can get stuck at </a:t>
            </a:r>
            <a:r>
              <a:rPr lang="en-US" dirty="0">
                <a:solidFill>
                  <a:srgbClr val="FF0000"/>
                </a:solidFill>
              </a:rPr>
              <a:t>saddle points</a:t>
            </a:r>
          </a:p>
        </p:txBody>
      </p:sp>
      <p:sp>
        <p:nvSpPr>
          <p:cNvPr id="15" name="Content Placeholder 14">
            <a:extLst>
              <a:ext uri="{FF2B5EF4-FFF2-40B4-BE49-F238E27FC236}">
                <a16:creationId xmlns:a16="http://schemas.microsoft.com/office/drawing/2014/main" id="{89168802-99B1-40EE-9CF4-948F7B8B4AA1}"/>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cxnSp>
        <p:nvCxnSpPr>
          <p:cNvPr id="4" name="直線接點 42"/>
          <p:cNvCxnSpPr/>
          <p:nvPr/>
        </p:nvCxnSpPr>
        <p:spPr>
          <a:xfrm>
            <a:off x="7812170" y="5545321"/>
            <a:ext cx="0" cy="64155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 name="橢圓 23"/>
          <p:cNvSpPr/>
          <p:nvPr/>
        </p:nvSpPr>
        <p:spPr>
          <a:xfrm>
            <a:off x="7520079" y="5266036"/>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cxnSp>
        <p:nvCxnSpPr>
          <p:cNvPr id="6" name="直線接點 41"/>
          <p:cNvCxnSpPr/>
          <p:nvPr/>
        </p:nvCxnSpPr>
        <p:spPr>
          <a:xfrm>
            <a:off x="6104595" y="4641952"/>
            <a:ext cx="0" cy="155524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 name="直線接點 40"/>
          <p:cNvCxnSpPr/>
          <p:nvPr/>
        </p:nvCxnSpPr>
        <p:spPr>
          <a:xfrm>
            <a:off x="4573829" y="4631627"/>
            <a:ext cx="0" cy="155524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 name="直線接點 6"/>
          <p:cNvCxnSpPr/>
          <p:nvPr/>
        </p:nvCxnSpPr>
        <p:spPr>
          <a:xfrm>
            <a:off x="3245424" y="3673198"/>
            <a:ext cx="0" cy="2541229"/>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 name="直線單箭頭接點 26"/>
          <p:cNvCxnSpPr/>
          <p:nvPr/>
        </p:nvCxnSpPr>
        <p:spPr>
          <a:xfrm>
            <a:off x="3340770" y="6186874"/>
            <a:ext cx="597333"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手繪多邊形 5"/>
          <p:cNvSpPr/>
          <p:nvPr/>
        </p:nvSpPr>
        <p:spPr>
          <a:xfrm>
            <a:off x="2626490" y="2742359"/>
            <a:ext cx="6983419" cy="371317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11" name="橢圓 8"/>
          <p:cNvSpPr/>
          <p:nvPr/>
        </p:nvSpPr>
        <p:spPr>
          <a:xfrm>
            <a:off x="5825311" y="4562630"/>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cxnSp>
        <p:nvCxnSpPr>
          <p:cNvPr id="12" name="直線單箭頭接點 4"/>
          <p:cNvCxnSpPr/>
          <p:nvPr/>
        </p:nvCxnSpPr>
        <p:spPr>
          <a:xfrm>
            <a:off x="2459166" y="6311914"/>
            <a:ext cx="743649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3"/>
          <p:cNvCxnSpPr/>
          <p:nvPr/>
        </p:nvCxnSpPr>
        <p:spPr>
          <a:xfrm flipV="1">
            <a:off x="2828194" y="2646936"/>
            <a:ext cx="0" cy="384953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字方塊 9"/>
              <p:cNvSpPr txBox="1"/>
              <p:nvPr/>
            </p:nvSpPr>
            <p:spPr>
              <a:xfrm>
                <a:off x="2819732" y="2467131"/>
                <a:ext cx="1378833" cy="418256"/>
              </a:xfrm>
              <a:prstGeom prst="rect">
                <a:avLst/>
              </a:prstGeom>
              <a:noFill/>
            </p:spPr>
            <p:txBody>
              <a:bodyPr wrap="square" rtlCol="0">
                <a:spAutoFit/>
              </a:bodyPr>
              <a:lstStyle/>
              <a:p>
                <a:pPr algn="ctr"/>
                <a:r>
                  <a:rPr lang="en-US" altLang="zh-TW" sz="2118" dirty="0"/>
                  <a:t>cost</a:t>
                </a:r>
                <a:r>
                  <a:rPr lang="en-US" altLang="zh-TW" sz="2118" dirty="0">
                    <a:ea typeface="Cambria Math" panose="02040503050406030204" pitchFamily="18" charset="0"/>
                  </a:rPr>
                  <a:t> </a:t>
                </a:r>
                <a14:m>
                  <m:oMath xmlns:m="http://schemas.openxmlformats.org/officeDocument/2006/math">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a14:m>
                <a:endParaRPr lang="zh-TW" altLang="en-US" sz="2118" dirty="0"/>
              </a:p>
            </p:txBody>
          </p:sp>
        </mc:Choice>
        <mc:Fallback xmlns="">
          <p:sp>
            <p:nvSpPr>
              <p:cNvPr id="14" name="文字方塊 9"/>
              <p:cNvSpPr txBox="1">
                <a:spLocks noRot="1" noChangeAspect="1" noMove="1" noResize="1" noEditPoints="1" noAdjustHandles="1" noChangeArrowheads="1" noChangeShapeType="1" noTextEdit="1"/>
              </p:cNvSpPr>
              <p:nvPr/>
            </p:nvSpPr>
            <p:spPr>
              <a:xfrm>
                <a:off x="2819732" y="2467131"/>
                <a:ext cx="1378833" cy="418256"/>
              </a:xfrm>
              <a:prstGeom prst="rect">
                <a:avLst/>
              </a:prstGeom>
              <a:blipFill>
                <a:blip r:embed="rId3"/>
                <a:stretch>
                  <a:fillRect l="-442" t="-10294" b="-27941"/>
                </a:stretch>
              </a:blipFill>
            </p:spPr>
            <p:txBody>
              <a:bodyPr/>
              <a:lstStyle/>
              <a:p>
                <a:r>
                  <a:rPr lang="en-IN">
                    <a:noFill/>
                  </a:rPr>
                  <a:t> </a:t>
                </a:r>
              </a:p>
            </p:txBody>
          </p:sp>
        </mc:Fallback>
      </mc:AlternateContent>
      <p:sp>
        <p:nvSpPr>
          <p:cNvPr id="16" name="文字方塊 10"/>
          <p:cNvSpPr txBox="1"/>
          <p:nvPr/>
        </p:nvSpPr>
        <p:spPr>
          <a:xfrm>
            <a:off x="3895400" y="3038902"/>
            <a:ext cx="2820394" cy="418256"/>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118" dirty="0"/>
              <a:t>Very slow at the plateau</a:t>
            </a:r>
            <a:endParaRPr lang="zh-TW" altLang="en-US" sz="2118" dirty="0"/>
          </a:p>
        </p:txBody>
      </p:sp>
      <p:sp>
        <p:nvSpPr>
          <p:cNvPr id="17" name="文字方塊 21"/>
          <p:cNvSpPr txBox="1"/>
          <p:nvPr/>
        </p:nvSpPr>
        <p:spPr>
          <a:xfrm>
            <a:off x="6532500" y="4199196"/>
            <a:ext cx="2943676" cy="418256"/>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118" dirty="0"/>
              <a:t>Stuck at a local minimum</a:t>
            </a:r>
            <a:endParaRPr lang="zh-TW" altLang="en-US" sz="2118" dirty="0"/>
          </a:p>
        </p:txBody>
      </p:sp>
      <p:sp>
        <p:nvSpPr>
          <p:cNvPr id="18" name="橢圓 20"/>
          <p:cNvSpPr/>
          <p:nvPr/>
        </p:nvSpPr>
        <p:spPr>
          <a:xfrm>
            <a:off x="2987074" y="3393912"/>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19" name="文字方塊 27"/>
              <p:cNvSpPr txBox="1"/>
              <p:nvPr/>
            </p:nvSpPr>
            <p:spPr>
              <a:xfrm>
                <a:off x="7996849" y="5811713"/>
                <a:ext cx="1479327" cy="41107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118" i="1">
                          <a:latin typeface="Cambria Math" panose="02040503050406030204" pitchFamily="18" charset="0"/>
                        </a:rPr>
                        <m:t>𝛻</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r>
                        <a:rPr lang="en-US" altLang="zh-TW" sz="2118" i="1">
                          <a:latin typeface="Cambria Math" panose="02040503050406030204" pitchFamily="18" charset="0"/>
                          <a:ea typeface="Cambria Math" panose="02040503050406030204" pitchFamily="18" charset="0"/>
                        </a:rPr>
                        <m:t>=0</m:t>
                      </m:r>
                    </m:oMath>
                  </m:oMathPara>
                </a14:m>
                <a:endParaRPr lang="zh-TW" altLang="en-US" sz="2118" baseline="-25000" dirty="0"/>
              </a:p>
            </p:txBody>
          </p:sp>
        </mc:Choice>
        <mc:Fallback xmlns="">
          <p:sp>
            <p:nvSpPr>
              <p:cNvPr id="19" name="文字方塊 27"/>
              <p:cNvSpPr txBox="1">
                <a:spLocks noRot="1" noChangeAspect="1" noMove="1" noResize="1" noEditPoints="1" noAdjustHandles="1" noChangeArrowheads="1" noChangeShapeType="1" noTextEdit="1"/>
              </p:cNvSpPr>
              <p:nvPr/>
            </p:nvSpPr>
            <p:spPr>
              <a:xfrm>
                <a:off x="7996849" y="5811713"/>
                <a:ext cx="1479327" cy="411075"/>
              </a:xfrm>
              <a:prstGeom prst="rect">
                <a:avLst/>
              </a:prstGeom>
              <a:blipFill>
                <a:blip r:embed="rId4"/>
                <a:stretch>
                  <a:fillRect/>
                </a:stretch>
              </a:blipFill>
            </p:spPr>
            <p:txBody>
              <a:bodyPr/>
              <a:lstStyle/>
              <a:p>
                <a:r>
                  <a:rPr lang="en-IN">
                    <a:noFill/>
                  </a:rPr>
                  <a:t> </a:t>
                </a:r>
              </a:p>
            </p:txBody>
          </p:sp>
        </mc:Fallback>
      </mc:AlternateContent>
      <p:sp>
        <p:nvSpPr>
          <p:cNvPr id="20" name="橢圓 29"/>
          <p:cNvSpPr/>
          <p:nvPr/>
        </p:nvSpPr>
        <p:spPr>
          <a:xfrm>
            <a:off x="4294544" y="4452162"/>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21" name="文字方塊 32"/>
          <p:cNvSpPr txBox="1"/>
          <p:nvPr/>
        </p:nvSpPr>
        <p:spPr>
          <a:xfrm>
            <a:off x="5524172" y="3580102"/>
            <a:ext cx="2820394" cy="41825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TW" sz="2118" dirty="0"/>
              <a:t>Stuck at a saddle point</a:t>
            </a:r>
            <a:endParaRPr lang="zh-TW" altLang="en-US" sz="2118" dirty="0"/>
          </a:p>
        </p:txBody>
      </p:sp>
      <p:cxnSp>
        <p:nvCxnSpPr>
          <p:cNvPr id="22" name="直線單箭頭接點 33"/>
          <p:cNvCxnSpPr>
            <a:cxnSpLocks/>
            <a:stCxn id="5" idx="0"/>
          </p:cNvCxnSpPr>
          <p:nvPr/>
        </p:nvCxnSpPr>
        <p:spPr>
          <a:xfrm flipV="1">
            <a:off x="7799364" y="4606547"/>
            <a:ext cx="12806" cy="65948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5"/>
          <p:cNvCxnSpPr>
            <a:cxnSpLocks/>
            <a:stCxn id="11" idx="0"/>
          </p:cNvCxnSpPr>
          <p:nvPr/>
        </p:nvCxnSpPr>
        <p:spPr>
          <a:xfrm flipH="1" flipV="1">
            <a:off x="6104595" y="3987454"/>
            <a:ext cx="1" cy="57517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36"/>
          <p:cNvCxnSpPr>
            <a:stCxn id="20" idx="0"/>
          </p:cNvCxnSpPr>
          <p:nvPr/>
        </p:nvCxnSpPr>
        <p:spPr>
          <a:xfrm flipV="1">
            <a:off x="4573829" y="3446253"/>
            <a:ext cx="20845" cy="100590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字方塊 25"/>
              <p:cNvSpPr txBox="1"/>
              <p:nvPr/>
            </p:nvSpPr>
            <p:spPr>
              <a:xfrm>
                <a:off x="5441113" y="5477414"/>
                <a:ext cx="1396616" cy="72981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118" i="1">
                          <a:latin typeface="Cambria Math" panose="02040503050406030204" pitchFamily="18" charset="0"/>
                        </a:rPr>
                        <m:t>𝛻</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r>
                        <a:rPr lang="en-US" altLang="zh-TW" sz="2118" i="1">
                          <a:latin typeface="Cambria Math" panose="02040503050406030204" pitchFamily="18" charset="0"/>
                          <a:ea typeface="Cambria Math" panose="02040503050406030204" pitchFamily="18" charset="0"/>
                        </a:rPr>
                        <m:t>=0</m:t>
                      </m:r>
                    </m:oMath>
                  </m:oMathPara>
                </a14:m>
                <a:endParaRPr lang="zh-TW" altLang="en-US" sz="2118" baseline="-25000" dirty="0"/>
              </a:p>
            </p:txBody>
          </p:sp>
        </mc:Choice>
        <mc:Fallback xmlns="">
          <p:sp>
            <p:nvSpPr>
              <p:cNvPr id="25" name="文字方塊 25"/>
              <p:cNvSpPr txBox="1">
                <a:spLocks noRot="1" noChangeAspect="1" noMove="1" noResize="1" noEditPoints="1" noAdjustHandles="1" noChangeArrowheads="1" noChangeShapeType="1" noTextEdit="1"/>
              </p:cNvSpPr>
              <p:nvPr/>
            </p:nvSpPr>
            <p:spPr>
              <a:xfrm>
                <a:off x="5441113" y="5477414"/>
                <a:ext cx="1396616" cy="72981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文字方塊 28"/>
              <p:cNvSpPr txBox="1"/>
              <p:nvPr/>
            </p:nvSpPr>
            <p:spPr>
              <a:xfrm>
                <a:off x="3730810" y="5490689"/>
                <a:ext cx="1480706" cy="41107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118" i="1">
                          <a:latin typeface="Cambria Math" panose="02040503050406030204" pitchFamily="18" charset="0"/>
                        </a:rPr>
                        <m:t>𝛻</m:t>
                      </m:r>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r>
                        <a:rPr lang="en-US" altLang="zh-TW" sz="2118" i="1">
                          <a:latin typeface="Cambria Math" panose="02040503050406030204" pitchFamily="18" charset="0"/>
                          <a:ea typeface="Cambria Math" panose="02040503050406030204" pitchFamily="18" charset="0"/>
                        </a:rPr>
                        <m:t>≈0</m:t>
                      </m:r>
                    </m:oMath>
                  </m:oMathPara>
                </a14:m>
                <a:endParaRPr lang="zh-TW" altLang="en-US" sz="2118" baseline="-25000" dirty="0"/>
              </a:p>
            </p:txBody>
          </p:sp>
        </mc:Choice>
        <mc:Fallback xmlns="">
          <p:sp>
            <p:nvSpPr>
              <p:cNvPr id="26" name="文字方塊 28"/>
              <p:cNvSpPr txBox="1">
                <a:spLocks noRot="1" noChangeAspect="1" noMove="1" noResize="1" noEditPoints="1" noAdjustHandles="1" noChangeArrowheads="1" noChangeShapeType="1" noTextEdit="1"/>
              </p:cNvSpPr>
              <p:nvPr/>
            </p:nvSpPr>
            <p:spPr>
              <a:xfrm>
                <a:off x="3730810" y="5490689"/>
                <a:ext cx="1480706" cy="411075"/>
              </a:xfrm>
              <a:prstGeom prst="rect">
                <a:avLst/>
              </a:prstGeom>
              <a:blipFill>
                <a:blip r:embed="rId6"/>
                <a:stretch>
                  <a:fillRect/>
                </a:stretch>
              </a:blipFill>
            </p:spPr>
            <p:txBody>
              <a:bodyPr/>
              <a:lstStyle/>
              <a:p>
                <a:r>
                  <a:rPr lang="en-IN">
                    <a:noFill/>
                  </a:rPr>
                  <a:t> </a:t>
                </a:r>
              </a:p>
            </p:txBody>
          </p:sp>
        </mc:Fallback>
      </mc:AlternateContent>
      <p:sp>
        <p:nvSpPr>
          <p:cNvPr id="27" name="橢圓 34"/>
          <p:cNvSpPr/>
          <p:nvPr/>
        </p:nvSpPr>
        <p:spPr>
          <a:xfrm>
            <a:off x="3150079" y="6216568"/>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28" name="橢圓 37"/>
          <p:cNvSpPr/>
          <p:nvPr/>
        </p:nvSpPr>
        <p:spPr>
          <a:xfrm>
            <a:off x="4484133" y="6211540"/>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29" name="橢圓 38"/>
          <p:cNvSpPr/>
          <p:nvPr/>
        </p:nvSpPr>
        <p:spPr>
          <a:xfrm>
            <a:off x="6009250" y="6189968"/>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p:sp>
        <p:nvSpPr>
          <p:cNvPr id="30" name="橢圓 39"/>
          <p:cNvSpPr/>
          <p:nvPr/>
        </p:nvSpPr>
        <p:spPr>
          <a:xfrm>
            <a:off x="7722114" y="6197200"/>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588"/>
          </a:p>
        </p:txBody>
      </p:sp>
      <mc:AlternateContent xmlns:mc="http://schemas.openxmlformats.org/markup-compatibility/2006" xmlns:a14="http://schemas.microsoft.com/office/drawing/2010/main">
        <mc:Choice Requires="a14">
          <p:sp>
            <p:nvSpPr>
              <p:cNvPr id="48" name="文字方塊 9"/>
              <p:cNvSpPr txBox="1"/>
              <p:nvPr/>
            </p:nvSpPr>
            <p:spPr>
              <a:xfrm>
                <a:off x="9716901" y="6262009"/>
                <a:ext cx="647703" cy="41825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TW" altLang="en-US" sz="2118" i="1">
                          <a:latin typeface="Cambria Math" panose="02040503050406030204" pitchFamily="18" charset="0"/>
                        </a:rPr>
                        <m:t>𝜃</m:t>
                      </m:r>
                    </m:oMath>
                  </m:oMathPara>
                </a14:m>
                <a:endParaRPr lang="zh-TW" altLang="en-US" sz="2118" dirty="0"/>
              </a:p>
            </p:txBody>
          </p:sp>
        </mc:Choice>
        <mc:Fallback xmlns="">
          <p:sp>
            <p:nvSpPr>
              <p:cNvPr id="48" name="文字方塊 9"/>
              <p:cNvSpPr txBox="1">
                <a:spLocks noRot="1" noChangeAspect="1" noMove="1" noResize="1" noEditPoints="1" noAdjustHandles="1" noChangeArrowheads="1" noChangeShapeType="1" noTextEdit="1"/>
              </p:cNvSpPr>
              <p:nvPr/>
            </p:nvSpPr>
            <p:spPr>
              <a:xfrm>
                <a:off x="9716901" y="6262009"/>
                <a:ext cx="647703" cy="418256"/>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61937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t="3841"/>
          <a:stretch/>
        </p:blipFill>
        <p:spPr>
          <a:xfrm>
            <a:off x="2220275" y="3429000"/>
            <a:ext cx="3812188" cy="2875794"/>
          </a:xfrm>
          <a:prstGeom prst="rect">
            <a:avLst/>
          </a:prstGeom>
        </p:spPr>
      </p:pic>
      <p:pic>
        <p:nvPicPr>
          <p:cNvPr id="5" name="Picture 4"/>
          <p:cNvPicPr>
            <a:picLocks noChangeAspect="1"/>
          </p:cNvPicPr>
          <p:nvPr/>
        </p:nvPicPr>
        <p:blipFill>
          <a:blip r:embed="rId4"/>
          <a:stretch>
            <a:fillRect/>
          </a:stretch>
        </p:blipFill>
        <p:spPr>
          <a:xfrm>
            <a:off x="6287420" y="3461717"/>
            <a:ext cx="3557232" cy="2826101"/>
          </a:xfrm>
          <a:prstGeom prst="rect">
            <a:avLst/>
          </a:prstGeom>
        </p:spPr>
      </p:pic>
      <p:sp>
        <p:nvSpPr>
          <p:cNvPr id="2" name="Title 1"/>
          <p:cNvSpPr>
            <a:spLocks noGrp="1"/>
          </p:cNvSpPr>
          <p:nvPr>
            <p:ph type="title"/>
          </p:nvPr>
        </p:nvSpPr>
        <p:spPr/>
        <p:txBody>
          <a:bodyPr/>
          <a:lstStyle/>
          <a:p>
            <a:r>
              <a:rPr lang="en-US" dirty="0"/>
              <a:t>Learning Rate</a:t>
            </a:r>
          </a:p>
        </p:txBody>
      </p:sp>
      <p:sp>
        <p:nvSpPr>
          <p:cNvPr id="3" name="Content Placeholder 2"/>
          <p:cNvSpPr>
            <a:spLocks noGrp="1"/>
          </p:cNvSpPr>
          <p:nvPr>
            <p:ph idx="1"/>
          </p:nvPr>
        </p:nvSpPr>
        <p:spPr/>
        <p:txBody>
          <a:bodyPr/>
          <a:lstStyle/>
          <a:p>
            <a:r>
              <a:rPr lang="en-US" b="1" i="1" dirty="0">
                <a:solidFill>
                  <a:srgbClr val="0070C0"/>
                </a:solidFill>
              </a:rPr>
              <a:t>Learning rate</a:t>
            </a:r>
          </a:p>
          <a:p>
            <a:pPr lvl="1"/>
            <a:r>
              <a:rPr lang="en-US" dirty="0"/>
              <a:t>The gradient tells us the direction in which the loss has the steepest rate of increase, but it does not tell us how far along the opposite direction we should step</a:t>
            </a:r>
          </a:p>
          <a:p>
            <a:pPr lvl="1"/>
            <a:r>
              <a:rPr lang="en-US" dirty="0"/>
              <a:t>Choosing the learning rate (also called the </a:t>
            </a:r>
            <a:r>
              <a:rPr lang="en-US" dirty="0">
                <a:solidFill>
                  <a:srgbClr val="FF0000"/>
                </a:solidFill>
              </a:rPr>
              <a:t>step size</a:t>
            </a:r>
            <a:r>
              <a:rPr lang="en-US" dirty="0"/>
              <a:t>) is one of the most important hyper-parameter settings for NN training</a:t>
            </a:r>
          </a:p>
        </p:txBody>
      </p:sp>
      <p:sp>
        <p:nvSpPr>
          <p:cNvPr id="8" name="Content Placeholder 7">
            <a:extLst>
              <a:ext uri="{FF2B5EF4-FFF2-40B4-BE49-F238E27FC236}">
                <a16:creationId xmlns:a16="http://schemas.microsoft.com/office/drawing/2014/main" id="{D47A4822-B148-44DB-8DA6-E7AEAC7D902A}"/>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sp>
        <p:nvSpPr>
          <p:cNvPr id="6" name="TextBox 5">
            <a:extLst>
              <a:ext uri="{FF2B5EF4-FFF2-40B4-BE49-F238E27FC236}">
                <a16:creationId xmlns:a16="http://schemas.microsoft.com/office/drawing/2014/main" id="{FE6C552D-F43D-4842-A9F2-ADB4BBFF731B}"/>
              </a:ext>
            </a:extLst>
          </p:cNvPr>
          <p:cNvSpPr txBox="1"/>
          <p:nvPr/>
        </p:nvSpPr>
        <p:spPr>
          <a:xfrm>
            <a:off x="1839056" y="4340123"/>
            <a:ext cx="635365" cy="744243"/>
          </a:xfrm>
          <a:prstGeom prst="rect">
            <a:avLst/>
          </a:prstGeom>
          <a:noFill/>
        </p:spPr>
        <p:txBody>
          <a:bodyPr wrap="square" rtlCol="0">
            <a:spAutoFit/>
          </a:bodyPr>
          <a:lstStyle/>
          <a:p>
            <a:r>
              <a:rPr lang="en-US" sz="1412" dirty="0"/>
              <a:t>LR too small</a:t>
            </a:r>
          </a:p>
        </p:txBody>
      </p:sp>
      <p:sp>
        <p:nvSpPr>
          <p:cNvPr id="7" name="TextBox 6">
            <a:extLst>
              <a:ext uri="{FF2B5EF4-FFF2-40B4-BE49-F238E27FC236}">
                <a16:creationId xmlns:a16="http://schemas.microsoft.com/office/drawing/2014/main" id="{E4FAA808-FCFD-4A83-A558-39E31C1E14BA}"/>
              </a:ext>
            </a:extLst>
          </p:cNvPr>
          <p:cNvSpPr txBox="1"/>
          <p:nvPr/>
        </p:nvSpPr>
        <p:spPr>
          <a:xfrm>
            <a:off x="9781115" y="4340123"/>
            <a:ext cx="635365" cy="744243"/>
          </a:xfrm>
          <a:prstGeom prst="rect">
            <a:avLst/>
          </a:prstGeom>
          <a:noFill/>
        </p:spPr>
        <p:txBody>
          <a:bodyPr wrap="square" rtlCol="0">
            <a:spAutoFit/>
          </a:bodyPr>
          <a:lstStyle/>
          <a:p>
            <a:r>
              <a:rPr lang="en-US" sz="1412" dirty="0"/>
              <a:t>LR too large</a:t>
            </a:r>
          </a:p>
        </p:txBody>
      </p:sp>
    </p:spTree>
    <p:extLst>
      <p:ext uri="{BB962C8B-B14F-4D97-AF65-F5344CB8AC3E}">
        <p14:creationId xmlns:p14="http://schemas.microsoft.com/office/powerpoint/2010/main" val="381327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Rate</a:t>
            </a:r>
          </a:p>
        </p:txBody>
      </p:sp>
      <p:sp>
        <p:nvSpPr>
          <p:cNvPr id="3" name="Content Placeholder 2"/>
          <p:cNvSpPr>
            <a:spLocks noGrp="1"/>
          </p:cNvSpPr>
          <p:nvPr>
            <p:ph idx="1"/>
          </p:nvPr>
        </p:nvSpPr>
        <p:spPr/>
        <p:txBody>
          <a:bodyPr/>
          <a:lstStyle/>
          <a:p>
            <a:r>
              <a:rPr lang="en-US" dirty="0"/>
              <a:t>Training loss for different learning rates</a:t>
            </a:r>
          </a:p>
          <a:p>
            <a:pPr lvl="1"/>
            <a:r>
              <a:rPr lang="en-US" dirty="0"/>
              <a:t>High learning rate: the loss increases or plateaus too quickly</a:t>
            </a:r>
          </a:p>
          <a:p>
            <a:pPr lvl="1"/>
            <a:r>
              <a:rPr lang="en-US" dirty="0"/>
              <a:t>Low learning rate: the loss decreases too slowly (takes many epochs to reach a solution)</a:t>
            </a:r>
          </a:p>
        </p:txBody>
      </p:sp>
      <p:sp>
        <p:nvSpPr>
          <p:cNvPr id="6" name="Content Placeholder 5">
            <a:extLst>
              <a:ext uri="{FF2B5EF4-FFF2-40B4-BE49-F238E27FC236}">
                <a16:creationId xmlns:a16="http://schemas.microsoft.com/office/drawing/2014/main" id="{84CAD958-CC6D-4CCE-9BB1-F7DE63DC892D}"/>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pic>
        <p:nvPicPr>
          <p:cNvPr id="4" name="Picture 3"/>
          <p:cNvPicPr>
            <a:picLocks noChangeAspect="1"/>
          </p:cNvPicPr>
          <p:nvPr/>
        </p:nvPicPr>
        <p:blipFill>
          <a:blip r:embed="rId2"/>
          <a:stretch>
            <a:fillRect/>
          </a:stretch>
        </p:blipFill>
        <p:spPr>
          <a:xfrm>
            <a:off x="4241997" y="3111318"/>
            <a:ext cx="3777897" cy="3254160"/>
          </a:xfrm>
          <a:prstGeom prst="rect">
            <a:avLst/>
          </a:prstGeom>
        </p:spPr>
      </p:pic>
      <p:sp>
        <p:nvSpPr>
          <p:cNvPr id="5" name="TextBox 4"/>
          <p:cNvSpPr txBox="1"/>
          <p:nvPr/>
        </p:nvSpPr>
        <p:spPr>
          <a:xfrm>
            <a:off x="2410885" y="6640746"/>
            <a:ext cx="7687913" cy="228076"/>
          </a:xfrm>
          <a:prstGeom prst="rect">
            <a:avLst/>
          </a:prstGeom>
          <a:noFill/>
        </p:spPr>
        <p:txBody>
          <a:bodyPr wrap="square" rtlCol="0">
            <a:spAutoFit/>
          </a:bodyPr>
          <a:lstStyle/>
          <a:p>
            <a:pPr algn="ctr"/>
            <a:r>
              <a:rPr lang="en-US" sz="882" dirty="0"/>
              <a:t>Picture from: </a:t>
            </a:r>
            <a:r>
              <a:rPr lang="en-US" sz="882" dirty="0">
                <a:hlinkClick r:id="rId3"/>
              </a:rPr>
              <a:t>https://cs231n.github.io/neural-networks-3/</a:t>
            </a:r>
            <a:endParaRPr lang="en-US" sz="882" dirty="0"/>
          </a:p>
        </p:txBody>
      </p:sp>
    </p:spTree>
    <p:extLst>
      <p:ext uri="{BB962C8B-B14F-4D97-AF65-F5344CB8AC3E}">
        <p14:creationId xmlns:p14="http://schemas.microsoft.com/office/powerpoint/2010/main" val="3363163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Learning Rate Scheduling</a:t>
            </a:r>
          </a:p>
        </p:txBody>
      </p:sp>
      <p:sp>
        <p:nvSpPr>
          <p:cNvPr id="3" name="Content Placeholder 2"/>
          <p:cNvSpPr>
            <a:spLocks noGrp="1"/>
          </p:cNvSpPr>
          <p:nvPr>
            <p:ph idx="1"/>
          </p:nvPr>
        </p:nvSpPr>
        <p:spPr/>
        <p:txBody>
          <a:bodyPr>
            <a:normAutofit/>
          </a:bodyPr>
          <a:lstStyle/>
          <a:p>
            <a:r>
              <a:rPr lang="en-US" b="1" i="1" dirty="0">
                <a:solidFill>
                  <a:srgbClr val="0070C0"/>
                </a:solidFill>
              </a:rPr>
              <a:t>Learning rate scheduling </a:t>
            </a:r>
            <a:r>
              <a:rPr lang="en-US" dirty="0"/>
              <a:t>is applied to change the values of the learning rate during the training</a:t>
            </a:r>
          </a:p>
          <a:p>
            <a:pPr lvl="1"/>
            <a:r>
              <a:rPr lang="en-US" b="1" i="1" dirty="0">
                <a:solidFill>
                  <a:srgbClr val="0070C0"/>
                </a:solidFill>
              </a:rPr>
              <a:t>Annealing</a:t>
            </a:r>
            <a:r>
              <a:rPr lang="en-US" dirty="0"/>
              <a:t> is reducing the learning rate over time (a.k.a. learning rate decay)</a:t>
            </a:r>
          </a:p>
          <a:p>
            <a:pPr lvl="2"/>
            <a:r>
              <a:rPr lang="en-US" dirty="0"/>
              <a:t>Approach 1: reduce the learning rate by some factor </a:t>
            </a:r>
            <a:r>
              <a:rPr lang="en-US" dirty="0">
                <a:solidFill>
                  <a:srgbClr val="FF0000"/>
                </a:solidFill>
              </a:rPr>
              <a:t>every few epochs</a:t>
            </a:r>
          </a:p>
          <a:p>
            <a:pPr lvl="3"/>
            <a:r>
              <a:rPr lang="en-US" dirty="0"/>
              <a:t>Typical values: reduce the learning rate by a half every 5 epochs, or divide by 10 every 20 epochs</a:t>
            </a:r>
          </a:p>
          <a:p>
            <a:pPr lvl="2"/>
            <a:r>
              <a:rPr lang="en-US" dirty="0"/>
              <a:t>Approach 2: </a:t>
            </a:r>
            <a:r>
              <a:rPr lang="en-US" dirty="0">
                <a:solidFill>
                  <a:srgbClr val="FF0000"/>
                </a:solidFill>
              </a:rPr>
              <a:t>exponential </a:t>
            </a:r>
            <a:r>
              <a:rPr lang="en-US" dirty="0"/>
              <a:t>or </a:t>
            </a:r>
            <a:r>
              <a:rPr lang="en-US" dirty="0">
                <a:solidFill>
                  <a:srgbClr val="FF0000"/>
                </a:solidFill>
              </a:rPr>
              <a:t>cosine decay </a:t>
            </a:r>
            <a:r>
              <a:rPr lang="en-US" dirty="0"/>
              <a:t>gradually</a:t>
            </a:r>
            <a:r>
              <a:rPr lang="en-US" dirty="0">
                <a:solidFill>
                  <a:srgbClr val="FF0000"/>
                </a:solidFill>
              </a:rPr>
              <a:t> </a:t>
            </a:r>
            <a:r>
              <a:rPr lang="en-US" dirty="0"/>
              <a:t>reduce the learning rate over time</a:t>
            </a:r>
          </a:p>
          <a:p>
            <a:pPr lvl="2"/>
            <a:r>
              <a:rPr lang="en-US" dirty="0"/>
              <a:t>Approach 3: reduce the learning rate by a constant (e.g., by half) whenever the </a:t>
            </a:r>
            <a:r>
              <a:rPr lang="en-US" dirty="0">
                <a:solidFill>
                  <a:srgbClr val="FF0000"/>
                </a:solidFill>
              </a:rPr>
              <a:t>validation loss stops improving</a:t>
            </a:r>
            <a:r>
              <a:rPr lang="en-US" dirty="0"/>
              <a:t> </a:t>
            </a:r>
          </a:p>
          <a:p>
            <a:pPr lvl="3"/>
            <a:r>
              <a:rPr lang="en-US" dirty="0"/>
              <a:t>In </a:t>
            </a:r>
            <a:r>
              <a:rPr lang="en-US" dirty="0" err="1"/>
              <a:t>TensorFlow</a:t>
            </a:r>
            <a:r>
              <a:rPr lang="en-US" dirty="0"/>
              <a:t>: </a:t>
            </a:r>
            <a:r>
              <a:rPr lang="en-US" dirty="0" err="1"/>
              <a:t>tf.keras.callbacks.ReduceLROnPleateau</a:t>
            </a:r>
            <a:r>
              <a:rPr lang="en-US" dirty="0"/>
              <a:t>()</a:t>
            </a:r>
          </a:p>
          <a:p>
            <a:pPr lvl="4"/>
            <a:r>
              <a:rPr lang="en-US" dirty="0"/>
              <a:t>Monitor: validation loss, factor: 0.1 (i.e., divide by 10), patience: 10 (how many epochs to wait before applying it), Minimum learning rate: 1e-6 (when to stop)</a:t>
            </a:r>
          </a:p>
          <a:p>
            <a:pPr lvl="1"/>
            <a:r>
              <a:rPr lang="en-US" b="1" i="1" dirty="0">
                <a:solidFill>
                  <a:srgbClr val="0070C0"/>
                </a:solidFill>
              </a:rPr>
              <a:t>Warmup</a:t>
            </a:r>
            <a:r>
              <a:rPr lang="en-US" dirty="0"/>
              <a:t> is gradually increasing the learning rate initially, and afterward let it cool down until the end of the training</a:t>
            </a:r>
          </a:p>
          <a:p>
            <a:pPr lvl="2"/>
            <a:endParaRPr lang="en-US" dirty="0"/>
          </a:p>
          <a:p>
            <a:endParaRPr lang="en-US" dirty="0"/>
          </a:p>
        </p:txBody>
      </p:sp>
      <p:sp>
        <p:nvSpPr>
          <p:cNvPr id="4" name="Content Placeholder 3">
            <a:extLst>
              <a:ext uri="{FF2B5EF4-FFF2-40B4-BE49-F238E27FC236}">
                <a16:creationId xmlns:a16="http://schemas.microsoft.com/office/drawing/2014/main" id="{F3091F55-24C8-4516-949D-6431ACFACDC6}"/>
              </a:ext>
            </a:extLst>
          </p:cNvPr>
          <p:cNvSpPr>
            <a:spLocks noGrp="1"/>
          </p:cNvSpPr>
          <p:nvPr>
            <p:ph idx="4294967295"/>
          </p:nvPr>
        </p:nvSpPr>
        <p:spPr>
          <a:xfrm>
            <a:off x="335362" y="1332297"/>
            <a:ext cx="7506287" cy="309082"/>
          </a:xfrm>
        </p:spPr>
        <p:txBody>
          <a:bodyPr>
            <a:normAutofit fontScale="70000" lnSpcReduction="20000"/>
          </a:bodyPr>
          <a:lstStyle/>
          <a:p>
            <a:r>
              <a:rPr lang="en-US" dirty="0"/>
              <a:t>Training Neural Networks</a:t>
            </a:r>
          </a:p>
          <a:p>
            <a:endParaRPr lang="en-US" dirty="0"/>
          </a:p>
        </p:txBody>
      </p:sp>
      <p:sp>
        <p:nvSpPr>
          <p:cNvPr id="6" name="AutoShape 4" descr="../_images/output_lr-scheduler_1dfeb6_65_0.svg"/>
          <p:cNvSpPr>
            <a:spLocks noChangeAspect="1" noChangeArrowheads="1"/>
          </p:cNvSpPr>
          <p:nvPr/>
        </p:nvSpPr>
        <p:spPr bwMode="auto">
          <a:xfrm>
            <a:off x="758936" y="5119916"/>
            <a:ext cx="1461083" cy="14610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0682" tIns="40341" rIns="80682" bIns="40341" numCol="1" anchor="t" anchorCtr="0" compatLnSpc="1">
            <a:prstTxWarp prst="textNoShape">
              <a:avLst/>
            </a:prstTxWarp>
          </a:bodyPr>
          <a:lstStyle/>
          <a:p>
            <a:endParaRPr lang="en-US" sz="1588"/>
          </a:p>
        </p:txBody>
      </p:sp>
      <p:pic>
        <p:nvPicPr>
          <p:cNvPr id="7" name="Picture 6"/>
          <p:cNvPicPr>
            <a:picLocks noChangeAspect="1"/>
          </p:cNvPicPr>
          <p:nvPr/>
        </p:nvPicPr>
        <p:blipFill>
          <a:blip r:embed="rId3"/>
          <a:stretch>
            <a:fillRect/>
          </a:stretch>
        </p:blipFill>
        <p:spPr>
          <a:xfrm>
            <a:off x="2855640" y="5342185"/>
            <a:ext cx="2089942" cy="1487169"/>
          </a:xfrm>
          <a:prstGeom prst="rect">
            <a:avLst/>
          </a:prstGeom>
        </p:spPr>
      </p:pic>
      <p:pic>
        <p:nvPicPr>
          <p:cNvPr id="8" name="Picture 7"/>
          <p:cNvPicPr>
            <a:picLocks noChangeAspect="1"/>
          </p:cNvPicPr>
          <p:nvPr/>
        </p:nvPicPr>
        <p:blipFill>
          <a:blip r:embed="rId4"/>
          <a:stretch>
            <a:fillRect/>
          </a:stretch>
        </p:blipFill>
        <p:spPr>
          <a:xfrm>
            <a:off x="5502965" y="5358868"/>
            <a:ext cx="1990838" cy="1437565"/>
          </a:xfrm>
          <a:prstGeom prst="rect">
            <a:avLst/>
          </a:prstGeom>
        </p:spPr>
      </p:pic>
      <p:pic>
        <p:nvPicPr>
          <p:cNvPr id="9" name="Picture 8"/>
          <p:cNvPicPr>
            <a:picLocks noChangeAspect="1"/>
          </p:cNvPicPr>
          <p:nvPr/>
        </p:nvPicPr>
        <p:blipFill>
          <a:blip r:embed="rId5"/>
          <a:stretch>
            <a:fillRect/>
          </a:stretch>
        </p:blipFill>
        <p:spPr>
          <a:xfrm>
            <a:off x="7797039" y="5398631"/>
            <a:ext cx="1989785" cy="1413795"/>
          </a:xfrm>
          <a:prstGeom prst="rect">
            <a:avLst/>
          </a:prstGeom>
        </p:spPr>
      </p:pic>
      <p:sp>
        <p:nvSpPr>
          <p:cNvPr id="10" name="TextBox 9"/>
          <p:cNvSpPr txBox="1"/>
          <p:nvPr/>
        </p:nvSpPr>
        <p:spPr>
          <a:xfrm>
            <a:off x="3046250" y="5108484"/>
            <a:ext cx="1779021" cy="282385"/>
          </a:xfrm>
          <a:prstGeom prst="rect">
            <a:avLst/>
          </a:prstGeom>
          <a:noFill/>
        </p:spPr>
        <p:txBody>
          <a:bodyPr wrap="square" rtlCol="0">
            <a:spAutoFit/>
          </a:bodyPr>
          <a:lstStyle/>
          <a:p>
            <a:pPr algn="ctr"/>
            <a:r>
              <a:rPr lang="en-US" sz="1235" dirty="0"/>
              <a:t>Exponential decay</a:t>
            </a:r>
          </a:p>
        </p:txBody>
      </p:sp>
      <p:sp>
        <p:nvSpPr>
          <p:cNvPr id="11" name="TextBox 10"/>
          <p:cNvSpPr txBox="1"/>
          <p:nvPr/>
        </p:nvSpPr>
        <p:spPr>
          <a:xfrm>
            <a:off x="5617247" y="5119916"/>
            <a:ext cx="1779021" cy="282385"/>
          </a:xfrm>
          <a:prstGeom prst="rect">
            <a:avLst/>
          </a:prstGeom>
          <a:noFill/>
        </p:spPr>
        <p:txBody>
          <a:bodyPr wrap="square" rtlCol="0">
            <a:spAutoFit/>
          </a:bodyPr>
          <a:lstStyle/>
          <a:p>
            <a:pPr algn="ctr"/>
            <a:r>
              <a:rPr lang="en-US" sz="1235" dirty="0"/>
              <a:t>Cosine decay</a:t>
            </a:r>
          </a:p>
        </p:txBody>
      </p:sp>
      <p:sp>
        <p:nvSpPr>
          <p:cNvPr id="12" name="TextBox 11"/>
          <p:cNvSpPr txBox="1"/>
          <p:nvPr/>
        </p:nvSpPr>
        <p:spPr>
          <a:xfrm>
            <a:off x="7938558" y="5144485"/>
            <a:ext cx="1779021" cy="282385"/>
          </a:xfrm>
          <a:prstGeom prst="rect">
            <a:avLst/>
          </a:prstGeom>
          <a:noFill/>
        </p:spPr>
        <p:txBody>
          <a:bodyPr wrap="square" rtlCol="0">
            <a:spAutoFit/>
          </a:bodyPr>
          <a:lstStyle/>
          <a:p>
            <a:pPr algn="ctr"/>
            <a:r>
              <a:rPr lang="en-US" sz="1235" dirty="0"/>
              <a:t>Warmup</a:t>
            </a:r>
          </a:p>
        </p:txBody>
      </p:sp>
    </p:spTree>
    <p:extLst>
      <p:ext uri="{BB962C8B-B14F-4D97-AF65-F5344CB8AC3E}">
        <p14:creationId xmlns:p14="http://schemas.microsoft.com/office/powerpoint/2010/main" val="128142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1902594" y="1844827"/>
            <a:ext cx="4439073" cy="4736177"/>
          </a:xfrm>
        </p:spPr>
        <p:txBody>
          <a:bodyPr/>
          <a:lstStyle/>
          <a:p>
            <a:r>
              <a:rPr lang="en-US" b="1" i="1" dirty="0" err="1">
                <a:solidFill>
                  <a:srgbClr val="0070C0"/>
                </a:solidFill>
              </a:rPr>
              <a:t>Underfitting</a:t>
            </a:r>
            <a:endParaRPr lang="en-US" dirty="0"/>
          </a:p>
          <a:p>
            <a:pPr lvl="1"/>
            <a:r>
              <a:rPr lang="en-US" dirty="0"/>
              <a:t>The model is too “simple” to represent all the relevant class characteristics</a:t>
            </a:r>
          </a:p>
          <a:p>
            <a:pPr lvl="1"/>
            <a:r>
              <a:rPr lang="en-US" dirty="0"/>
              <a:t>E.g., model with too few parameters</a:t>
            </a:r>
          </a:p>
          <a:p>
            <a:pPr lvl="1"/>
            <a:r>
              <a:rPr lang="en-US" dirty="0"/>
              <a:t>Produces high error on the training set and high error on the validation set</a:t>
            </a:r>
          </a:p>
          <a:p>
            <a:endParaRPr lang="en-US" b="1" i="1" dirty="0">
              <a:solidFill>
                <a:srgbClr val="0070C0"/>
              </a:solidFill>
            </a:endParaRPr>
          </a:p>
          <a:p>
            <a:endParaRPr lang="en-US" b="1" i="1" dirty="0">
              <a:solidFill>
                <a:srgbClr val="0070C0"/>
              </a:solidFill>
            </a:endParaRPr>
          </a:p>
          <a:p>
            <a:r>
              <a:rPr lang="en-US" b="1" i="1" dirty="0">
                <a:solidFill>
                  <a:srgbClr val="0070C0"/>
                </a:solidFill>
              </a:rPr>
              <a:t>Overfitting</a:t>
            </a:r>
          </a:p>
          <a:p>
            <a:pPr lvl="1"/>
            <a:r>
              <a:rPr lang="en-US" dirty="0"/>
              <a:t>The model is too “complex” and fits irrelevant characteristics (noise) in the data</a:t>
            </a:r>
          </a:p>
          <a:p>
            <a:pPr lvl="1"/>
            <a:r>
              <a:rPr lang="en-US" dirty="0"/>
              <a:t>E.g., model with too many parameters</a:t>
            </a:r>
          </a:p>
          <a:p>
            <a:pPr lvl="1"/>
            <a:r>
              <a:rPr lang="en-US" dirty="0"/>
              <a:t>Produces low error on the training error and high error on the validation set</a:t>
            </a:r>
          </a:p>
          <a:p>
            <a:endParaRPr lang="en-US" dirty="0"/>
          </a:p>
        </p:txBody>
      </p:sp>
      <p:sp>
        <p:nvSpPr>
          <p:cNvPr id="6" name="Content Placeholder 5">
            <a:extLst>
              <a:ext uri="{FF2B5EF4-FFF2-40B4-BE49-F238E27FC236}">
                <a16:creationId xmlns:a16="http://schemas.microsoft.com/office/drawing/2014/main" id="{B07FBA42-F4FA-48B9-8C14-533E6DE702ED}"/>
              </a:ext>
            </a:extLst>
          </p:cNvPr>
          <p:cNvSpPr>
            <a:spLocks noGrp="1"/>
          </p:cNvSpPr>
          <p:nvPr>
            <p:ph idx="4294967295"/>
          </p:nvPr>
        </p:nvSpPr>
        <p:spPr>
          <a:xfrm>
            <a:off x="335362" y="1332297"/>
            <a:ext cx="7506287" cy="309082"/>
          </a:xfrm>
        </p:spPr>
        <p:txBody>
          <a:bodyPr>
            <a:normAutofit fontScale="62500" lnSpcReduction="20000"/>
          </a:bodyPr>
          <a:lstStyle/>
          <a:p>
            <a:r>
              <a:rPr lang="en-US" dirty="0"/>
              <a:t>Generalization</a:t>
            </a:r>
          </a:p>
        </p:txBody>
      </p:sp>
      <p:pic>
        <p:nvPicPr>
          <p:cNvPr id="10" name="Picture 2" descr="Techniques for handling underfitting and overfitting in Machine Learning |  by Manpreet Singh Minhas | Towards Data Science"/>
          <p:cNvPicPr>
            <a:picLocks noChangeAspect="1" noChangeArrowheads="1"/>
          </p:cNvPicPr>
          <p:nvPr/>
        </p:nvPicPr>
        <p:blipFill rotWithShape="1">
          <a:blip r:embed="rId2">
            <a:extLst>
              <a:ext uri="{28A0092B-C50C-407E-A947-70E740481C1C}">
                <a14:useLocalDpi xmlns:a14="http://schemas.microsoft.com/office/drawing/2010/main" val="0"/>
              </a:ext>
            </a:extLst>
          </a:blip>
          <a:srcRect l="74733" t="38327" b="31597"/>
          <a:stretch/>
        </p:blipFill>
        <p:spPr bwMode="auto">
          <a:xfrm>
            <a:off x="6540756" y="4458019"/>
            <a:ext cx="1884788" cy="177739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 name="Picture 2" descr="Techniques for handling underfitting and overfitting in Machine Learning |  by Manpreet Singh Minhas | Towards Data Science"/>
          <p:cNvPicPr>
            <a:picLocks noChangeAspect="1" noChangeArrowheads="1"/>
          </p:cNvPicPr>
          <p:nvPr/>
        </p:nvPicPr>
        <p:blipFill rotWithShape="1">
          <a:blip r:embed="rId2">
            <a:extLst>
              <a:ext uri="{28A0092B-C50C-407E-A947-70E740481C1C}">
                <a14:useLocalDpi xmlns:a14="http://schemas.microsoft.com/office/drawing/2010/main" val="0"/>
              </a:ext>
            </a:extLst>
          </a:blip>
          <a:srcRect l="75816" t="69720"/>
          <a:stretch/>
        </p:blipFill>
        <p:spPr bwMode="auto">
          <a:xfrm>
            <a:off x="8624632" y="4458019"/>
            <a:ext cx="1791848" cy="17773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Techniques for handling underfitting and overfitting in Machine Learning |  by Manpreet Singh Minhas | Towards Data Science"/>
          <p:cNvPicPr>
            <a:picLocks noChangeAspect="1" noChangeArrowheads="1"/>
          </p:cNvPicPr>
          <p:nvPr/>
        </p:nvPicPr>
        <p:blipFill rotWithShape="1">
          <a:blip r:embed="rId2">
            <a:extLst>
              <a:ext uri="{28A0092B-C50C-407E-A947-70E740481C1C}">
                <a14:useLocalDpi xmlns:a14="http://schemas.microsoft.com/office/drawing/2010/main" val="0"/>
              </a:ext>
            </a:extLst>
          </a:blip>
          <a:srcRect l="20578" t="69722" r="54512" b="202"/>
          <a:stretch/>
        </p:blipFill>
        <p:spPr bwMode="auto">
          <a:xfrm>
            <a:off x="8425544" y="2074256"/>
            <a:ext cx="1927400" cy="18436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Techniques for handling underfitting and overfitting in Machine Learning |  by Manpreet Singh Minhas | Towards Data Science"/>
          <p:cNvPicPr>
            <a:picLocks noChangeAspect="1" noChangeArrowheads="1"/>
          </p:cNvPicPr>
          <p:nvPr/>
        </p:nvPicPr>
        <p:blipFill rotWithShape="1">
          <a:blip r:embed="rId2">
            <a:extLst>
              <a:ext uri="{28A0092B-C50C-407E-A947-70E740481C1C}">
                <a14:useLocalDpi xmlns:a14="http://schemas.microsoft.com/office/drawing/2010/main" val="0"/>
              </a:ext>
            </a:extLst>
          </a:blip>
          <a:srcRect l="20578" t="38582" r="54863" b="31567"/>
          <a:stretch/>
        </p:blipFill>
        <p:spPr bwMode="auto">
          <a:xfrm>
            <a:off x="6540755" y="2073325"/>
            <a:ext cx="1842558" cy="177431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304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8471" y="404666"/>
            <a:ext cx="8875059" cy="926976"/>
          </a:xfrm>
        </p:spPr>
        <p:txBody>
          <a:bodyPr>
            <a:normAutofit/>
          </a:bodyPr>
          <a:lstStyle/>
          <a:p>
            <a:r>
              <a:rPr lang="en-US" dirty="0"/>
              <a:t>Overfitting</a:t>
            </a:r>
          </a:p>
        </p:txBody>
      </p:sp>
      <p:sp>
        <p:nvSpPr>
          <p:cNvPr id="3" name="Content Placeholder 2"/>
          <p:cNvSpPr>
            <a:spLocks noGrp="1"/>
          </p:cNvSpPr>
          <p:nvPr>
            <p:ph idx="1"/>
          </p:nvPr>
        </p:nvSpPr>
        <p:spPr>
          <a:xfrm>
            <a:off x="1902594" y="1844827"/>
            <a:ext cx="8456704" cy="4736177"/>
          </a:xfrm>
        </p:spPr>
        <p:txBody>
          <a:bodyPr/>
          <a:lstStyle/>
          <a:p>
            <a:r>
              <a:rPr lang="en-US" dirty="0"/>
              <a:t>Overfitting – a model with high capacity fits the noise in the data instead of the underlying relationship</a:t>
            </a:r>
          </a:p>
          <a:p>
            <a:endParaRPr lang="en-US" dirty="0"/>
          </a:p>
          <a:p>
            <a:endParaRPr lang="en-US" dirty="0"/>
          </a:p>
          <a:p>
            <a:endParaRPr lang="en-US" dirty="0"/>
          </a:p>
        </p:txBody>
      </p:sp>
      <p:sp>
        <p:nvSpPr>
          <p:cNvPr id="8" name="Content Placeholder 7">
            <a:extLst>
              <a:ext uri="{FF2B5EF4-FFF2-40B4-BE49-F238E27FC236}">
                <a16:creationId xmlns:a16="http://schemas.microsoft.com/office/drawing/2014/main" id="{31262A09-6F66-4DFB-9B20-03A632E4F017}"/>
              </a:ext>
            </a:extLst>
          </p:cNvPr>
          <p:cNvSpPr>
            <a:spLocks noGrp="1"/>
          </p:cNvSpPr>
          <p:nvPr>
            <p:ph idx="4294967295"/>
          </p:nvPr>
        </p:nvSpPr>
        <p:spPr>
          <a:xfrm>
            <a:off x="1902594" y="1332297"/>
            <a:ext cx="5464136" cy="309082"/>
          </a:xfrm>
        </p:spPr>
        <p:txBody>
          <a:bodyPr>
            <a:normAutofit fontScale="62500" lnSpcReduction="20000"/>
          </a:bodyPr>
          <a:lstStyle/>
          <a:p>
            <a:r>
              <a:rPr lang="en-US" dirty="0"/>
              <a:t>Generalization</a:t>
            </a:r>
          </a:p>
        </p:txBody>
      </p:sp>
      <p:pic>
        <p:nvPicPr>
          <p:cNvPr id="6" name="Εικόνα 12">
            <a:extLst>
              <a:ext uri="{FF2B5EF4-FFF2-40B4-BE49-F238E27FC236}">
                <a16:creationId xmlns:a16="http://schemas.microsoft.com/office/drawing/2014/main" id="{E2DFE7DF-857A-4E01-8815-C42087CD35E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444377" y="2591077"/>
            <a:ext cx="4748328" cy="1918044"/>
          </a:xfrm>
          <a:prstGeom prst="rect">
            <a:avLst/>
          </a:prstGeom>
        </p:spPr>
      </p:pic>
      <p:sp>
        <p:nvSpPr>
          <p:cNvPr id="7" name="Content Placeholder 2">
            <a:extLst>
              <a:ext uri="{FF2B5EF4-FFF2-40B4-BE49-F238E27FC236}">
                <a16:creationId xmlns:a16="http://schemas.microsoft.com/office/drawing/2014/main" id="{D0D8AFCC-962C-4D15-B94B-21027735CBA4}"/>
              </a:ext>
            </a:extLst>
          </p:cNvPr>
          <p:cNvSpPr txBox="1">
            <a:spLocks/>
          </p:cNvSpPr>
          <p:nvPr/>
        </p:nvSpPr>
        <p:spPr>
          <a:xfrm>
            <a:off x="1902594" y="4953876"/>
            <a:ext cx="4447552" cy="1270729"/>
          </a:xfrm>
          <a:prstGeom prst="rect">
            <a:avLst/>
          </a:prstGeom>
        </p:spPr>
        <p:txBody>
          <a:bodyPr vert="horz" lIns="80682" tIns="40341" rIns="80682" bIns="40341" rtlCol="0">
            <a:normAutofit/>
          </a:bodyPr>
          <a:lstStyle>
            <a:lvl1pPr marL="342871" indent="-342871" algn="l" defTabSz="914323" rtl="0" eaLnBrk="1" latinLnBrk="0" hangingPunct="1">
              <a:spcBef>
                <a:spcPct val="200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1pPr>
            <a:lvl2pPr marL="693680" indent="-236518" algn="l" defTabSz="914323" rtl="0" eaLnBrk="1" latinLnBrk="0" hangingPunct="1">
              <a:spcBef>
                <a:spcPct val="20000"/>
              </a:spcBef>
              <a:buFont typeface="Arial" panose="020B0604020202020204" pitchFamily="34" charset="0"/>
              <a:buChar char="–"/>
              <a:defRPr sz="2200" kern="1200">
                <a:solidFill>
                  <a:schemeClr val="tx1"/>
                </a:solidFill>
                <a:latin typeface="Palatino Linotype" panose="02040502050505030304" pitchFamily="18" charset="0"/>
                <a:ea typeface="+mn-ea"/>
                <a:cs typeface="+mn-cs"/>
              </a:defRPr>
            </a:lvl2pPr>
            <a:lvl3pPr marL="1257195" indent="-342871" algn="l" defTabSz="914323" rtl="0" eaLnBrk="1" latinLnBrk="0" hangingPunct="1">
              <a:spcBef>
                <a:spcPct val="20000"/>
              </a:spcBef>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3pPr>
            <a:lvl4pPr marL="1600066" indent="-228581" algn="l" defTabSz="914323" rtl="0" eaLnBrk="1" latinLnBrk="0" hangingPunct="1">
              <a:spcBef>
                <a:spcPct val="200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227" indent="-228581" algn="l" defTabSz="914323" rtl="0" eaLnBrk="1" latinLnBrk="0" hangingPunct="1">
              <a:spcBef>
                <a:spcPct val="20000"/>
              </a:spcBef>
              <a:buFont typeface="Arial" panose="020B0604020202020204" pitchFamily="34" charset="0"/>
              <a:buChar char="»"/>
              <a:defRPr sz="16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765" dirty="0"/>
              <a:t>The model may fit the training data very well, but fails to </a:t>
            </a:r>
            <a:r>
              <a:rPr lang="en-US" sz="1765" dirty="0">
                <a:solidFill>
                  <a:srgbClr val="FF0000"/>
                </a:solidFill>
              </a:rPr>
              <a:t>generalize</a:t>
            </a:r>
            <a:r>
              <a:rPr lang="en-US" sz="1765" dirty="0"/>
              <a:t> to new examples (test or validation data)</a:t>
            </a:r>
          </a:p>
          <a:p>
            <a:endParaRPr lang="en-US" sz="2118" dirty="0"/>
          </a:p>
        </p:txBody>
      </p:sp>
    </p:spTree>
    <p:extLst>
      <p:ext uri="{BB962C8B-B14F-4D97-AF65-F5344CB8AC3E}">
        <p14:creationId xmlns:p14="http://schemas.microsoft.com/office/powerpoint/2010/main" val="1420032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F70B2-F211-44CA-8BD6-D0410350964B}"/>
              </a:ext>
            </a:extLst>
          </p:cNvPr>
          <p:cNvSpPr>
            <a:spLocks noGrp="1"/>
          </p:cNvSpPr>
          <p:nvPr>
            <p:ph type="title"/>
          </p:nvPr>
        </p:nvSpPr>
        <p:spPr/>
        <p:txBody>
          <a:bodyPr/>
          <a:lstStyle/>
          <a:p>
            <a:r>
              <a:rPr lang="en-IN" dirty="0"/>
              <a:t>How to Detect Overfitting vs Underfitting</a:t>
            </a:r>
          </a:p>
        </p:txBody>
      </p:sp>
      <p:pic>
        <p:nvPicPr>
          <p:cNvPr id="5" name="Picture 4" descr="Diagram&#10;&#10;Description automatically generated">
            <a:extLst>
              <a:ext uri="{FF2B5EF4-FFF2-40B4-BE49-F238E27FC236}">
                <a16:creationId xmlns:a16="http://schemas.microsoft.com/office/drawing/2014/main" id="{A3B848A7-43AC-4EFC-856D-69F58E3415DA}"/>
              </a:ext>
            </a:extLst>
          </p:cNvPr>
          <p:cNvPicPr>
            <a:picLocks noChangeAspect="1"/>
          </p:cNvPicPr>
          <p:nvPr/>
        </p:nvPicPr>
        <p:blipFill>
          <a:blip r:embed="rId2"/>
          <a:stretch>
            <a:fillRect/>
          </a:stretch>
        </p:blipFill>
        <p:spPr>
          <a:xfrm>
            <a:off x="752150" y="2219324"/>
            <a:ext cx="9892037" cy="2630971"/>
          </a:xfrm>
          <a:prstGeom prst="rect">
            <a:avLst/>
          </a:prstGeom>
        </p:spPr>
      </p:pic>
    </p:spTree>
    <p:extLst>
      <p:ext uri="{BB962C8B-B14F-4D97-AF65-F5344CB8AC3E}">
        <p14:creationId xmlns:p14="http://schemas.microsoft.com/office/powerpoint/2010/main" val="2260892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8191FD-F72F-47CE-9F33-FFC422BC364C}"/>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a:solidFill>
                  <a:srgbClr val="FFFFFF"/>
                </a:solidFill>
                <a:latin typeface="+mj-lt"/>
              </a:rPr>
              <a:t>Good vs Bad Models</a:t>
            </a:r>
          </a:p>
        </p:txBody>
      </p:sp>
      <p:cxnSp>
        <p:nvCxnSpPr>
          <p:cNvPr id="3081" name="Straight Connector 308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2">
            <a:extLst>
              <a:ext uri="{FF2B5EF4-FFF2-40B4-BE49-F238E27FC236}">
                <a16:creationId xmlns:a16="http://schemas.microsoft.com/office/drawing/2014/main" id="{5D39D116-ECCF-405E-9363-2132FAA42B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1567" y="2713842"/>
            <a:ext cx="5455917" cy="3423588"/>
          </a:xfrm>
          <a:prstGeom prst="rect">
            <a:avLst/>
          </a:prstGeom>
          <a:noFill/>
          <a:extLst>
            <a:ext uri="{909E8E84-426E-40DD-AFC4-6F175D3DCCD1}">
              <a14:hiddenFill xmlns:a14="http://schemas.microsoft.com/office/drawing/2010/main">
                <a:solidFill>
                  <a:srgbClr val="FFFFFF"/>
                </a:solidFill>
              </a14:hiddenFill>
            </a:ext>
          </a:extLst>
        </p:spPr>
      </p:pic>
      <p:cxnSp>
        <p:nvCxnSpPr>
          <p:cNvPr id="3083" name="Straight Connector 3082">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3074" name="Picture 2" descr="epoch error curve fitting">
            <a:extLst>
              <a:ext uri="{FF2B5EF4-FFF2-40B4-BE49-F238E27FC236}">
                <a16:creationId xmlns:a16="http://schemas.microsoft.com/office/drawing/2014/main" id="{DF828883-23D3-43BE-A1F2-0EEFCFC9DDC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45073" y="2742167"/>
            <a:ext cx="5455917" cy="3366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586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E4C41A7D48A744983DDED71551D35E" ma:contentTypeVersion="9" ma:contentTypeDescription="Create a new document." ma:contentTypeScope="" ma:versionID="18839125827b1b6b98db94bd749731c8">
  <xsd:schema xmlns:xsd="http://www.w3.org/2001/XMLSchema" xmlns:xs="http://www.w3.org/2001/XMLSchema" xmlns:p="http://schemas.microsoft.com/office/2006/metadata/properties" xmlns:ns3="9343f5e2-aeef-4748-be21-2cd988da9d5e" targetNamespace="http://schemas.microsoft.com/office/2006/metadata/properties" ma:root="true" ma:fieldsID="defa34765b0ee3e2c737b3c198092e19" ns3:_="">
    <xsd:import namespace="9343f5e2-aeef-4748-be21-2cd988da9d5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43f5e2-aeef-4748-be21-2cd988da9d5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1D283B-A6F2-4C9E-B5B0-1C0BE4D6B3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43f5e2-aeef-4748-be21-2cd988da9d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EE949C-B30E-49FA-9492-DC12A553F90D}">
  <ds:schemaRefs>
    <ds:schemaRef ds:uri="http://schemas.microsoft.com/sharepoint/v3/contenttype/forms"/>
  </ds:schemaRefs>
</ds:datastoreItem>
</file>

<file path=customXml/itemProps3.xml><?xml version="1.0" encoding="utf-8"?>
<ds:datastoreItem xmlns:ds="http://schemas.openxmlformats.org/officeDocument/2006/customXml" ds:itemID="{83A2A3CD-E649-4D52-A0D1-B5A56AB5F045}">
  <ds:schemaRefs>
    <ds:schemaRef ds:uri="9343f5e2-aeef-4748-be21-2cd988da9d5e"/>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1730</TotalTime>
  <Words>2247</Words>
  <Application>Microsoft Office PowerPoint</Application>
  <PresentationFormat>Widescreen</PresentationFormat>
  <Paragraphs>579</Paragraphs>
  <Slides>38</Slides>
  <Notes>16</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9" baseType="lpstr">
      <vt:lpstr>新細明體</vt:lpstr>
      <vt:lpstr>Arial</vt:lpstr>
      <vt:lpstr>Calibri</vt:lpstr>
      <vt:lpstr>Calibri Light</vt:lpstr>
      <vt:lpstr>Cambria Math</vt:lpstr>
      <vt:lpstr>Courier New</vt:lpstr>
      <vt:lpstr>Mangal</vt:lpstr>
      <vt:lpstr>Palatino Linotype</vt:lpstr>
      <vt:lpstr>Wingdings</vt:lpstr>
      <vt:lpstr>Office Theme</vt:lpstr>
      <vt:lpstr>方程式</vt:lpstr>
      <vt:lpstr>Deep Learning </vt:lpstr>
      <vt:lpstr>Training NNs</vt:lpstr>
      <vt:lpstr>Training NNs</vt:lpstr>
      <vt:lpstr>Training NNs</vt:lpstr>
      <vt:lpstr>Training NNs</vt:lpstr>
      <vt:lpstr>Training NNs</vt:lpstr>
      <vt:lpstr>Advantage of RELU</vt:lpstr>
      <vt:lpstr>ReLU</vt:lpstr>
      <vt:lpstr>ReLU</vt:lpstr>
      <vt:lpstr>Loss Functions</vt:lpstr>
      <vt:lpstr>Loss Functions</vt:lpstr>
      <vt:lpstr>Binary Cross Entropy</vt:lpstr>
      <vt:lpstr>Loss</vt:lpstr>
      <vt:lpstr>Total Loss</vt:lpstr>
      <vt:lpstr>Implementation</vt:lpstr>
      <vt:lpstr>PowerPoint Presentation</vt:lpstr>
      <vt:lpstr>Example</vt:lpstr>
      <vt:lpstr>Choosing Proper Loss</vt:lpstr>
      <vt:lpstr>Choosing Proper Loss</vt:lpstr>
      <vt:lpstr>How to pick the best function</vt:lpstr>
      <vt:lpstr>Training NNs</vt:lpstr>
      <vt:lpstr>Gradient Descent Algorithm</vt:lpstr>
      <vt:lpstr>Gradient Descent Algorithm</vt:lpstr>
      <vt:lpstr>Gradient Descent Algorithm</vt:lpstr>
      <vt:lpstr>Gradient Descent Algorithm</vt:lpstr>
      <vt:lpstr>Gradient Descent Algorithm</vt:lpstr>
      <vt:lpstr>Mini-batch Gradient Descent</vt:lpstr>
      <vt:lpstr>Mini-batch</vt:lpstr>
      <vt:lpstr>Mini-batch</vt:lpstr>
      <vt:lpstr>PowerPoint Presentation</vt:lpstr>
      <vt:lpstr>Problems with Gradient Descent</vt:lpstr>
      <vt:lpstr>Learning Rate</vt:lpstr>
      <vt:lpstr>Learning Rate</vt:lpstr>
      <vt:lpstr>Learning Rate Scheduling</vt:lpstr>
      <vt:lpstr>Generalization</vt:lpstr>
      <vt:lpstr>Overfitting</vt:lpstr>
      <vt:lpstr>How to Detect Overfitting vs Underfitting</vt:lpstr>
      <vt:lpstr>Good vs Bad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Tanveer Ahmed</dc:creator>
  <cp:lastModifiedBy>Admin DyDir</cp:lastModifiedBy>
  <cp:revision>4</cp:revision>
  <dcterms:created xsi:type="dcterms:W3CDTF">2023-02-04T06:26:24Z</dcterms:created>
  <dcterms:modified xsi:type="dcterms:W3CDTF">2026-01-17T05:47:27Z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0x0101002BE4C41A7D48A744983DDED71551D35E</vt:lpwstr>
  </property>
</Properties>
</file>