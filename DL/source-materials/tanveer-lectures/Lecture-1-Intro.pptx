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579" r:id="rId2"/>
    <p:sldId id="257" r:id="rId3"/>
    <p:sldId id="618" r:id="rId4"/>
    <p:sldId id="563" r:id="rId5"/>
    <p:sldId id="543" r:id="rId6"/>
    <p:sldId id="580" r:id="rId7"/>
    <p:sldId id="564" r:id="rId8"/>
    <p:sldId id="577" r:id="rId9"/>
    <p:sldId id="581" r:id="rId10"/>
    <p:sldId id="582" r:id="rId11"/>
    <p:sldId id="446" r:id="rId12"/>
    <p:sldId id="263" r:id="rId13"/>
    <p:sldId id="264" r:id="rId14"/>
    <p:sldId id="583" r:id="rId15"/>
    <p:sldId id="585" r:id="rId16"/>
    <p:sldId id="586" r:id="rId17"/>
    <p:sldId id="587" r:id="rId18"/>
    <p:sldId id="588" r:id="rId19"/>
    <p:sldId id="589" r:id="rId20"/>
    <p:sldId id="590" r:id="rId21"/>
    <p:sldId id="591" r:id="rId22"/>
    <p:sldId id="598" r:id="rId23"/>
    <p:sldId id="599" r:id="rId24"/>
    <p:sldId id="600" r:id="rId25"/>
    <p:sldId id="601" r:id="rId26"/>
    <p:sldId id="602" r:id="rId27"/>
    <p:sldId id="603" r:id="rId28"/>
    <p:sldId id="604" r:id="rId29"/>
    <p:sldId id="605" r:id="rId30"/>
    <p:sldId id="606" r:id="rId31"/>
    <p:sldId id="607" r:id="rId32"/>
    <p:sldId id="61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23" autoAdjust="0"/>
    <p:restoredTop sz="92764" autoAdjust="0"/>
  </p:normalViewPr>
  <p:slideViewPr>
    <p:cSldViewPr snapToGrid="0">
      <p:cViewPr varScale="1">
        <p:scale>
          <a:sx n="103" d="100"/>
          <a:sy n="103" d="100"/>
        </p:scale>
        <p:origin x="7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ika Vatsa" userId="f7100972-27fe-4ee6-8fb4-ec9b7931b409" providerId="ADAL" clId="{3291ADED-E722-4D72-B4E8-25130B6F1C00}"/>
  </pc:docChgLst>
  <pc:docChgLst>
    <pc:chgData name="Tanveer Ahmed" userId="ae65990c-ea0f-4c33-a6b2-48519e4fc857" providerId="ADAL" clId="{12DA6501-256D-496A-8080-6D04BF823D11}"/>
  </pc:docChgLst>
  <pc:docChgLst>
    <pc:chgData name="Tanveer Ahmed" userId="ae65990c-ea0f-4c33-a6b2-48519e4fc857" providerId="ADAL" clId="{1DC5C016-0971-42AA-A99A-1A89DA08DE75}"/>
    <pc:docChg chg="custSel modSld">
      <pc:chgData name="Tanveer Ahmed" userId="ae65990c-ea0f-4c33-a6b2-48519e4fc857" providerId="ADAL" clId="{1DC5C016-0971-42AA-A99A-1A89DA08DE75}" dt="2026-07-02T02:27:56.436" v="30" actId="20577"/>
      <pc:docMkLst>
        <pc:docMk/>
      </pc:docMkLst>
      <pc:sldChg chg="addSp delSp modSp delAnim">
        <pc:chgData name="Tanveer Ahmed" userId="ae65990c-ea0f-4c33-a6b2-48519e4fc857" providerId="ADAL" clId="{1DC5C016-0971-42AA-A99A-1A89DA08DE75}" dt="2026-07-02T02:27:56.436" v="30" actId="20577"/>
        <pc:sldMkLst>
          <pc:docMk/>
          <pc:sldMk cId="921422219" sldId="563"/>
        </pc:sldMkLst>
        <pc:spChg chg="mod">
          <ac:chgData name="Tanveer Ahmed" userId="ae65990c-ea0f-4c33-a6b2-48519e4fc857" providerId="ADAL" clId="{1DC5C016-0971-42AA-A99A-1A89DA08DE75}" dt="2026-07-02T02:27:56.436" v="30" actId="20577"/>
          <ac:spMkLst>
            <pc:docMk/>
            <pc:sldMk cId="921422219" sldId="563"/>
            <ac:spMk id="2" creationId="{C93A671A-1721-4DE1-B957-C07314B17682}"/>
          </ac:spMkLst>
        </pc:spChg>
        <pc:spChg chg="add mod">
          <ac:chgData name="Tanveer Ahmed" userId="ae65990c-ea0f-4c33-a6b2-48519e4fc857" providerId="ADAL" clId="{1DC5C016-0971-42AA-A99A-1A89DA08DE75}" dt="2026-07-02T02:27:47.680" v="4" actId="1076"/>
          <ac:spMkLst>
            <pc:docMk/>
            <pc:sldMk cId="921422219" sldId="563"/>
            <ac:spMk id="6" creationId="{300A1A59-CAF3-4794-AB1E-495C90CF9AC4}"/>
          </ac:spMkLst>
        </pc:spChg>
        <pc:picChg chg="del">
          <ac:chgData name="Tanveer Ahmed" userId="ae65990c-ea0f-4c33-a6b2-48519e4fc857" providerId="ADAL" clId="{1DC5C016-0971-42AA-A99A-1A89DA08DE75}" dt="2026-07-02T02:27:37.656" v="2" actId="478"/>
          <ac:picMkLst>
            <pc:docMk/>
            <pc:sldMk cId="921422219" sldId="563"/>
            <ac:picMk id="4" creationId="{AFC9ED52-61E4-40D4-BF3A-6935F85E0C8E}"/>
          </ac:picMkLst>
        </pc:picChg>
      </pc:sldChg>
      <pc:sldChg chg="addSp delSp modSp">
        <pc:chgData name="Tanveer Ahmed" userId="ae65990c-ea0f-4c33-a6b2-48519e4fc857" providerId="ADAL" clId="{1DC5C016-0971-42AA-A99A-1A89DA08DE75}" dt="2026-07-02T02:24:21.426" v="1" actId="478"/>
        <pc:sldMkLst>
          <pc:docMk/>
          <pc:sldMk cId="252450953" sldId="618"/>
        </pc:sldMkLst>
        <pc:spChg chg="add del mod">
          <ac:chgData name="Tanveer Ahmed" userId="ae65990c-ea0f-4c33-a6b2-48519e4fc857" providerId="ADAL" clId="{1DC5C016-0971-42AA-A99A-1A89DA08DE75}" dt="2026-07-02T02:24:21.426" v="1" actId="478"/>
          <ac:spMkLst>
            <pc:docMk/>
            <pc:sldMk cId="252450953" sldId="618"/>
            <ac:spMk id="6" creationId="{FEA5049D-5B82-4099-ABFC-C952D5BF1AF3}"/>
          </ac:spMkLst>
        </pc:spChg>
        <pc:graphicFrameChg chg="del">
          <ac:chgData name="Tanveer Ahmed" userId="ae65990c-ea0f-4c33-a6b2-48519e4fc857" providerId="ADAL" clId="{1DC5C016-0971-42AA-A99A-1A89DA08DE75}" dt="2026-07-02T02:24:19.482" v="0" actId="478"/>
          <ac:graphicFrameMkLst>
            <pc:docMk/>
            <pc:sldMk cId="252450953" sldId="618"/>
            <ac:graphicFrameMk id="5" creationId="{51D32D23-F3FD-4E71-AB45-1471FD249B99}"/>
          </ac:graphicFrameMkLst>
        </pc:graphicFrameChg>
      </pc:sldChg>
    </pc:docChg>
  </pc:docChgLst>
  <pc:docChgLst>
    <pc:chgData name="Tanveer Ahmed" userId="c20aecf3-b1d0-4f36-ab14-6c5f325ab901" providerId="ADAL" clId="{29B54AB0-A20D-4A9E-9E8F-D58C742FE42C}"/>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B6FEF65-91A3-4A76-939F-AB7BAEB38B5E}" type="doc">
      <dgm:prSet loTypeId="urn:microsoft.com/office/officeart/2005/8/layout/process1" loCatId="process" qsTypeId="urn:microsoft.com/office/officeart/2005/8/quickstyle/simple3" qsCatId="simple" csTypeId="urn:microsoft.com/office/officeart/2005/8/colors/colorful1#1" csCatId="colorful" phldr="1"/>
      <dgm:spPr/>
    </dgm:pt>
    <dgm:pt modelId="{DC424D30-961E-42BE-AB85-93AE8F862A64}">
      <dgm:prSet phldrT="[Text]"/>
      <dgm:spPr/>
      <dgm:t>
        <a:bodyPr/>
        <a:lstStyle/>
        <a:p>
          <a:r>
            <a:rPr lang="en-IN" dirty="0"/>
            <a:t>Input Data</a:t>
          </a:r>
        </a:p>
      </dgm:t>
    </dgm:pt>
    <dgm:pt modelId="{08D49EEF-FF5C-40DF-AE92-B59E0D397035}" type="parTrans" cxnId="{23A8189D-F931-43C5-8A94-F6C9A83BCCBD}">
      <dgm:prSet/>
      <dgm:spPr/>
      <dgm:t>
        <a:bodyPr/>
        <a:lstStyle/>
        <a:p>
          <a:endParaRPr lang="en-IN"/>
        </a:p>
      </dgm:t>
    </dgm:pt>
    <dgm:pt modelId="{0A8A3ED8-49E3-400C-9E97-11F37058C41C}" type="sibTrans" cxnId="{23A8189D-F931-43C5-8A94-F6C9A83BCCBD}">
      <dgm:prSet/>
      <dgm:spPr/>
      <dgm:t>
        <a:bodyPr/>
        <a:lstStyle/>
        <a:p>
          <a:endParaRPr lang="en-IN"/>
        </a:p>
      </dgm:t>
    </dgm:pt>
    <dgm:pt modelId="{6F1B6DEF-4B95-465A-B97D-29D981A7E7FB}">
      <dgm:prSet phldrT="[Text]"/>
      <dgm:spPr/>
      <dgm:t>
        <a:bodyPr/>
        <a:lstStyle/>
        <a:p>
          <a:r>
            <a:rPr lang="en-IN" dirty="0"/>
            <a:t>Feature Engineering</a:t>
          </a:r>
        </a:p>
      </dgm:t>
    </dgm:pt>
    <dgm:pt modelId="{C3A607C4-943A-4FD1-BB38-FFFCF945FB73}" type="parTrans" cxnId="{61A56FA2-AB2F-4921-AFB4-21901B8E1EA1}">
      <dgm:prSet/>
      <dgm:spPr/>
      <dgm:t>
        <a:bodyPr/>
        <a:lstStyle/>
        <a:p>
          <a:endParaRPr lang="en-IN"/>
        </a:p>
      </dgm:t>
    </dgm:pt>
    <dgm:pt modelId="{99BB9A9A-5BB6-4285-A656-E3E782B8EB2F}" type="sibTrans" cxnId="{61A56FA2-AB2F-4921-AFB4-21901B8E1EA1}">
      <dgm:prSet/>
      <dgm:spPr/>
      <dgm:t>
        <a:bodyPr/>
        <a:lstStyle/>
        <a:p>
          <a:endParaRPr lang="en-IN"/>
        </a:p>
      </dgm:t>
    </dgm:pt>
    <dgm:pt modelId="{9F16276F-3F80-4F7E-B8BE-D0FE770A5776}">
      <dgm:prSet phldrT="[Text]"/>
      <dgm:spPr/>
      <dgm:t>
        <a:bodyPr/>
        <a:lstStyle/>
        <a:p>
          <a:r>
            <a:rPr lang="en-IN" dirty="0"/>
            <a:t>Traditional ML Algorithms</a:t>
          </a:r>
        </a:p>
      </dgm:t>
    </dgm:pt>
    <dgm:pt modelId="{B74552A3-E849-4225-83B5-8354BBC57043}" type="parTrans" cxnId="{A02BDEF0-DD1D-4D0A-B70E-D9E16DB0E03C}">
      <dgm:prSet/>
      <dgm:spPr/>
      <dgm:t>
        <a:bodyPr/>
        <a:lstStyle/>
        <a:p>
          <a:endParaRPr lang="en-IN"/>
        </a:p>
      </dgm:t>
    </dgm:pt>
    <dgm:pt modelId="{2EA2B818-06C1-4EB6-A810-0B31FC6A3ABF}" type="sibTrans" cxnId="{A02BDEF0-DD1D-4D0A-B70E-D9E16DB0E03C}">
      <dgm:prSet/>
      <dgm:spPr/>
      <dgm:t>
        <a:bodyPr/>
        <a:lstStyle/>
        <a:p>
          <a:endParaRPr lang="en-IN"/>
        </a:p>
      </dgm:t>
    </dgm:pt>
    <dgm:pt modelId="{4C4EC579-9359-4864-B689-AAD670F4DE46}" type="pres">
      <dgm:prSet presAssocID="{7B6FEF65-91A3-4A76-939F-AB7BAEB38B5E}" presName="Name0" presStyleCnt="0">
        <dgm:presLayoutVars>
          <dgm:dir/>
          <dgm:resizeHandles val="exact"/>
        </dgm:presLayoutVars>
      </dgm:prSet>
      <dgm:spPr/>
    </dgm:pt>
    <dgm:pt modelId="{45360C1C-0E65-4C6A-A032-C45AA2E4CBF4}" type="pres">
      <dgm:prSet presAssocID="{DC424D30-961E-42BE-AB85-93AE8F862A64}" presName="node" presStyleLbl="node1" presStyleIdx="0" presStyleCnt="3" custScaleY="85636" custLinFactNeighborX="9937" custLinFactNeighborY="-27011">
        <dgm:presLayoutVars>
          <dgm:bulletEnabled val="1"/>
        </dgm:presLayoutVars>
      </dgm:prSet>
      <dgm:spPr/>
    </dgm:pt>
    <dgm:pt modelId="{853606CE-03FD-45D5-A4AA-545561D29A4A}" type="pres">
      <dgm:prSet presAssocID="{0A8A3ED8-49E3-400C-9E97-11F37058C41C}" presName="sibTrans" presStyleLbl="sibTrans2D1" presStyleIdx="0" presStyleCnt="2"/>
      <dgm:spPr/>
    </dgm:pt>
    <dgm:pt modelId="{56E2C394-FEED-4D41-BBF8-12B2A182C7F0}" type="pres">
      <dgm:prSet presAssocID="{0A8A3ED8-49E3-400C-9E97-11F37058C41C}" presName="connectorText" presStyleLbl="sibTrans2D1" presStyleIdx="0" presStyleCnt="2"/>
      <dgm:spPr/>
    </dgm:pt>
    <dgm:pt modelId="{1651FF80-0D82-4AD6-B658-F07D9EFF5F87}" type="pres">
      <dgm:prSet presAssocID="{6F1B6DEF-4B95-465A-B97D-29D981A7E7FB}" presName="node" presStyleLbl="node1" presStyleIdx="1" presStyleCnt="3" custScaleY="85636" custLinFactNeighborX="4697" custLinFactNeighborY="-27011">
        <dgm:presLayoutVars>
          <dgm:bulletEnabled val="1"/>
        </dgm:presLayoutVars>
      </dgm:prSet>
      <dgm:spPr/>
    </dgm:pt>
    <dgm:pt modelId="{AEF59788-69F0-4B90-8309-A8B0322E97BD}" type="pres">
      <dgm:prSet presAssocID="{99BB9A9A-5BB6-4285-A656-E3E782B8EB2F}" presName="sibTrans" presStyleLbl="sibTrans2D1" presStyleIdx="1" presStyleCnt="2"/>
      <dgm:spPr/>
    </dgm:pt>
    <dgm:pt modelId="{67DFB94D-8B0C-44BC-A5EF-32F203464615}" type="pres">
      <dgm:prSet presAssocID="{99BB9A9A-5BB6-4285-A656-E3E782B8EB2F}" presName="connectorText" presStyleLbl="sibTrans2D1" presStyleIdx="1" presStyleCnt="2"/>
      <dgm:spPr/>
    </dgm:pt>
    <dgm:pt modelId="{3F201DBF-7257-4F56-BB61-10D0C62E641E}" type="pres">
      <dgm:prSet presAssocID="{9F16276F-3F80-4F7E-B8BE-D0FE770A5776}" presName="node" presStyleLbl="node1" presStyleIdx="2" presStyleCnt="3" custScaleY="85636" custLinFactNeighborX="-11318" custLinFactNeighborY="-27011">
        <dgm:presLayoutVars>
          <dgm:bulletEnabled val="1"/>
        </dgm:presLayoutVars>
      </dgm:prSet>
      <dgm:spPr/>
    </dgm:pt>
  </dgm:ptLst>
  <dgm:cxnLst>
    <dgm:cxn modelId="{48CEE039-A4F4-4C36-B123-CBA6BEDD9826}" type="presOf" srcId="{6F1B6DEF-4B95-465A-B97D-29D981A7E7FB}" destId="{1651FF80-0D82-4AD6-B658-F07D9EFF5F87}" srcOrd="0" destOrd="0" presId="urn:microsoft.com/office/officeart/2005/8/layout/process1"/>
    <dgm:cxn modelId="{8F0D2C42-CFF8-4B7D-BD12-5E18E2009F09}" type="presOf" srcId="{DC424D30-961E-42BE-AB85-93AE8F862A64}" destId="{45360C1C-0E65-4C6A-A032-C45AA2E4CBF4}" srcOrd="0" destOrd="0" presId="urn:microsoft.com/office/officeart/2005/8/layout/process1"/>
    <dgm:cxn modelId="{360A4047-86BD-49E1-BAF5-E76574C46FB4}" type="presOf" srcId="{7B6FEF65-91A3-4A76-939F-AB7BAEB38B5E}" destId="{4C4EC579-9359-4864-B689-AAD670F4DE46}" srcOrd="0" destOrd="0" presId="urn:microsoft.com/office/officeart/2005/8/layout/process1"/>
    <dgm:cxn modelId="{4B7E856C-D00A-4142-BDC4-0DD3F5007283}" type="presOf" srcId="{99BB9A9A-5BB6-4285-A656-E3E782B8EB2F}" destId="{67DFB94D-8B0C-44BC-A5EF-32F203464615}" srcOrd="1" destOrd="0" presId="urn:microsoft.com/office/officeart/2005/8/layout/process1"/>
    <dgm:cxn modelId="{78075350-5F7E-4375-BF1A-F4528B609A6C}" type="presOf" srcId="{99BB9A9A-5BB6-4285-A656-E3E782B8EB2F}" destId="{AEF59788-69F0-4B90-8309-A8B0322E97BD}" srcOrd="0" destOrd="0" presId="urn:microsoft.com/office/officeart/2005/8/layout/process1"/>
    <dgm:cxn modelId="{0977B98F-8B5E-4217-B274-E199049B2A1A}" type="presOf" srcId="{0A8A3ED8-49E3-400C-9E97-11F37058C41C}" destId="{853606CE-03FD-45D5-A4AA-545561D29A4A}" srcOrd="0" destOrd="0" presId="urn:microsoft.com/office/officeart/2005/8/layout/process1"/>
    <dgm:cxn modelId="{23A8189D-F931-43C5-8A94-F6C9A83BCCBD}" srcId="{7B6FEF65-91A3-4A76-939F-AB7BAEB38B5E}" destId="{DC424D30-961E-42BE-AB85-93AE8F862A64}" srcOrd="0" destOrd="0" parTransId="{08D49EEF-FF5C-40DF-AE92-B59E0D397035}" sibTransId="{0A8A3ED8-49E3-400C-9E97-11F37058C41C}"/>
    <dgm:cxn modelId="{61A56FA2-AB2F-4921-AFB4-21901B8E1EA1}" srcId="{7B6FEF65-91A3-4A76-939F-AB7BAEB38B5E}" destId="{6F1B6DEF-4B95-465A-B97D-29D981A7E7FB}" srcOrd="1" destOrd="0" parTransId="{C3A607C4-943A-4FD1-BB38-FFFCF945FB73}" sibTransId="{99BB9A9A-5BB6-4285-A656-E3E782B8EB2F}"/>
    <dgm:cxn modelId="{616187A4-EB75-4558-A1ED-76DC55C30046}" type="presOf" srcId="{0A8A3ED8-49E3-400C-9E97-11F37058C41C}" destId="{56E2C394-FEED-4D41-BBF8-12B2A182C7F0}" srcOrd="1" destOrd="0" presId="urn:microsoft.com/office/officeart/2005/8/layout/process1"/>
    <dgm:cxn modelId="{0DB823A7-3109-40D7-8CD4-3024AC2454F9}" type="presOf" srcId="{9F16276F-3F80-4F7E-B8BE-D0FE770A5776}" destId="{3F201DBF-7257-4F56-BB61-10D0C62E641E}" srcOrd="0" destOrd="0" presId="urn:microsoft.com/office/officeart/2005/8/layout/process1"/>
    <dgm:cxn modelId="{A02BDEF0-DD1D-4D0A-B70E-D9E16DB0E03C}" srcId="{7B6FEF65-91A3-4A76-939F-AB7BAEB38B5E}" destId="{9F16276F-3F80-4F7E-B8BE-D0FE770A5776}" srcOrd="2" destOrd="0" parTransId="{B74552A3-E849-4225-83B5-8354BBC57043}" sibTransId="{2EA2B818-06C1-4EB6-A810-0B31FC6A3ABF}"/>
    <dgm:cxn modelId="{BD507F8B-C8B6-4D2D-B042-C9AB0DB09677}" type="presParOf" srcId="{4C4EC579-9359-4864-B689-AAD670F4DE46}" destId="{45360C1C-0E65-4C6A-A032-C45AA2E4CBF4}" srcOrd="0" destOrd="0" presId="urn:microsoft.com/office/officeart/2005/8/layout/process1"/>
    <dgm:cxn modelId="{10F00728-C39F-4902-9678-67DEEEB6B6F7}" type="presParOf" srcId="{4C4EC579-9359-4864-B689-AAD670F4DE46}" destId="{853606CE-03FD-45D5-A4AA-545561D29A4A}" srcOrd="1" destOrd="0" presId="urn:microsoft.com/office/officeart/2005/8/layout/process1"/>
    <dgm:cxn modelId="{8A31734D-EDD4-47A7-9D03-8C05F98FBFC6}" type="presParOf" srcId="{853606CE-03FD-45D5-A4AA-545561D29A4A}" destId="{56E2C394-FEED-4D41-BBF8-12B2A182C7F0}" srcOrd="0" destOrd="0" presId="urn:microsoft.com/office/officeart/2005/8/layout/process1"/>
    <dgm:cxn modelId="{F80620EF-E914-4222-BD09-EF00BFE2AB95}" type="presParOf" srcId="{4C4EC579-9359-4864-B689-AAD670F4DE46}" destId="{1651FF80-0D82-4AD6-B658-F07D9EFF5F87}" srcOrd="2" destOrd="0" presId="urn:microsoft.com/office/officeart/2005/8/layout/process1"/>
    <dgm:cxn modelId="{0B4355D1-797E-4BBD-B6DB-B8BDA745FE6D}" type="presParOf" srcId="{4C4EC579-9359-4864-B689-AAD670F4DE46}" destId="{AEF59788-69F0-4B90-8309-A8B0322E97BD}" srcOrd="3" destOrd="0" presId="urn:microsoft.com/office/officeart/2005/8/layout/process1"/>
    <dgm:cxn modelId="{7E19BE36-4585-42AD-8803-3D91E6D7385D}" type="presParOf" srcId="{AEF59788-69F0-4B90-8309-A8B0322E97BD}" destId="{67DFB94D-8B0C-44BC-A5EF-32F203464615}" srcOrd="0" destOrd="0" presId="urn:microsoft.com/office/officeart/2005/8/layout/process1"/>
    <dgm:cxn modelId="{99E9A01A-3D9A-46A5-94AE-57200B871C00}" type="presParOf" srcId="{4C4EC579-9359-4864-B689-AAD670F4DE46}" destId="{3F201DBF-7257-4F56-BB61-10D0C62E641E}"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6FEF65-91A3-4A76-939F-AB7BAEB38B5E}" type="doc">
      <dgm:prSet loTypeId="urn:microsoft.com/office/officeart/2005/8/layout/process1" loCatId="process" qsTypeId="urn:microsoft.com/office/officeart/2005/8/quickstyle/simple1" qsCatId="simple" csTypeId="urn:microsoft.com/office/officeart/2005/8/colors/accent2_2" csCatId="accent2" phldr="1"/>
      <dgm:spPr/>
    </dgm:pt>
    <dgm:pt modelId="{DC424D30-961E-42BE-AB85-93AE8F862A64}">
      <dgm:prSet phldrT="[Text]"/>
      <dgm:spPr/>
      <dgm:t>
        <a:bodyPr/>
        <a:lstStyle/>
        <a:p>
          <a:r>
            <a:rPr lang="en-IN" dirty="0"/>
            <a:t>Input Data</a:t>
          </a:r>
        </a:p>
      </dgm:t>
    </dgm:pt>
    <dgm:pt modelId="{08D49EEF-FF5C-40DF-AE92-B59E0D397035}" type="parTrans" cxnId="{23A8189D-F931-43C5-8A94-F6C9A83BCCBD}">
      <dgm:prSet/>
      <dgm:spPr/>
      <dgm:t>
        <a:bodyPr/>
        <a:lstStyle/>
        <a:p>
          <a:endParaRPr lang="en-IN"/>
        </a:p>
      </dgm:t>
    </dgm:pt>
    <dgm:pt modelId="{0A8A3ED8-49E3-400C-9E97-11F37058C41C}" type="sibTrans" cxnId="{23A8189D-F931-43C5-8A94-F6C9A83BCCBD}">
      <dgm:prSet/>
      <dgm:spPr/>
      <dgm:t>
        <a:bodyPr/>
        <a:lstStyle/>
        <a:p>
          <a:endParaRPr lang="en-IN"/>
        </a:p>
      </dgm:t>
    </dgm:pt>
    <dgm:pt modelId="{9F16276F-3F80-4F7E-B8BE-D0FE770A5776}">
      <dgm:prSet phldrT="[Text]"/>
      <dgm:spPr/>
      <dgm:t>
        <a:bodyPr/>
        <a:lstStyle/>
        <a:p>
          <a:r>
            <a:rPr lang="en-IN" dirty="0"/>
            <a:t>Deep Learning Algorithms</a:t>
          </a:r>
        </a:p>
      </dgm:t>
    </dgm:pt>
    <dgm:pt modelId="{B74552A3-E849-4225-83B5-8354BBC57043}" type="parTrans" cxnId="{A02BDEF0-DD1D-4D0A-B70E-D9E16DB0E03C}">
      <dgm:prSet/>
      <dgm:spPr/>
      <dgm:t>
        <a:bodyPr/>
        <a:lstStyle/>
        <a:p>
          <a:endParaRPr lang="en-IN"/>
        </a:p>
      </dgm:t>
    </dgm:pt>
    <dgm:pt modelId="{2EA2B818-06C1-4EB6-A810-0B31FC6A3ABF}" type="sibTrans" cxnId="{A02BDEF0-DD1D-4D0A-B70E-D9E16DB0E03C}">
      <dgm:prSet/>
      <dgm:spPr/>
      <dgm:t>
        <a:bodyPr/>
        <a:lstStyle/>
        <a:p>
          <a:endParaRPr lang="en-IN"/>
        </a:p>
      </dgm:t>
    </dgm:pt>
    <dgm:pt modelId="{4C4EC579-9359-4864-B689-AAD670F4DE46}" type="pres">
      <dgm:prSet presAssocID="{7B6FEF65-91A3-4A76-939F-AB7BAEB38B5E}" presName="Name0" presStyleCnt="0">
        <dgm:presLayoutVars>
          <dgm:dir/>
          <dgm:resizeHandles val="exact"/>
        </dgm:presLayoutVars>
      </dgm:prSet>
      <dgm:spPr/>
    </dgm:pt>
    <dgm:pt modelId="{45360C1C-0E65-4C6A-A032-C45AA2E4CBF4}" type="pres">
      <dgm:prSet presAssocID="{DC424D30-961E-42BE-AB85-93AE8F862A64}" presName="node" presStyleLbl="node1" presStyleIdx="0" presStyleCnt="2" custScaleY="42860" custLinFactNeighborX="-117">
        <dgm:presLayoutVars>
          <dgm:bulletEnabled val="1"/>
        </dgm:presLayoutVars>
      </dgm:prSet>
      <dgm:spPr/>
    </dgm:pt>
    <dgm:pt modelId="{853606CE-03FD-45D5-A4AA-545561D29A4A}" type="pres">
      <dgm:prSet presAssocID="{0A8A3ED8-49E3-400C-9E97-11F37058C41C}" presName="sibTrans" presStyleLbl="sibTrans2D1" presStyleIdx="0" presStyleCnt="1"/>
      <dgm:spPr/>
    </dgm:pt>
    <dgm:pt modelId="{56E2C394-FEED-4D41-BBF8-12B2A182C7F0}" type="pres">
      <dgm:prSet presAssocID="{0A8A3ED8-49E3-400C-9E97-11F37058C41C}" presName="connectorText" presStyleLbl="sibTrans2D1" presStyleIdx="0" presStyleCnt="1"/>
      <dgm:spPr/>
    </dgm:pt>
    <dgm:pt modelId="{3F201DBF-7257-4F56-BB61-10D0C62E641E}" type="pres">
      <dgm:prSet presAssocID="{9F16276F-3F80-4F7E-B8BE-D0FE770A5776}" presName="node" presStyleLbl="node1" presStyleIdx="1" presStyleCnt="2" custScaleY="44461">
        <dgm:presLayoutVars>
          <dgm:bulletEnabled val="1"/>
        </dgm:presLayoutVars>
      </dgm:prSet>
      <dgm:spPr/>
    </dgm:pt>
  </dgm:ptLst>
  <dgm:cxnLst>
    <dgm:cxn modelId="{3FCB1C71-26A3-4A29-A86A-39066C22930C}" type="presOf" srcId="{9F16276F-3F80-4F7E-B8BE-D0FE770A5776}" destId="{3F201DBF-7257-4F56-BB61-10D0C62E641E}" srcOrd="0" destOrd="0" presId="urn:microsoft.com/office/officeart/2005/8/layout/process1"/>
    <dgm:cxn modelId="{23A8189D-F931-43C5-8A94-F6C9A83BCCBD}" srcId="{7B6FEF65-91A3-4A76-939F-AB7BAEB38B5E}" destId="{DC424D30-961E-42BE-AB85-93AE8F862A64}" srcOrd="0" destOrd="0" parTransId="{08D49EEF-FF5C-40DF-AE92-B59E0D397035}" sibTransId="{0A8A3ED8-49E3-400C-9E97-11F37058C41C}"/>
    <dgm:cxn modelId="{22459DB4-5FE0-4CD6-BF1A-E9988AC66BD5}" type="presOf" srcId="{7B6FEF65-91A3-4A76-939F-AB7BAEB38B5E}" destId="{4C4EC579-9359-4864-B689-AAD670F4DE46}" srcOrd="0" destOrd="0" presId="urn:microsoft.com/office/officeart/2005/8/layout/process1"/>
    <dgm:cxn modelId="{726008E4-03F0-4745-893E-C8CDDD4ED469}" type="presOf" srcId="{0A8A3ED8-49E3-400C-9E97-11F37058C41C}" destId="{56E2C394-FEED-4D41-BBF8-12B2A182C7F0}" srcOrd="1" destOrd="0" presId="urn:microsoft.com/office/officeart/2005/8/layout/process1"/>
    <dgm:cxn modelId="{A02BDEF0-DD1D-4D0A-B70E-D9E16DB0E03C}" srcId="{7B6FEF65-91A3-4A76-939F-AB7BAEB38B5E}" destId="{9F16276F-3F80-4F7E-B8BE-D0FE770A5776}" srcOrd="1" destOrd="0" parTransId="{B74552A3-E849-4225-83B5-8354BBC57043}" sibTransId="{2EA2B818-06C1-4EB6-A810-0B31FC6A3ABF}"/>
    <dgm:cxn modelId="{C8B4D7F6-8269-4E7C-9530-D54777FF38C4}" type="presOf" srcId="{DC424D30-961E-42BE-AB85-93AE8F862A64}" destId="{45360C1C-0E65-4C6A-A032-C45AA2E4CBF4}" srcOrd="0" destOrd="0" presId="urn:microsoft.com/office/officeart/2005/8/layout/process1"/>
    <dgm:cxn modelId="{A6DBE7FF-2A32-475C-91A2-C56226AE799E}" type="presOf" srcId="{0A8A3ED8-49E3-400C-9E97-11F37058C41C}" destId="{853606CE-03FD-45D5-A4AA-545561D29A4A}" srcOrd="0" destOrd="0" presId="urn:microsoft.com/office/officeart/2005/8/layout/process1"/>
    <dgm:cxn modelId="{82A51A45-CD50-4821-8A9C-CE3DA7A9A3AD}" type="presParOf" srcId="{4C4EC579-9359-4864-B689-AAD670F4DE46}" destId="{45360C1C-0E65-4C6A-A032-C45AA2E4CBF4}" srcOrd="0" destOrd="0" presId="urn:microsoft.com/office/officeart/2005/8/layout/process1"/>
    <dgm:cxn modelId="{C1EB7C83-EE4C-40E8-8700-A800A94B5E32}" type="presParOf" srcId="{4C4EC579-9359-4864-B689-AAD670F4DE46}" destId="{853606CE-03FD-45D5-A4AA-545561D29A4A}" srcOrd="1" destOrd="0" presId="urn:microsoft.com/office/officeart/2005/8/layout/process1"/>
    <dgm:cxn modelId="{5122AA97-1386-48C5-ADFF-68ECD0496099}" type="presParOf" srcId="{853606CE-03FD-45D5-A4AA-545561D29A4A}" destId="{56E2C394-FEED-4D41-BBF8-12B2A182C7F0}" srcOrd="0" destOrd="0" presId="urn:microsoft.com/office/officeart/2005/8/layout/process1"/>
    <dgm:cxn modelId="{C280F709-12B2-4638-B90C-7657FB3016A3}" type="presParOf" srcId="{4C4EC579-9359-4864-B689-AAD670F4DE46}" destId="{3F201DBF-7257-4F56-BB61-10D0C62E641E}" srcOrd="2"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A472C7B-05BF-41EB-AB5C-A9A0711FFB89}"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3E372F18-0A12-490E-8139-54948120EDEF}">
      <dgm:prSet/>
      <dgm:spPr/>
      <dgm:t>
        <a:bodyPr/>
        <a:lstStyle/>
        <a:p>
          <a:r>
            <a:rPr lang="en-US"/>
            <a:t>A subfield of machine learning where data representation is learned</a:t>
          </a:r>
        </a:p>
      </dgm:t>
    </dgm:pt>
    <dgm:pt modelId="{FA335781-B8A8-472C-8E27-99E5A62F28BF}" type="parTrans" cxnId="{9C306EA1-2D91-4A3E-8D4F-3B13C29C8A63}">
      <dgm:prSet/>
      <dgm:spPr/>
      <dgm:t>
        <a:bodyPr/>
        <a:lstStyle/>
        <a:p>
          <a:endParaRPr lang="en-US"/>
        </a:p>
      </dgm:t>
    </dgm:pt>
    <dgm:pt modelId="{A02A60B2-A58C-4791-BC6F-D4F1B05A4699}" type="sibTrans" cxnId="{9C306EA1-2D91-4A3E-8D4F-3B13C29C8A63}">
      <dgm:prSet/>
      <dgm:spPr/>
      <dgm:t>
        <a:bodyPr/>
        <a:lstStyle/>
        <a:p>
          <a:endParaRPr lang="en-US"/>
        </a:p>
      </dgm:t>
    </dgm:pt>
    <dgm:pt modelId="{24AB130A-1334-4FC4-AA59-6A49AB8AD12B}">
      <dgm:prSet/>
      <dgm:spPr/>
      <dgm:t>
        <a:bodyPr/>
        <a:lstStyle/>
        <a:p>
          <a:r>
            <a:rPr lang="en-US"/>
            <a:t>Deep learning algorithms attempt to learn (multiple levels of) representation by using a hierarchy of multiple layers</a:t>
          </a:r>
        </a:p>
      </dgm:t>
    </dgm:pt>
    <dgm:pt modelId="{8C9DC383-98A0-46AE-9B60-483EF7B96179}" type="parTrans" cxnId="{ABF91220-617A-4DF6-90C2-3F9FA8C241A1}">
      <dgm:prSet/>
      <dgm:spPr/>
      <dgm:t>
        <a:bodyPr/>
        <a:lstStyle/>
        <a:p>
          <a:endParaRPr lang="en-US"/>
        </a:p>
      </dgm:t>
    </dgm:pt>
    <dgm:pt modelId="{1D761F94-B452-4EF8-9868-6AECDD48F3E4}" type="sibTrans" cxnId="{ABF91220-617A-4DF6-90C2-3F9FA8C241A1}">
      <dgm:prSet/>
      <dgm:spPr/>
      <dgm:t>
        <a:bodyPr/>
        <a:lstStyle/>
        <a:p>
          <a:endParaRPr lang="en-US"/>
        </a:p>
      </dgm:t>
    </dgm:pt>
    <dgm:pt modelId="{CCED4A57-8EEF-4272-9F5A-709A7E76AA2D}">
      <dgm:prSet/>
      <dgm:spPr/>
      <dgm:t>
        <a:bodyPr/>
        <a:lstStyle/>
        <a:p>
          <a:r>
            <a:rPr lang="en-US"/>
            <a:t>Require tons of data before it begins to understand it and respond in useful ways.</a:t>
          </a:r>
        </a:p>
      </dgm:t>
    </dgm:pt>
    <dgm:pt modelId="{638FA7B3-ABE7-4929-8D53-65B40B59AA97}" type="parTrans" cxnId="{E88B61F7-ACF6-470F-978E-65BDAA3053F9}">
      <dgm:prSet/>
      <dgm:spPr/>
      <dgm:t>
        <a:bodyPr/>
        <a:lstStyle/>
        <a:p>
          <a:endParaRPr lang="en-US"/>
        </a:p>
      </dgm:t>
    </dgm:pt>
    <dgm:pt modelId="{4079E405-0AA9-49DA-B60B-5E1E9D0581F5}" type="sibTrans" cxnId="{E88B61F7-ACF6-470F-978E-65BDAA3053F9}">
      <dgm:prSet/>
      <dgm:spPr/>
      <dgm:t>
        <a:bodyPr/>
        <a:lstStyle/>
        <a:p>
          <a:endParaRPr lang="en-US"/>
        </a:p>
      </dgm:t>
    </dgm:pt>
    <dgm:pt modelId="{0BE93E1B-2598-40E7-985E-0178F5AF70F9}" type="pres">
      <dgm:prSet presAssocID="{8A472C7B-05BF-41EB-AB5C-A9A0711FFB89}" presName="linear" presStyleCnt="0">
        <dgm:presLayoutVars>
          <dgm:animLvl val="lvl"/>
          <dgm:resizeHandles val="exact"/>
        </dgm:presLayoutVars>
      </dgm:prSet>
      <dgm:spPr/>
    </dgm:pt>
    <dgm:pt modelId="{C58DDB67-A955-4D7A-AA57-6A2BB076FE4C}" type="pres">
      <dgm:prSet presAssocID="{3E372F18-0A12-490E-8139-54948120EDEF}" presName="parentText" presStyleLbl="node1" presStyleIdx="0" presStyleCnt="3">
        <dgm:presLayoutVars>
          <dgm:chMax val="0"/>
          <dgm:bulletEnabled val="1"/>
        </dgm:presLayoutVars>
      </dgm:prSet>
      <dgm:spPr/>
    </dgm:pt>
    <dgm:pt modelId="{B991E6CB-CE19-4BDA-8AEC-F3E5C8715586}" type="pres">
      <dgm:prSet presAssocID="{A02A60B2-A58C-4791-BC6F-D4F1B05A4699}" presName="spacer" presStyleCnt="0"/>
      <dgm:spPr/>
    </dgm:pt>
    <dgm:pt modelId="{3E19B1D3-6B3B-4561-B66D-DA341A7DBF61}" type="pres">
      <dgm:prSet presAssocID="{24AB130A-1334-4FC4-AA59-6A49AB8AD12B}" presName="parentText" presStyleLbl="node1" presStyleIdx="1" presStyleCnt="3">
        <dgm:presLayoutVars>
          <dgm:chMax val="0"/>
          <dgm:bulletEnabled val="1"/>
        </dgm:presLayoutVars>
      </dgm:prSet>
      <dgm:spPr/>
    </dgm:pt>
    <dgm:pt modelId="{3F9896BD-F398-4F1A-BD34-CA389828F10F}" type="pres">
      <dgm:prSet presAssocID="{1D761F94-B452-4EF8-9868-6AECDD48F3E4}" presName="spacer" presStyleCnt="0"/>
      <dgm:spPr/>
    </dgm:pt>
    <dgm:pt modelId="{C71DFC5F-D7C8-47C1-8BFA-D493DBDC998C}" type="pres">
      <dgm:prSet presAssocID="{CCED4A57-8EEF-4272-9F5A-709A7E76AA2D}" presName="parentText" presStyleLbl="node1" presStyleIdx="2" presStyleCnt="3">
        <dgm:presLayoutVars>
          <dgm:chMax val="0"/>
          <dgm:bulletEnabled val="1"/>
        </dgm:presLayoutVars>
      </dgm:prSet>
      <dgm:spPr/>
    </dgm:pt>
  </dgm:ptLst>
  <dgm:cxnLst>
    <dgm:cxn modelId="{ABF91220-617A-4DF6-90C2-3F9FA8C241A1}" srcId="{8A472C7B-05BF-41EB-AB5C-A9A0711FFB89}" destId="{24AB130A-1334-4FC4-AA59-6A49AB8AD12B}" srcOrd="1" destOrd="0" parTransId="{8C9DC383-98A0-46AE-9B60-483EF7B96179}" sibTransId="{1D761F94-B452-4EF8-9868-6AECDD48F3E4}"/>
    <dgm:cxn modelId="{895A6B37-88E8-4F12-8D81-BC4095331B85}" type="presOf" srcId="{24AB130A-1334-4FC4-AA59-6A49AB8AD12B}" destId="{3E19B1D3-6B3B-4561-B66D-DA341A7DBF61}" srcOrd="0" destOrd="0" presId="urn:microsoft.com/office/officeart/2005/8/layout/vList2"/>
    <dgm:cxn modelId="{CBE9E765-8763-4D4D-814A-CDEEB719E297}" type="presOf" srcId="{3E372F18-0A12-490E-8139-54948120EDEF}" destId="{C58DDB67-A955-4D7A-AA57-6A2BB076FE4C}" srcOrd="0" destOrd="0" presId="urn:microsoft.com/office/officeart/2005/8/layout/vList2"/>
    <dgm:cxn modelId="{6D1AC06C-33FE-469C-8BC1-1F481AA77B60}" type="presOf" srcId="{CCED4A57-8EEF-4272-9F5A-709A7E76AA2D}" destId="{C71DFC5F-D7C8-47C1-8BFA-D493DBDC998C}" srcOrd="0" destOrd="0" presId="urn:microsoft.com/office/officeart/2005/8/layout/vList2"/>
    <dgm:cxn modelId="{832ED578-E8D7-486C-864B-733F04939707}" type="presOf" srcId="{8A472C7B-05BF-41EB-AB5C-A9A0711FFB89}" destId="{0BE93E1B-2598-40E7-985E-0178F5AF70F9}" srcOrd="0" destOrd="0" presId="urn:microsoft.com/office/officeart/2005/8/layout/vList2"/>
    <dgm:cxn modelId="{9C306EA1-2D91-4A3E-8D4F-3B13C29C8A63}" srcId="{8A472C7B-05BF-41EB-AB5C-A9A0711FFB89}" destId="{3E372F18-0A12-490E-8139-54948120EDEF}" srcOrd="0" destOrd="0" parTransId="{FA335781-B8A8-472C-8E27-99E5A62F28BF}" sibTransId="{A02A60B2-A58C-4791-BC6F-D4F1B05A4699}"/>
    <dgm:cxn modelId="{E88B61F7-ACF6-470F-978E-65BDAA3053F9}" srcId="{8A472C7B-05BF-41EB-AB5C-A9A0711FFB89}" destId="{CCED4A57-8EEF-4272-9F5A-709A7E76AA2D}" srcOrd="2" destOrd="0" parTransId="{638FA7B3-ABE7-4929-8D53-65B40B59AA97}" sibTransId="{4079E405-0AA9-49DA-B60B-5E1E9D0581F5}"/>
    <dgm:cxn modelId="{D87AE138-464B-438A-BB15-063D9EBEEF88}" type="presParOf" srcId="{0BE93E1B-2598-40E7-985E-0178F5AF70F9}" destId="{C58DDB67-A955-4D7A-AA57-6A2BB076FE4C}" srcOrd="0" destOrd="0" presId="urn:microsoft.com/office/officeart/2005/8/layout/vList2"/>
    <dgm:cxn modelId="{CA100CDF-B8B2-44FD-A5B3-AB2659644EC4}" type="presParOf" srcId="{0BE93E1B-2598-40E7-985E-0178F5AF70F9}" destId="{B991E6CB-CE19-4BDA-8AEC-F3E5C8715586}" srcOrd="1" destOrd="0" presId="urn:microsoft.com/office/officeart/2005/8/layout/vList2"/>
    <dgm:cxn modelId="{585386E4-6674-4932-975E-0D29A00926D0}" type="presParOf" srcId="{0BE93E1B-2598-40E7-985E-0178F5AF70F9}" destId="{3E19B1D3-6B3B-4561-B66D-DA341A7DBF61}" srcOrd="2" destOrd="0" presId="urn:microsoft.com/office/officeart/2005/8/layout/vList2"/>
    <dgm:cxn modelId="{FF38CAF4-BC31-4424-B588-86BC10AA315A}" type="presParOf" srcId="{0BE93E1B-2598-40E7-985E-0178F5AF70F9}" destId="{3F9896BD-F398-4F1A-BD34-CA389828F10F}" srcOrd="3" destOrd="0" presId="urn:microsoft.com/office/officeart/2005/8/layout/vList2"/>
    <dgm:cxn modelId="{ADC90186-CD96-4EE1-A789-6EDDCF2206DF}" type="presParOf" srcId="{0BE93E1B-2598-40E7-985E-0178F5AF70F9}" destId="{C71DFC5F-D7C8-47C1-8BFA-D493DBDC998C}"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BA6805A-C242-4153-B0C5-DFCFEB41CC4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10138BD0-3B3D-4F1F-A021-BD13B7642CA0}">
      <dgm:prSet/>
      <dgm:spPr/>
      <dgm:t>
        <a:bodyPr/>
        <a:lstStyle/>
        <a:p>
          <a:r>
            <a:rPr lang="en-US"/>
            <a:t>Manually designed features are often over-specified, incomplete, time-consuming, and non-scalable.</a:t>
          </a:r>
        </a:p>
      </dgm:t>
    </dgm:pt>
    <dgm:pt modelId="{4B25D6A0-6820-4208-9A5E-F02CEBCCD621}" type="parTrans" cxnId="{F56BBA1A-B0EF-454A-8495-A12A470B7C30}">
      <dgm:prSet/>
      <dgm:spPr/>
      <dgm:t>
        <a:bodyPr/>
        <a:lstStyle/>
        <a:p>
          <a:endParaRPr lang="en-US"/>
        </a:p>
      </dgm:t>
    </dgm:pt>
    <dgm:pt modelId="{C7D63854-17AD-45FB-B67C-0BB6F2DB4EFE}" type="sibTrans" cxnId="{F56BBA1A-B0EF-454A-8495-A12A470B7C30}">
      <dgm:prSet/>
      <dgm:spPr/>
      <dgm:t>
        <a:bodyPr/>
        <a:lstStyle/>
        <a:p>
          <a:endParaRPr lang="en-US"/>
        </a:p>
      </dgm:t>
    </dgm:pt>
    <dgm:pt modelId="{50D58816-8820-4DD2-9BC2-0EF5348614F6}">
      <dgm:prSet/>
      <dgm:spPr/>
      <dgm:t>
        <a:bodyPr/>
        <a:lstStyle/>
        <a:p>
          <a:r>
            <a:rPr lang="en-US"/>
            <a:t>Deep learning learns the features directly from data</a:t>
          </a:r>
        </a:p>
      </dgm:t>
    </dgm:pt>
    <dgm:pt modelId="{F12FAFDC-160F-4419-BDC1-1C3EAD815468}" type="parTrans" cxnId="{E7C3D206-E5A4-4493-A119-B2717E95781B}">
      <dgm:prSet/>
      <dgm:spPr/>
      <dgm:t>
        <a:bodyPr/>
        <a:lstStyle/>
        <a:p>
          <a:endParaRPr lang="en-US"/>
        </a:p>
      </dgm:t>
    </dgm:pt>
    <dgm:pt modelId="{20185527-49A2-4B6E-947B-03F53D9ACF39}" type="sibTrans" cxnId="{E7C3D206-E5A4-4493-A119-B2717E95781B}">
      <dgm:prSet/>
      <dgm:spPr/>
      <dgm:t>
        <a:bodyPr/>
        <a:lstStyle/>
        <a:p>
          <a:endParaRPr lang="en-US"/>
        </a:p>
      </dgm:t>
    </dgm:pt>
    <dgm:pt modelId="{3BCB25F2-1B7C-4B05-B21A-17F52C549BD6}" type="pres">
      <dgm:prSet presAssocID="{FBA6805A-C242-4153-B0C5-DFCFEB41CC4B}" presName="linear" presStyleCnt="0">
        <dgm:presLayoutVars>
          <dgm:animLvl val="lvl"/>
          <dgm:resizeHandles val="exact"/>
        </dgm:presLayoutVars>
      </dgm:prSet>
      <dgm:spPr/>
    </dgm:pt>
    <dgm:pt modelId="{97995D1F-716D-43A5-A838-22D2AEBFD045}" type="pres">
      <dgm:prSet presAssocID="{10138BD0-3B3D-4F1F-A021-BD13B7642CA0}" presName="parentText" presStyleLbl="node1" presStyleIdx="0" presStyleCnt="2">
        <dgm:presLayoutVars>
          <dgm:chMax val="0"/>
          <dgm:bulletEnabled val="1"/>
        </dgm:presLayoutVars>
      </dgm:prSet>
      <dgm:spPr/>
    </dgm:pt>
    <dgm:pt modelId="{B6A8B8C5-0C86-4160-B852-F01AA8EEA106}" type="pres">
      <dgm:prSet presAssocID="{C7D63854-17AD-45FB-B67C-0BB6F2DB4EFE}" presName="spacer" presStyleCnt="0"/>
      <dgm:spPr/>
    </dgm:pt>
    <dgm:pt modelId="{FFEB27AD-E1CD-4B5B-956D-63E881B6D216}" type="pres">
      <dgm:prSet presAssocID="{50D58816-8820-4DD2-9BC2-0EF5348614F6}" presName="parentText" presStyleLbl="node1" presStyleIdx="1" presStyleCnt="2">
        <dgm:presLayoutVars>
          <dgm:chMax val="0"/>
          <dgm:bulletEnabled val="1"/>
        </dgm:presLayoutVars>
      </dgm:prSet>
      <dgm:spPr/>
    </dgm:pt>
  </dgm:ptLst>
  <dgm:cxnLst>
    <dgm:cxn modelId="{E7C3D206-E5A4-4493-A119-B2717E95781B}" srcId="{FBA6805A-C242-4153-B0C5-DFCFEB41CC4B}" destId="{50D58816-8820-4DD2-9BC2-0EF5348614F6}" srcOrd="1" destOrd="0" parTransId="{F12FAFDC-160F-4419-BDC1-1C3EAD815468}" sibTransId="{20185527-49A2-4B6E-947B-03F53D9ACF39}"/>
    <dgm:cxn modelId="{F56BBA1A-B0EF-454A-8495-A12A470B7C30}" srcId="{FBA6805A-C242-4153-B0C5-DFCFEB41CC4B}" destId="{10138BD0-3B3D-4F1F-A021-BD13B7642CA0}" srcOrd="0" destOrd="0" parTransId="{4B25D6A0-6820-4208-9A5E-F02CEBCCD621}" sibTransId="{C7D63854-17AD-45FB-B67C-0BB6F2DB4EFE}"/>
    <dgm:cxn modelId="{F059E86A-32C0-49BE-B923-0FEA0E372EBC}" type="presOf" srcId="{FBA6805A-C242-4153-B0C5-DFCFEB41CC4B}" destId="{3BCB25F2-1B7C-4B05-B21A-17F52C549BD6}" srcOrd="0" destOrd="0" presId="urn:microsoft.com/office/officeart/2005/8/layout/vList2"/>
    <dgm:cxn modelId="{38BBEDD3-E6E3-4475-B20D-D96EF99B48D4}" type="presOf" srcId="{50D58816-8820-4DD2-9BC2-0EF5348614F6}" destId="{FFEB27AD-E1CD-4B5B-956D-63E881B6D216}" srcOrd="0" destOrd="0" presId="urn:microsoft.com/office/officeart/2005/8/layout/vList2"/>
    <dgm:cxn modelId="{09ED3CDA-CB9E-492F-8C1F-D389F838D0F1}" type="presOf" srcId="{10138BD0-3B3D-4F1F-A021-BD13B7642CA0}" destId="{97995D1F-716D-43A5-A838-22D2AEBFD045}" srcOrd="0" destOrd="0" presId="urn:microsoft.com/office/officeart/2005/8/layout/vList2"/>
    <dgm:cxn modelId="{2CAE29D5-6844-420C-A7C9-3C065A3BA012}" type="presParOf" srcId="{3BCB25F2-1B7C-4B05-B21A-17F52C549BD6}" destId="{97995D1F-716D-43A5-A838-22D2AEBFD045}" srcOrd="0" destOrd="0" presId="urn:microsoft.com/office/officeart/2005/8/layout/vList2"/>
    <dgm:cxn modelId="{D86633CC-48B9-4CD6-9233-27A15B7025B8}" type="presParOf" srcId="{3BCB25F2-1B7C-4B05-B21A-17F52C549BD6}" destId="{B6A8B8C5-0C86-4160-B852-F01AA8EEA106}" srcOrd="1" destOrd="0" presId="urn:microsoft.com/office/officeart/2005/8/layout/vList2"/>
    <dgm:cxn modelId="{E41DCA3A-8B04-44E5-9AFC-8B25B785448D}" type="presParOf" srcId="{3BCB25F2-1B7C-4B05-B21A-17F52C549BD6}" destId="{FFEB27AD-E1CD-4B5B-956D-63E881B6D216}"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360C1C-0E65-4C6A-A032-C45AA2E4CBF4}">
      <dsp:nvSpPr>
        <dsp:cNvPr id="0" name=""/>
        <dsp:cNvSpPr/>
      </dsp:nvSpPr>
      <dsp:spPr>
        <a:xfrm>
          <a:off x="95248" y="1143007"/>
          <a:ext cx="2210253" cy="1135663"/>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dirty="0"/>
            <a:t>Input Data</a:t>
          </a:r>
        </a:p>
      </dsp:txBody>
      <dsp:txXfrm>
        <a:off x="128510" y="1176269"/>
        <a:ext cx="2143729" cy="1069139"/>
      </dsp:txXfrm>
    </dsp:sp>
    <dsp:sp modelId="{853606CE-03FD-45D5-A4AA-545561D29A4A}">
      <dsp:nvSpPr>
        <dsp:cNvPr id="0" name=""/>
        <dsp:cNvSpPr/>
      </dsp:nvSpPr>
      <dsp:spPr>
        <a:xfrm>
          <a:off x="2514944" y="1436768"/>
          <a:ext cx="444020" cy="548142"/>
        </a:xfrm>
        <a:prstGeom prst="rightArrow">
          <a:avLst>
            <a:gd name="adj1" fmla="val 60000"/>
            <a:gd name="adj2" fmla="val 5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IN" sz="2100" kern="1200"/>
        </a:p>
      </dsp:txBody>
      <dsp:txXfrm>
        <a:off x="2514944" y="1546396"/>
        <a:ext cx="310814" cy="328886"/>
      </dsp:txXfrm>
    </dsp:sp>
    <dsp:sp modelId="{1651FF80-0D82-4AD6-B658-F07D9EFF5F87}">
      <dsp:nvSpPr>
        <dsp:cNvPr id="0" name=""/>
        <dsp:cNvSpPr/>
      </dsp:nvSpPr>
      <dsp:spPr>
        <a:xfrm>
          <a:off x="3143275" y="1143007"/>
          <a:ext cx="2210253" cy="1135663"/>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dirty="0"/>
            <a:t>Feature Engineering</a:t>
          </a:r>
        </a:p>
      </dsp:txBody>
      <dsp:txXfrm>
        <a:off x="3176537" y="1176269"/>
        <a:ext cx="2143729" cy="1069139"/>
      </dsp:txXfrm>
    </dsp:sp>
    <dsp:sp modelId="{AEF59788-69F0-4B90-8309-A8B0322E97BD}">
      <dsp:nvSpPr>
        <dsp:cNvPr id="0" name=""/>
        <dsp:cNvSpPr/>
      </dsp:nvSpPr>
      <dsp:spPr>
        <a:xfrm>
          <a:off x="5539156" y="1436768"/>
          <a:ext cx="393531" cy="548142"/>
        </a:xfrm>
        <a:prstGeom prst="rightArrow">
          <a:avLst>
            <a:gd name="adj1" fmla="val 60000"/>
            <a:gd name="adj2" fmla="val 5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IN" sz="2100" kern="1200"/>
        </a:p>
      </dsp:txBody>
      <dsp:txXfrm>
        <a:off x="5539156" y="1546396"/>
        <a:ext cx="275472" cy="328886"/>
      </dsp:txXfrm>
    </dsp:sp>
    <dsp:sp modelId="{3F201DBF-7257-4F56-BB61-10D0C62E641E}">
      <dsp:nvSpPr>
        <dsp:cNvPr id="0" name=""/>
        <dsp:cNvSpPr/>
      </dsp:nvSpPr>
      <dsp:spPr>
        <a:xfrm>
          <a:off x="6096041" y="1143007"/>
          <a:ext cx="2210253" cy="1135663"/>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dirty="0"/>
            <a:t>Traditional ML Algorithms</a:t>
          </a:r>
        </a:p>
      </dsp:txBody>
      <dsp:txXfrm>
        <a:off x="6129303" y="1176269"/>
        <a:ext cx="2143729" cy="10691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360C1C-0E65-4C6A-A032-C45AA2E4CBF4}">
      <dsp:nvSpPr>
        <dsp:cNvPr id="0" name=""/>
        <dsp:cNvSpPr/>
      </dsp:nvSpPr>
      <dsp:spPr>
        <a:xfrm>
          <a:off x="3" y="207647"/>
          <a:ext cx="3570504" cy="918190"/>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IN" sz="2500" kern="1200" dirty="0"/>
            <a:t>Input Data</a:t>
          </a:r>
        </a:p>
      </dsp:txBody>
      <dsp:txXfrm>
        <a:off x="26896" y="234540"/>
        <a:ext cx="3516718" cy="864404"/>
      </dsp:txXfrm>
    </dsp:sp>
    <dsp:sp modelId="{853606CE-03FD-45D5-A4AA-545561D29A4A}">
      <dsp:nvSpPr>
        <dsp:cNvPr id="0" name=""/>
        <dsp:cNvSpPr/>
      </dsp:nvSpPr>
      <dsp:spPr>
        <a:xfrm>
          <a:off x="3927976" y="223999"/>
          <a:ext cx="757832" cy="885485"/>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IN" sz="2000" kern="1200"/>
        </a:p>
      </dsp:txBody>
      <dsp:txXfrm>
        <a:off x="3927976" y="401096"/>
        <a:ext cx="530482" cy="531291"/>
      </dsp:txXfrm>
    </dsp:sp>
    <dsp:sp modelId="{3F201DBF-7257-4F56-BB61-10D0C62E641E}">
      <dsp:nvSpPr>
        <dsp:cNvPr id="0" name=""/>
        <dsp:cNvSpPr/>
      </dsp:nvSpPr>
      <dsp:spPr>
        <a:xfrm>
          <a:off x="5000380" y="190497"/>
          <a:ext cx="3570504" cy="95248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IN" sz="2500" kern="1200" dirty="0"/>
            <a:t>Deep Learning Algorithms</a:t>
          </a:r>
        </a:p>
      </dsp:txBody>
      <dsp:txXfrm>
        <a:off x="5028277" y="218394"/>
        <a:ext cx="3514710" cy="8966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8DDB67-A955-4D7A-AA57-6A2BB076FE4C}">
      <dsp:nvSpPr>
        <dsp:cNvPr id="0" name=""/>
        <dsp:cNvSpPr/>
      </dsp:nvSpPr>
      <dsp:spPr>
        <a:xfrm>
          <a:off x="0" y="322197"/>
          <a:ext cx="6263640" cy="156633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A subfield of machine learning where data representation is learned</a:t>
          </a:r>
        </a:p>
      </dsp:txBody>
      <dsp:txXfrm>
        <a:off x="76462" y="398659"/>
        <a:ext cx="6110716" cy="1413413"/>
      </dsp:txXfrm>
    </dsp:sp>
    <dsp:sp modelId="{3E19B1D3-6B3B-4561-B66D-DA341A7DBF61}">
      <dsp:nvSpPr>
        <dsp:cNvPr id="0" name=""/>
        <dsp:cNvSpPr/>
      </dsp:nvSpPr>
      <dsp:spPr>
        <a:xfrm>
          <a:off x="0" y="1969175"/>
          <a:ext cx="6263640" cy="1566337"/>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Deep learning algorithms attempt to learn (multiple levels of) representation by using a hierarchy of multiple layers</a:t>
          </a:r>
        </a:p>
      </dsp:txBody>
      <dsp:txXfrm>
        <a:off x="76462" y="2045637"/>
        <a:ext cx="6110716" cy="1413413"/>
      </dsp:txXfrm>
    </dsp:sp>
    <dsp:sp modelId="{C71DFC5F-D7C8-47C1-8BFA-D493DBDC998C}">
      <dsp:nvSpPr>
        <dsp:cNvPr id="0" name=""/>
        <dsp:cNvSpPr/>
      </dsp:nvSpPr>
      <dsp:spPr>
        <a:xfrm>
          <a:off x="0" y="3616152"/>
          <a:ext cx="6263640" cy="1566337"/>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Require tons of data before it begins to understand it and respond in useful ways.</a:t>
          </a:r>
        </a:p>
      </dsp:txBody>
      <dsp:txXfrm>
        <a:off x="76462" y="3692614"/>
        <a:ext cx="6110716" cy="141341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995D1F-716D-43A5-A838-22D2AEBFD045}">
      <dsp:nvSpPr>
        <dsp:cNvPr id="0" name=""/>
        <dsp:cNvSpPr/>
      </dsp:nvSpPr>
      <dsp:spPr>
        <a:xfrm>
          <a:off x="0" y="58373"/>
          <a:ext cx="6263640" cy="264069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Manually designed features are often over-specified, incomplete, time-consuming, and non-scalable.</a:t>
          </a:r>
        </a:p>
      </dsp:txBody>
      <dsp:txXfrm>
        <a:off x="128908" y="187281"/>
        <a:ext cx="6005824" cy="2382874"/>
      </dsp:txXfrm>
    </dsp:sp>
    <dsp:sp modelId="{FFEB27AD-E1CD-4B5B-956D-63E881B6D216}">
      <dsp:nvSpPr>
        <dsp:cNvPr id="0" name=""/>
        <dsp:cNvSpPr/>
      </dsp:nvSpPr>
      <dsp:spPr>
        <a:xfrm>
          <a:off x="0" y="2805623"/>
          <a:ext cx="6263640" cy="264069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Deep learning learns the features directly from data</a:t>
          </a:r>
        </a:p>
      </dsp:txBody>
      <dsp:txXfrm>
        <a:off x="128908" y="2934531"/>
        <a:ext cx="6005824" cy="238287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D7F3BA-5C2C-4447-B995-54F683C0930A}" type="datetimeFigureOut">
              <a:rPr lang="en-IN" smtClean="0"/>
              <a:t>02-07-2026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4216B5-ABB0-425F-AA84-B4A3AD6D932D}" type="slidenum">
              <a:rPr lang="en-IN" smtClean="0"/>
              <a:t>‹#›</a:t>
            </a:fld>
            <a:endParaRPr lang="en-IN"/>
          </a:p>
        </p:txBody>
      </p:sp>
    </p:spTree>
    <p:extLst>
      <p:ext uri="{BB962C8B-B14F-4D97-AF65-F5344CB8AC3E}">
        <p14:creationId xmlns:p14="http://schemas.microsoft.com/office/powerpoint/2010/main" val="2730825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autonomous vehicles and self-driving cars but before they can hit the road, they have to train and tested for different road situations. Obviously, newly created autonomous vehicles cannot be put on real roads. So there is a need to create a simulated environment for them to learn different road scenarios. Vista 2.0 is a simulator that presents the environment for self driving cars to learn. Using such simulation tools, the vehicle can be tested in different scenarios quickly and cost effectively. This reduces the need for physical road tests. </a:t>
            </a:r>
            <a:r>
              <a:rPr lang="en-US" b="0" i="0" dirty="0">
                <a:solidFill>
                  <a:srgbClr val="000000"/>
                </a:solidFill>
                <a:effectLst/>
                <a:latin typeface="Source Sans Pro" panose="020B0503030403020204" pitchFamily="34" charset="0"/>
              </a:rPr>
              <a:t>Because simulation is conducted in a virtual environment, it continues to be faster, less expensive</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2894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move on to understanding what is deep learning and how it distinguishes it from AI and ML. Who will tell me what is Intelligence?</a:t>
            </a:r>
          </a:p>
          <a:p>
            <a:r>
              <a:rPr lang="en-US" dirty="0"/>
              <a:t>So intelligence is taking some input data, process it, and make some useful meaningful well-informed decisions based on it. When computers try to do the same, it is known as artificial intelligence. </a:t>
            </a:r>
          </a:p>
          <a:p>
            <a:r>
              <a:rPr lang="en-US" dirty="0"/>
              <a:t>Machine learning is a subset of AI and focuses on teaching a computer to learn from data or experiences without being explicitly programmed. So when we make machine learning algorithm, we do not provide rules with the help of which it solves different tasks. It learn to generate rules and do that itself.</a:t>
            </a:r>
          </a:p>
          <a:p>
            <a:r>
              <a:rPr lang="en-US" dirty="0"/>
              <a:t>Deep learning is a subset of Machine Learning which uses neural networks that automatically learn useful features/patterns from the data and make decisions.</a:t>
            </a:r>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5</a:t>
            </a:fld>
            <a:endParaRPr lang="en-IN"/>
          </a:p>
        </p:txBody>
      </p:sp>
    </p:spTree>
    <p:extLst>
      <p:ext uri="{BB962C8B-B14F-4D97-AF65-F5344CB8AC3E}">
        <p14:creationId xmlns:p14="http://schemas.microsoft.com/office/powerpoint/2010/main" val="937505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ML algo typically learn using the set of rules and features of the data.</a:t>
            </a: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6307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deep learning, the key highlight is the features are learned automatically from the data. So we just need to provide the  data to the DL model, and it will itself select appropriate features and learn from them to take decisions. Deep learning learn these features in a hierarchical manner.</a:t>
            </a:r>
            <a:endParaRPr lang="en-IN" dirty="0"/>
          </a:p>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7</a:t>
            </a:fld>
            <a:endParaRPr lang="en-IN"/>
          </a:p>
        </p:txBody>
      </p:sp>
    </p:spTree>
    <p:extLst>
      <p:ext uri="{BB962C8B-B14F-4D97-AF65-F5344CB8AC3E}">
        <p14:creationId xmlns:p14="http://schemas.microsoft.com/office/powerpoint/2010/main" val="2672714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let’s say the task is to detect faces from a set of images. So a training image set is provided to the DL model. Now first it will learn low-level features such as edges. Then build up those edges to make eyes, nose, or other facial features, and then build up the whole face structure features based on mid-level features.  </a:t>
            </a:r>
          </a:p>
          <a:p>
            <a:endParaRPr lang="en-US" dirty="0"/>
          </a:p>
          <a:p>
            <a:r>
              <a:rPr lang="en-US" dirty="0"/>
              <a:t>So, Deep learning using its multiple layers learn these hierarchical features, so that it can apply machine learning on it to take decisions.</a:t>
            </a:r>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8</a:t>
            </a:fld>
            <a:endParaRPr lang="en-IN"/>
          </a:p>
        </p:txBody>
      </p:sp>
    </p:spTree>
    <p:extLst>
      <p:ext uri="{BB962C8B-B14F-4D97-AF65-F5344CB8AC3E}">
        <p14:creationId xmlns:p14="http://schemas.microsoft.com/office/powerpoint/2010/main" val="1464832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71279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May be in facial image, we just specify the filter to extract edges, but as a low-level feature, blobs are also extracted by DL, and if we had to specify the features we just specify edges and not blobs.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02124"/>
                </a:solidFill>
                <a:effectLst/>
                <a:latin typeface="arial" panose="020B0604020202020204" pitchFamily="34" charset="0"/>
              </a:rPr>
              <a:t>A Blob, in a sense, is </a:t>
            </a:r>
            <a:r>
              <a:rPr lang="en-US" b="1" i="0" dirty="0">
                <a:solidFill>
                  <a:srgbClr val="202124"/>
                </a:solidFill>
                <a:effectLst/>
                <a:latin typeface="arial" panose="020B0604020202020204" pitchFamily="34" charset="0"/>
              </a:rPr>
              <a:t>anything that is considered a large object or anything bright in a dark background</a:t>
            </a:r>
            <a:r>
              <a:rPr lang="en-US" b="0" i="0" dirty="0">
                <a:solidFill>
                  <a:srgbClr val="202124"/>
                </a:solidFill>
                <a:effectLst/>
                <a:latin typeface="arial" panose="020B0604020202020204" pitchFamily="34" charset="0"/>
              </a:rPr>
              <a:t>, in images, we can generalize it as a group of pixel values that forms a somewhat colony or a large object that is distinguishable from its background.</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27181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1d53a6d1b95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1d53a6d1b95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9" name="Google Shape;15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learning is nothing but Deep neural networks. And neural networks existed from 1940’s and multiple different architectures of it have been proposed so far, so why in past 10 years its use and importance has grown so much.</a:t>
            </a:r>
          </a:p>
          <a:p>
            <a:r>
              <a:rPr lang="en-US" dirty="0"/>
              <a:t>It is because in the past decade only, the amount of data has grown so much so that we can say that we are living in the era of big data, and deep learning requires large amount of data to work efficiently. So it is one of the driving force to the much use of DL now-adays.</a:t>
            </a:r>
          </a:p>
          <a:p>
            <a:r>
              <a:rPr lang="en-US" dirty="0"/>
              <a:t>Secondly, the DL models are parallelizable and thus can benefit from GPUs (that is modern hardware). Such hardware didn’t exist in the past when all NN architectures were proposed.</a:t>
            </a:r>
          </a:p>
          <a:p>
            <a:r>
              <a:rPr lang="en-US" dirty="0"/>
              <a:t>Thirdly, now we have open source toolboxes like </a:t>
            </a:r>
            <a:r>
              <a:rPr lang="en-US" dirty="0" err="1"/>
              <a:t>tensorflow</a:t>
            </a:r>
            <a:r>
              <a:rPr lang="en-US" dirty="0"/>
              <a:t> using which we can build and deploy DL algorithms.</a:t>
            </a: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68190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past decade deep learning gained popularity because of its groundbreaking application in areas like image classification, speech recognition, machine translation. Not to self driving cars, voice assistants, speech to text transcription, etc.</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17307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56440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quickly revisit, neural network or perceptron which is a building block of deep learning models.</a:t>
            </a:r>
          </a:p>
          <a:p>
            <a:endParaRPr lang="en-US" dirty="0"/>
          </a:p>
          <a:p>
            <a:r>
              <a:rPr lang="en-US" dirty="0"/>
              <a:t>Here on left we have a toy perceptron drawn out and on the right we have its mathematical equation.</a:t>
            </a:r>
          </a:p>
          <a:p>
            <a:r>
              <a:rPr lang="en-US" dirty="0"/>
              <a:t>In the diagram of this toy perceptron, on the left hand side we have the inputs and on the right side we have the output.</a:t>
            </a:r>
          </a:p>
          <a:p>
            <a:r>
              <a:rPr lang="en-US" dirty="0"/>
              <a:t>First we multiply, inputs with their corresponding weights and sum them, this aggregated num (or weighted sum is termed as net input) is then passed to the non-linear activation function.</a:t>
            </a:r>
          </a:p>
          <a:p>
            <a:r>
              <a:rPr lang="en-US" dirty="0"/>
              <a:t>The output from the activation function will give us our prediction y hat.</a:t>
            </a:r>
          </a:p>
          <a:p>
            <a:endParaRPr lang="en-US" dirty="0"/>
          </a:p>
          <a:p>
            <a:r>
              <a:rPr lang="en-US" dirty="0"/>
              <a:t>We have a bias term here, denoted as w0 (sometimes denoted as b). Bias is nothing but threshold term and it helps us to shift out input to the activation function to the left or to the right.</a:t>
            </a:r>
          </a:p>
          <a:p>
            <a:endParaRPr lang="en-US" dirty="0"/>
          </a:p>
          <a:p>
            <a:r>
              <a:rPr lang="en-US" dirty="0"/>
              <a:t>In the equation, g represents the activation function that is applied on the sum of linear combination of inputs.</a:t>
            </a:r>
            <a:endParaRPr lang="en-IN" dirty="0"/>
          </a:p>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41649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87343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also represent the mathematical equation in the form of linear algebra like we have done here.</a:t>
            </a:r>
          </a:p>
          <a:p>
            <a:r>
              <a:rPr lang="en-US" dirty="0"/>
              <a:t>We have written down sum of inputs in the form of vectors X transpose (Vector of inputs x1 to </a:t>
            </a:r>
            <a:r>
              <a:rPr lang="en-US" dirty="0" err="1"/>
              <a:t>xm</a:t>
            </a:r>
            <a:r>
              <a:rPr lang="en-US" dirty="0"/>
              <a:t>) and W vector (Vector of weights). And it means the same thing right. (Show them the multiplication). Taking the dot product will give us the same answer.</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01156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the term activation function, we mean non-linear activation function</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52269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Significance of using activation function is it introduce non-linearity in the system. Suppose we have to separate these red and green points and we just have a single line to do that, it would not be possible to separate them. </a:t>
            </a:r>
          </a:p>
          <a:p>
            <a:r>
              <a:rPr lang="en-US" dirty="0"/>
              <a:t>So using linear activations would not help no matter how many neurons we have or how deep is our network.</a:t>
            </a:r>
          </a:p>
          <a:p>
            <a:r>
              <a:rPr lang="en-US" dirty="0"/>
              <a:t>However, a non-linear line would be able to do that easily.</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32455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Sigmoid and </a:t>
            </a:r>
            <a:r>
              <a:rPr lang="en-US" b="1" dirty="0" err="1"/>
              <a:t>Relu</a:t>
            </a:r>
            <a:r>
              <a:rPr lang="en-US" b="1" dirty="0"/>
              <a:t> are non-zero centered functions</a:t>
            </a:r>
            <a:r>
              <a:rPr lang="en-US" dirty="0"/>
              <a:t>: meaning that the mean of the act </a:t>
            </a:r>
            <a:r>
              <a:rPr lang="en-US" dirty="0" err="1"/>
              <a:t>func</a:t>
            </a:r>
            <a:r>
              <a:rPr lang="en-US" dirty="0"/>
              <a:t> is not zero, mean is either towards the positive or towards the negative.</a:t>
            </a:r>
          </a:p>
          <a:p>
            <a:r>
              <a:rPr lang="en-US" dirty="0"/>
              <a:t>Therefore, the output of the layer always move towards the positive or towards the negative, which makes the training slower and hence it takes long to converge.</a:t>
            </a:r>
          </a:p>
          <a:p>
            <a:r>
              <a:rPr lang="en-US" dirty="0"/>
              <a:t>Therefore, zero-centered is a desirable property not necessary.</a:t>
            </a:r>
          </a:p>
          <a:p>
            <a:r>
              <a:rPr lang="en-US" dirty="0"/>
              <a:t>Zero activation means the mean is at zero, means the data is normalized, hence faster convergence. Solution is batch normalization.</a:t>
            </a:r>
          </a:p>
          <a:p>
            <a:endParaRPr lang="en-IN" dirty="0"/>
          </a:p>
          <a:p>
            <a:r>
              <a:rPr lang="en-IN" b="1" dirty="0"/>
              <a:t>Vanishing gradient problem </a:t>
            </a:r>
            <a:r>
              <a:rPr lang="en-IN" b="0" dirty="0"/>
              <a:t>means the gradient or the derivative is 0, it is a problem in learning because in gradient descent , we calculate derivatives and backpropagate the error, So, if the derivatives are close to 0, the learning becomes extremely slow.</a:t>
            </a:r>
            <a:endParaRPr lang="en-IN"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86295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functionality of a perceptron can be defined in three steps:</a:t>
            </a:r>
            <a:endParaRPr lang="en-IN" dirty="0"/>
          </a:p>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20513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removed the bias from the diagram for simplicity. Assume there are weights on the edges.</a:t>
            </a:r>
          </a:p>
          <a:p>
            <a:r>
              <a:rPr lang="en-US" dirty="0"/>
              <a:t>Here, z is our net input (that is, dot product + addition of bias)</a:t>
            </a:r>
          </a:p>
          <a:p>
            <a:r>
              <a:rPr lang="en-US" dirty="0"/>
              <a:t>G is applying non-linearity to z. g is activation function.</a:t>
            </a:r>
          </a:p>
          <a:p>
            <a:endParaRPr lang="en-US" dirty="0"/>
          </a:p>
          <a:p>
            <a:r>
              <a:rPr lang="en-US" dirty="0"/>
              <a:t>Here, two different neurons have different set of weights on the edges, therefore z1 and z2 are different.</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599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a single perceptron individually.</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93924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simplified neural network. Here this cross symbol denotes the dense layer that is, every input is connected to every output.</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07088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stack these hidden layers on over another in a sequential manner to get the deep neural network.</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35701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say for a problem, we give input to the model as [4,5] and predicted output is 0.1 and actual is 1. It is a binary classification problem. Obviously the prediction is wrong and it is because the model has never been trained. </a:t>
            </a:r>
          </a:p>
          <a:p>
            <a:r>
              <a:rPr lang="en-US" dirty="0"/>
              <a:t>The difference between the predicted value and actual value is loss.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55273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Empirical loss is the total loss incurred by all the inputs. Mean of all loss function of our data set. </a:t>
            </a:r>
          </a:p>
          <a:p>
            <a:r>
              <a:rPr lang="en-US" dirty="0"/>
              <a:t>While training the network, we want to minimize the empirical loss.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00992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classification problems, we can use binary cross entropy loss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70005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regression problems, mean sq error is used. Ex we want to predict the grade of students.</a:t>
            </a:r>
          </a:p>
          <a:p>
            <a:endParaRPr lang="en-US" dirty="0"/>
          </a:p>
          <a:p>
            <a:r>
              <a:rPr lang="en-US" dirty="0"/>
              <a:t>With the loss function, we can tell when our model is making a mistake, we train the neural network by optimizing this loss function.</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24632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9A3B9-BE6F-4374-BDF3-400B9B9FE3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48F4F42-B551-4BE5-B5C7-CDE6B8890F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536BA3-8FFA-4E3E-9D01-CF39C8564C9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F78811A-5408-4898-817A-4A751207BC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CD568E-90C1-40A4-82E5-8A1D653FA2A2}"/>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941135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FDFD6-583B-4BF2-8E00-D2F035A7D1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54F78C-FB62-4FCC-8814-A33971571F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D4E0A4-1872-41DF-BCB6-7874FF36E75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76F2F0F-4D4C-4326-B392-A84870F8C7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9977BE-CDA3-4BB8-A148-FDDB789E172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918827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85F3A-91EA-439B-8570-E19C063F8E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F7EAF32-3040-43B5-A381-E05587793F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1A1A0D-FDD4-45C4-957B-ABF55D1C84A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80B644C8-C890-409E-A5B5-56DF8C1BBA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2AB4C4-E96D-4169-80F2-CF65804C3FAD}"/>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120088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174D9-23FA-4A48-B949-ECE2E4BC0A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CC65DB-B714-4CB5-95CF-0C7A69A257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ED6763A-29AB-45DA-ABB6-379F893018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B2DD46-407B-4CF9-83DA-2D7CEAE87335}"/>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155FF541-847C-4A35-A20B-9F98DFD694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1CB10C-2D9E-418E-988E-EB84A90D1AF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939011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46ED0-5BB3-43AD-80D7-BDB89471191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B773D4-C688-40BC-8B2F-E8A603A433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EE05E1-9B06-401E-BD9E-8CAED9E9B3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B72E848-EE48-4E51-8488-BE4E4C9C6A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7BD559-2FDF-4EB9-BFB6-FA3CD30BA5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827978-435D-41F4-8350-E5D1A28BD177}"/>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68AD9FA8-82D1-4D5D-95EB-639F96FD74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3E0290A-324B-42CA-B0EB-7725364EB4BC}"/>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762579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D5F9E-D9C7-4DB9-B11A-FD7E05B480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37F12A-59AD-4B11-A120-8BD75DD6CDEC}"/>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A4D1C11B-A445-4EDE-896C-BA63748251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C1BCCA4-5374-483F-A862-6A28DBC8BE5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994216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6CCD08-A2DD-46ED-A859-954CFAED48E7}"/>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26D94C68-DD22-491B-B3E6-9819074959C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CC85A6D-3274-4CB8-A937-8143C3EFFB2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368306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414F3-8D9B-4EDE-A35C-D4C8FDB037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4BD596-DCD3-4689-88EA-753D7CE2A3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B2F5BC4-5C19-4E76-9AFD-118950409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D4FA46-99F6-4976-A3DD-EF9C026F3323}"/>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90B95AC3-B698-4E3E-9BDB-C0DDA5564D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2B085A-EEEF-40F7-A254-E4F040F40AAF}"/>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4044753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74550-FA08-4155-A6F9-ACBDBD17A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E66E897-6238-4A10-9778-F319095259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158CEB-5FD2-4FA1-AD9A-10C129FEC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EE6AEA-26BC-4E23-B81D-95B7DDAC1853}"/>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008E1477-4CB6-4AF4-A2E6-37014E46DB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E495C4-965F-4076-9E43-8092B47C351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4131284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AC57B-87B8-497A-AA4D-A49F6741F6A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50BE63-1404-4216-B024-2EC94D784F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73B622-DBE5-4B58-A13B-18684B84BA3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DE85DA3-952E-4F11-8FE1-2A58199620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A0EA9D-DCCB-4643-90F5-243111A6863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294133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073A67-23E3-41F3-A422-BB6AE1AC35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9456D1-907B-4DBD-B0A1-418CB7B3E1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D93CF3-64F2-4DFF-A9A9-2D68A76647F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B81A994-875C-41B8-A8EF-C225C8B627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B2FE84-8024-4C5B-9AB7-6916BC01A794}"/>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4212130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34519941"/>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703614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4B8BB1-37F3-4AAE-A86D-E439DE6099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D48695-EA6F-4292-8628-01E84DEC5E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8F4770-E352-4AA2-BDE0-C43AC8BFB0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CE9C78DE-CD8F-4C07-899C-3AA2EA099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47BE1E2-B63B-4310-A86A-C53BD6FC02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D9BD54-7BE9-4F3B-8F4A-CE67E3F85104}" type="slidenum">
              <a:rPr lang="en-IN" smtClean="0"/>
              <a:t>‹#›</a:t>
            </a:fld>
            <a:endParaRPr lang="en-IN"/>
          </a:p>
        </p:txBody>
      </p:sp>
    </p:spTree>
    <p:extLst>
      <p:ext uri="{BB962C8B-B14F-4D97-AF65-F5344CB8AC3E}">
        <p14:creationId xmlns:p14="http://schemas.microsoft.com/office/powerpoint/2010/main" val="30731196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g"/></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7.jp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analyticsvidhya.com/blog/2021/04/activation-functions-and-their-derivatives-a-quick-complete-guide/"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a:extLst>
              <a:ext uri="{FF2B5EF4-FFF2-40B4-BE49-F238E27FC236}">
                <a16:creationId xmlns:a16="http://schemas.microsoft.com/office/drawing/2014/main" id="{FAB96DB5-C1DB-FC07-E25F-94EA7F679EE3}"/>
              </a:ext>
            </a:extLst>
          </p:cNvPr>
          <p:cNvPicPr>
            <a:picLocks noChangeAspect="1"/>
          </p:cNvPicPr>
          <p:nvPr/>
        </p:nvPicPr>
        <p:blipFill rotWithShape="1">
          <a:blip r:embed="rId2"/>
          <a:srcRect/>
          <a:stretch/>
        </p:blipFill>
        <p:spPr>
          <a:xfrm>
            <a:off x="-94487" y="0"/>
            <a:ext cx="12191999" cy="6857990"/>
          </a:xfrm>
          <a:prstGeom prst="rect">
            <a:avLst/>
          </a:prstGeom>
        </p:spPr>
      </p:pic>
      <p:sp>
        <p:nvSpPr>
          <p:cNvPr id="36" name="Rectangle 35">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D11C1709-B620-47DC-9742-B9FB880F0527}"/>
              </a:ext>
            </a:extLst>
          </p:cNvPr>
          <p:cNvSpPr>
            <a:spLocks noGrp="1"/>
          </p:cNvSpPr>
          <p:nvPr>
            <p:ph type="subTitle" idx="1"/>
          </p:nvPr>
        </p:nvSpPr>
        <p:spPr>
          <a:xfrm>
            <a:off x="813816" y="2071087"/>
            <a:ext cx="10058400" cy="1282707"/>
          </a:xfrm>
          <a:effectLst>
            <a:outerShdw blurRad="50800" dist="38100" dir="2700000" algn="tl" rotWithShape="0">
              <a:prstClr val="black">
                <a:alpha val="40000"/>
              </a:prstClr>
            </a:outerShdw>
          </a:effectLst>
        </p:spPr>
        <p:txBody>
          <a:bodyPr>
            <a:normAutofit/>
          </a:bodyPr>
          <a:lstStyle/>
          <a:p>
            <a:r>
              <a:rPr lang="en-US" b="1" dirty="0">
                <a:solidFill>
                  <a:srgbClr val="FFFFFF"/>
                </a:solidFill>
              </a:rPr>
              <a:t>Introduction to Deep learning</a:t>
            </a:r>
          </a:p>
          <a:p>
            <a:r>
              <a:rPr lang="en-US" b="1" dirty="0">
                <a:solidFill>
                  <a:srgbClr val="FFFFFF"/>
                </a:solidFill>
              </a:rPr>
              <a:t>TEE7273</a:t>
            </a:r>
          </a:p>
        </p:txBody>
      </p:sp>
      <p:sp>
        <p:nvSpPr>
          <p:cNvPr id="4" name="Slide Number Placeholder 3">
            <a:extLst>
              <a:ext uri="{FF2B5EF4-FFF2-40B4-BE49-F238E27FC236}">
                <a16:creationId xmlns:a16="http://schemas.microsoft.com/office/drawing/2014/main" id="{0929C46D-E4E5-4480-A82C-60FBB11ED96D}"/>
              </a:ext>
            </a:extLst>
          </p:cNvPr>
          <p:cNvSpPr>
            <a:spLocks noGrp="1"/>
          </p:cNvSpPr>
          <p:nvPr>
            <p:ph type="sldNum" sz="quarter" idx="12"/>
          </p:nvPr>
        </p:nvSpPr>
        <p:spPr>
          <a:xfrm>
            <a:off x="8610600" y="6356350"/>
            <a:ext cx="2743200" cy="365125"/>
          </a:xfrm>
        </p:spPr>
        <p:txBody>
          <a:bodyPr>
            <a:normAutofit/>
          </a:bodyPr>
          <a:lstStyle/>
          <a:p>
            <a:pPr>
              <a:spcAft>
                <a:spcPts val="600"/>
              </a:spcAft>
            </a:pPr>
            <a:fld id="{F8D9BD54-7BE9-4F3B-8F4A-CE67E3F85104}" type="slidenum">
              <a:rPr lang="en-IN">
                <a:solidFill>
                  <a:srgbClr val="FFFFFF"/>
                </a:solidFill>
              </a:rPr>
              <a:pPr>
                <a:spcAft>
                  <a:spcPts val="600"/>
                </a:spcAft>
              </a:pPr>
              <a:t>1</a:t>
            </a:fld>
            <a:endParaRPr lang="en-IN">
              <a:solidFill>
                <a:srgbClr val="FFFFFF"/>
              </a:solidFill>
            </a:endParaRPr>
          </a:p>
        </p:txBody>
      </p:sp>
      <p:sp>
        <p:nvSpPr>
          <p:cNvPr id="10" name="Subtitle 2">
            <a:extLst>
              <a:ext uri="{FF2B5EF4-FFF2-40B4-BE49-F238E27FC236}">
                <a16:creationId xmlns:a16="http://schemas.microsoft.com/office/drawing/2014/main" id="{98C3EB5A-79AC-410D-AF3D-FBBC38D5C84B}"/>
              </a:ext>
            </a:extLst>
          </p:cNvPr>
          <p:cNvSpPr txBox="1">
            <a:spLocks/>
          </p:cNvSpPr>
          <p:nvPr/>
        </p:nvSpPr>
        <p:spPr>
          <a:xfrm>
            <a:off x="813816" y="4395362"/>
            <a:ext cx="10058400" cy="1282707"/>
          </a:xfrm>
          <a:prstGeom prst="rect">
            <a:avLst/>
          </a:prstGeom>
          <a:effectLst>
            <a:outerShdw blurRad="50800" dist="38100" dir="2700000" algn="tl" rotWithShape="0">
              <a:prstClr val="black">
                <a:alpha val="40000"/>
              </a:prstClr>
            </a:outerShdw>
          </a:effectLst>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solidFill>
                  <a:srgbClr val="FFFFFF"/>
                </a:solidFill>
              </a:rPr>
              <a:t>Tanveer Ahmed</a:t>
            </a:r>
          </a:p>
        </p:txBody>
      </p:sp>
    </p:spTree>
    <p:extLst>
      <p:ext uri="{BB962C8B-B14F-4D97-AF65-F5344CB8AC3E}">
        <p14:creationId xmlns:p14="http://schemas.microsoft.com/office/powerpoint/2010/main" val="5157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15">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761FFB-B61B-4D55-81FD-2A4988EECDC9}"/>
              </a:ext>
            </a:extLst>
          </p:cNvPr>
          <p:cNvSpPr>
            <a:spLocks noGrp="1"/>
          </p:cNvSpPr>
          <p:nvPr>
            <p:ph type="title"/>
          </p:nvPr>
        </p:nvSpPr>
        <p:spPr>
          <a:xfrm>
            <a:off x="838201" y="365125"/>
            <a:ext cx="5251316" cy="1807305"/>
          </a:xfrm>
        </p:spPr>
        <p:txBody>
          <a:bodyPr>
            <a:normAutofit/>
          </a:bodyPr>
          <a:lstStyle/>
          <a:p>
            <a:r>
              <a:rPr lang="en-US"/>
              <a:t>Outline</a:t>
            </a:r>
            <a:endParaRPr lang="en-IN"/>
          </a:p>
        </p:txBody>
      </p:sp>
      <p:sp>
        <p:nvSpPr>
          <p:cNvPr id="27" name="Content Placeholder 2">
            <a:extLst>
              <a:ext uri="{FF2B5EF4-FFF2-40B4-BE49-F238E27FC236}">
                <a16:creationId xmlns:a16="http://schemas.microsoft.com/office/drawing/2014/main" id="{80E36F94-92C5-49C4-89B0-FDCC3A53501B}"/>
              </a:ext>
            </a:extLst>
          </p:cNvPr>
          <p:cNvSpPr>
            <a:spLocks noGrp="1"/>
          </p:cNvSpPr>
          <p:nvPr>
            <p:ph idx="1"/>
          </p:nvPr>
        </p:nvSpPr>
        <p:spPr>
          <a:xfrm>
            <a:off x="838200" y="2333297"/>
            <a:ext cx="4619621" cy="3843666"/>
          </a:xfrm>
        </p:spPr>
        <p:txBody>
          <a:bodyPr>
            <a:normAutofit/>
          </a:bodyPr>
          <a:lstStyle/>
          <a:p>
            <a:r>
              <a:rPr lang="en-US" sz="2000"/>
              <a:t>Introduction to Deep Learning (DL)</a:t>
            </a:r>
          </a:p>
          <a:p>
            <a:r>
              <a:rPr lang="en-US" sz="2000"/>
              <a:t>Why deep learning?</a:t>
            </a:r>
          </a:p>
          <a:p>
            <a:r>
              <a:rPr lang="en-US" sz="2000"/>
              <a:t>Machine learning (ML)</a:t>
            </a:r>
          </a:p>
          <a:p>
            <a:pPr lvl="1"/>
            <a:r>
              <a:rPr lang="en-US" sz="2000"/>
              <a:t>Features</a:t>
            </a:r>
          </a:p>
          <a:p>
            <a:pPr lvl="1"/>
            <a:r>
              <a:rPr lang="en-US" sz="2000"/>
              <a:t>Weights</a:t>
            </a:r>
          </a:p>
          <a:p>
            <a:pPr lvl="1"/>
            <a:r>
              <a:rPr lang="en-US" sz="2000"/>
              <a:t>Artificial Neural Networks (ANN)</a:t>
            </a:r>
          </a:p>
          <a:p>
            <a:pPr lvl="1"/>
            <a:r>
              <a:rPr lang="en-US" sz="2000"/>
              <a:t>Loss function</a:t>
            </a:r>
          </a:p>
          <a:p>
            <a:pPr lvl="1"/>
            <a:r>
              <a:rPr lang="en-US" sz="2000"/>
              <a:t>Cost function</a:t>
            </a:r>
          </a:p>
          <a:p>
            <a:r>
              <a:rPr lang="en-US" sz="2000"/>
              <a:t>History of Deep Learning</a:t>
            </a:r>
          </a:p>
          <a:p>
            <a:endParaRPr lang="en-US" sz="2000"/>
          </a:p>
          <a:p>
            <a:pPr lvl="1"/>
            <a:endParaRPr lang="en-IN" sz="2000"/>
          </a:p>
        </p:txBody>
      </p:sp>
      <p:pic>
        <p:nvPicPr>
          <p:cNvPr id="28" name="Picture 11" descr="Abstract background of data">
            <a:extLst>
              <a:ext uri="{FF2B5EF4-FFF2-40B4-BE49-F238E27FC236}">
                <a16:creationId xmlns:a16="http://schemas.microsoft.com/office/drawing/2014/main" id="{62FD53F2-E4FA-1BC2-2225-22B15F311714}"/>
              </a:ext>
            </a:extLst>
          </p:cNvPr>
          <p:cNvPicPr>
            <a:picLocks noChangeAspect="1"/>
          </p:cNvPicPr>
          <p:nvPr/>
        </p:nvPicPr>
        <p:blipFill rotWithShape="1">
          <a:blip r:embed="rId2"/>
          <a:srcRect l="21337" r="2975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4" name="Slide Number Placeholder 3">
            <a:extLst>
              <a:ext uri="{FF2B5EF4-FFF2-40B4-BE49-F238E27FC236}">
                <a16:creationId xmlns:a16="http://schemas.microsoft.com/office/drawing/2014/main" id="{89D42D6E-C1D7-4D2C-B834-CAF70A71EF36}"/>
              </a:ext>
            </a:extLst>
          </p:cNvPr>
          <p:cNvSpPr>
            <a:spLocks noGrp="1"/>
          </p:cNvSpPr>
          <p:nvPr>
            <p:ph type="sldNum" sz="quarter" idx="12"/>
          </p:nvPr>
        </p:nvSpPr>
        <p:spPr>
          <a:xfrm>
            <a:off x="8610600" y="6356350"/>
            <a:ext cx="2743200" cy="365125"/>
          </a:xfrm>
        </p:spPr>
        <p:txBody>
          <a:bodyPr>
            <a:normAutofit/>
          </a:bodyPr>
          <a:lstStyle/>
          <a:p>
            <a:pPr>
              <a:spcAft>
                <a:spcPts val="600"/>
              </a:spcAft>
            </a:pPr>
            <a:fld id="{F8D9BD54-7BE9-4F3B-8F4A-CE67E3F85104}" type="slidenum">
              <a:rPr lang="en-IN">
                <a:solidFill>
                  <a:srgbClr val="FFFFFF"/>
                </a:solidFill>
              </a:rPr>
              <a:pPr>
                <a:spcAft>
                  <a:spcPts val="600"/>
                </a:spcAft>
              </a:pPr>
              <a:t>2</a:t>
            </a:fld>
            <a:endParaRPr lang="en-IN">
              <a:solidFill>
                <a:srgbClr val="FFFFFF"/>
              </a:solidFill>
            </a:endParaRPr>
          </a:p>
        </p:txBody>
      </p:sp>
    </p:spTree>
    <p:extLst>
      <p:ext uri="{BB962C8B-B14F-4D97-AF65-F5344CB8AC3E}">
        <p14:creationId xmlns:p14="http://schemas.microsoft.com/office/powerpoint/2010/main" val="3472450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09BF8F-EBBB-4DE6-88E0-89D5F85A5800}"/>
              </a:ext>
            </a:extLst>
          </p:cNvPr>
          <p:cNvSpPr>
            <a:spLocks noGrp="1"/>
          </p:cNvSpPr>
          <p:nvPr>
            <p:ph type="title"/>
          </p:nvPr>
        </p:nvSpPr>
        <p:spPr>
          <a:xfrm>
            <a:off x="524741" y="620392"/>
            <a:ext cx="3808268" cy="5504688"/>
          </a:xfrm>
        </p:spPr>
        <p:txBody>
          <a:bodyPr>
            <a:normAutofit/>
          </a:bodyPr>
          <a:lstStyle/>
          <a:p>
            <a:r>
              <a:rPr lang="en-IN" sz="6000">
                <a:solidFill>
                  <a:schemeClr val="bg1"/>
                </a:solidFill>
              </a:rPr>
              <a:t>Evaluation policy</a:t>
            </a:r>
          </a:p>
        </p:txBody>
      </p:sp>
      <p:sp>
        <p:nvSpPr>
          <p:cNvPr id="4" name="Slide Number Placeholder 3">
            <a:extLst>
              <a:ext uri="{FF2B5EF4-FFF2-40B4-BE49-F238E27FC236}">
                <a16:creationId xmlns:a16="http://schemas.microsoft.com/office/drawing/2014/main" id="{291A5CF8-A0DE-4E49-A756-BAA2DBC9673B}"/>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F8D9BD54-7BE9-4F3B-8F4A-CE67E3F85104}"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450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A671A-1721-4DE1-B957-C07314B17682}"/>
              </a:ext>
            </a:extLst>
          </p:cNvPr>
          <p:cNvSpPr>
            <a:spLocks noGrp="1"/>
          </p:cNvSpPr>
          <p:nvPr>
            <p:ph type="title"/>
          </p:nvPr>
        </p:nvSpPr>
        <p:spPr>
          <a:xfrm>
            <a:off x="838200" y="2340430"/>
            <a:ext cx="4245429" cy="2206364"/>
          </a:xfrm>
        </p:spPr>
        <p:txBody>
          <a:bodyPr vert="horz" lIns="91440" tIns="45720" rIns="91440" bIns="45720" rtlCol="0" anchor="ctr">
            <a:normAutofit/>
          </a:bodyPr>
          <a:lstStyle/>
          <a:p>
            <a:r>
              <a:rPr lang="en-US" sz="2800" kern="1200" dirty="0">
                <a:solidFill>
                  <a:schemeClr val="tx1"/>
                </a:solidFill>
                <a:latin typeface="+mj-lt"/>
                <a:ea typeface="+mj-ea"/>
                <a:cs typeface="+mj-cs"/>
              </a:rPr>
              <a:t>Real Self Driving Cars</a:t>
            </a:r>
          </a:p>
        </p:txBody>
      </p:sp>
      <p:sp>
        <p:nvSpPr>
          <p:cNvPr id="24" name="Freeform 5">
            <a:extLst>
              <a:ext uri="{FF2B5EF4-FFF2-40B4-BE49-F238E27FC236}">
                <a16:creationId xmlns:a16="http://schemas.microsoft.com/office/drawing/2014/main" id="{AF1E5E62-9EB9-408E-AE53-A04A4C8110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920619" cy="2130951"/>
          </a:xfrm>
          <a:custGeom>
            <a:avLst/>
            <a:gdLst>
              <a:gd name="connsiteX0" fmla="*/ 0 w 5920619"/>
              <a:gd name="connsiteY0" fmla="*/ 0 h 2130951"/>
              <a:gd name="connsiteX1" fmla="*/ 3191370 w 5920619"/>
              <a:gd name="connsiteY1" fmla="*/ 0 h 2130951"/>
              <a:gd name="connsiteX2" fmla="*/ 3346315 w 5920619"/>
              <a:gd name="connsiteY2" fmla="*/ 0 h 2130951"/>
              <a:gd name="connsiteX3" fmla="*/ 5920619 w 5920619"/>
              <a:gd name="connsiteY3" fmla="*/ 0 h 2130951"/>
              <a:gd name="connsiteX4" fmla="*/ 4936971 w 5920619"/>
              <a:gd name="connsiteY4" fmla="*/ 2130951 h 2130951"/>
              <a:gd name="connsiteX5" fmla="*/ 0 w 5920619"/>
              <a:gd name="connsiteY5" fmla="*/ 2130951 h 213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0619" h="2130951">
                <a:moveTo>
                  <a:pt x="0" y="0"/>
                </a:moveTo>
                <a:lnTo>
                  <a:pt x="3191370" y="0"/>
                </a:lnTo>
                <a:lnTo>
                  <a:pt x="3346315" y="0"/>
                </a:lnTo>
                <a:lnTo>
                  <a:pt x="5920619" y="0"/>
                </a:lnTo>
                <a:lnTo>
                  <a:pt x="4936971" y="2130951"/>
                </a:lnTo>
                <a:lnTo>
                  <a:pt x="0" y="2130951"/>
                </a:ln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Freeform 7">
            <a:extLst>
              <a:ext uri="{FF2B5EF4-FFF2-40B4-BE49-F238E27FC236}">
                <a16:creationId xmlns:a16="http://schemas.microsoft.com/office/drawing/2014/main" id="{9C5704B2-7C5B-4738-AF0D-4A2756A69F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66810" y="4683319"/>
            <a:ext cx="5925190" cy="2174681"/>
          </a:xfrm>
          <a:custGeom>
            <a:avLst/>
            <a:gdLst>
              <a:gd name="connsiteX0" fmla="*/ 1007162 w 5925190"/>
              <a:gd name="connsiteY0" fmla="*/ 0 h 2174681"/>
              <a:gd name="connsiteX1" fmla="*/ 5925190 w 5925190"/>
              <a:gd name="connsiteY1" fmla="*/ 0 h 2174681"/>
              <a:gd name="connsiteX2" fmla="*/ 5925190 w 5925190"/>
              <a:gd name="connsiteY2" fmla="*/ 2174681 h 2174681"/>
              <a:gd name="connsiteX3" fmla="*/ 0 w 5925190"/>
              <a:gd name="connsiteY3" fmla="*/ 2174681 h 2174681"/>
            </a:gdLst>
            <a:ahLst/>
            <a:cxnLst>
              <a:cxn ang="0">
                <a:pos x="connsiteX0" y="connsiteY0"/>
              </a:cxn>
              <a:cxn ang="0">
                <a:pos x="connsiteX1" y="connsiteY1"/>
              </a:cxn>
              <a:cxn ang="0">
                <a:pos x="connsiteX2" y="connsiteY2"/>
              </a:cxn>
              <a:cxn ang="0">
                <a:pos x="connsiteX3" y="connsiteY3"/>
              </a:cxn>
            </a:cxnLst>
            <a:rect l="l" t="t" r="r" b="b"/>
            <a:pathLst>
              <a:path w="5925190" h="2174681">
                <a:moveTo>
                  <a:pt x="1007162" y="0"/>
                </a:moveTo>
                <a:lnTo>
                  <a:pt x="5925190" y="0"/>
                </a:lnTo>
                <a:lnTo>
                  <a:pt x="5925190" y="2174681"/>
                </a:lnTo>
                <a:lnTo>
                  <a:pt x="0" y="2174681"/>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Freeform 6">
            <a:extLst>
              <a:ext uri="{FF2B5EF4-FFF2-40B4-BE49-F238E27FC236}">
                <a16:creationId xmlns:a16="http://schemas.microsoft.com/office/drawing/2014/main" id="{DFB36DC4-A410-4DF1-8453-1D85743F5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683319"/>
            <a:ext cx="7092887" cy="2174681"/>
          </a:xfrm>
          <a:custGeom>
            <a:avLst/>
            <a:gdLst>
              <a:gd name="connsiteX0" fmla="*/ 0 w 7092887"/>
              <a:gd name="connsiteY0" fmla="*/ 0 h 2174681"/>
              <a:gd name="connsiteX1" fmla="*/ 7092887 w 7092887"/>
              <a:gd name="connsiteY1" fmla="*/ 0 h 2174681"/>
              <a:gd name="connsiteX2" fmla="*/ 6085725 w 7092887"/>
              <a:gd name="connsiteY2" fmla="*/ 2174681 h 2174681"/>
              <a:gd name="connsiteX3" fmla="*/ 1524000 w 7092887"/>
              <a:gd name="connsiteY3" fmla="*/ 2174681 h 2174681"/>
              <a:gd name="connsiteX4" fmla="*/ 1200418 w 7092887"/>
              <a:gd name="connsiteY4" fmla="*/ 2174681 h 2174681"/>
              <a:gd name="connsiteX5" fmla="*/ 0 w 7092887"/>
              <a:gd name="connsiteY5" fmla="*/ 2174681 h 2174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92887" h="2174681">
                <a:moveTo>
                  <a:pt x="0" y="0"/>
                </a:moveTo>
                <a:lnTo>
                  <a:pt x="7092887" y="0"/>
                </a:lnTo>
                <a:lnTo>
                  <a:pt x="6085725" y="2174681"/>
                </a:lnTo>
                <a:lnTo>
                  <a:pt x="1524000" y="2174681"/>
                </a:lnTo>
                <a:lnTo>
                  <a:pt x="1200418" y="2174681"/>
                </a:lnTo>
                <a:lnTo>
                  <a:pt x="0" y="2174681"/>
                </a:lnTo>
                <a:close/>
              </a:path>
            </a:pathLst>
          </a:custGeom>
          <a:solidFill>
            <a:srgbClr val="B2B2B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B2B2B2"/>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DFDE740C-CAC2-426E-ABCB-CDA1CE3A7FC8}"/>
              </a:ext>
            </a:extLst>
          </p:cNvPr>
          <p:cNvSpPr>
            <a:spLocks noGrp="1"/>
          </p:cNvSpPr>
          <p:nvPr>
            <p:ph type="sldNum" sz="quarter" idx="12"/>
          </p:nvPr>
        </p:nvSpPr>
        <p:spPr>
          <a:xfrm>
            <a:off x="8657617" y="6356350"/>
            <a:ext cx="2696183"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F8D9BD54-7BE9-4F3B-8F4A-CE67E3F85104}" type="slidenum">
              <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a:t>
            </a:fld>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300A1A59-CAF3-4794-AB1E-495C90CF9AC4}"/>
              </a:ext>
            </a:extLst>
          </p:cNvPr>
          <p:cNvSpPr>
            <a:spLocks noGrp="1"/>
          </p:cNvSpPr>
          <p:nvPr>
            <p:ph idx="1"/>
          </p:nvPr>
        </p:nvSpPr>
        <p:spPr>
          <a:xfrm>
            <a:off x="4623816" y="2439388"/>
            <a:ext cx="10515600" cy="4351338"/>
          </a:xfrm>
        </p:spPr>
        <p:txBody>
          <a:bodyPr/>
          <a:lstStyle/>
          <a:p>
            <a:r>
              <a:rPr lang="en-IN" dirty="0"/>
              <a:t>https://youtu.be/TUDiG7PcLBs</a:t>
            </a:r>
          </a:p>
        </p:txBody>
      </p:sp>
    </p:spTree>
    <p:extLst>
      <p:ext uri="{BB962C8B-B14F-4D97-AF65-F5344CB8AC3E}">
        <p14:creationId xmlns:p14="http://schemas.microsoft.com/office/powerpoint/2010/main" val="921422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47631036-3A0F-4E75-A879-957017069B49}"/>
              </a:ext>
            </a:extLst>
          </p:cNvPr>
          <p:cNvSpPr/>
          <p:nvPr/>
        </p:nvSpPr>
        <p:spPr>
          <a:xfrm>
            <a:off x="1161534" y="943706"/>
            <a:ext cx="10725665" cy="553915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Artificial Intelligence</a:t>
            </a:r>
          </a:p>
          <a:p>
            <a:r>
              <a:rPr lang="en-US" sz="2000" b="1" dirty="0">
                <a:solidFill>
                  <a:schemeClr val="tx1"/>
                </a:solidFill>
              </a:rPr>
              <a:t>Any technique that enables computers to mimic human behavior</a:t>
            </a:r>
            <a:endParaRPr lang="en-US" b="1" dirty="0">
              <a:solidFill>
                <a:schemeClr val="tx1"/>
              </a:solidFill>
            </a:endParaRPr>
          </a:p>
          <a:p>
            <a:endParaRPr lang="en-US" b="1" dirty="0">
              <a:solidFill>
                <a:schemeClr val="tx1"/>
              </a:solidFill>
            </a:endParaRPr>
          </a:p>
          <a:p>
            <a:endParaRPr lang="en-US" b="1" dirty="0">
              <a:solidFill>
                <a:schemeClr val="tx1"/>
              </a:solidFill>
            </a:endParaRPr>
          </a:p>
          <a:p>
            <a:endParaRPr lang="en-US" b="1" dirty="0">
              <a:solidFill>
                <a:schemeClr val="tx1"/>
              </a:solidFill>
            </a:endParaRPr>
          </a:p>
          <a:p>
            <a:endParaRPr lang="en-US" b="1" dirty="0">
              <a:solidFill>
                <a:schemeClr val="tx1"/>
              </a:solidFill>
            </a:endParaRP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IN" dirty="0"/>
          </a:p>
        </p:txBody>
      </p:sp>
      <p:sp>
        <p:nvSpPr>
          <p:cNvPr id="7" name="Rectangle: Rounded Corners 6">
            <a:extLst>
              <a:ext uri="{FF2B5EF4-FFF2-40B4-BE49-F238E27FC236}">
                <a16:creationId xmlns:a16="http://schemas.microsoft.com/office/drawing/2014/main" id="{8C8EC707-7EDD-44E3-9196-6FF5FB72B380}"/>
              </a:ext>
            </a:extLst>
          </p:cNvPr>
          <p:cNvSpPr/>
          <p:nvPr/>
        </p:nvSpPr>
        <p:spPr>
          <a:xfrm>
            <a:off x="4226011" y="2458994"/>
            <a:ext cx="7379835" cy="3719067"/>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Machine Learning</a:t>
            </a:r>
          </a:p>
          <a:p>
            <a:r>
              <a:rPr lang="en-US" b="1" dirty="0">
                <a:solidFill>
                  <a:schemeClr val="tx1"/>
                </a:solidFill>
              </a:rPr>
              <a:t>Ability to program without being explicitly programmed</a:t>
            </a:r>
          </a:p>
          <a:p>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IN" dirty="0">
              <a:solidFill>
                <a:schemeClr val="tx1"/>
              </a:solidFill>
            </a:endParaRPr>
          </a:p>
        </p:txBody>
      </p:sp>
      <p:sp>
        <p:nvSpPr>
          <p:cNvPr id="8" name="Rectangle: Rounded Corners 7">
            <a:extLst>
              <a:ext uri="{FF2B5EF4-FFF2-40B4-BE49-F238E27FC236}">
                <a16:creationId xmlns:a16="http://schemas.microsoft.com/office/drawing/2014/main" id="{4EDBCB09-D995-422D-87CD-70E194643C92}"/>
              </a:ext>
            </a:extLst>
          </p:cNvPr>
          <p:cNvSpPr/>
          <p:nvPr/>
        </p:nvSpPr>
        <p:spPr>
          <a:xfrm>
            <a:off x="7447753" y="3733801"/>
            <a:ext cx="3915508" cy="2180493"/>
          </a:xfrm>
          <a:prstGeom prst="round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Deep Learning </a:t>
            </a:r>
          </a:p>
          <a:p>
            <a:r>
              <a:rPr lang="en-US" b="1" dirty="0">
                <a:solidFill>
                  <a:schemeClr val="tx1"/>
                </a:solidFill>
              </a:rPr>
              <a:t>Extract patterns from data using neural networks</a:t>
            </a: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IN" dirty="0">
              <a:solidFill>
                <a:schemeClr val="tx1"/>
              </a:solidFill>
            </a:endParaRPr>
          </a:p>
        </p:txBody>
      </p:sp>
      <p:pic>
        <p:nvPicPr>
          <p:cNvPr id="10" name="Picture 9" descr="A picture containing text, light&#10;&#10;Description automatically generated">
            <a:extLst>
              <a:ext uri="{FF2B5EF4-FFF2-40B4-BE49-F238E27FC236}">
                <a16:creationId xmlns:a16="http://schemas.microsoft.com/office/drawing/2014/main" id="{E22FD091-D2AC-48F7-854B-91EBD889B3F2}"/>
              </a:ext>
            </a:extLst>
          </p:cNvPr>
          <p:cNvPicPr>
            <a:picLocks noChangeAspect="1"/>
          </p:cNvPicPr>
          <p:nvPr/>
        </p:nvPicPr>
        <p:blipFill rotWithShape="1">
          <a:blip r:embed="rId3">
            <a:extLst>
              <a:ext uri="{28A0092B-C50C-407E-A947-70E740481C1C}">
                <a14:useLocalDpi xmlns:a14="http://schemas.microsoft.com/office/drawing/2010/main" val="0"/>
              </a:ext>
            </a:extLst>
          </a:blip>
          <a:srcRect l="-539" t="1128" r="53535" b="10805"/>
          <a:stretch/>
        </p:blipFill>
        <p:spPr>
          <a:xfrm>
            <a:off x="1515140" y="2012882"/>
            <a:ext cx="2200001" cy="2498195"/>
          </a:xfrm>
          <a:prstGeom prst="rect">
            <a:avLst/>
          </a:prstGeom>
        </p:spPr>
      </p:pic>
      <p:pic>
        <p:nvPicPr>
          <p:cNvPr id="12" name="Picture 11" descr="Diagram&#10;&#10;Description automatically generated">
            <a:extLst>
              <a:ext uri="{FF2B5EF4-FFF2-40B4-BE49-F238E27FC236}">
                <a16:creationId xmlns:a16="http://schemas.microsoft.com/office/drawing/2014/main" id="{961DF107-8E6A-4173-8D7A-1EDDEDFF0A4D}"/>
              </a:ext>
            </a:extLst>
          </p:cNvPr>
          <p:cNvPicPr>
            <a:picLocks noChangeAspect="1"/>
          </p:cNvPicPr>
          <p:nvPr/>
        </p:nvPicPr>
        <p:blipFill rotWithShape="1">
          <a:blip r:embed="rId4">
            <a:extLst>
              <a:ext uri="{28A0092B-C50C-407E-A947-70E740481C1C}">
                <a14:useLocalDpi xmlns:a14="http://schemas.microsoft.com/office/drawing/2010/main" val="0"/>
              </a:ext>
            </a:extLst>
          </a:blip>
          <a:srcRect l="8366" r="14135"/>
          <a:stretch/>
        </p:blipFill>
        <p:spPr>
          <a:xfrm>
            <a:off x="4370636" y="3783748"/>
            <a:ext cx="2842781" cy="1697809"/>
          </a:xfrm>
          <a:prstGeom prst="rect">
            <a:avLst/>
          </a:prstGeom>
        </p:spPr>
      </p:pic>
      <p:pic>
        <p:nvPicPr>
          <p:cNvPr id="14" name="Picture 13" descr="Shape, arrow&#10;&#10;Description automatically generated">
            <a:extLst>
              <a:ext uri="{FF2B5EF4-FFF2-40B4-BE49-F238E27FC236}">
                <a16:creationId xmlns:a16="http://schemas.microsoft.com/office/drawing/2014/main" id="{0DD799E7-7D4D-4C6B-92A7-A4277A6B98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45656" y="4882102"/>
            <a:ext cx="1426616" cy="880114"/>
          </a:xfrm>
          <a:prstGeom prst="rect">
            <a:avLst/>
          </a:prstGeom>
        </p:spPr>
      </p:pic>
      <p:sp>
        <p:nvSpPr>
          <p:cNvPr id="15" name="Title 1">
            <a:extLst>
              <a:ext uri="{FF2B5EF4-FFF2-40B4-BE49-F238E27FC236}">
                <a16:creationId xmlns:a16="http://schemas.microsoft.com/office/drawing/2014/main" id="{BCBCDEEC-C4B5-4EB8-8B4B-EDA9E99D2F16}"/>
              </a:ext>
            </a:extLst>
          </p:cNvPr>
          <p:cNvSpPr>
            <a:spLocks noGrp="1"/>
          </p:cNvSpPr>
          <p:nvPr>
            <p:ph type="title"/>
          </p:nvPr>
        </p:nvSpPr>
        <p:spPr>
          <a:xfrm>
            <a:off x="838200" y="365125"/>
            <a:ext cx="10515600" cy="578581"/>
          </a:xfrm>
        </p:spPr>
        <p:txBody>
          <a:bodyPr>
            <a:noAutofit/>
          </a:bodyPr>
          <a:lstStyle/>
          <a:p>
            <a:r>
              <a:rPr lang="en-US" sz="3200" dirty="0"/>
              <a:t>What is Deep learning?</a:t>
            </a:r>
            <a:endParaRPr lang="en-IN" sz="3200" dirty="0"/>
          </a:p>
        </p:txBody>
      </p:sp>
      <p:sp>
        <p:nvSpPr>
          <p:cNvPr id="2" name="Slide Number Placeholder 1">
            <a:extLst>
              <a:ext uri="{FF2B5EF4-FFF2-40B4-BE49-F238E27FC236}">
                <a16:creationId xmlns:a16="http://schemas.microsoft.com/office/drawing/2014/main" id="{55332A1C-8BB0-4437-9DE5-6EE3C32AE6B4}"/>
              </a:ext>
            </a:extLst>
          </p:cNvPr>
          <p:cNvSpPr>
            <a:spLocks noGrp="1"/>
          </p:cNvSpPr>
          <p:nvPr>
            <p:ph type="sldNum" sz="quarter" idx="12"/>
          </p:nvPr>
        </p:nvSpPr>
        <p:spPr/>
        <p:txBody>
          <a:bodyPr/>
          <a:lstStyle/>
          <a:p>
            <a:fld id="{F8D9BD54-7BE9-4F3B-8F4A-CE67E3F85104}" type="slidenum">
              <a:rPr lang="en-IN" smtClean="0"/>
              <a:t>5</a:t>
            </a:fld>
            <a:endParaRPr lang="en-IN"/>
          </a:p>
        </p:txBody>
      </p:sp>
    </p:spTree>
    <p:extLst>
      <p:ext uri="{BB962C8B-B14F-4D97-AF65-F5344CB8AC3E}">
        <p14:creationId xmlns:p14="http://schemas.microsoft.com/office/powerpoint/2010/main" val="2124192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Machine Learning (ML) </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FDB2C1D4-0978-4D1B-AF76-F7F076E9E4EB}"/>
              </a:ext>
            </a:extLst>
          </p:cNvPr>
          <p:cNvSpPr>
            <a:spLocks noGrp="1"/>
          </p:cNvSpPr>
          <p:nvPr>
            <p:ph idx="1"/>
          </p:nvPr>
        </p:nvSpPr>
        <p:spPr>
          <a:xfrm>
            <a:off x="990600" y="1978025"/>
            <a:ext cx="10515600" cy="4351338"/>
          </a:xfrm>
        </p:spPr>
        <p:txBody>
          <a:bodyPr>
            <a:normAutofit/>
          </a:bodyPr>
          <a:lstStyle/>
          <a:p>
            <a:pPr marL="0" indent="0">
              <a:spcBef>
                <a:spcPct val="0"/>
              </a:spcBef>
              <a:spcAft>
                <a:spcPts val="1600"/>
              </a:spcAft>
              <a:buNone/>
              <a:defRPr/>
            </a:pPr>
            <a:r>
              <a:rPr lang="en-IN" altLang="en-US" sz="2400" dirty="0">
                <a:latin typeface="+mj-lt"/>
                <a:ea typeface="+mj-ea"/>
                <a:cs typeface="Times New Roman" pitchFamily="18" charset="0"/>
              </a:rPr>
              <a:t>ML gives computers the ability to learn without being explicitly programmed</a:t>
            </a:r>
          </a:p>
          <a:p>
            <a:pPr marL="0" indent="0">
              <a:buNone/>
            </a:pPr>
            <a:endParaRPr lang="en-IN" dirty="0"/>
          </a:p>
        </p:txBody>
      </p:sp>
      <p:grpSp>
        <p:nvGrpSpPr>
          <p:cNvPr id="10" name="Group 4">
            <a:extLst>
              <a:ext uri="{FF2B5EF4-FFF2-40B4-BE49-F238E27FC236}">
                <a16:creationId xmlns:a16="http://schemas.microsoft.com/office/drawing/2014/main" id="{AAED6FA1-6678-49E6-AB7F-6F0BFF6FE95F}"/>
              </a:ext>
            </a:extLst>
          </p:cNvPr>
          <p:cNvGrpSpPr>
            <a:grpSpLocks/>
          </p:cNvGrpSpPr>
          <p:nvPr/>
        </p:nvGrpSpPr>
        <p:grpSpPr bwMode="auto">
          <a:xfrm>
            <a:off x="1363579" y="3428999"/>
            <a:ext cx="9409195" cy="2747963"/>
            <a:chOff x="118760" y="2519532"/>
            <a:chExt cx="8834740" cy="2889702"/>
          </a:xfrm>
        </p:grpSpPr>
        <p:sp>
          <p:nvSpPr>
            <p:cNvPr id="11" name="Can 5">
              <a:extLst>
                <a:ext uri="{FF2B5EF4-FFF2-40B4-BE49-F238E27FC236}">
                  <a16:creationId xmlns:a16="http://schemas.microsoft.com/office/drawing/2014/main" id="{0A46A649-AEBC-481D-A7F5-18F44B652D48}"/>
                </a:ext>
              </a:extLst>
            </p:cNvPr>
            <p:cNvSpPr/>
            <p:nvPr/>
          </p:nvSpPr>
          <p:spPr>
            <a:xfrm>
              <a:off x="118760" y="2519532"/>
              <a:ext cx="2447112" cy="1113652"/>
            </a:xfrm>
            <a:prstGeom prst="can">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sz="2400" dirty="0"/>
                <a:t>Labeled/Unlabeled Data</a:t>
              </a:r>
            </a:p>
          </p:txBody>
        </p:sp>
        <p:sp>
          <p:nvSpPr>
            <p:cNvPr id="12" name="Rounded Rectangle 7">
              <a:extLst>
                <a:ext uri="{FF2B5EF4-FFF2-40B4-BE49-F238E27FC236}">
                  <a16:creationId xmlns:a16="http://schemas.microsoft.com/office/drawing/2014/main" id="{662499F7-38B5-4C23-93C0-F6965A261041}"/>
                </a:ext>
              </a:extLst>
            </p:cNvPr>
            <p:cNvSpPr/>
            <p:nvPr/>
          </p:nvSpPr>
          <p:spPr>
            <a:xfrm>
              <a:off x="3541705" y="2682748"/>
              <a:ext cx="2655218" cy="950436"/>
            </a:xfrm>
            <a:prstGeom prst="roundRect">
              <a:avLst/>
            </a:prstGeom>
          </p:spPr>
          <p:style>
            <a:lnRef idx="1">
              <a:schemeClr val="accent4"/>
            </a:lnRef>
            <a:fillRef idx="3">
              <a:schemeClr val="accent4"/>
            </a:fillRef>
            <a:effectRef idx="2">
              <a:schemeClr val="accent4"/>
            </a:effectRef>
            <a:fontRef idx="minor">
              <a:schemeClr val="lt1"/>
            </a:fontRef>
          </p:style>
          <p:txBody>
            <a:bodyPr anchor="ctr"/>
            <a:lstStyle/>
            <a:p>
              <a:pPr algn="ctr">
                <a:defRPr/>
              </a:pPr>
              <a:r>
                <a:rPr lang="en-US" sz="2400" dirty="0"/>
                <a:t>Machine Learning Algorithm</a:t>
              </a:r>
            </a:p>
          </p:txBody>
        </p:sp>
        <p:sp>
          <p:nvSpPr>
            <p:cNvPr id="13" name="Cube 12">
              <a:extLst>
                <a:ext uri="{FF2B5EF4-FFF2-40B4-BE49-F238E27FC236}">
                  <a16:creationId xmlns:a16="http://schemas.microsoft.com/office/drawing/2014/main" id="{B1B0A4DF-F211-4255-87DB-124B32D6B866}"/>
                </a:ext>
              </a:extLst>
            </p:cNvPr>
            <p:cNvSpPr/>
            <p:nvPr/>
          </p:nvSpPr>
          <p:spPr>
            <a:xfrm>
              <a:off x="3810009" y="4501090"/>
              <a:ext cx="1941728" cy="908144"/>
            </a:xfrm>
            <a:prstGeom prst="cube">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sz="2400" dirty="0"/>
                <a:t>Learned model</a:t>
              </a:r>
            </a:p>
          </p:txBody>
        </p:sp>
        <p:sp>
          <p:nvSpPr>
            <p:cNvPr id="14" name="Bevel 9">
              <a:extLst>
                <a:ext uri="{FF2B5EF4-FFF2-40B4-BE49-F238E27FC236}">
                  <a16:creationId xmlns:a16="http://schemas.microsoft.com/office/drawing/2014/main" id="{21D8AF3C-90B4-406B-A984-4E8AC0B6ABCA}"/>
                </a:ext>
              </a:extLst>
            </p:cNvPr>
            <p:cNvSpPr/>
            <p:nvPr/>
          </p:nvSpPr>
          <p:spPr>
            <a:xfrm>
              <a:off x="6408279" y="4466347"/>
              <a:ext cx="1738396" cy="870304"/>
            </a:xfrm>
            <a:prstGeom prst="bevel">
              <a:avLst/>
            </a:prstGeom>
          </p:spPr>
          <p:style>
            <a:lnRef idx="1">
              <a:schemeClr val="accent3"/>
            </a:lnRef>
            <a:fillRef idx="3">
              <a:schemeClr val="accent3"/>
            </a:fillRef>
            <a:effectRef idx="2">
              <a:schemeClr val="accent3"/>
            </a:effectRef>
            <a:fontRef idx="minor">
              <a:schemeClr val="lt1"/>
            </a:fontRef>
          </p:style>
          <p:txBody>
            <a:bodyPr anchor="ctr"/>
            <a:lstStyle/>
            <a:p>
              <a:pPr algn="ctr">
                <a:defRPr/>
              </a:pPr>
              <a:r>
                <a:rPr lang="en-US" sz="2400" dirty="0"/>
                <a:t>Prediction</a:t>
              </a:r>
            </a:p>
          </p:txBody>
        </p:sp>
        <p:cxnSp>
          <p:nvCxnSpPr>
            <p:cNvPr id="16" name="Straight Arrow Connector 15">
              <a:extLst>
                <a:ext uri="{FF2B5EF4-FFF2-40B4-BE49-F238E27FC236}">
                  <a16:creationId xmlns:a16="http://schemas.microsoft.com/office/drawing/2014/main" id="{5761AFDD-EC8F-4909-9269-5120C1ED7026}"/>
                </a:ext>
              </a:extLst>
            </p:cNvPr>
            <p:cNvCxnSpPr>
              <a:cxnSpLocks/>
              <a:endCxn id="12" idx="1"/>
            </p:cNvCxnSpPr>
            <p:nvPr/>
          </p:nvCxnSpPr>
          <p:spPr>
            <a:xfrm>
              <a:off x="2565872" y="3157966"/>
              <a:ext cx="975833"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8" name="Straight Arrow Connector 17">
              <a:extLst>
                <a:ext uri="{FF2B5EF4-FFF2-40B4-BE49-F238E27FC236}">
                  <a16:creationId xmlns:a16="http://schemas.microsoft.com/office/drawing/2014/main" id="{7A17CE65-3C75-46E4-9367-2A89AEDC869D}"/>
                </a:ext>
              </a:extLst>
            </p:cNvPr>
            <p:cNvCxnSpPr>
              <a:cxnSpLocks/>
            </p:cNvCxnSpPr>
            <p:nvPr/>
          </p:nvCxnSpPr>
          <p:spPr>
            <a:xfrm flipV="1">
              <a:off x="5717951" y="4955162"/>
              <a:ext cx="688876" cy="1"/>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0" name="Straight Arrow Connector 19">
              <a:extLst>
                <a:ext uri="{FF2B5EF4-FFF2-40B4-BE49-F238E27FC236}">
                  <a16:creationId xmlns:a16="http://schemas.microsoft.com/office/drawing/2014/main" id="{18768A28-9CFB-4712-9178-1B9618BD64F7}"/>
                </a:ext>
              </a:extLst>
            </p:cNvPr>
            <p:cNvCxnSpPr>
              <a:stCxn id="12" idx="2"/>
              <a:endCxn id="13" idx="0"/>
            </p:cNvCxnSpPr>
            <p:nvPr/>
          </p:nvCxnSpPr>
          <p:spPr>
            <a:xfrm>
              <a:off x="4869314" y="3633185"/>
              <a:ext cx="12918" cy="867905"/>
            </a:xfrm>
            <a:prstGeom prst="straightConnector1">
              <a:avLst/>
            </a:prstGeom>
            <a:ln w="38100" cmpd="sng">
              <a:tailEnd type="arrow"/>
            </a:ln>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2F3A88C2-DFE9-44CA-8E4B-C1FC3B66C6C8}"/>
                </a:ext>
              </a:extLst>
            </p:cNvPr>
            <p:cNvCxnSpPr/>
            <p:nvPr/>
          </p:nvCxnSpPr>
          <p:spPr>
            <a:xfrm flipV="1">
              <a:off x="457200" y="4000447"/>
              <a:ext cx="8496300" cy="37840"/>
            </a:xfrm>
            <a:prstGeom prst="line">
              <a:avLst/>
            </a:prstGeom>
          </p:spPr>
          <p:style>
            <a:lnRef idx="2">
              <a:schemeClr val="accent1"/>
            </a:lnRef>
            <a:fillRef idx="0">
              <a:schemeClr val="accent1"/>
            </a:fillRef>
            <a:effectRef idx="1">
              <a:schemeClr val="accent1"/>
            </a:effectRef>
            <a:fontRef idx="minor">
              <a:schemeClr val="tx1"/>
            </a:fontRef>
          </p:style>
        </p:cxnSp>
        <p:sp>
          <p:nvSpPr>
            <p:cNvPr id="23" name="TextBox 15">
              <a:extLst>
                <a:ext uri="{FF2B5EF4-FFF2-40B4-BE49-F238E27FC236}">
                  <a16:creationId xmlns:a16="http://schemas.microsoft.com/office/drawing/2014/main" id="{6101C03D-D222-4D74-B126-29904661C168}"/>
                </a:ext>
              </a:extLst>
            </p:cNvPr>
            <p:cNvSpPr txBox="1">
              <a:spLocks noChangeArrowheads="1"/>
            </p:cNvSpPr>
            <p:nvPr/>
          </p:nvSpPr>
          <p:spPr bwMode="auto">
            <a:xfrm>
              <a:off x="457200" y="3648406"/>
              <a:ext cx="1024517" cy="442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133" b="1" dirty="0">
                  <a:solidFill>
                    <a:schemeClr val="accent2"/>
                  </a:solidFill>
                </a:rPr>
                <a:t>Training</a:t>
              </a:r>
            </a:p>
          </p:txBody>
        </p:sp>
      </p:grpSp>
      <p:sp>
        <p:nvSpPr>
          <p:cNvPr id="24" name="TextBox 23">
            <a:extLst>
              <a:ext uri="{FF2B5EF4-FFF2-40B4-BE49-F238E27FC236}">
                <a16:creationId xmlns:a16="http://schemas.microsoft.com/office/drawing/2014/main" id="{73627587-64F9-4DC6-88DD-20977B5D84FC}"/>
              </a:ext>
            </a:extLst>
          </p:cNvPr>
          <p:cNvSpPr txBox="1">
            <a:spLocks noChangeArrowheads="1"/>
          </p:cNvSpPr>
          <p:nvPr/>
        </p:nvSpPr>
        <p:spPr bwMode="auto">
          <a:xfrm>
            <a:off x="1837026" y="6337773"/>
            <a:ext cx="978666" cy="420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133" b="1" dirty="0">
                <a:solidFill>
                  <a:schemeClr val="accent2"/>
                </a:solidFill>
              </a:rPr>
              <a:t>Testing</a:t>
            </a:r>
          </a:p>
        </p:txBody>
      </p:sp>
      <p:sp>
        <p:nvSpPr>
          <p:cNvPr id="25" name="Can 5">
            <a:extLst>
              <a:ext uri="{FF2B5EF4-FFF2-40B4-BE49-F238E27FC236}">
                <a16:creationId xmlns:a16="http://schemas.microsoft.com/office/drawing/2014/main" id="{1E8670CC-D294-4F64-9F67-96CFB6383175}"/>
              </a:ext>
            </a:extLst>
          </p:cNvPr>
          <p:cNvSpPr/>
          <p:nvPr/>
        </p:nvSpPr>
        <p:spPr bwMode="auto">
          <a:xfrm>
            <a:off x="1384724" y="5257840"/>
            <a:ext cx="2606229" cy="903818"/>
          </a:xfrm>
          <a:prstGeom prst="can">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sz="2400" dirty="0"/>
              <a:t>Test Data</a:t>
            </a:r>
          </a:p>
        </p:txBody>
      </p:sp>
      <p:cxnSp>
        <p:nvCxnSpPr>
          <p:cNvPr id="26" name="Straight Arrow Connector 25">
            <a:extLst>
              <a:ext uri="{FF2B5EF4-FFF2-40B4-BE49-F238E27FC236}">
                <a16:creationId xmlns:a16="http://schemas.microsoft.com/office/drawing/2014/main" id="{176D884A-564F-4030-887B-E69E8C913B2A}"/>
              </a:ext>
            </a:extLst>
          </p:cNvPr>
          <p:cNvCxnSpPr>
            <a:cxnSpLocks/>
          </p:cNvCxnSpPr>
          <p:nvPr/>
        </p:nvCxnSpPr>
        <p:spPr bwMode="auto">
          <a:xfrm>
            <a:off x="3977830" y="5696479"/>
            <a:ext cx="1317011" cy="1327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 name="Slide Number Placeholder 2">
            <a:extLst>
              <a:ext uri="{FF2B5EF4-FFF2-40B4-BE49-F238E27FC236}">
                <a16:creationId xmlns:a16="http://schemas.microsoft.com/office/drawing/2014/main" id="{BE46BF79-8710-4AA5-8FB1-FDC5BA817C8A}"/>
              </a:ext>
            </a:extLst>
          </p:cNvPr>
          <p:cNvSpPr>
            <a:spLocks noGrp="1"/>
          </p:cNvSpPr>
          <p:nvPr>
            <p:ph type="sldNum" sz="quarter" idx="12"/>
          </p:nvPr>
        </p:nvSpPr>
        <p:spPr/>
        <p:txBody>
          <a:bodyPr/>
          <a:lstStyle/>
          <a:p>
            <a:fld id="{F8D9BD54-7BE9-4F3B-8F4A-CE67E3F85104}" type="slidenum">
              <a:rPr lang="en-IN" smtClean="0"/>
              <a:t>6</a:t>
            </a:fld>
            <a:endParaRPr lang="en-IN"/>
          </a:p>
        </p:txBody>
      </p:sp>
    </p:spTree>
    <p:extLst>
      <p:ext uri="{BB962C8B-B14F-4D97-AF65-F5344CB8AC3E}">
        <p14:creationId xmlns:p14="http://schemas.microsoft.com/office/powerpoint/2010/main" val="167990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6">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95CD7F63-5203-405D-ACAB-5C3F8CC3A6C1}"/>
              </a:ext>
            </a:extLst>
          </p:cNvPr>
          <p:cNvSpPr txBox="1">
            <a:spLocks/>
          </p:cNvSpPr>
          <p:nvPr/>
        </p:nvSpPr>
        <p:spPr bwMode="auto">
          <a:xfrm>
            <a:off x="699713" y="248038"/>
            <a:ext cx="7063721" cy="115920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altLang="en-US" sz="4000" b="1" kern="1200" dirty="0">
                <a:solidFill>
                  <a:srgbClr val="FFFFFF"/>
                </a:solidFill>
                <a:latin typeface="+mj-lt"/>
                <a:ea typeface="+mj-ea"/>
                <a:cs typeface="+mj-cs"/>
              </a:rPr>
              <a:t>Deep Learning (DL)</a:t>
            </a:r>
          </a:p>
        </p:txBody>
      </p:sp>
      <p:sp>
        <p:nvSpPr>
          <p:cNvPr id="9" name="Rectangle 8">
            <a:extLst>
              <a:ext uri="{FF2B5EF4-FFF2-40B4-BE49-F238E27FC236}">
                <a16:creationId xmlns:a16="http://schemas.microsoft.com/office/drawing/2014/main" id="{C607BE03-D3F5-4B56-A325-9CDE0376A3A9}"/>
              </a:ext>
            </a:extLst>
          </p:cNvPr>
          <p:cNvSpPr/>
          <p:nvPr/>
        </p:nvSpPr>
        <p:spPr>
          <a:xfrm>
            <a:off x="857251" y="4550760"/>
            <a:ext cx="10096500" cy="152400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sz="2400"/>
          </a:p>
        </p:txBody>
      </p:sp>
      <p:sp>
        <p:nvSpPr>
          <p:cNvPr id="11" name="Rectangle 10">
            <a:extLst>
              <a:ext uri="{FF2B5EF4-FFF2-40B4-BE49-F238E27FC236}">
                <a16:creationId xmlns:a16="http://schemas.microsoft.com/office/drawing/2014/main" id="{B70D2F46-BCD2-4176-9CC5-59B8904018E2}"/>
              </a:ext>
            </a:extLst>
          </p:cNvPr>
          <p:cNvSpPr/>
          <p:nvPr/>
        </p:nvSpPr>
        <p:spPr>
          <a:xfrm>
            <a:off x="857251" y="2455261"/>
            <a:ext cx="10096500" cy="171450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sz="2400"/>
          </a:p>
        </p:txBody>
      </p:sp>
      <p:graphicFrame>
        <p:nvGraphicFramePr>
          <p:cNvPr id="13" name="Diagram 12">
            <a:extLst>
              <a:ext uri="{FF2B5EF4-FFF2-40B4-BE49-F238E27FC236}">
                <a16:creationId xmlns:a16="http://schemas.microsoft.com/office/drawing/2014/main" id="{6864B220-34D3-47FF-9D49-2EE555F4A363}"/>
              </a:ext>
            </a:extLst>
          </p:cNvPr>
          <p:cNvGraphicFramePr/>
          <p:nvPr>
            <p:extLst>
              <p:ext uri="{D42A27DB-BD31-4B8C-83A1-F6EECF244321}">
                <p14:modId xmlns:p14="http://schemas.microsoft.com/office/powerpoint/2010/main" val="279536529"/>
              </p:ext>
            </p:extLst>
          </p:nvPr>
        </p:nvGraphicFramePr>
        <p:xfrm>
          <a:off x="1619219" y="1502744"/>
          <a:ext cx="8413752" cy="41380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5" name="Diagram 14">
            <a:extLst>
              <a:ext uri="{FF2B5EF4-FFF2-40B4-BE49-F238E27FC236}">
                <a16:creationId xmlns:a16="http://schemas.microsoft.com/office/drawing/2014/main" id="{763ED678-C675-4B1C-A16F-A3B80286E0CD}"/>
              </a:ext>
            </a:extLst>
          </p:cNvPr>
          <p:cNvGraphicFramePr/>
          <p:nvPr>
            <p:extLst>
              <p:ext uri="{D42A27DB-BD31-4B8C-83A1-F6EECF244321}">
                <p14:modId xmlns:p14="http://schemas.microsoft.com/office/powerpoint/2010/main" val="989476145"/>
              </p:ext>
            </p:extLst>
          </p:nvPr>
        </p:nvGraphicFramePr>
        <p:xfrm>
          <a:off x="1523968" y="4550766"/>
          <a:ext cx="8572560" cy="133348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6" name="TextBox 17">
            <a:extLst>
              <a:ext uri="{FF2B5EF4-FFF2-40B4-BE49-F238E27FC236}">
                <a16:creationId xmlns:a16="http://schemas.microsoft.com/office/drawing/2014/main" id="{C231B319-D9F5-4EE2-A085-8AD14C106BCA}"/>
              </a:ext>
            </a:extLst>
          </p:cNvPr>
          <p:cNvSpPr txBox="1">
            <a:spLocks noChangeArrowheads="1"/>
          </p:cNvSpPr>
          <p:nvPr/>
        </p:nvSpPr>
        <p:spPr bwMode="auto">
          <a:xfrm>
            <a:off x="4286251" y="3788760"/>
            <a:ext cx="2952749" cy="420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IN" altLang="en-US" sz="2133">
                <a:solidFill>
                  <a:srgbClr val="FF0000"/>
                </a:solidFill>
                <a:latin typeface="Cambria" panose="02040503050406030204" pitchFamily="18" charset="0"/>
              </a:rPr>
              <a:t>Costs lot of time</a:t>
            </a:r>
            <a:endParaRPr lang="en-IN" altLang="en-US" sz="2400">
              <a:solidFill>
                <a:srgbClr val="FF0000"/>
              </a:solidFill>
              <a:latin typeface="Cambria" panose="02040503050406030204" pitchFamily="18" charset="0"/>
            </a:endParaRPr>
          </a:p>
        </p:txBody>
      </p:sp>
    </p:spTree>
    <p:extLst>
      <p:ext uri="{BB962C8B-B14F-4D97-AF65-F5344CB8AC3E}">
        <p14:creationId xmlns:p14="http://schemas.microsoft.com/office/powerpoint/2010/main" val="3320667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76B3E1-76DD-4B00-9FB5-4EDB963D9A44}"/>
              </a:ext>
            </a:extLst>
          </p:cNvPr>
          <p:cNvPicPr>
            <a:picLocks noChangeAspect="1"/>
          </p:cNvPicPr>
          <p:nvPr/>
        </p:nvPicPr>
        <p:blipFill rotWithShape="1">
          <a:blip r:embed="rId3"/>
          <a:srcRect l="4358" t="42158" r="27838" b="18195"/>
          <a:stretch/>
        </p:blipFill>
        <p:spPr>
          <a:xfrm>
            <a:off x="127311" y="2113614"/>
            <a:ext cx="7407343" cy="2436352"/>
          </a:xfrm>
          <a:prstGeom prst="rect">
            <a:avLst/>
          </a:prstGeom>
        </p:spPr>
      </p:pic>
      <p:sp>
        <p:nvSpPr>
          <p:cNvPr id="28" name="Rectangle 27">
            <a:extLst>
              <a:ext uri="{FF2B5EF4-FFF2-40B4-BE49-F238E27FC236}">
                <a16:creationId xmlns:a16="http://schemas.microsoft.com/office/drawing/2014/main" id="{F5493CFF-E43B-4B10-ACE1-C8A1246629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9873" y="0"/>
            <a:ext cx="4062127"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itle 1">
            <a:extLst>
              <a:ext uri="{FF2B5EF4-FFF2-40B4-BE49-F238E27FC236}">
                <a16:creationId xmlns:a16="http://schemas.microsoft.com/office/drawing/2014/main" id="{95CD7F63-5203-405D-ACAB-5C3F8CC3A6C1}"/>
              </a:ext>
            </a:extLst>
          </p:cNvPr>
          <p:cNvSpPr txBox="1">
            <a:spLocks/>
          </p:cNvSpPr>
          <p:nvPr/>
        </p:nvSpPr>
        <p:spPr bwMode="auto">
          <a:xfrm>
            <a:off x="8502650" y="643467"/>
            <a:ext cx="3117850" cy="255638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altLang="en-US" sz="4800" b="1" kern="1200">
                <a:solidFill>
                  <a:schemeClr val="bg1"/>
                </a:solidFill>
                <a:latin typeface="+mj-lt"/>
                <a:ea typeface="+mj-ea"/>
                <a:cs typeface="+mj-cs"/>
              </a:rPr>
              <a:t>Deep Learning</a:t>
            </a:r>
          </a:p>
        </p:txBody>
      </p:sp>
      <p:sp>
        <p:nvSpPr>
          <p:cNvPr id="9" name="TextBox 8">
            <a:extLst>
              <a:ext uri="{FF2B5EF4-FFF2-40B4-BE49-F238E27FC236}">
                <a16:creationId xmlns:a16="http://schemas.microsoft.com/office/drawing/2014/main" id="{516E2317-C234-4571-B190-8D7FB5CEB7AA}"/>
              </a:ext>
            </a:extLst>
          </p:cNvPr>
          <p:cNvSpPr txBox="1"/>
          <p:nvPr/>
        </p:nvSpPr>
        <p:spPr>
          <a:xfrm>
            <a:off x="8502649" y="3358608"/>
            <a:ext cx="3045883" cy="2831273"/>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a:solidFill>
                  <a:schemeClr val="bg1"/>
                </a:solidFill>
              </a:rPr>
              <a:t>Deep learning uses its multiple layers to learn these hierarchical features, so that it can apply machine learning on it to take decisions</a:t>
            </a:r>
          </a:p>
        </p:txBody>
      </p:sp>
    </p:spTree>
    <p:extLst>
      <p:ext uri="{BB962C8B-B14F-4D97-AF65-F5344CB8AC3E}">
        <p14:creationId xmlns:p14="http://schemas.microsoft.com/office/powerpoint/2010/main" val="3021665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524741" y="620392"/>
            <a:ext cx="3808268" cy="5504688"/>
          </a:xfrm>
        </p:spPr>
        <p:txBody>
          <a:bodyPr vert="horz" lIns="91440" tIns="45720" rIns="91440" bIns="45720" rtlCol="0">
            <a:normAutofit/>
          </a:bodyPr>
          <a:lstStyle/>
          <a:p>
            <a:r>
              <a:rPr lang="en-US" sz="6000" kern="1200">
                <a:solidFill>
                  <a:schemeClr val="bg1"/>
                </a:solidFill>
                <a:latin typeface="+mj-lt"/>
                <a:ea typeface="+mj-ea"/>
                <a:cs typeface="+mj-cs"/>
              </a:rPr>
              <a:t>Deep Learning (DL)</a:t>
            </a:r>
          </a:p>
        </p:txBody>
      </p:sp>
      <p:sp>
        <p:nvSpPr>
          <p:cNvPr id="3" name="Slide Number Placeholder 2">
            <a:extLst>
              <a:ext uri="{FF2B5EF4-FFF2-40B4-BE49-F238E27FC236}">
                <a16:creationId xmlns:a16="http://schemas.microsoft.com/office/drawing/2014/main" id="{91AC5315-ECB8-40FF-889E-F557F51F79B0}"/>
              </a:ext>
            </a:extLst>
          </p:cNvPr>
          <p:cNvSpPr>
            <a:spLocks noGrp="1"/>
          </p:cNvSpPr>
          <p:nvPr>
            <p:ph type="sldNum" sz="quarter" idx="12"/>
          </p:nvPr>
        </p:nvSpPr>
        <p:spPr>
          <a:xfrm>
            <a:off x="8610600" y="6356350"/>
            <a:ext cx="2743200" cy="365125"/>
          </a:xfrm>
        </p:spPr>
        <p:txBody>
          <a:bodyPr>
            <a:normAutofit/>
          </a:bodyPr>
          <a:lstStyle/>
          <a:p>
            <a:pPr>
              <a:spcAft>
                <a:spcPts val="600"/>
              </a:spcAft>
            </a:pPr>
            <a:fld id="{F8D9BD54-7BE9-4F3B-8F4A-CE67E3F85104}" type="slidenum">
              <a:rPr lang="en-IN" smtClean="0"/>
              <a:pPr>
                <a:spcAft>
                  <a:spcPts val="600"/>
                </a:spcAft>
              </a:pPr>
              <a:t>9</a:t>
            </a:fld>
            <a:endParaRPr lang="en-IN"/>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23" name="Content Placeholder 2">
            <a:extLst>
              <a:ext uri="{FF2B5EF4-FFF2-40B4-BE49-F238E27FC236}">
                <a16:creationId xmlns:a16="http://schemas.microsoft.com/office/drawing/2014/main" id="{3D70EF0F-6D51-BF3B-C368-5B14909E4007}"/>
              </a:ext>
            </a:extLst>
          </p:cNvPr>
          <p:cNvGraphicFramePr>
            <a:graphicFrameLocks noGrp="1"/>
          </p:cNvGraphicFramePr>
          <p:nvPr>
            <p:ph idx="1"/>
            <p:extLst>
              <p:ext uri="{D42A27DB-BD31-4B8C-83A1-F6EECF244321}">
                <p14:modId xmlns:p14="http://schemas.microsoft.com/office/powerpoint/2010/main" val="722739030"/>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94917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524741" y="620392"/>
            <a:ext cx="3808268" cy="5504688"/>
          </a:xfrm>
        </p:spPr>
        <p:txBody>
          <a:bodyPr vert="horz" lIns="91440" tIns="45720" rIns="91440" bIns="45720" rtlCol="0">
            <a:normAutofit/>
          </a:bodyPr>
          <a:lstStyle/>
          <a:p>
            <a:r>
              <a:rPr lang="en-US" sz="6000" kern="1200">
                <a:solidFill>
                  <a:schemeClr val="bg1"/>
                </a:solidFill>
                <a:latin typeface="+mj-lt"/>
                <a:ea typeface="+mj-ea"/>
                <a:cs typeface="+mj-cs"/>
              </a:rPr>
              <a:t>Why Deep Learning (DL)</a:t>
            </a:r>
          </a:p>
        </p:txBody>
      </p:sp>
      <p:sp>
        <p:nvSpPr>
          <p:cNvPr id="3" name="Slide Number Placeholder 2">
            <a:extLst>
              <a:ext uri="{FF2B5EF4-FFF2-40B4-BE49-F238E27FC236}">
                <a16:creationId xmlns:a16="http://schemas.microsoft.com/office/drawing/2014/main" id="{EEA9BF49-4558-427C-85BF-29C7C42EAFF3}"/>
              </a:ext>
            </a:extLst>
          </p:cNvPr>
          <p:cNvSpPr>
            <a:spLocks noGrp="1"/>
          </p:cNvSpPr>
          <p:nvPr>
            <p:ph type="sldNum" sz="quarter" idx="12"/>
          </p:nvPr>
        </p:nvSpPr>
        <p:spPr>
          <a:xfrm>
            <a:off x="8610600" y="6356350"/>
            <a:ext cx="2743200" cy="365125"/>
          </a:xfrm>
        </p:spPr>
        <p:txBody>
          <a:bodyPr>
            <a:normAutofit/>
          </a:bodyPr>
          <a:lstStyle/>
          <a:p>
            <a:pPr>
              <a:spcAft>
                <a:spcPts val="600"/>
              </a:spcAft>
            </a:pPr>
            <a:fld id="{F8D9BD54-7BE9-4F3B-8F4A-CE67E3F85104}" type="slidenum">
              <a:rPr lang="en-IN" smtClean="0"/>
              <a:pPr>
                <a:spcAft>
                  <a:spcPts val="600"/>
                </a:spcAft>
              </a:pPr>
              <a:t>10</a:t>
            </a:fld>
            <a:endParaRPr lang="en-IN"/>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23" name="Content Placeholder 2">
            <a:extLst>
              <a:ext uri="{FF2B5EF4-FFF2-40B4-BE49-F238E27FC236}">
                <a16:creationId xmlns:a16="http://schemas.microsoft.com/office/drawing/2014/main" id="{64058AC5-9550-62F2-347D-378224DDC2C8}"/>
              </a:ext>
            </a:extLst>
          </p:cNvPr>
          <p:cNvGraphicFramePr>
            <a:graphicFrameLocks noGrp="1"/>
          </p:cNvGraphicFramePr>
          <p:nvPr>
            <p:ph idx="1"/>
            <p:extLst>
              <p:ext uri="{D42A27DB-BD31-4B8C-83A1-F6EECF244321}">
                <p14:modId xmlns:p14="http://schemas.microsoft.com/office/powerpoint/2010/main" val="3351339273"/>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24029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66" name="Rectangle 10265">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68" name="Rectangle 10267">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70" name="Rectangle 10269">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72" name="Rectangle 10271">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4" name="Picture 8" descr="machine-learning-vs-deep-learning.png">
            <a:extLst>
              <a:ext uri="{FF2B5EF4-FFF2-40B4-BE49-F238E27FC236}">
                <a16:creationId xmlns:a16="http://schemas.microsoft.com/office/drawing/2014/main" id="{33A2C098-77FB-498B-89C1-293A02B3BC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457200" y="678763"/>
            <a:ext cx="11277600" cy="550047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2" name="AutoShape 4" descr="Biological Neural Networks">
            <a:extLst>
              <a:ext uri="{FF2B5EF4-FFF2-40B4-BE49-F238E27FC236}">
                <a16:creationId xmlns:a16="http://schemas.microsoft.com/office/drawing/2014/main" id="{ACB94B6C-67DE-4D75-ACDD-FB85947A637C}"/>
              </a:ext>
            </a:extLst>
          </p:cNvPr>
          <p:cNvSpPr>
            <a:spLocks noChangeAspect="1" noChangeArrowheads="1"/>
          </p:cNvSpPr>
          <p:nvPr/>
        </p:nvSpPr>
        <p:spPr bwMode="auto">
          <a:xfrm>
            <a:off x="207433" y="-192617"/>
            <a:ext cx="406400" cy="406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2400"/>
          </a:p>
        </p:txBody>
      </p:sp>
      <p:sp>
        <p:nvSpPr>
          <p:cNvPr id="10243" name="AutoShape 6" descr="Biological Neural Networks">
            <a:extLst>
              <a:ext uri="{FF2B5EF4-FFF2-40B4-BE49-F238E27FC236}">
                <a16:creationId xmlns:a16="http://schemas.microsoft.com/office/drawing/2014/main" id="{BE1CF57E-3502-407F-8573-C106D37AE02E}"/>
              </a:ext>
            </a:extLst>
          </p:cNvPr>
          <p:cNvSpPr>
            <a:spLocks noChangeAspect="1" noChangeArrowheads="1"/>
          </p:cNvSpPr>
          <p:nvPr/>
        </p:nvSpPr>
        <p:spPr bwMode="auto">
          <a:xfrm>
            <a:off x="207433" y="-192617"/>
            <a:ext cx="406400" cy="406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g1d53a6d1b95_0_16"/>
          <p:cNvPicPr preferRelativeResize="0"/>
          <p:nvPr/>
        </p:nvPicPr>
        <p:blipFill rotWithShape="1">
          <a:blip r:embed="rId3">
            <a:alphaModFix/>
          </a:blip>
          <a:srcRect/>
          <a:stretch/>
        </p:blipFill>
        <p:spPr>
          <a:xfrm>
            <a:off x="1319134" y="1670551"/>
            <a:ext cx="1191656" cy="1506690"/>
          </a:xfrm>
          <a:prstGeom prst="rect">
            <a:avLst/>
          </a:prstGeom>
          <a:noFill/>
          <a:ln>
            <a:noFill/>
          </a:ln>
        </p:spPr>
      </p:pic>
      <p:sp>
        <p:nvSpPr>
          <p:cNvPr id="138" name="Google Shape;138;g1d53a6d1b95_0_16"/>
          <p:cNvSpPr txBox="1"/>
          <p:nvPr/>
        </p:nvSpPr>
        <p:spPr>
          <a:xfrm>
            <a:off x="10496760" y="2223000"/>
            <a:ext cx="628920" cy="569160"/>
          </a:xfrm>
          <a:prstGeom prst="rect">
            <a:avLst/>
          </a:prstGeom>
          <a:noFill/>
          <a:ln>
            <a:noFill/>
          </a:ln>
        </p:spPr>
        <p:txBody>
          <a:bodyPr spcFirstLastPara="1" wrap="square" lIns="109710" tIns="109710" rIns="109710" bIns="109710" anchor="t" anchorCtr="0">
            <a:noAutofit/>
          </a:bodyPr>
          <a:lstStyle/>
          <a:p>
            <a:pPr>
              <a:buClr>
                <a:srgbClr val="000000"/>
              </a:buClr>
              <a:buSzPts val="1800"/>
            </a:pPr>
            <a:r>
              <a:rPr lang="en" sz="2160" b="1">
                <a:solidFill>
                  <a:srgbClr val="000000"/>
                </a:solidFill>
                <a:latin typeface="Arial"/>
                <a:ea typeface="Arial"/>
                <a:cs typeface="Arial"/>
                <a:sym typeface="Arial"/>
              </a:rPr>
              <a:t>cat</a:t>
            </a:r>
            <a:endParaRPr sz="2160" b="1">
              <a:solidFill>
                <a:srgbClr val="000000"/>
              </a:solidFill>
              <a:latin typeface="Arial"/>
              <a:ea typeface="Arial"/>
              <a:cs typeface="Arial"/>
              <a:sym typeface="Arial"/>
            </a:endParaRPr>
          </a:p>
        </p:txBody>
      </p:sp>
      <p:sp>
        <p:nvSpPr>
          <p:cNvPr id="139" name="Google Shape;139;g1d53a6d1b95_0_16"/>
          <p:cNvSpPr txBox="1"/>
          <p:nvPr/>
        </p:nvSpPr>
        <p:spPr>
          <a:xfrm>
            <a:off x="1506330" y="844900"/>
            <a:ext cx="5531760" cy="569160"/>
          </a:xfrm>
          <a:prstGeom prst="rect">
            <a:avLst/>
          </a:prstGeom>
          <a:noFill/>
          <a:ln>
            <a:noFill/>
          </a:ln>
        </p:spPr>
        <p:txBody>
          <a:bodyPr spcFirstLastPara="1" wrap="square" lIns="109710" tIns="109710" rIns="109710" bIns="109710" anchor="t" anchorCtr="0">
            <a:noAutofit/>
          </a:bodyPr>
          <a:lstStyle/>
          <a:p>
            <a:pPr>
              <a:buClr>
                <a:srgbClr val="000000"/>
              </a:buClr>
              <a:buSzPts val="2400"/>
            </a:pPr>
            <a:r>
              <a:rPr lang="en" sz="2880">
                <a:solidFill>
                  <a:srgbClr val="000000"/>
                </a:solidFill>
                <a:latin typeface="Arial"/>
                <a:ea typeface="Arial"/>
                <a:cs typeface="Arial"/>
                <a:sym typeface="Arial"/>
              </a:rPr>
              <a:t>“Traditional” machine learning:</a:t>
            </a:r>
            <a:endParaRPr sz="2880">
              <a:solidFill>
                <a:srgbClr val="000000"/>
              </a:solidFill>
              <a:latin typeface="Arial"/>
              <a:ea typeface="Arial"/>
              <a:cs typeface="Arial"/>
              <a:sym typeface="Arial"/>
            </a:endParaRPr>
          </a:p>
        </p:txBody>
      </p:sp>
      <p:sp>
        <p:nvSpPr>
          <p:cNvPr id="140" name="Google Shape;140;g1d53a6d1b95_0_16"/>
          <p:cNvSpPr/>
          <p:nvPr/>
        </p:nvSpPr>
        <p:spPr>
          <a:xfrm>
            <a:off x="2985330" y="2022400"/>
            <a:ext cx="1781640" cy="970560"/>
          </a:xfrm>
          <a:prstGeom prst="roundRect">
            <a:avLst>
              <a:gd name="adj" fmla="val 16667"/>
            </a:avLst>
          </a:prstGeom>
          <a:solidFill>
            <a:srgbClr val="D9D9D9"/>
          </a:solidFill>
          <a:ln w="19050" cap="flat" cmpd="sng">
            <a:solidFill>
              <a:schemeClr val="dk2"/>
            </a:solidFill>
            <a:prstDash val="solid"/>
            <a:round/>
            <a:headEnd type="none" w="sm" len="sm"/>
            <a:tailEnd type="none" w="sm" len="sm"/>
          </a:ln>
        </p:spPr>
        <p:txBody>
          <a:bodyPr spcFirstLastPara="1" wrap="square" lIns="109710" tIns="109710" rIns="109710" bIns="109710" anchor="ctr" anchorCtr="0">
            <a:noAutofit/>
          </a:bodyPr>
          <a:lstStyle/>
          <a:p>
            <a:pPr algn="ctr">
              <a:buClr>
                <a:srgbClr val="000000"/>
              </a:buClr>
              <a:buSzPts val="1800"/>
            </a:pPr>
            <a:r>
              <a:rPr lang="en" sz="2160">
                <a:solidFill>
                  <a:srgbClr val="000000"/>
                </a:solidFill>
                <a:latin typeface="Arial"/>
                <a:ea typeface="Arial"/>
                <a:cs typeface="Arial"/>
                <a:sym typeface="Arial"/>
              </a:rPr>
              <a:t>handcrafted features</a:t>
            </a:r>
            <a:endParaRPr sz="2160">
              <a:solidFill>
                <a:srgbClr val="000000"/>
              </a:solidFill>
              <a:latin typeface="Arial"/>
              <a:ea typeface="Arial"/>
              <a:cs typeface="Arial"/>
              <a:sym typeface="Arial"/>
            </a:endParaRPr>
          </a:p>
        </p:txBody>
      </p:sp>
      <p:sp>
        <p:nvSpPr>
          <p:cNvPr id="141" name="Google Shape;141;g1d53a6d1b95_0_16"/>
          <p:cNvSpPr/>
          <p:nvPr/>
        </p:nvSpPr>
        <p:spPr>
          <a:xfrm>
            <a:off x="8429430" y="2022400"/>
            <a:ext cx="1551600" cy="970560"/>
          </a:xfrm>
          <a:prstGeom prst="roundRect">
            <a:avLst>
              <a:gd name="adj" fmla="val 16667"/>
            </a:avLst>
          </a:prstGeom>
          <a:solidFill>
            <a:schemeClr val="dk2"/>
          </a:solidFill>
          <a:ln w="19050" cap="flat" cmpd="sng">
            <a:solidFill>
              <a:srgbClr val="000000"/>
            </a:solidFill>
            <a:prstDash val="solid"/>
            <a:round/>
            <a:headEnd type="none" w="sm" len="sm"/>
            <a:tailEnd type="none" w="sm" len="sm"/>
          </a:ln>
        </p:spPr>
        <p:txBody>
          <a:bodyPr spcFirstLastPara="1" wrap="square" lIns="109710" tIns="109710" rIns="109710" bIns="109710" anchor="ctr" anchorCtr="0">
            <a:noAutofit/>
          </a:bodyPr>
          <a:lstStyle/>
          <a:p>
            <a:pPr algn="ctr">
              <a:buClr>
                <a:srgbClr val="000000"/>
              </a:buClr>
              <a:buSzPts val="1800"/>
            </a:pPr>
            <a:r>
              <a:rPr lang="en" sz="2160">
                <a:solidFill>
                  <a:schemeClr val="lt1"/>
                </a:solidFill>
                <a:latin typeface="Arial"/>
                <a:ea typeface="Arial"/>
                <a:cs typeface="Arial"/>
                <a:sym typeface="Arial"/>
              </a:rPr>
              <a:t>learned classifier</a:t>
            </a:r>
            <a:endParaRPr sz="2160">
              <a:solidFill>
                <a:schemeClr val="lt1"/>
              </a:solidFill>
              <a:latin typeface="Arial"/>
              <a:ea typeface="Arial"/>
              <a:cs typeface="Arial"/>
              <a:sym typeface="Arial"/>
            </a:endParaRPr>
          </a:p>
        </p:txBody>
      </p:sp>
      <p:cxnSp>
        <p:nvCxnSpPr>
          <p:cNvPr id="142" name="Google Shape;142;g1d53a6d1b95_0_16"/>
          <p:cNvCxnSpPr>
            <a:endCxn id="140" idx="1"/>
          </p:cNvCxnSpPr>
          <p:nvPr/>
        </p:nvCxnSpPr>
        <p:spPr>
          <a:xfrm rot="10800000" flipH="1">
            <a:off x="2542890" y="2507680"/>
            <a:ext cx="442440" cy="6480"/>
          </a:xfrm>
          <a:prstGeom prst="straightConnector1">
            <a:avLst/>
          </a:prstGeom>
          <a:noFill/>
          <a:ln w="28575" cap="flat" cmpd="sng">
            <a:solidFill>
              <a:schemeClr val="dk2"/>
            </a:solidFill>
            <a:prstDash val="solid"/>
            <a:round/>
            <a:headEnd type="none" w="sm" len="sm"/>
            <a:tailEnd type="triangle" w="med" len="med"/>
          </a:ln>
        </p:spPr>
      </p:cxnSp>
      <p:cxnSp>
        <p:nvCxnSpPr>
          <p:cNvPr id="143" name="Google Shape;143;g1d53a6d1b95_0_16"/>
          <p:cNvCxnSpPr>
            <a:stCxn id="140" idx="3"/>
            <a:endCxn id="141" idx="1"/>
          </p:cNvCxnSpPr>
          <p:nvPr/>
        </p:nvCxnSpPr>
        <p:spPr>
          <a:xfrm>
            <a:off x="4766970" y="2507680"/>
            <a:ext cx="3662640" cy="0"/>
          </a:xfrm>
          <a:prstGeom prst="straightConnector1">
            <a:avLst/>
          </a:prstGeom>
          <a:noFill/>
          <a:ln w="28575" cap="flat" cmpd="sng">
            <a:solidFill>
              <a:schemeClr val="dk2"/>
            </a:solidFill>
            <a:prstDash val="solid"/>
            <a:round/>
            <a:headEnd type="none" w="sm" len="sm"/>
            <a:tailEnd type="triangle" w="med" len="med"/>
          </a:ln>
        </p:spPr>
      </p:cxnSp>
      <p:cxnSp>
        <p:nvCxnSpPr>
          <p:cNvPr id="144" name="Google Shape;144;g1d53a6d1b95_0_16"/>
          <p:cNvCxnSpPr>
            <a:stCxn id="141" idx="3"/>
            <a:endCxn id="138" idx="1"/>
          </p:cNvCxnSpPr>
          <p:nvPr/>
        </p:nvCxnSpPr>
        <p:spPr>
          <a:xfrm>
            <a:off x="9981030" y="2507680"/>
            <a:ext cx="515880" cy="0"/>
          </a:xfrm>
          <a:prstGeom prst="straightConnector1">
            <a:avLst/>
          </a:prstGeom>
          <a:noFill/>
          <a:ln w="28575" cap="flat" cmpd="sng">
            <a:solidFill>
              <a:schemeClr val="dk2"/>
            </a:solidFill>
            <a:prstDash val="solid"/>
            <a:round/>
            <a:headEnd type="none" w="sm" len="sm"/>
            <a:tailEnd type="triangle" w="med" len="med"/>
          </a:ln>
        </p:spPr>
      </p:cxnSp>
      <p:pic>
        <p:nvPicPr>
          <p:cNvPr id="145" name="Google Shape;145;g1d53a6d1b95_0_16"/>
          <p:cNvPicPr preferRelativeResize="0"/>
          <p:nvPr/>
        </p:nvPicPr>
        <p:blipFill rotWithShape="1">
          <a:blip r:embed="rId3">
            <a:alphaModFix/>
          </a:blip>
          <a:srcRect/>
          <a:stretch/>
        </p:blipFill>
        <p:spPr>
          <a:xfrm>
            <a:off x="1319134" y="4541217"/>
            <a:ext cx="1191656" cy="1506690"/>
          </a:xfrm>
          <a:prstGeom prst="rect">
            <a:avLst/>
          </a:prstGeom>
          <a:noFill/>
          <a:ln>
            <a:noFill/>
          </a:ln>
        </p:spPr>
      </p:pic>
      <p:sp>
        <p:nvSpPr>
          <p:cNvPr id="146" name="Google Shape;146;g1d53a6d1b95_0_16"/>
          <p:cNvSpPr txBox="1"/>
          <p:nvPr/>
        </p:nvSpPr>
        <p:spPr>
          <a:xfrm>
            <a:off x="10496760" y="5093666"/>
            <a:ext cx="628920" cy="569160"/>
          </a:xfrm>
          <a:prstGeom prst="rect">
            <a:avLst/>
          </a:prstGeom>
          <a:noFill/>
          <a:ln>
            <a:noFill/>
          </a:ln>
        </p:spPr>
        <p:txBody>
          <a:bodyPr spcFirstLastPara="1" wrap="square" lIns="109710" tIns="109710" rIns="109710" bIns="109710" anchor="t" anchorCtr="0">
            <a:noAutofit/>
          </a:bodyPr>
          <a:lstStyle/>
          <a:p>
            <a:pPr>
              <a:buClr>
                <a:srgbClr val="000000"/>
              </a:buClr>
              <a:buSzPts val="1800"/>
            </a:pPr>
            <a:r>
              <a:rPr lang="en" sz="2160" b="1">
                <a:solidFill>
                  <a:srgbClr val="000000"/>
                </a:solidFill>
                <a:latin typeface="Arial"/>
                <a:ea typeface="Arial"/>
                <a:cs typeface="Arial"/>
                <a:sym typeface="Arial"/>
              </a:rPr>
              <a:t>cat</a:t>
            </a:r>
            <a:endParaRPr sz="2160" b="1">
              <a:solidFill>
                <a:srgbClr val="000000"/>
              </a:solidFill>
              <a:latin typeface="Arial"/>
              <a:ea typeface="Arial"/>
              <a:cs typeface="Arial"/>
              <a:sym typeface="Arial"/>
            </a:endParaRPr>
          </a:p>
        </p:txBody>
      </p:sp>
      <p:sp>
        <p:nvSpPr>
          <p:cNvPr id="147" name="Google Shape;147;g1d53a6d1b95_0_16"/>
          <p:cNvSpPr txBox="1"/>
          <p:nvPr/>
        </p:nvSpPr>
        <p:spPr>
          <a:xfrm>
            <a:off x="1506330" y="3715567"/>
            <a:ext cx="5531760" cy="569160"/>
          </a:xfrm>
          <a:prstGeom prst="rect">
            <a:avLst/>
          </a:prstGeom>
          <a:noFill/>
          <a:ln>
            <a:noFill/>
          </a:ln>
        </p:spPr>
        <p:txBody>
          <a:bodyPr spcFirstLastPara="1" wrap="square" lIns="109710" tIns="109710" rIns="109710" bIns="109710" anchor="t" anchorCtr="0">
            <a:noAutofit/>
          </a:bodyPr>
          <a:lstStyle/>
          <a:p>
            <a:pPr>
              <a:buClr>
                <a:srgbClr val="000000"/>
              </a:buClr>
              <a:buSzPts val="2400"/>
            </a:pPr>
            <a:r>
              <a:rPr lang="en" sz="2880">
                <a:solidFill>
                  <a:srgbClr val="000000"/>
                </a:solidFill>
                <a:latin typeface="Arial"/>
                <a:ea typeface="Arial"/>
                <a:cs typeface="Arial"/>
                <a:sym typeface="Arial"/>
              </a:rPr>
              <a:t>Deep, “end-to-end” learning:</a:t>
            </a:r>
            <a:endParaRPr sz="2880">
              <a:solidFill>
                <a:srgbClr val="000000"/>
              </a:solidFill>
              <a:latin typeface="Arial"/>
              <a:ea typeface="Arial"/>
              <a:cs typeface="Arial"/>
              <a:sym typeface="Arial"/>
            </a:endParaRPr>
          </a:p>
        </p:txBody>
      </p:sp>
      <p:cxnSp>
        <p:nvCxnSpPr>
          <p:cNvPr id="148" name="Google Shape;148;g1d53a6d1b95_0_16"/>
          <p:cNvCxnSpPr/>
          <p:nvPr/>
        </p:nvCxnSpPr>
        <p:spPr>
          <a:xfrm rot="10800000" flipH="1">
            <a:off x="2542890" y="5378186"/>
            <a:ext cx="442440" cy="6480"/>
          </a:xfrm>
          <a:prstGeom prst="straightConnector1">
            <a:avLst/>
          </a:prstGeom>
          <a:noFill/>
          <a:ln w="28575" cap="flat" cmpd="sng">
            <a:solidFill>
              <a:schemeClr val="dk2"/>
            </a:solidFill>
            <a:prstDash val="solid"/>
            <a:round/>
            <a:headEnd type="none" w="sm" len="sm"/>
            <a:tailEnd type="triangle" w="med" len="med"/>
          </a:ln>
        </p:spPr>
      </p:cxnSp>
      <p:cxnSp>
        <p:nvCxnSpPr>
          <p:cNvPr id="149" name="Google Shape;149;g1d53a6d1b95_0_16"/>
          <p:cNvCxnSpPr>
            <a:endCxn id="146" idx="1"/>
          </p:cNvCxnSpPr>
          <p:nvPr/>
        </p:nvCxnSpPr>
        <p:spPr>
          <a:xfrm>
            <a:off x="9980880" y="5378246"/>
            <a:ext cx="515880" cy="0"/>
          </a:xfrm>
          <a:prstGeom prst="straightConnector1">
            <a:avLst/>
          </a:prstGeom>
          <a:noFill/>
          <a:ln w="28575" cap="flat" cmpd="sng">
            <a:solidFill>
              <a:schemeClr val="dk2"/>
            </a:solidFill>
            <a:prstDash val="solid"/>
            <a:round/>
            <a:headEnd type="none" w="sm" len="sm"/>
            <a:tailEnd type="triangle" w="med" len="med"/>
          </a:ln>
        </p:spPr>
      </p:cxnSp>
      <p:sp>
        <p:nvSpPr>
          <p:cNvPr id="150" name="Google Shape;150;g1d53a6d1b95_0_16"/>
          <p:cNvSpPr/>
          <p:nvPr/>
        </p:nvSpPr>
        <p:spPr>
          <a:xfrm>
            <a:off x="6630106" y="4793467"/>
            <a:ext cx="1551600" cy="1169640"/>
          </a:xfrm>
          <a:prstGeom prst="roundRect">
            <a:avLst>
              <a:gd name="adj" fmla="val 16667"/>
            </a:avLst>
          </a:prstGeom>
          <a:solidFill>
            <a:schemeClr val="dk2"/>
          </a:solidFill>
          <a:ln w="19050" cap="flat" cmpd="sng">
            <a:solidFill>
              <a:srgbClr val="000000"/>
            </a:solidFill>
            <a:prstDash val="solid"/>
            <a:round/>
            <a:headEnd type="none" w="sm" len="sm"/>
            <a:tailEnd type="none" w="sm" len="sm"/>
          </a:ln>
        </p:spPr>
        <p:txBody>
          <a:bodyPr spcFirstLastPara="1" wrap="square" lIns="109710" tIns="109710" rIns="109710" bIns="109710" anchor="ctr" anchorCtr="0">
            <a:noAutofit/>
          </a:bodyPr>
          <a:lstStyle/>
          <a:p>
            <a:pPr algn="ctr">
              <a:buClr>
                <a:srgbClr val="000000"/>
              </a:buClr>
              <a:buSzPts val="1800"/>
            </a:pPr>
            <a:r>
              <a:rPr lang="en" sz="2160">
                <a:solidFill>
                  <a:schemeClr val="lt1"/>
                </a:solidFill>
                <a:latin typeface="Arial"/>
                <a:ea typeface="Arial"/>
                <a:cs typeface="Arial"/>
                <a:sym typeface="Arial"/>
              </a:rPr>
              <a:t>learned high-level features</a:t>
            </a:r>
            <a:endParaRPr sz="2160">
              <a:solidFill>
                <a:schemeClr val="lt1"/>
              </a:solidFill>
              <a:latin typeface="Arial"/>
              <a:ea typeface="Arial"/>
              <a:cs typeface="Arial"/>
              <a:sym typeface="Arial"/>
            </a:endParaRPr>
          </a:p>
        </p:txBody>
      </p:sp>
      <p:sp>
        <p:nvSpPr>
          <p:cNvPr id="151" name="Google Shape;151;g1d53a6d1b95_0_16"/>
          <p:cNvSpPr/>
          <p:nvPr/>
        </p:nvSpPr>
        <p:spPr>
          <a:xfrm>
            <a:off x="4807710" y="4793467"/>
            <a:ext cx="1551600" cy="1169640"/>
          </a:xfrm>
          <a:prstGeom prst="roundRect">
            <a:avLst>
              <a:gd name="adj" fmla="val 16667"/>
            </a:avLst>
          </a:prstGeom>
          <a:solidFill>
            <a:schemeClr val="dk2"/>
          </a:solidFill>
          <a:ln w="19050" cap="flat" cmpd="sng">
            <a:solidFill>
              <a:srgbClr val="000000"/>
            </a:solidFill>
            <a:prstDash val="solid"/>
            <a:round/>
            <a:headEnd type="none" w="sm" len="sm"/>
            <a:tailEnd type="none" w="sm" len="sm"/>
          </a:ln>
        </p:spPr>
        <p:txBody>
          <a:bodyPr spcFirstLastPara="1" wrap="square" lIns="109710" tIns="109710" rIns="109710" bIns="109710" anchor="ctr" anchorCtr="0">
            <a:noAutofit/>
          </a:bodyPr>
          <a:lstStyle/>
          <a:p>
            <a:pPr algn="ctr">
              <a:buClr>
                <a:srgbClr val="000000"/>
              </a:buClr>
              <a:buSzPts val="1800"/>
            </a:pPr>
            <a:r>
              <a:rPr lang="en" sz="2160">
                <a:solidFill>
                  <a:schemeClr val="lt1"/>
                </a:solidFill>
                <a:latin typeface="Arial"/>
                <a:ea typeface="Arial"/>
                <a:cs typeface="Arial"/>
                <a:sym typeface="Arial"/>
              </a:rPr>
              <a:t>learned mid-level features</a:t>
            </a:r>
            <a:endParaRPr sz="2160">
              <a:solidFill>
                <a:schemeClr val="lt1"/>
              </a:solidFill>
              <a:latin typeface="Arial"/>
              <a:ea typeface="Arial"/>
              <a:cs typeface="Arial"/>
              <a:sym typeface="Arial"/>
            </a:endParaRPr>
          </a:p>
        </p:txBody>
      </p:sp>
      <p:sp>
        <p:nvSpPr>
          <p:cNvPr id="152" name="Google Shape;152;g1d53a6d1b95_0_16"/>
          <p:cNvSpPr/>
          <p:nvPr/>
        </p:nvSpPr>
        <p:spPr>
          <a:xfrm>
            <a:off x="2985330" y="4796666"/>
            <a:ext cx="1551600" cy="1169640"/>
          </a:xfrm>
          <a:prstGeom prst="roundRect">
            <a:avLst>
              <a:gd name="adj" fmla="val 16667"/>
            </a:avLst>
          </a:prstGeom>
          <a:solidFill>
            <a:schemeClr val="dk2"/>
          </a:solidFill>
          <a:ln w="19050" cap="flat" cmpd="sng">
            <a:solidFill>
              <a:srgbClr val="000000"/>
            </a:solidFill>
            <a:prstDash val="solid"/>
            <a:round/>
            <a:headEnd type="none" w="sm" len="sm"/>
            <a:tailEnd type="none" w="sm" len="sm"/>
          </a:ln>
        </p:spPr>
        <p:txBody>
          <a:bodyPr spcFirstLastPara="1" wrap="square" lIns="109710" tIns="109710" rIns="109710" bIns="109710" anchor="ctr" anchorCtr="0">
            <a:noAutofit/>
          </a:bodyPr>
          <a:lstStyle/>
          <a:p>
            <a:pPr algn="ctr">
              <a:buClr>
                <a:srgbClr val="000000"/>
              </a:buClr>
              <a:buSzPts val="1800"/>
            </a:pPr>
            <a:r>
              <a:rPr lang="en" sz="2160">
                <a:solidFill>
                  <a:schemeClr val="lt1"/>
                </a:solidFill>
                <a:latin typeface="Arial"/>
                <a:ea typeface="Arial"/>
                <a:cs typeface="Arial"/>
                <a:sym typeface="Arial"/>
              </a:rPr>
              <a:t>learned low-level features</a:t>
            </a:r>
            <a:endParaRPr sz="2160">
              <a:solidFill>
                <a:schemeClr val="lt1"/>
              </a:solidFill>
              <a:latin typeface="Arial"/>
              <a:ea typeface="Arial"/>
              <a:cs typeface="Arial"/>
              <a:sym typeface="Arial"/>
            </a:endParaRPr>
          </a:p>
        </p:txBody>
      </p:sp>
      <p:sp>
        <p:nvSpPr>
          <p:cNvPr id="153" name="Google Shape;153;g1d53a6d1b95_0_16"/>
          <p:cNvSpPr/>
          <p:nvPr/>
        </p:nvSpPr>
        <p:spPr>
          <a:xfrm>
            <a:off x="8429430" y="4896266"/>
            <a:ext cx="1551600" cy="970560"/>
          </a:xfrm>
          <a:prstGeom prst="roundRect">
            <a:avLst>
              <a:gd name="adj" fmla="val 16667"/>
            </a:avLst>
          </a:prstGeom>
          <a:solidFill>
            <a:schemeClr val="dk2"/>
          </a:solidFill>
          <a:ln w="19050" cap="flat" cmpd="sng">
            <a:solidFill>
              <a:srgbClr val="000000"/>
            </a:solidFill>
            <a:prstDash val="solid"/>
            <a:round/>
            <a:headEnd type="none" w="sm" len="sm"/>
            <a:tailEnd type="none" w="sm" len="sm"/>
          </a:ln>
        </p:spPr>
        <p:txBody>
          <a:bodyPr spcFirstLastPara="1" wrap="square" lIns="109710" tIns="109710" rIns="109710" bIns="109710" anchor="ctr" anchorCtr="0">
            <a:noAutofit/>
          </a:bodyPr>
          <a:lstStyle/>
          <a:p>
            <a:pPr algn="ctr">
              <a:buClr>
                <a:srgbClr val="000000"/>
              </a:buClr>
              <a:buSzPts val="1800"/>
            </a:pPr>
            <a:r>
              <a:rPr lang="en" sz="2160">
                <a:solidFill>
                  <a:schemeClr val="lt1"/>
                </a:solidFill>
                <a:latin typeface="Arial"/>
                <a:ea typeface="Arial"/>
                <a:cs typeface="Arial"/>
                <a:sym typeface="Arial"/>
              </a:rPr>
              <a:t>learned classifier</a:t>
            </a:r>
            <a:endParaRPr sz="2160">
              <a:solidFill>
                <a:schemeClr val="lt1"/>
              </a:solidFill>
              <a:latin typeface="Arial"/>
              <a:ea typeface="Arial"/>
              <a:cs typeface="Arial"/>
              <a:sym typeface="Arial"/>
            </a:endParaRPr>
          </a:p>
        </p:txBody>
      </p:sp>
      <p:cxnSp>
        <p:nvCxnSpPr>
          <p:cNvPr id="154" name="Google Shape;154;g1d53a6d1b95_0_16"/>
          <p:cNvCxnSpPr>
            <a:stCxn id="152" idx="3"/>
            <a:endCxn id="151" idx="1"/>
          </p:cNvCxnSpPr>
          <p:nvPr/>
        </p:nvCxnSpPr>
        <p:spPr>
          <a:xfrm rot="10800000" flipH="1">
            <a:off x="4536930" y="5378246"/>
            <a:ext cx="270720" cy="3240"/>
          </a:xfrm>
          <a:prstGeom prst="straightConnector1">
            <a:avLst/>
          </a:prstGeom>
          <a:noFill/>
          <a:ln w="28575" cap="flat" cmpd="sng">
            <a:solidFill>
              <a:schemeClr val="dk2"/>
            </a:solidFill>
            <a:prstDash val="solid"/>
            <a:round/>
            <a:headEnd type="none" w="sm" len="sm"/>
            <a:tailEnd type="triangle" w="med" len="med"/>
          </a:ln>
        </p:spPr>
      </p:cxnSp>
      <p:cxnSp>
        <p:nvCxnSpPr>
          <p:cNvPr id="155" name="Google Shape;155;g1d53a6d1b95_0_16"/>
          <p:cNvCxnSpPr>
            <a:stCxn id="151" idx="3"/>
            <a:endCxn id="150" idx="1"/>
          </p:cNvCxnSpPr>
          <p:nvPr/>
        </p:nvCxnSpPr>
        <p:spPr>
          <a:xfrm>
            <a:off x="6359310" y="5378287"/>
            <a:ext cx="270720" cy="0"/>
          </a:xfrm>
          <a:prstGeom prst="straightConnector1">
            <a:avLst/>
          </a:prstGeom>
          <a:noFill/>
          <a:ln w="28575" cap="flat" cmpd="sng">
            <a:solidFill>
              <a:schemeClr val="dk2"/>
            </a:solidFill>
            <a:prstDash val="solid"/>
            <a:round/>
            <a:headEnd type="none" w="sm" len="sm"/>
            <a:tailEnd type="triangle" w="med" len="med"/>
          </a:ln>
        </p:spPr>
      </p:cxnSp>
      <p:cxnSp>
        <p:nvCxnSpPr>
          <p:cNvPr id="156" name="Google Shape;156;g1d53a6d1b95_0_16"/>
          <p:cNvCxnSpPr>
            <a:stCxn id="150" idx="3"/>
            <a:endCxn id="153" idx="1"/>
          </p:cNvCxnSpPr>
          <p:nvPr/>
        </p:nvCxnSpPr>
        <p:spPr>
          <a:xfrm>
            <a:off x="8181706" y="5378287"/>
            <a:ext cx="247680" cy="3240"/>
          </a:xfrm>
          <a:prstGeom prst="straightConnector1">
            <a:avLst/>
          </a:prstGeom>
          <a:noFill/>
          <a:ln w="28575" cap="flat" cmpd="sng">
            <a:solidFill>
              <a:schemeClr val="dk2"/>
            </a:solidFill>
            <a:prstDash val="solid"/>
            <a:round/>
            <a:headEnd type="none" w="sm" len="sm"/>
            <a:tailEnd type="triangl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60"/>
        <p:cNvGrpSpPr/>
        <p:nvPr/>
      </p:nvGrpSpPr>
      <p:grpSpPr>
        <a:xfrm>
          <a:off x="0" y="0"/>
          <a:ext cx="0" cy="0"/>
          <a:chOff x="0" y="0"/>
          <a:chExt cx="0" cy="0"/>
        </a:xfrm>
      </p:grpSpPr>
      <p:sp useBgFill="1">
        <p:nvSpPr>
          <p:cNvPr id="174" name="Rectangle 17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8" name="Rectangle 177">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2" name="Freeform: Shape 181">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2" name="Google Shape;162;p9"/>
          <p:cNvSpPr txBox="1"/>
          <p:nvPr/>
        </p:nvSpPr>
        <p:spPr>
          <a:xfrm>
            <a:off x="660041" y="2767106"/>
            <a:ext cx="2880828" cy="3071906"/>
          </a:xfrm>
          <a:prstGeom prst="rect">
            <a:avLst/>
          </a:prstGeom>
        </p:spPr>
        <p:txBody>
          <a:bodyPr spcFirstLastPara="1" vert="horz" lIns="91440" tIns="45720" rIns="91440" bIns="45720" rtlCol="0" anchor="t" anchorCtr="0">
            <a:normAutofit/>
          </a:bodyPr>
          <a:lstStyle/>
          <a:p>
            <a:pPr>
              <a:lnSpc>
                <a:spcPct val="90000"/>
              </a:lnSpc>
              <a:spcBef>
                <a:spcPct val="0"/>
              </a:spcBef>
              <a:spcAft>
                <a:spcPts val="600"/>
              </a:spcAft>
            </a:pPr>
            <a:r>
              <a:rPr lang="en-US" sz="3400" b="1" kern="1200">
                <a:solidFill>
                  <a:srgbClr val="FFFFFF"/>
                </a:solidFill>
                <a:latin typeface="+mj-lt"/>
                <a:ea typeface="+mj-ea"/>
                <a:cs typeface="+mj-cs"/>
                <a:sym typeface="Corbel"/>
              </a:rPr>
              <a:t>Performance of different algorithms with increasing amount of data</a:t>
            </a:r>
          </a:p>
        </p:txBody>
      </p:sp>
      <p:pic>
        <p:nvPicPr>
          <p:cNvPr id="161" name="Google Shape;161;p9"/>
          <p:cNvPicPr preferRelativeResize="0"/>
          <p:nvPr/>
        </p:nvPicPr>
        <p:blipFill>
          <a:blip r:embed="rId3"/>
          <a:stretch>
            <a:fillRect/>
          </a:stretch>
        </p:blipFill>
        <p:spPr>
          <a:xfrm>
            <a:off x="4502428" y="972245"/>
            <a:ext cx="7225748" cy="4913509"/>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Why Deep Learning (DL)</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FDB2C1D4-0978-4D1B-AF76-F7F076E9E4EB}"/>
              </a:ext>
            </a:extLst>
          </p:cNvPr>
          <p:cNvSpPr>
            <a:spLocks noGrp="1"/>
          </p:cNvSpPr>
          <p:nvPr>
            <p:ph idx="1"/>
          </p:nvPr>
        </p:nvSpPr>
        <p:spPr>
          <a:xfrm>
            <a:off x="990599" y="1978025"/>
            <a:ext cx="9958449" cy="4351338"/>
          </a:xfrm>
        </p:spPr>
        <p:txBody>
          <a:bodyPr>
            <a:normAutofit/>
          </a:bodyPr>
          <a:lstStyle/>
          <a:p>
            <a:pPr marL="0" indent="0">
              <a:spcBef>
                <a:spcPct val="0"/>
              </a:spcBef>
              <a:spcAft>
                <a:spcPts val="1600"/>
              </a:spcAft>
              <a:buNone/>
              <a:defRPr/>
            </a:pPr>
            <a:r>
              <a:rPr lang="en-US" altLang="en-US" sz="2400" dirty="0">
                <a:latin typeface="+mj-lt"/>
                <a:ea typeface="+mj-ea"/>
                <a:cs typeface="Times New Roman" pitchFamily="18" charset="0"/>
              </a:rPr>
              <a:t>Neural networks (NN) were first proposed in 1940’s and many different architectures of NN have been proposed since then, </a:t>
            </a:r>
          </a:p>
          <a:p>
            <a:pPr marL="0" indent="0">
              <a:spcBef>
                <a:spcPct val="0"/>
              </a:spcBef>
              <a:spcAft>
                <a:spcPts val="1600"/>
              </a:spcAft>
              <a:buNone/>
              <a:defRPr/>
            </a:pPr>
            <a:r>
              <a:rPr lang="en-US" altLang="en-US" sz="2400" dirty="0">
                <a:latin typeface="+mj-lt"/>
                <a:ea typeface="+mj-ea"/>
                <a:cs typeface="Times New Roman" pitchFamily="18" charset="0"/>
              </a:rPr>
              <a:t>So why is the sudden explosion of use of Deep learning now?</a:t>
            </a:r>
          </a:p>
          <a:p>
            <a:pPr marL="0" indent="0">
              <a:buNone/>
            </a:pPr>
            <a:endParaRPr lang="en-IN" dirty="0"/>
          </a:p>
        </p:txBody>
      </p:sp>
      <p:sp>
        <p:nvSpPr>
          <p:cNvPr id="10" name="Oval 9">
            <a:extLst>
              <a:ext uri="{FF2B5EF4-FFF2-40B4-BE49-F238E27FC236}">
                <a16:creationId xmlns:a16="http://schemas.microsoft.com/office/drawing/2014/main" id="{479FA775-74F7-4AC0-A2F2-EADF58E6162A}"/>
              </a:ext>
            </a:extLst>
          </p:cNvPr>
          <p:cNvSpPr/>
          <p:nvPr/>
        </p:nvSpPr>
        <p:spPr>
          <a:xfrm>
            <a:off x="1219200" y="3704492"/>
            <a:ext cx="2133600" cy="1078523"/>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Big Data</a:t>
            </a:r>
            <a:endParaRPr lang="en-IN" sz="2400" b="1" dirty="0"/>
          </a:p>
        </p:txBody>
      </p:sp>
      <p:sp>
        <p:nvSpPr>
          <p:cNvPr id="11" name="Oval 10">
            <a:extLst>
              <a:ext uri="{FF2B5EF4-FFF2-40B4-BE49-F238E27FC236}">
                <a16:creationId xmlns:a16="http://schemas.microsoft.com/office/drawing/2014/main" id="{75F7AC13-676B-4A46-8605-D9F811C39C88}"/>
              </a:ext>
            </a:extLst>
          </p:cNvPr>
          <p:cNvSpPr/>
          <p:nvPr/>
        </p:nvSpPr>
        <p:spPr>
          <a:xfrm>
            <a:off x="4818181" y="3716216"/>
            <a:ext cx="2133600" cy="1078523"/>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Hardware</a:t>
            </a:r>
          </a:p>
          <a:p>
            <a:pPr algn="ctr"/>
            <a:r>
              <a:rPr lang="en-US" dirty="0"/>
              <a:t>GPUs </a:t>
            </a:r>
            <a:endParaRPr lang="en-IN" dirty="0"/>
          </a:p>
        </p:txBody>
      </p:sp>
      <p:sp>
        <p:nvSpPr>
          <p:cNvPr id="12" name="Oval 11">
            <a:extLst>
              <a:ext uri="{FF2B5EF4-FFF2-40B4-BE49-F238E27FC236}">
                <a16:creationId xmlns:a16="http://schemas.microsoft.com/office/drawing/2014/main" id="{2676EA71-6D90-41D4-AE6F-DAEDF5722192}"/>
              </a:ext>
            </a:extLst>
          </p:cNvPr>
          <p:cNvSpPr/>
          <p:nvPr/>
        </p:nvSpPr>
        <p:spPr>
          <a:xfrm>
            <a:off x="8170985" y="3704491"/>
            <a:ext cx="2133600" cy="1078523"/>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Software</a:t>
            </a:r>
          </a:p>
          <a:p>
            <a:pPr algn="ctr"/>
            <a:r>
              <a:rPr lang="en-US" dirty="0"/>
              <a:t>New models and toolboxes</a:t>
            </a:r>
            <a:endParaRPr lang="en-IN" dirty="0"/>
          </a:p>
        </p:txBody>
      </p:sp>
      <p:pic>
        <p:nvPicPr>
          <p:cNvPr id="13" name="Picture 12">
            <a:extLst>
              <a:ext uri="{FF2B5EF4-FFF2-40B4-BE49-F238E27FC236}">
                <a16:creationId xmlns:a16="http://schemas.microsoft.com/office/drawing/2014/main" id="{AB9AB273-9C6C-4C44-B1E1-C8716D243F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7683" y="5380890"/>
            <a:ext cx="2936633" cy="1258557"/>
          </a:xfrm>
          <a:prstGeom prst="rect">
            <a:avLst/>
          </a:prstGeom>
        </p:spPr>
      </p:pic>
      <p:pic>
        <p:nvPicPr>
          <p:cNvPr id="14" name="Picture 13" descr="A picture containing text, electronics, circuit&#10;&#10;Description automatically generated">
            <a:extLst>
              <a:ext uri="{FF2B5EF4-FFF2-40B4-BE49-F238E27FC236}">
                <a16:creationId xmlns:a16="http://schemas.microsoft.com/office/drawing/2014/main" id="{AC4DDCA4-B46A-46DF-90F4-8E9A9DC32C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1994" y="5210068"/>
            <a:ext cx="2847975" cy="1600200"/>
          </a:xfrm>
          <a:prstGeom prst="rect">
            <a:avLst/>
          </a:prstGeom>
        </p:spPr>
      </p:pic>
      <p:pic>
        <p:nvPicPr>
          <p:cNvPr id="16" name="Picture 15">
            <a:extLst>
              <a:ext uri="{FF2B5EF4-FFF2-40B4-BE49-F238E27FC236}">
                <a16:creationId xmlns:a16="http://schemas.microsoft.com/office/drawing/2014/main" id="{26E5687E-6E83-4F3A-A77A-45D849A2EA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1434" y="5163175"/>
            <a:ext cx="2857500" cy="1600200"/>
          </a:xfrm>
          <a:prstGeom prst="rect">
            <a:avLst/>
          </a:prstGeom>
        </p:spPr>
      </p:pic>
      <p:sp>
        <p:nvSpPr>
          <p:cNvPr id="3" name="Slide Number Placeholder 2">
            <a:extLst>
              <a:ext uri="{FF2B5EF4-FFF2-40B4-BE49-F238E27FC236}">
                <a16:creationId xmlns:a16="http://schemas.microsoft.com/office/drawing/2014/main" id="{02BEA13B-CF84-45FF-868F-4E6762B5EA2C}"/>
              </a:ext>
            </a:extLst>
          </p:cNvPr>
          <p:cNvSpPr>
            <a:spLocks noGrp="1"/>
          </p:cNvSpPr>
          <p:nvPr>
            <p:ph type="sldNum" sz="quarter" idx="12"/>
          </p:nvPr>
        </p:nvSpPr>
        <p:spPr/>
        <p:txBody>
          <a:bodyPr/>
          <a:lstStyle/>
          <a:p>
            <a:fld id="{F8D9BD54-7BE9-4F3B-8F4A-CE67E3F85104}" type="slidenum">
              <a:rPr lang="en-IN" smtClean="0"/>
              <a:t>14</a:t>
            </a:fld>
            <a:endParaRPr lang="en-IN"/>
          </a:p>
        </p:txBody>
      </p:sp>
    </p:spTree>
    <p:extLst>
      <p:ext uri="{BB962C8B-B14F-4D97-AF65-F5344CB8AC3E}">
        <p14:creationId xmlns:p14="http://schemas.microsoft.com/office/powerpoint/2010/main" val="1443157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Deep Learning </a:t>
            </a:r>
            <a:r>
              <a:rPr lang="en-US" sz="4000" dirty="0">
                <a:solidFill>
                  <a:srgbClr val="FFFFFF"/>
                </a:solidFill>
              </a:rPr>
              <a:t>applications</a:t>
            </a:r>
            <a:endParaRPr lang="en-US" sz="4000" kern="1200" dirty="0">
              <a:solidFill>
                <a:srgbClr val="FFFFFF"/>
              </a:solidFill>
              <a:latin typeface="+mj-lt"/>
              <a:ea typeface="+mj-ea"/>
              <a:cs typeface="+mj-cs"/>
            </a:endParaRP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8" name="Picture 12" descr="cat.jpg">
            <a:extLst>
              <a:ext uri="{FF2B5EF4-FFF2-40B4-BE49-F238E27FC236}">
                <a16:creationId xmlns:a16="http://schemas.microsoft.com/office/drawing/2014/main" id="{4B467921-67BD-4F94-B0C4-70C271FACCE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8875" y="1941613"/>
            <a:ext cx="3048000"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4" descr="cat2.jpg">
            <a:extLst>
              <a:ext uri="{FF2B5EF4-FFF2-40B4-BE49-F238E27FC236}">
                <a16:creationId xmlns:a16="http://schemas.microsoft.com/office/drawing/2014/main" id="{08F7ABB9-8959-45F6-8878-0796F9C6DDC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89376" y="3834885"/>
            <a:ext cx="3238500" cy="2495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17">
            <a:extLst>
              <a:ext uri="{FF2B5EF4-FFF2-40B4-BE49-F238E27FC236}">
                <a16:creationId xmlns:a16="http://schemas.microsoft.com/office/drawing/2014/main" id="{AF203287-4C84-471B-A22C-789982F6C6FE}"/>
              </a:ext>
            </a:extLst>
          </p:cNvPr>
          <p:cNvSpPr txBox="1">
            <a:spLocks noChangeArrowheads="1"/>
          </p:cNvSpPr>
          <p:nvPr/>
        </p:nvSpPr>
        <p:spPr bwMode="auto">
          <a:xfrm>
            <a:off x="3726875" y="1941613"/>
            <a:ext cx="31432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2400" b="1">
                <a:solidFill>
                  <a:srgbClr val="002060"/>
                </a:solidFill>
                <a:latin typeface="Cambria" panose="02040503050406030204" pitchFamily="18" charset="0"/>
              </a:rPr>
              <a:t>Classification</a:t>
            </a:r>
          </a:p>
        </p:txBody>
      </p:sp>
      <p:sp>
        <p:nvSpPr>
          <p:cNvPr id="23" name="TextBox 18">
            <a:extLst>
              <a:ext uri="{FF2B5EF4-FFF2-40B4-BE49-F238E27FC236}">
                <a16:creationId xmlns:a16="http://schemas.microsoft.com/office/drawing/2014/main" id="{5422C549-B911-4991-86BE-DC2FCD4E3032}"/>
              </a:ext>
            </a:extLst>
          </p:cNvPr>
          <p:cNvSpPr txBox="1">
            <a:spLocks noChangeArrowheads="1"/>
          </p:cNvSpPr>
          <p:nvPr/>
        </p:nvSpPr>
        <p:spPr bwMode="auto">
          <a:xfrm>
            <a:off x="4393626" y="3834885"/>
            <a:ext cx="4191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2400" b="1">
                <a:solidFill>
                  <a:srgbClr val="002060"/>
                </a:solidFill>
                <a:latin typeface="Cambria" panose="02040503050406030204" pitchFamily="18" charset="0"/>
              </a:rPr>
              <a:t>Classification + Localization</a:t>
            </a:r>
          </a:p>
        </p:txBody>
      </p:sp>
      <p:sp>
        <p:nvSpPr>
          <p:cNvPr id="3" name="Slide Number Placeholder 2">
            <a:extLst>
              <a:ext uri="{FF2B5EF4-FFF2-40B4-BE49-F238E27FC236}">
                <a16:creationId xmlns:a16="http://schemas.microsoft.com/office/drawing/2014/main" id="{C551699D-CABF-48C6-AC28-77E962863AA4}"/>
              </a:ext>
            </a:extLst>
          </p:cNvPr>
          <p:cNvSpPr>
            <a:spLocks noGrp="1"/>
          </p:cNvSpPr>
          <p:nvPr>
            <p:ph type="sldNum" sz="quarter" idx="12"/>
          </p:nvPr>
        </p:nvSpPr>
        <p:spPr/>
        <p:txBody>
          <a:bodyPr/>
          <a:lstStyle/>
          <a:p>
            <a:fld id="{F8D9BD54-7BE9-4F3B-8F4A-CE67E3F85104}" type="slidenum">
              <a:rPr lang="en-IN" smtClean="0"/>
              <a:t>15</a:t>
            </a:fld>
            <a:endParaRPr lang="en-IN"/>
          </a:p>
        </p:txBody>
      </p:sp>
    </p:spTree>
    <p:extLst>
      <p:ext uri="{BB962C8B-B14F-4D97-AF65-F5344CB8AC3E}">
        <p14:creationId xmlns:p14="http://schemas.microsoft.com/office/powerpoint/2010/main" val="42155907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Deep Learning </a:t>
            </a:r>
            <a:r>
              <a:rPr lang="en-US" sz="4000" dirty="0">
                <a:solidFill>
                  <a:srgbClr val="FFFFFF"/>
                </a:solidFill>
              </a:rPr>
              <a:t>applications</a:t>
            </a:r>
            <a:endParaRPr lang="en-US" sz="4000" kern="1200" dirty="0">
              <a:solidFill>
                <a:srgbClr val="FFFFFF"/>
              </a:solidFill>
              <a:latin typeface="+mj-lt"/>
              <a:ea typeface="+mj-ea"/>
              <a:cs typeface="+mj-cs"/>
            </a:endParaRP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Picture 15" descr="cat3.jpg">
            <a:extLst>
              <a:ext uri="{FF2B5EF4-FFF2-40B4-BE49-F238E27FC236}">
                <a16:creationId xmlns:a16="http://schemas.microsoft.com/office/drawing/2014/main" id="{0A9753D0-C779-4039-8A27-6C38ADB4CA2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683854"/>
            <a:ext cx="3100917" cy="2381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9">
            <a:extLst>
              <a:ext uri="{FF2B5EF4-FFF2-40B4-BE49-F238E27FC236}">
                <a16:creationId xmlns:a16="http://schemas.microsoft.com/office/drawing/2014/main" id="{B0ADA669-73A1-416E-BE76-80B517CD7BE0}"/>
              </a:ext>
            </a:extLst>
          </p:cNvPr>
          <p:cNvSpPr txBox="1">
            <a:spLocks noChangeArrowheads="1"/>
          </p:cNvSpPr>
          <p:nvPr/>
        </p:nvSpPr>
        <p:spPr bwMode="auto">
          <a:xfrm>
            <a:off x="3810000" y="1683855"/>
            <a:ext cx="31432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2400" b="1" dirty="0">
                <a:solidFill>
                  <a:srgbClr val="002060"/>
                </a:solidFill>
                <a:latin typeface="Cambria" panose="02040503050406030204" pitchFamily="18" charset="0"/>
              </a:rPr>
              <a:t>Object Detection</a:t>
            </a:r>
          </a:p>
        </p:txBody>
      </p:sp>
      <p:sp>
        <p:nvSpPr>
          <p:cNvPr id="24" name="TextBox 9">
            <a:extLst>
              <a:ext uri="{FF2B5EF4-FFF2-40B4-BE49-F238E27FC236}">
                <a16:creationId xmlns:a16="http://schemas.microsoft.com/office/drawing/2014/main" id="{91DBE2FA-CD27-48B7-B91E-4D0727DCCC45}"/>
              </a:ext>
            </a:extLst>
          </p:cNvPr>
          <p:cNvSpPr txBox="1">
            <a:spLocks noChangeArrowheads="1"/>
          </p:cNvSpPr>
          <p:nvPr/>
        </p:nvSpPr>
        <p:spPr bwMode="auto">
          <a:xfrm>
            <a:off x="3974122" y="4802188"/>
            <a:ext cx="314325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2400" b="1" dirty="0">
                <a:solidFill>
                  <a:srgbClr val="002060"/>
                </a:solidFill>
                <a:latin typeface="Cambria" panose="02040503050406030204" pitchFamily="18" charset="0"/>
              </a:rPr>
              <a:t>Speech Recognition</a:t>
            </a:r>
          </a:p>
          <a:p>
            <a:pPr eaLnBrk="1" hangingPunct="1">
              <a:spcBef>
                <a:spcPct val="0"/>
              </a:spcBef>
              <a:buFontTx/>
              <a:buNone/>
            </a:pPr>
            <a:r>
              <a:rPr lang="en-IN" altLang="en-US" sz="2400" b="1" dirty="0">
                <a:solidFill>
                  <a:srgbClr val="002060"/>
                </a:solidFill>
                <a:latin typeface="Cambria" panose="02040503050406030204" pitchFamily="18" charset="0"/>
              </a:rPr>
              <a:t>Voice assistant</a:t>
            </a:r>
          </a:p>
        </p:txBody>
      </p:sp>
      <p:pic>
        <p:nvPicPr>
          <p:cNvPr id="25" name="Picture 11" descr="speech.png">
            <a:extLst>
              <a:ext uri="{FF2B5EF4-FFF2-40B4-BE49-F238E27FC236}">
                <a16:creationId xmlns:a16="http://schemas.microsoft.com/office/drawing/2014/main" id="{846D8241-B512-45C1-A294-312BEA2C3D9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0995" y="4376831"/>
            <a:ext cx="3175000" cy="2381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A picture containing outdoor, street, city&#10;&#10;Description automatically generated">
            <a:extLst>
              <a:ext uri="{FF2B5EF4-FFF2-40B4-BE49-F238E27FC236}">
                <a16:creationId xmlns:a16="http://schemas.microsoft.com/office/drawing/2014/main" id="{7C1264ED-A5FA-4554-B3BC-9E45CED12B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71609" y="2694049"/>
            <a:ext cx="4194209" cy="2791055"/>
          </a:xfrm>
          <a:prstGeom prst="rect">
            <a:avLst/>
          </a:prstGeom>
        </p:spPr>
      </p:pic>
      <p:sp>
        <p:nvSpPr>
          <p:cNvPr id="18" name="TextBox 9">
            <a:extLst>
              <a:ext uri="{FF2B5EF4-FFF2-40B4-BE49-F238E27FC236}">
                <a16:creationId xmlns:a16="http://schemas.microsoft.com/office/drawing/2014/main" id="{57F3FF28-FA0A-4A69-88D5-3A04F64615F8}"/>
              </a:ext>
            </a:extLst>
          </p:cNvPr>
          <p:cNvSpPr txBox="1">
            <a:spLocks noChangeArrowheads="1"/>
          </p:cNvSpPr>
          <p:nvPr/>
        </p:nvSpPr>
        <p:spPr bwMode="auto">
          <a:xfrm>
            <a:off x="8486273" y="5590108"/>
            <a:ext cx="31432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2400" b="1" dirty="0">
                <a:solidFill>
                  <a:srgbClr val="002060"/>
                </a:solidFill>
                <a:latin typeface="Cambria" panose="02040503050406030204" pitchFamily="18" charset="0"/>
              </a:rPr>
              <a:t>Self-driving cars</a:t>
            </a:r>
          </a:p>
        </p:txBody>
      </p:sp>
      <p:sp>
        <p:nvSpPr>
          <p:cNvPr id="3" name="Slide Number Placeholder 2">
            <a:extLst>
              <a:ext uri="{FF2B5EF4-FFF2-40B4-BE49-F238E27FC236}">
                <a16:creationId xmlns:a16="http://schemas.microsoft.com/office/drawing/2014/main" id="{440791A0-F1C2-46AC-99A1-F4DAAEF09DAD}"/>
              </a:ext>
            </a:extLst>
          </p:cNvPr>
          <p:cNvSpPr>
            <a:spLocks noGrp="1"/>
          </p:cNvSpPr>
          <p:nvPr>
            <p:ph type="sldNum" sz="quarter" idx="12"/>
          </p:nvPr>
        </p:nvSpPr>
        <p:spPr/>
        <p:txBody>
          <a:bodyPr/>
          <a:lstStyle/>
          <a:p>
            <a:fld id="{F8D9BD54-7BE9-4F3B-8F4A-CE67E3F85104}" type="slidenum">
              <a:rPr lang="en-IN" smtClean="0"/>
              <a:t>16</a:t>
            </a:fld>
            <a:endParaRPr lang="en-IN"/>
          </a:p>
        </p:txBody>
      </p:sp>
    </p:spTree>
    <p:extLst>
      <p:ext uri="{BB962C8B-B14F-4D97-AF65-F5344CB8AC3E}">
        <p14:creationId xmlns:p14="http://schemas.microsoft.com/office/powerpoint/2010/main" val="1183945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Artificial Neural Network (ANN)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Content Placeholder 1">
            <a:extLst>
              <a:ext uri="{FF2B5EF4-FFF2-40B4-BE49-F238E27FC236}">
                <a16:creationId xmlns:a16="http://schemas.microsoft.com/office/drawing/2014/main" id="{44077871-EA49-4C91-BCFD-D4D039008A4B}"/>
              </a:ext>
            </a:extLst>
          </p:cNvPr>
          <p:cNvSpPr>
            <a:spLocks noGrp="1"/>
          </p:cNvSpPr>
          <p:nvPr>
            <p:ph idx="1"/>
          </p:nvPr>
        </p:nvSpPr>
        <p:spPr>
          <a:xfrm>
            <a:off x="838200" y="1801825"/>
            <a:ext cx="9999689" cy="4909472"/>
          </a:xfrm>
        </p:spPr>
        <p:txBody>
          <a:bodyPr/>
          <a:lstStyle/>
          <a:p>
            <a:pPr marL="0" indent="0">
              <a:buNone/>
            </a:pPr>
            <a:r>
              <a:rPr lang="en-US" b="1" dirty="0"/>
              <a:t>Perceptron</a:t>
            </a:r>
            <a:r>
              <a:rPr lang="en-US" dirty="0"/>
              <a:t> (Single layer neural network) is the structural building block of deep learning models</a:t>
            </a:r>
            <a:endParaRPr lang="en-IN" dirty="0"/>
          </a:p>
        </p:txBody>
      </p:sp>
      <p:pic>
        <p:nvPicPr>
          <p:cNvPr id="20" name="Picture 19" descr="Chart&#10;&#10;Description automatically generated">
            <a:extLst>
              <a:ext uri="{FF2B5EF4-FFF2-40B4-BE49-F238E27FC236}">
                <a16:creationId xmlns:a16="http://schemas.microsoft.com/office/drawing/2014/main" id="{C9103F63-D1B7-43E9-A6B0-9EABD1AFB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9114" y="2735341"/>
            <a:ext cx="8973768" cy="3874621"/>
          </a:xfrm>
          <a:prstGeom prst="rect">
            <a:avLst/>
          </a:prstGeom>
        </p:spPr>
      </p:pic>
      <p:sp>
        <p:nvSpPr>
          <p:cNvPr id="3" name="Slide Number Placeholder 2">
            <a:extLst>
              <a:ext uri="{FF2B5EF4-FFF2-40B4-BE49-F238E27FC236}">
                <a16:creationId xmlns:a16="http://schemas.microsoft.com/office/drawing/2014/main" id="{30DB9B07-525C-414F-9486-D7F0EC478A81}"/>
              </a:ext>
            </a:extLst>
          </p:cNvPr>
          <p:cNvSpPr>
            <a:spLocks noGrp="1"/>
          </p:cNvSpPr>
          <p:nvPr>
            <p:ph type="sldNum" sz="quarter" idx="12"/>
          </p:nvPr>
        </p:nvSpPr>
        <p:spPr/>
        <p:txBody>
          <a:bodyPr/>
          <a:lstStyle/>
          <a:p>
            <a:fld id="{F8D9BD54-7BE9-4F3B-8F4A-CE67E3F85104}" type="slidenum">
              <a:rPr lang="en-IN" smtClean="0"/>
              <a:t>17</a:t>
            </a:fld>
            <a:endParaRPr lang="en-IN"/>
          </a:p>
        </p:txBody>
      </p:sp>
    </p:spTree>
    <p:extLst>
      <p:ext uri="{BB962C8B-B14F-4D97-AF65-F5344CB8AC3E}">
        <p14:creationId xmlns:p14="http://schemas.microsoft.com/office/powerpoint/2010/main" val="2705840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Artificial Neural Network (ANN)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Content Placeholder 1">
            <a:extLst>
              <a:ext uri="{FF2B5EF4-FFF2-40B4-BE49-F238E27FC236}">
                <a16:creationId xmlns:a16="http://schemas.microsoft.com/office/drawing/2014/main" id="{44077871-EA49-4C91-BCFD-D4D039008A4B}"/>
              </a:ext>
            </a:extLst>
          </p:cNvPr>
          <p:cNvSpPr>
            <a:spLocks noGrp="1"/>
          </p:cNvSpPr>
          <p:nvPr>
            <p:ph idx="1"/>
          </p:nvPr>
        </p:nvSpPr>
        <p:spPr>
          <a:xfrm>
            <a:off x="838200" y="1801825"/>
            <a:ext cx="9999689" cy="4909472"/>
          </a:xfrm>
        </p:spPr>
        <p:txBody>
          <a:bodyPr/>
          <a:lstStyle/>
          <a:p>
            <a:pPr marL="0" indent="0">
              <a:buNone/>
            </a:pPr>
            <a:r>
              <a:rPr lang="en-US" dirty="0"/>
              <a:t>Neuron forward pass</a:t>
            </a:r>
            <a:endParaRPr lang="en-IN" dirty="0"/>
          </a:p>
        </p:txBody>
      </p:sp>
      <p:pic>
        <p:nvPicPr>
          <p:cNvPr id="10" name="Picture 9">
            <a:extLst>
              <a:ext uri="{FF2B5EF4-FFF2-40B4-BE49-F238E27FC236}">
                <a16:creationId xmlns:a16="http://schemas.microsoft.com/office/drawing/2014/main" id="{16474907-4DA8-4949-A5D3-DFEB47705B89}"/>
              </a:ext>
            </a:extLst>
          </p:cNvPr>
          <p:cNvPicPr>
            <a:picLocks noChangeAspect="1"/>
          </p:cNvPicPr>
          <p:nvPr/>
        </p:nvPicPr>
        <p:blipFill rotWithShape="1">
          <a:blip r:embed="rId3"/>
          <a:srcRect l="21721" t="14225" r="30454" b="10630"/>
          <a:stretch/>
        </p:blipFill>
        <p:spPr>
          <a:xfrm>
            <a:off x="3895105" y="2815157"/>
            <a:ext cx="3978235" cy="3514391"/>
          </a:xfrm>
          <a:prstGeom prst="rect">
            <a:avLst/>
          </a:prstGeom>
        </p:spPr>
      </p:pic>
      <p:sp>
        <p:nvSpPr>
          <p:cNvPr id="3" name="Slide Number Placeholder 2">
            <a:extLst>
              <a:ext uri="{FF2B5EF4-FFF2-40B4-BE49-F238E27FC236}">
                <a16:creationId xmlns:a16="http://schemas.microsoft.com/office/drawing/2014/main" id="{D56C6CDD-75EF-4737-A128-A0F9651229E6}"/>
              </a:ext>
            </a:extLst>
          </p:cNvPr>
          <p:cNvSpPr>
            <a:spLocks noGrp="1"/>
          </p:cNvSpPr>
          <p:nvPr>
            <p:ph type="sldNum" sz="quarter" idx="12"/>
          </p:nvPr>
        </p:nvSpPr>
        <p:spPr/>
        <p:txBody>
          <a:bodyPr/>
          <a:lstStyle/>
          <a:p>
            <a:fld id="{F8D9BD54-7BE9-4F3B-8F4A-CE67E3F85104}" type="slidenum">
              <a:rPr lang="en-IN" smtClean="0"/>
              <a:t>18</a:t>
            </a:fld>
            <a:endParaRPr lang="en-IN"/>
          </a:p>
        </p:txBody>
      </p:sp>
    </p:spTree>
    <p:extLst>
      <p:ext uri="{BB962C8B-B14F-4D97-AF65-F5344CB8AC3E}">
        <p14:creationId xmlns:p14="http://schemas.microsoft.com/office/powerpoint/2010/main" val="4175931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Artificial Neural Network (ANN)</a:t>
            </a:r>
          </a:p>
        </p:txBody>
      </p:sp>
      <p:pic>
        <p:nvPicPr>
          <p:cNvPr id="12" name="Picture 11" descr="Chart&#10;&#10;Description automatically generated">
            <a:extLst>
              <a:ext uri="{FF2B5EF4-FFF2-40B4-BE49-F238E27FC236}">
                <a16:creationId xmlns:a16="http://schemas.microsoft.com/office/drawing/2014/main" id="{782E57C5-B31C-4CD5-88BF-93EA55080259}"/>
              </a:ext>
            </a:extLst>
          </p:cNvPr>
          <p:cNvPicPr>
            <a:picLocks noChangeAspect="1"/>
          </p:cNvPicPr>
          <p:nvPr/>
        </p:nvPicPr>
        <p:blipFill rotWithShape="1">
          <a:blip r:embed="rId3">
            <a:extLst>
              <a:ext uri="{28A0092B-C50C-407E-A947-70E740481C1C}">
                <a14:useLocalDpi xmlns:a14="http://schemas.microsoft.com/office/drawing/2010/main" val="0"/>
              </a:ext>
            </a:extLst>
          </a:blip>
          <a:srcRect r="40310"/>
          <a:stretch/>
        </p:blipFill>
        <p:spPr>
          <a:xfrm>
            <a:off x="195324" y="1964032"/>
            <a:ext cx="6575836" cy="4756695"/>
          </a:xfrm>
          <a:prstGeom prst="rect">
            <a:avLst/>
          </a:prstGeom>
        </p:spPr>
      </p:pic>
      <p:pic>
        <p:nvPicPr>
          <p:cNvPr id="13" name="Picture 12">
            <a:extLst>
              <a:ext uri="{FF2B5EF4-FFF2-40B4-BE49-F238E27FC236}">
                <a16:creationId xmlns:a16="http://schemas.microsoft.com/office/drawing/2014/main" id="{31B2DB8E-2CE2-43BD-89C0-A2B1AF9F2AE3}"/>
              </a:ext>
            </a:extLst>
          </p:cNvPr>
          <p:cNvPicPr>
            <a:picLocks noChangeAspect="1"/>
          </p:cNvPicPr>
          <p:nvPr/>
        </p:nvPicPr>
        <p:blipFill rotWithShape="1">
          <a:blip r:embed="rId4"/>
          <a:srcRect l="59231" t="53506" r="12788" b="24261"/>
          <a:stretch/>
        </p:blipFill>
        <p:spPr>
          <a:xfrm>
            <a:off x="6950108" y="3239294"/>
            <a:ext cx="4224744" cy="1887342"/>
          </a:xfrm>
          <a:prstGeom prst="rect">
            <a:avLst/>
          </a:prstGeom>
        </p:spPr>
      </p:pic>
      <p:sp>
        <p:nvSpPr>
          <p:cNvPr id="3" name="Slide Number Placeholder 2">
            <a:extLst>
              <a:ext uri="{FF2B5EF4-FFF2-40B4-BE49-F238E27FC236}">
                <a16:creationId xmlns:a16="http://schemas.microsoft.com/office/drawing/2014/main" id="{5B4FE52B-1DC9-41AC-B8EA-923DA9F7B2CD}"/>
              </a:ext>
            </a:extLst>
          </p:cNvPr>
          <p:cNvSpPr>
            <a:spLocks noGrp="1"/>
          </p:cNvSpPr>
          <p:nvPr>
            <p:ph type="sldNum" sz="quarter" idx="12"/>
          </p:nvPr>
        </p:nvSpPr>
        <p:spPr/>
        <p:txBody>
          <a:bodyPr/>
          <a:lstStyle/>
          <a:p>
            <a:fld id="{F8D9BD54-7BE9-4F3B-8F4A-CE67E3F85104}" type="slidenum">
              <a:rPr lang="en-IN" smtClean="0"/>
              <a:t>19</a:t>
            </a:fld>
            <a:endParaRPr lang="en-IN"/>
          </a:p>
        </p:txBody>
      </p:sp>
    </p:spTree>
    <p:extLst>
      <p:ext uri="{BB962C8B-B14F-4D97-AF65-F5344CB8AC3E}">
        <p14:creationId xmlns:p14="http://schemas.microsoft.com/office/powerpoint/2010/main" val="26672363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Activation function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Content Placeholder 1">
            <a:extLst>
              <a:ext uri="{FF2B5EF4-FFF2-40B4-BE49-F238E27FC236}">
                <a16:creationId xmlns:a16="http://schemas.microsoft.com/office/drawing/2014/main" id="{44077871-EA49-4C91-BCFD-D4D039008A4B}"/>
              </a:ext>
            </a:extLst>
          </p:cNvPr>
          <p:cNvSpPr>
            <a:spLocks noGrp="1"/>
          </p:cNvSpPr>
          <p:nvPr>
            <p:ph idx="1"/>
          </p:nvPr>
        </p:nvSpPr>
        <p:spPr>
          <a:xfrm>
            <a:off x="838200" y="1801825"/>
            <a:ext cx="9999689" cy="4909472"/>
          </a:xfrm>
        </p:spPr>
        <p:txBody>
          <a:bodyPr>
            <a:noAutofit/>
          </a:bodyPr>
          <a:lstStyle/>
          <a:p>
            <a:pPr algn="l" fontAlgn="base"/>
            <a:r>
              <a:rPr lang="en-US" sz="2000" b="0" dirty="0">
                <a:solidFill>
                  <a:srgbClr val="555555"/>
                </a:solidFill>
                <a:effectLst/>
                <a:latin typeface="+mj-lt"/>
              </a:rPr>
              <a:t>A neural network is comprised of layers of nodes and learns to map examples of inputs to outputs.</a:t>
            </a:r>
          </a:p>
          <a:p>
            <a:pPr algn="l" fontAlgn="base"/>
            <a:r>
              <a:rPr lang="en-US" sz="2000" b="0" dirty="0">
                <a:solidFill>
                  <a:srgbClr val="555555"/>
                </a:solidFill>
                <a:effectLst/>
                <a:latin typeface="+mj-lt"/>
              </a:rPr>
              <a:t>For a given node, the inputs are multiplied by the weights in a node and summed together. This value is then transformed via an activation function and defines the specific output or “activation” of the node.</a:t>
            </a:r>
          </a:p>
          <a:p>
            <a:pPr algn="l" fontAlgn="base"/>
            <a:endParaRPr lang="en-US" sz="2000" b="0" dirty="0">
              <a:solidFill>
                <a:srgbClr val="555555"/>
              </a:solidFill>
              <a:effectLst/>
              <a:latin typeface="+mj-lt"/>
            </a:endParaRPr>
          </a:p>
          <a:p>
            <a:pPr algn="l" fontAlgn="base"/>
            <a:r>
              <a:rPr lang="en-US" sz="2000" b="0" dirty="0">
                <a:solidFill>
                  <a:srgbClr val="555555"/>
                </a:solidFill>
                <a:effectLst/>
                <a:latin typeface="+mj-lt"/>
              </a:rPr>
              <a:t>The simplest activation function is referred to as </a:t>
            </a:r>
            <a:r>
              <a:rPr lang="en-US" sz="2000" b="1" dirty="0">
                <a:solidFill>
                  <a:srgbClr val="555555"/>
                </a:solidFill>
                <a:effectLst/>
                <a:latin typeface="+mj-lt"/>
              </a:rPr>
              <a:t>linear activation</a:t>
            </a:r>
            <a:r>
              <a:rPr lang="en-US" sz="2000" b="0" dirty="0">
                <a:solidFill>
                  <a:srgbClr val="555555"/>
                </a:solidFill>
                <a:effectLst/>
                <a:latin typeface="+mj-lt"/>
              </a:rPr>
              <a:t>, where no transform is applied at all. </a:t>
            </a:r>
          </a:p>
          <a:p>
            <a:pPr algn="l" fontAlgn="base"/>
            <a:r>
              <a:rPr lang="en-US" sz="2000" b="0" dirty="0">
                <a:solidFill>
                  <a:srgbClr val="555555"/>
                </a:solidFill>
                <a:effectLst/>
                <a:latin typeface="+mj-lt"/>
              </a:rPr>
              <a:t>A network comprised of only linear activation functions is very easy to train but cannot learn complex mapping functions. Linear activation functions are still used in the output layer for networks that predict a quantity (e.g., regression problems).</a:t>
            </a:r>
          </a:p>
          <a:p>
            <a:pPr algn="l" fontAlgn="base"/>
            <a:r>
              <a:rPr lang="en-US" sz="2000" b="1" dirty="0">
                <a:solidFill>
                  <a:srgbClr val="555555"/>
                </a:solidFill>
                <a:effectLst/>
                <a:latin typeface="+mj-lt"/>
              </a:rPr>
              <a:t>Nonlinear activation functions </a:t>
            </a:r>
            <a:r>
              <a:rPr lang="en-US" sz="2000" b="0" dirty="0">
                <a:solidFill>
                  <a:srgbClr val="555555"/>
                </a:solidFill>
                <a:effectLst/>
                <a:latin typeface="+mj-lt"/>
              </a:rPr>
              <a:t>are preferred as they allow the nodes to learn more complex structures in the data. </a:t>
            </a:r>
          </a:p>
        </p:txBody>
      </p:sp>
      <p:sp>
        <p:nvSpPr>
          <p:cNvPr id="3" name="Slide Number Placeholder 2">
            <a:extLst>
              <a:ext uri="{FF2B5EF4-FFF2-40B4-BE49-F238E27FC236}">
                <a16:creationId xmlns:a16="http://schemas.microsoft.com/office/drawing/2014/main" id="{62C3BAB8-1625-45D9-8AB1-AD8928C0D0B0}"/>
              </a:ext>
            </a:extLst>
          </p:cNvPr>
          <p:cNvSpPr>
            <a:spLocks noGrp="1"/>
          </p:cNvSpPr>
          <p:nvPr>
            <p:ph type="sldNum" sz="quarter" idx="12"/>
          </p:nvPr>
        </p:nvSpPr>
        <p:spPr/>
        <p:txBody>
          <a:bodyPr/>
          <a:lstStyle/>
          <a:p>
            <a:fld id="{F8D9BD54-7BE9-4F3B-8F4A-CE67E3F85104}" type="slidenum">
              <a:rPr lang="en-IN" smtClean="0"/>
              <a:t>20</a:t>
            </a:fld>
            <a:endParaRPr lang="en-IN"/>
          </a:p>
        </p:txBody>
      </p:sp>
    </p:spTree>
    <p:extLst>
      <p:ext uri="{BB962C8B-B14F-4D97-AF65-F5344CB8AC3E}">
        <p14:creationId xmlns:p14="http://schemas.microsoft.com/office/powerpoint/2010/main" val="36976773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Activation function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Content Placeholder 1">
            <a:extLst>
              <a:ext uri="{FF2B5EF4-FFF2-40B4-BE49-F238E27FC236}">
                <a16:creationId xmlns:a16="http://schemas.microsoft.com/office/drawing/2014/main" id="{44077871-EA49-4C91-BCFD-D4D039008A4B}"/>
              </a:ext>
            </a:extLst>
          </p:cNvPr>
          <p:cNvSpPr>
            <a:spLocks noGrp="1"/>
          </p:cNvSpPr>
          <p:nvPr>
            <p:ph idx="1"/>
          </p:nvPr>
        </p:nvSpPr>
        <p:spPr>
          <a:xfrm>
            <a:off x="838200" y="1801825"/>
            <a:ext cx="9999689" cy="4909472"/>
          </a:xfrm>
        </p:spPr>
        <p:txBody>
          <a:bodyPr>
            <a:noAutofit/>
          </a:bodyPr>
          <a:lstStyle/>
          <a:p>
            <a:r>
              <a:rPr lang="en-US" sz="2400" dirty="0"/>
              <a:t>Activation function introduce non-linearity in the network</a:t>
            </a:r>
          </a:p>
          <a:p>
            <a:r>
              <a:rPr lang="en-US" sz="2400" dirty="0"/>
              <a:t>Non-linear functions approximate complex functions that make neural networks extremely powerful</a:t>
            </a:r>
            <a:endParaRPr lang="en-IN" sz="2400" dirty="0"/>
          </a:p>
        </p:txBody>
      </p:sp>
      <p:pic>
        <p:nvPicPr>
          <p:cNvPr id="9" name="Picture 8">
            <a:extLst>
              <a:ext uri="{FF2B5EF4-FFF2-40B4-BE49-F238E27FC236}">
                <a16:creationId xmlns:a16="http://schemas.microsoft.com/office/drawing/2014/main" id="{220ADD06-307D-4A39-B9D1-A76D94F54EA2}"/>
              </a:ext>
            </a:extLst>
          </p:cNvPr>
          <p:cNvPicPr>
            <a:picLocks noChangeAspect="1"/>
          </p:cNvPicPr>
          <p:nvPr/>
        </p:nvPicPr>
        <p:blipFill rotWithShape="1">
          <a:blip r:embed="rId3"/>
          <a:srcRect l="22399" t="46305" r="24594" b="13856"/>
          <a:stretch/>
        </p:blipFill>
        <p:spPr>
          <a:xfrm>
            <a:off x="1812376" y="3237804"/>
            <a:ext cx="8567248" cy="3620196"/>
          </a:xfrm>
          <a:prstGeom prst="rect">
            <a:avLst/>
          </a:prstGeom>
        </p:spPr>
      </p:pic>
      <p:sp>
        <p:nvSpPr>
          <p:cNvPr id="3" name="Slide Number Placeholder 2">
            <a:extLst>
              <a:ext uri="{FF2B5EF4-FFF2-40B4-BE49-F238E27FC236}">
                <a16:creationId xmlns:a16="http://schemas.microsoft.com/office/drawing/2014/main" id="{487C5572-8F11-48DF-901F-4994F997EF3C}"/>
              </a:ext>
            </a:extLst>
          </p:cNvPr>
          <p:cNvSpPr>
            <a:spLocks noGrp="1"/>
          </p:cNvSpPr>
          <p:nvPr>
            <p:ph type="sldNum" sz="quarter" idx="12"/>
          </p:nvPr>
        </p:nvSpPr>
        <p:spPr/>
        <p:txBody>
          <a:bodyPr/>
          <a:lstStyle/>
          <a:p>
            <a:fld id="{F8D9BD54-7BE9-4F3B-8F4A-CE67E3F85104}" type="slidenum">
              <a:rPr lang="en-IN" smtClean="0"/>
              <a:t>21</a:t>
            </a:fld>
            <a:endParaRPr lang="en-IN"/>
          </a:p>
        </p:txBody>
      </p:sp>
    </p:spTree>
    <p:extLst>
      <p:ext uri="{BB962C8B-B14F-4D97-AF65-F5344CB8AC3E}">
        <p14:creationId xmlns:p14="http://schemas.microsoft.com/office/powerpoint/2010/main" val="35830043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Non-linear activation functions</a:t>
            </a:r>
          </a:p>
        </p:txBody>
      </p:sp>
      <p:sp>
        <p:nvSpPr>
          <p:cNvPr id="9" name="TextBox 8">
            <a:extLst>
              <a:ext uri="{FF2B5EF4-FFF2-40B4-BE49-F238E27FC236}">
                <a16:creationId xmlns:a16="http://schemas.microsoft.com/office/drawing/2014/main" id="{10954547-CF28-40BF-A38E-B5A0341C255D}"/>
              </a:ext>
            </a:extLst>
          </p:cNvPr>
          <p:cNvSpPr txBox="1"/>
          <p:nvPr/>
        </p:nvSpPr>
        <p:spPr>
          <a:xfrm>
            <a:off x="807522" y="1822348"/>
            <a:ext cx="10759043" cy="4985980"/>
          </a:xfrm>
          <a:prstGeom prst="rect">
            <a:avLst/>
          </a:prstGeom>
          <a:noFill/>
        </p:spPr>
        <p:txBody>
          <a:bodyPr wrap="square">
            <a:spAutoFit/>
          </a:bodyPr>
          <a:lstStyle/>
          <a:p>
            <a:pPr algn="l" fontAlgn="base"/>
            <a:endParaRPr lang="en-US" sz="2400" dirty="0">
              <a:solidFill>
                <a:srgbClr val="555555"/>
              </a:solidFill>
              <a:latin typeface="+mj-lt"/>
            </a:endParaRPr>
          </a:p>
          <a:p>
            <a:pPr algn="l" fontAlgn="base"/>
            <a:r>
              <a:rPr lang="en-US" sz="2400" b="1" dirty="0">
                <a:solidFill>
                  <a:srgbClr val="555555"/>
                </a:solidFill>
                <a:effectLst/>
                <a:latin typeface="+mj-lt"/>
              </a:rPr>
              <a:t>Sigmoid function</a:t>
            </a:r>
            <a:r>
              <a:rPr lang="en-US" sz="2400" b="0" dirty="0">
                <a:solidFill>
                  <a:srgbClr val="555555"/>
                </a:solidFill>
                <a:effectLst/>
                <a:latin typeface="+mj-lt"/>
              </a:rPr>
              <a:t>: 	Non-zero centered </a:t>
            </a:r>
          </a:p>
          <a:p>
            <a:pPr algn="l" fontAlgn="base"/>
            <a:r>
              <a:rPr lang="en-US" sz="2400" dirty="0">
                <a:solidFill>
                  <a:srgbClr val="555555"/>
                </a:solidFill>
                <a:latin typeface="+mj-lt"/>
              </a:rPr>
              <a:t>			Vanishing gradient problem</a:t>
            </a:r>
          </a:p>
          <a:p>
            <a:pPr algn="l" fontAlgn="base"/>
            <a:endParaRPr lang="en-US" sz="2400" b="0" dirty="0">
              <a:solidFill>
                <a:srgbClr val="555555"/>
              </a:solidFill>
              <a:effectLst/>
              <a:latin typeface="+mj-lt"/>
            </a:endParaRPr>
          </a:p>
          <a:p>
            <a:pPr algn="l" fontAlgn="base"/>
            <a:r>
              <a:rPr lang="en-US" sz="2400" b="1" dirty="0">
                <a:solidFill>
                  <a:srgbClr val="555555"/>
                </a:solidFill>
                <a:latin typeface="+mj-lt"/>
              </a:rPr>
              <a:t>Tanh function</a:t>
            </a:r>
            <a:r>
              <a:rPr lang="en-US" sz="2400" dirty="0">
                <a:solidFill>
                  <a:srgbClr val="555555"/>
                </a:solidFill>
                <a:latin typeface="+mj-lt"/>
              </a:rPr>
              <a:t>: 		Zero-centered</a:t>
            </a:r>
          </a:p>
          <a:p>
            <a:pPr algn="l" fontAlgn="base"/>
            <a:r>
              <a:rPr lang="en-US" sz="2400" b="0" dirty="0">
                <a:solidFill>
                  <a:srgbClr val="555555"/>
                </a:solidFill>
                <a:effectLst/>
                <a:latin typeface="+mj-lt"/>
              </a:rPr>
              <a:t>			Vanishing gradient problem</a:t>
            </a:r>
          </a:p>
          <a:p>
            <a:pPr algn="l" fontAlgn="base"/>
            <a:endParaRPr lang="en-US" sz="2400" dirty="0">
              <a:solidFill>
                <a:srgbClr val="555555"/>
              </a:solidFill>
              <a:latin typeface="+mj-lt"/>
            </a:endParaRPr>
          </a:p>
          <a:p>
            <a:pPr algn="l" fontAlgn="base"/>
            <a:r>
              <a:rPr lang="en-US" sz="2400" b="1" dirty="0" err="1">
                <a:solidFill>
                  <a:srgbClr val="555555"/>
                </a:solidFill>
                <a:effectLst/>
                <a:latin typeface="+mj-lt"/>
              </a:rPr>
              <a:t>ReLu</a:t>
            </a:r>
            <a:r>
              <a:rPr lang="en-US" sz="2400" b="1" dirty="0">
                <a:solidFill>
                  <a:srgbClr val="555555"/>
                </a:solidFill>
                <a:effectLst/>
                <a:latin typeface="+mj-lt"/>
              </a:rPr>
              <a:t> function</a:t>
            </a:r>
            <a:r>
              <a:rPr lang="en-US" sz="2400" b="0" dirty="0">
                <a:solidFill>
                  <a:srgbClr val="555555"/>
                </a:solidFill>
                <a:effectLst/>
                <a:latin typeface="+mj-lt"/>
              </a:rPr>
              <a:t>: 		Non-zero centered</a:t>
            </a:r>
          </a:p>
          <a:p>
            <a:pPr algn="l" fontAlgn="base"/>
            <a:r>
              <a:rPr lang="en-US" sz="2400" b="0" dirty="0">
                <a:solidFill>
                  <a:srgbClr val="555555"/>
                </a:solidFill>
                <a:effectLst/>
                <a:latin typeface="+mj-lt"/>
              </a:rPr>
              <a:t>			Vanishing gradient problem does not exist</a:t>
            </a:r>
          </a:p>
          <a:p>
            <a:pPr algn="l" fontAlgn="base"/>
            <a:endParaRPr lang="en-US" sz="2400" dirty="0">
              <a:solidFill>
                <a:srgbClr val="555555"/>
              </a:solidFill>
              <a:latin typeface="+mj-lt"/>
            </a:endParaRPr>
          </a:p>
          <a:p>
            <a:pPr algn="l" fontAlgn="base"/>
            <a:endParaRPr lang="en-US" sz="2400" dirty="0">
              <a:solidFill>
                <a:srgbClr val="555555"/>
              </a:solidFill>
              <a:latin typeface="+mj-lt"/>
            </a:endParaRPr>
          </a:p>
          <a:p>
            <a:pPr algn="l" fontAlgn="base"/>
            <a:r>
              <a:rPr lang="en-US" b="0" dirty="0">
                <a:solidFill>
                  <a:srgbClr val="555555"/>
                </a:solidFill>
                <a:effectLst/>
                <a:latin typeface="+mj-lt"/>
              </a:rPr>
              <a:t>More reading on activation functions:</a:t>
            </a:r>
          </a:p>
          <a:p>
            <a:pPr algn="l" fontAlgn="base"/>
            <a:r>
              <a:rPr lang="en-US" b="0" dirty="0">
                <a:solidFill>
                  <a:srgbClr val="555555"/>
                </a:solidFill>
                <a:effectLst/>
                <a:latin typeface="+mj-lt"/>
                <a:hlinkClick r:id="rId3"/>
              </a:rPr>
              <a:t>https://www.analyticsvidhya.com/blog/2021/04/activation-functions-and-their-derivatives-a-quick-complete-guide/</a:t>
            </a:r>
            <a:endParaRPr lang="en-US" dirty="0">
              <a:solidFill>
                <a:srgbClr val="555555"/>
              </a:solidFill>
              <a:latin typeface="+mj-lt"/>
            </a:endParaRPr>
          </a:p>
        </p:txBody>
      </p:sp>
      <p:sp>
        <p:nvSpPr>
          <p:cNvPr id="3" name="Slide Number Placeholder 2">
            <a:extLst>
              <a:ext uri="{FF2B5EF4-FFF2-40B4-BE49-F238E27FC236}">
                <a16:creationId xmlns:a16="http://schemas.microsoft.com/office/drawing/2014/main" id="{A9D6F08F-AE15-46FB-8FB8-B445163347F7}"/>
              </a:ext>
            </a:extLst>
          </p:cNvPr>
          <p:cNvSpPr>
            <a:spLocks noGrp="1"/>
          </p:cNvSpPr>
          <p:nvPr>
            <p:ph type="sldNum" sz="quarter" idx="12"/>
          </p:nvPr>
        </p:nvSpPr>
        <p:spPr/>
        <p:txBody>
          <a:bodyPr/>
          <a:lstStyle/>
          <a:p>
            <a:fld id="{F8D9BD54-7BE9-4F3B-8F4A-CE67E3F85104}" type="slidenum">
              <a:rPr lang="en-IN" smtClean="0"/>
              <a:t>22</a:t>
            </a:fld>
            <a:endParaRPr lang="en-IN"/>
          </a:p>
        </p:txBody>
      </p:sp>
    </p:spTree>
    <p:extLst>
      <p:ext uri="{BB962C8B-B14F-4D97-AF65-F5344CB8AC3E}">
        <p14:creationId xmlns:p14="http://schemas.microsoft.com/office/powerpoint/2010/main" val="689431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Perceptron</a:t>
            </a:r>
          </a:p>
        </p:txBody>
      </p:sp>
      <p:pic>
        <p:nvPicPr>
          <p:cNvPr id="8" name="Content Placeholder 3">
            <a:extLst>
              <a:ext uri="{FF2B5EF4-FFF2-40B4-BE49-F238E27FC236}">
                <a16:creationId xmlns:a16="http://schemas.microsoft.com/office/drawing/2014/main" id="{B913223B-0D74-4B49-8520-6AFD8D1379D8}"/>
              </a:ext>
            </a:extLst>
          </p:cNvPr>
          <p:cNvPicPr>
            <a:picLocks noGrp="1" noChangeAspect="1"/>
          </p:cNvPicPr>
          <p:nvPr>
            <p:ph idx="1"/>
          </p:nvPr>
        </p:nvPicPr>
        <p:blipFill rotWithShape="1">
          <a:blip r:embed="rId3"/>
          <a:srcRect l="16953" t="25046" r="42295" b="20133"/>
          <a:stretch/>
        </p:blipFill>
        <p:spPr>
          <a:xfrm>
            <a:off x="662608" y="2382298"/>
            <a:ext cx="4638261" cy="3507930"/>
          </a:xfrm>
        </p:spPr>
      </p:pic>
      <p:sp>
        <p:nvSpPr>
          <p:cNvPr id="10" name="TextBox 9">
            <a:extLst>
              <a:ext uri="{FF2B5EF4-FFF2-40B4-BE49-F238E27FC236}">
                <a16:creationId xmlns:a16="http://schemas.microsoft.com/office/drawing/2014/main" id="{C9A41F70-F4F1-44DA-AFAD-FA4C3E31B387}"/>
              </a:ext>
            </a:extLst>
          </p:cNvPr>
          <p:cNvSpPr txBox="1"/>
          <p:nvPr/>
        </p:nvSpPr>
        <p:spPr>
          <a:xfrm>
            <a:off x="5512904" y="2382298"/>
            <a:ext cx="5784364" cy="3046988"/>
          </a:xfrm>
          <a:prstGeom prst="rect">
            <a:avLst/>
          </a:prstGeom>
          <a:noFill/>
        </p:spPr>
        <p:txBody>
          <a:bodyPr wrap="square">
            <a:spAutoFit/>
          </a:bodyPr>
          <a:lstStyle/>
          <a:p>
            <a:pPr lvl="1" algn="l" fontAlgn="base"/>
            <a:r>
              <a:rPr lang="en-US" sz="2400" b="1" i="0" dirty="0">
                <a:solidFill>
                  <a:srgbClr val="575757"/>
                </a:solidFill>
                <a:effectLst/>
                <a:latin typeface="+mj-lt"/>
                <a:cs typeface="Times New Roman" panose="02020603050405020304" pitchFamily="18" charset="0"/>
              </a:rPr>
              <a:t>3 steps of Perceptron:</a:t>
            </a:r>
          </a:p>
          <a:p>
            <a:pPr marL="914400" lvl="1" indent="-457200" algn="l" fontAlgn="base">
              <a:buAutoNum type="arabicPeriod"/>
            </a:pPr>
            <a:r>
              <a:rPr lang="en-US" sz="2400" dirty="0">
                <a:solidFill>
                  <a:srgbClr val="575757"/>
                </a:solidFill>
                <a:latin typeface="+mj-lt"/>
                <a:cs typeface="Times New Roman" panose="02020603050405020304" pitchFamily="18" charset="0"/>
              </a:rPr>
              <a:t>Dot product (Inputs multiplied with weights)</a:t>
            </a:r>
          </a:p>
          <a:p>
            <a:pPr marL="914400" lvl="1" indent="-457200" algn="l" fontAlgn="base">
              <a:buAutoNum type="arabicPeriod"/>
            </a:pPr>
            <a:r>
              <a:rPr lang="en-US" sz="2400" b="0" i="0" dirty="0">
                <a:solidFill>
                  <a:srgbClr val="575757"/>
                </a:solidFill>
                <a:effectLst/>
                <a:latin typeface="+mj-lt"/>
                <a:cs typeface="Times New Roman" panose="02020603050405020304" pitchFamily="18" charset="0"/>
              </a:rPr>
              <a:t>Add bias</a:t>
            </a:r>
          </a:p>
          <a:p>
            <a:pPr marL="914400" lvl="1" indent="-457200" algn="l" fontAlgn="base">
              <a:buAutoNum type="arabicPeriod"/>
            </a:pPr>
            <a:r>
              <a:rPr lang="en-US" sz="2400" dirty="0">
                <a:solidFill>
                  <a:srgbClr val="575757"/>
                </a:solidFill>
                <a:latin typeface="+mj-lt"/>
                <a:cs typeface="Times New Roman" panose="02020603050405020304" pitchFamily="18" charset="0"/>
              </a:rPr>
              <a:t>Apply non-linearity</a:t>
            </a:r>
          </a:p>
          <a:p>
            <a:pPr marL="914400" lvl="1" indent="-457200" algn="l" fontAlgn="base">
              <a:buAutoNum type="arabicPeriod"/>
            </a:pPr>
            <a:endParaRPr lang="en-US" sz="2400" b="0" i="0" dirty="0">
              <a:solidFill>
                <a:srgbClr val="575757"/>
              </a:solidFill>
              <a:effectLst/>
              <a:latin typeface="+mj-lt"/>
              <a:cs typeface="Times New Roman" panose="02020603050405020304" pitchFamily="18" charset="0"/>
            </a:endParaRPr>
          </a:p>
          <a:p>
            <a:pPr marL="914400" lvl="1" indent="-457200" algn="l" fontAlgn="base">
              <a:buAutoNum type="arabicPeriod"/>
            </a:pPr>
            <a:endParaRPr lang="en-US" sz="2400" dirty="0">
              <a:solidFill>
                <a:srgbClr val="575757"/>
              </a:solidFill>
              <a:latin typeface="+mj-lt"/>
              <a:cs typeface="Times New Roman" panose="02020603050405020304" pitchFamily="18" charset="0"/>
            </a:endParaRPr>
          </a:p>
          <a:p>
            <a:pPr lvl="1" algn="l" fontAlgn="base"/>
            <a:endParaRPr lang="en-US" sz="2400" b="0" i="0" dirty="0">
              <a:solidFill>
                <a:srgbClr val="575757"/>
              </a:solidFill>
              <a:effectLst/>
              <a:latin typeface="+mj-lt"/>
              <a:cs typeface="Times New Roman" panose="02020603050405020304" pitchFamily="18" charset="0"/>
            </a:endParaRPr>
          </a:p>
        </p:txBody>
      </p:sp>
      <p:sp>
        <p:nvSpPr>
          <p:cNvPr id="3" name="Slide Number Placeholder 2">
            <a:extLst>
              <a:ext uri="{FF2B5EF4-FFF2-40B4-BE49-F238E27FC236}">
                <a16:creationId xmlns:a16="http://schemas.microsoft.com/office/drawing/2014/main" id="{F07C4183-E9AE-4307-86C8-F590CD095D60}"/>
              </a:ext>
            </a:extLst>
          </p:cNvPr>
          <p:cNvSpPr>
            <a:spLocks noGrp="1"/>
          </p:cNvSpPr>
          <p:nvPr>
            <p:ph type="sldNum" sz="quarter" idx="12"/>
          </p:nvPr>
        </p:nvSpPr>
        <p:spPr/>
        <p:txBody>
          <a:bodyPr/>
          <a:lstStyle/>
          <a:p>
            <a:fld id="{F8D9BD54-7BE9-4F3B-8F4A-CE67E3F85104}" type="slidenum">
              <a:rPr lang="en-IN" smtClean="0"/>
              <a:t>23</a:t>
            </a:fld>
            <a:endParaRPr lang="en-IN"/>
          </a:p>
        </p:txBody>
      </p:sp>
    </p:spTree>
    <p:extLst>
      <p:ext uri="{BB962C8B-B14F-4D97-AF65-F5344CB8AC3E}">
        <p14:creationId xmlns:p14="http://schemas.microsoft.com/office/powerpoint/2010/main" val="13291943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Multi-output perceptron</a:t>
            </a:r>
          </a:p>
        </p:txBody>
      </p:sp>
      <p:sp>
        <p:nvSpPr>
          <p:cNvPr id="4" name="Content Placeholder 3">
            <a:extLst>
              <a:ext uri="{FF2B5EF4-FFF2-40B4-BE49-F238E27FC236}">
                <a16:creationId xmlns:a16="http://schemas.microsoft.com/office/drawing/2014/main" id="{D39B7A1E-2F15-444E-9CB5-095C69026FEB}"/>
              </a:ext>
            </a:extLst>
          </p:cNvPr>
          <p:cNvSpPr>
            <a:spLocks noGrp="1"/>
          </p:cNvSpPr>
          <p:nvPr>
            <p:ph idx="1"/>
          </p:nvPr>
        </p:nvSpPr>
        <p:spPr>
          <a:xfrm>
            <a:off x="699713" y="2039910"/>
            <a:ext cx="10515600" cy="4351338"/>
          </a:xfrm>
        </p:spPr>
        <p:txBody>
          <a:bodyPr>
            <a:normAutofit/>
          </a:bodyPr>
          <a:lstStyle/>
          <a:p>
            <a:pPr marL="0" indent="0">
              <a:buNone/>
            </a:pPr>
            <a:r>
              <a:rPr lang="en-US" sz="2400" dirty="0">
                <a:latin typeface="+mj-lt"/>
              </a:rPr>
              <a:t>Here all inputs are connected to all outputs, these layers are called dense layers</a:t>
            </a:r>
          </a:p>
          <a:p>
            <a:endParaRPr lang="en-IN" sz="2400" dirty="0">
              <a:latin typeface="+mj-lt"/>
            </a:endParaRPr>
          </a:p>
        </p:txBody>
      </p:sp>
      <p:pic>
        <p:nvPicPr>
          <p:cNvPr id="11" name="Picture 10">
            <a:extLst>
              <a:ext uri="{FF2B5EF4-FFF2-40B4-BE49-F238E27FC236}">
                <a16:creationId xmlns:a16="http://schemas.microsoft.com/office/drawing/2014/main" id="{BD6C0079-3EF0-4BA2-B9B2-86C7A0ACFF80}"/>
              </a:ext>
            </a:extLst>
          </p:cNvPr>
          <p:cNvPicPr>
            <a:picLocks noChangeAspect="1"/>
          </p:cNvPicPr>
          <p:nvPr/>
        </p:nvPicPr>
        <p:blipFill rotWithShape="1">
          <a:blip r:embed="rId3"/>
          <a:srcRect l="21689" t="30621" r="41318" b="21788"/>
          <a:stretch/>
        </p:blipFill>
        <p:spPr>
          <a:xfrm>
            <a:off x="3049436" y="2720274"/>
            <a:ext cx="5303683" cy="3836088"/>
          </a:xfrm>
          <a:prstGeom prst="rect">
            <a:avLst/>
          </a:prstGeom>
        </p:spPr>
      </p:pic>
      <p:sp>
        <p:nvSpPr>
          <p:cNvPr id="3" name="Slide Number Placeholder 2">
            <a:extLst>
              <a:ext uri="{FF2B5EF4-FFF2-40B4-BE49-F238E27FC236}">
                <a16:creationId xmlns:a16="http://schemas.microsoft.com/office/drawing/2014/main" id="{91BA7842-F260-450E-9EDB-AF81F40846F4}"/>
              </a:ext>
            </a:extLst>
          </p:cNvPr>
          <p:cNvSpPr>
            <a:spLocks noGrp="1"/>
          </p:cNvSpPr>
          <p:nvPr>
            <p:ph type="sldNum" sz="quarter" idx="12"/>
          </p:nvPr>
        </p:nvSpPr>
        <p:spPr/>
        <p:txBody>
          <a:bodyPr/>
          <a:lstStyle/>
          <a:p>
            <a:fld id="{F8D9BD54-7BE9-4F3B-8F4A-CE67E3F85104}" type="slidenum">
              <a:rPr lang="en-IN" smtClean="0"/>
              <a:t>24</a:t>
            </a:fld>
            <a:endParaRPr lang="en-IN"/>
          </a:p>
        </p:txBody>
      </p:sp>
    </p:spTree>
    <p:extLst>
      <p:ext uri="{BB962C8B-B14F-4D97-AF65-F5344CB8AC3E}">
        <p14:creationId xmlns:p14="http://schemas.microsoft.com/office/powerpoint/2010/main" val="328409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Single layer neural network</a:t>
            </a:r>
          </a:p>
        </p:txBody>
      </p:sp>
      <p:sp>
        <p:nvSpPr>
          <p:cNvPr id="4" name="Content Placeholder 3">
            <a:extLst>
              <a:ext uri="{FF2B5EF4-FFF2-40B4-BE49-F238E27FC236}">
                <a16:creationId xmlns:a16="http://schemas.microsoft.com/office/drawing/2014/main" id="{D39B7A1E-2F15-444E-9CB5-095C69026FEB}"/>
              </a:ext>
            </a:extLst>
          </p:cNvPr>
          <p:cNvSpPr>
            <a:spLocks noGrp="1"/>
          </p:cNvSpPr>
          <p:nvPr>
            <p:ph idx="1"/>
          </p:nvPr>
        </p:nvSpPr>
        <p:spPr>
          <a:xfrm>
            <a:off x="699713" y="2039910"/>
            <a:ext cx="10515600" cy="4351338"/>
          </a:xfrm>
        </p:spPr>
        <p:txBody>
          <a:bodyPr>
            <a:normAutofit/>
          </a:bodyPr>
          <a:lstStyle/>
          <a:p>
            <a:pPr marL="0" indent="0">
              <a:buNone/>
            </a:pPr>
            <a:r>
              <a:rPr lang="en-US" sz="2400" dirty="0">
                <a:latin typeface="+mj-lt"/>
              </a:rPr>
              <a:t>Here all inputs are connected to all outputs, these layers are called dense layers</a:t>
            </a:r>
          </a:p>
        </p:txBody>
      </p:sp>
      <p:pic>
        <p:nvPicPr>
          <p:cNvPr id="9" name="Picture 8">
            <a:extLst>
              <a:ext uri="{FF2B5EF4-FFF2-40B4-BE49-F238E27FC236}">
                <a16:creationId xmlns:a16="http://schemas.microsoft.com/office/drawing/2014/main" id="{8277915E-BEC1-4FA6-B6AF-C9184EEE8973}"/>
              </a:ext>
            </a:extLst>
          </p:cNvPr>
          <p:cNvPicPr>
            <a:picLocks noChangeAspect="1"/>
          </p:cNvPicPr>
          <p:nvPr/>
        </p:nvPicPr>
        <p:blipFill rotWithShape="1">
          <a:blip r:embed="rId3"/>
          <a:srcRect l="20109" t="31489" r="32500" b="16699"/>
          <a:stretch/>
        </p:blipFill>
        <p:spPr>
          <a:xfrm>
            <a:off x="2756697" y="2683279"/>
            <a:ext cx="6569602" cy="4038196"/>
          </a:xfrm>
          <a:prstGeom prst="rect">
            <a:avLst/>
          </a:prstGeom>
        </p:spPr>
      </p:pic>
      <p:sp>
        <p:nvSpPr>
          <p:cNvPr id="3" name="Slide Number Placeholder 2">
            <a:extLst>
              <a:ext uri="{FF2B5EF4-FFF2-40B4-BE49-F238E27FC236}">
                <a16:creationId xmlns:a16="http://schemas.microsoft.com/office/drawing/2014/main" id="{AAB48897-6AEF-43BD-A38F-5752A1B7F93E}"/>
              </a:ext>
            </a:extLst>
          </p:cNvPr>
          <p:cNvSpPr>
            <a:spLocks noGrp="1"/>
          </p:cNvSpPr>
          <p:nvPr>
            <p:ph type="sldNum" sz="quarter" idx="12"/>
          </p:nvPr>
        </p:nvSpPr>
        <p:spPr/>
        <p:txBody>
          <a:bodyPr/>
          <a:lstStyle/>
          <a:p>
            <a:fld id="{F8D9BD54-7BE9-4F3B-8F4A-CE67E3F85104}" type="slidenum">
              <a:rPr lang="en-IN" smtClean="0"/>
              <a:t>25</a:t>
            </a:fld>
            <a:endParaRPr lang="en-IN"/>
          </a:p>
        </p:txBody>
      </p:sp>
    </p:spTree>
    <p:extLst>
      <p:ext uri="{BB962C8B-B14F-4D97-AF65-F5344CB8AC3E}">
        <p14:creationId xmlns:p14="http://schemas.microsoft.com/office/powerpoint/2010/main" val="42782164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Single layer neural network</a:t>
            </a:r>
          </a:p>
        </p:txBody>
      </p:sp>
      <p:pic>
        <p:nvPicPr>
          <p:cNvPr id="11" name="Picture 10">
            <a:extLst>
              <a:ext uri="{FF2B5EF4-FFF2-40B4-BE49-F238E27FC236}">
                <a16:creationId xmlns:a16="http://schemas.microsoft.com/office/drawing/2014/main" id="{2C32DE00-C78C-4C7B-913D-B45E2677D9D6}"/>
              </a:ext>
            </a:extLst>
          </p:cNvPr>
          <p:cNvPicPr>
            <a:picLocks noChangeAspect="1"/>
          </p:cNvPicPr>
          <p:nvPr/>
        </p:nvPicPr>
        <p:blipFill rotWithShape="1">
          <a:blip r:embed="rId3"/>
          <a:srcRect l="19303" t="22720" r="24754" b="22390"/>
          <a:stretch/>
        </p:blipFill>
        <p:spPr>
          <a:xfrm>
            <a:off x="2018576" y="1966276"/>
            <a:ext cx="8154844" cy="4498606"/>
          </a:xfrm>
          <a:prstGeom prst="rect">
            <a:avLst/>
          </a:prstGeom>
        </p:spPr>
      </p:pic>
      <p:sp>
        <p:nvSpPr>
          <p:cNvPr id="3" name="Slide Number Placeholder 2">
            <a:extLst>
              <a:ext uri="{FF2B5EF4-FFF2-40B4-BE49-F238E27FC236}">
                <a16:creationId xmlns:a16="http://schemas.microsoft.com/office/drawing/2014/main" id="{D8EEC927-4A7D-40A3-9968-76D2DB2D8417}"/>
              </a:ext>
            </a:extLst>
          </p:cNvPr>
          <p:cNvSpPr>
            <a:spLocks noGrp="1"/>
          </p:cNvSpPr>
          <p:nvPr>
            <p:ph type="sldNum" sz="quarter" idx="12"/>
          </p:nvPr>
        </p:nvSpPr>
        <p:spPr/>
        <p:txBody>
          <a:bodyPr/>
          <a:lstStyle/>
          <a:p>
            <a:fld id="{F8D9BD54-7BE9-4F3B-8F4A-CE67E3F85104}" type="slidenum">
              <a:rPr lang="en-IN" smtClean="0"/>
              <a:t>26</a:t>
            </a:fld>
            <a:endParaRPr lang="en-IN"/>
          </a:p>
        </p:txBody>
      </p:sp>
    </p:spTree>
    <p:extLst>
      <p:ext uri="{BB962C8B-B14F-4D97-AF65-F5344CB8AC3E}">
        <p14:creationId xmlns:p14="http://schemas.microsoft.com/office/powerpoint/2010/main" val="26173427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Neural network</a:t>
            </a:r>
          </a:p>
        </p:txBody>
      </p:sp>
      <p:pic>
        <p:nvPicPr>
          <p:cNvPr id="8" name="Picture 7">
            <a:extLst>
              <a:ext uri="{FF2B5EF4-FFF2-40B4-BE49-F238E27FC236}">
                <a16:creationId xmlns:a16="http://schemas.microsoft.com/office/drawing/2014/main" id="{702BEB2D-07A0-4939-AFD4-7A1DD349C975}"/>
              </a:ext>
            </a:extLst>
          </p:cNvPr>
          <p:cNvPicPr>
            <a:picLocks noChangeAspect="1"/>
          </p:cNvPicPr>
          <p:nvPr/>
        </p:nvPicPr>
        <p:blipFill rotWithShape="1">
          <a:blip r:embed="rId3"/>
          <a:srcRect t="31903" r="24631" b="17143"/>
          <a:stretch/>
        </p:blipFill>
        <p:spPr>
          <a:xfrm>
            <a:off x="429993" y="2414202"/>
            <a:ext cx="11332009" cy="4307273"/>
          </a:xfrm>
          <a:prstGeom prst="rect">
            <a:avLst/>
          </a:prstGeom>
        </p:spPr>
      </p:pic>
      <p:sp>
        <p:nvSpPr>
          <p:cNvPr id="3" name="Slide Number Placeholder 2">
            <a:extLst>
              <a:ext uri="{FF2B5EF4-FFF2-40B4-BE49-F238E27FC236}">
                <a16:creationId xmlns:a16="http://schemas.microsoft.com/office/drawing/2014/main" id="{A867C7EC-7695-4600-B7BB-C7DFF8EEFD7F}"/>
              </a:ext>
            </a:extLst>
          </p:cNvPr>
          <p:cNvSpPr>
            <a:spLocks noGrp="1"/>
          </p:cNvSpPr>
          <p:nvPr>
            <p:ph type="sldNum" sz="quarter" idx="12"/>
          </p:nvPr>
        </p:nvSpPr>
        <p:spPr/>
        <p:txBody>
          <a:bodyPr/>
          <a:lstStyle/>
          <a:p>
            <a:fld id="{F8D9BD54-7BE9-4F3B-8F4A-CE67E3F85104}" type="slidenum">
              <a:rPr lang="en-IN" smtClean="0"/>
              <a:t>27</a:t>
            </a:fld>
            <a:endParaRPr lang="en-IN"/>
          </a:p>
        </p:txBody>
      </p:sp>
    </p:spTree>
    <p:extLst>
      <p:ext uri="{BB962C8B-B14F-4D97-AF65-F5344CB8AC3E}">
        <p14:creationId xmlns:p14="http://schemas.microsoft.com/office/powerpoint/2010/main" val="30552070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Loss function</a:t>
            </a:r>
          </a:p>
        </p:txBody>
      </p:sp>
      <p:pic>
        <p:nvPicPr>
          <p:cNvPr id="9" name="Picture 8">
            <a:extLst>
              <a:ext uri="{FF2B5EF4-FFF2-40B4-BE49-F238E27FC236}">
                <a16:creationId xmlns:a16="http://schemas.microsoft.com/office/drawing/2014/main" id="{88137522-694F-4F93-A756-F2D3D2B5EE8A}"/>
              </a:ext>
            </a:extLst>
          </p:cNvPr>
          <p:cNvPicPr>
            <a:picLocks noChangeAspect="1"/>
          </p:cNvPicPr>
          <p:nvPr/>
        </p:nvPicPr>
        <p:blipFill rotWithShape="1">
          <a:blip r:embed="rId3"/>
          <a:srcRect l="5169" t="36520" r="32601" b="17462"/>
          <a:stretch/>
        </p:blipFill>
        <p:spPr>
          <a:xfrm>
            <a:off x="1797222" y="3035426"/>
            <a:ext cx="8597551" cy="3574536"/>
          </a:xfrm>
          <a:prstGeom prst="rect">
            <a:avLst/>
          </a:prstGeom>
        </p:spPr>
      </p:pic>
      <p:sp>
        <p:nvSpPr>
          <p:cNvPr id="10" name="Content Placeholder 1">
            <a:extLst>
              <a:ext uri="{FF2B5EF4-FFF2-40B4-BE49-F238E27FC236}">
                <a16:creationId xmlns:a16="http://schemas.microsoft.com/office/drawing/2014/main" id="{8419095B-04A9-4E53-BCFD-6FAE27469862}"/>
              </a:ext>
            </a:extLst>
          </p:cNvPr>
          <p:cNvSpPr>
            <a:spLocks noGrp="1"/>
          </p:cNvSpPr>
          <p:nvPr>
            <p:ph idx="1"/>
          </p:nvPr>
        </p:nvSpPr>
        <p:spPr>
          <a:xfrm>
            <a:off x="838200" y="1825625"/>
            <a:ext cx="10515600" cy="4351338"/>
          </a:xfrm>
        </p:spPr>
        <p:txBody>
          <a:bodyPr/>
          <a:lstStyle/>
          <a:p>
            <a:pPr marL="0" indent="0">
              <a:buNone/>
            </a:pPr>
            <a:r>
              <a:rPr lang="en-US" dirty="0"/>
              <a:t>The loss function measures the cost incurred by incorrect predictions.</a:t>
            </a:r>
            <a:endParaRPr lang="en-IN" dirty="0"/>
          </a:p>
        </p:txBody>
      </p:sp>
      <p:sp>
        <p:nvSpPr>
          <p:cNvPr id="3" name="Slide Number Placeholder 2">
            <a:extLst>
              <a:ext uri="{FF2B5EF4-FFF2-40B4-BE49-F238E27FC236}">
                <a16:creationId xmlns:a16="http://schemas.microsoft.com/office/drawing/2014/main" id="{52CC6085-E34A-4725-A0A2-51BAB7F6A699}"/>
              </a:ext>
            </a:extLst>
          </p:cNvPr>
          <p:cNvSpPr>
            <a:spLocks noGrp="1"/>
          </p:cNvSpPr>
          <p:nvPr>
            <p:ph type="sldNum" sz="quarter" idx="12"/>
          </p:nvPr>
        </p:nvSpPr>
        <p:spPr/>
        <p:txBody>
          <a:bodyPr/>
          <a:lstStyle/>
          <a:p>
            <a:fld id="{F8D9BD54-7BE9-4F3B-8F4A-CE67E3F85104}" type="slidenum">
              <a:rPr lang="en-IN" smtClean="0"/>
              <a:t>28</a:t>
            </a:fld>
            <a:endParaRPr lang="en-IN"/>
          </a:p>
        </p:txBody>
      </p:sp>
    </p:spTree>
    <p:extLst>
      <p:ext uri="{BB962C8B-B14F-4D97-AF65-F5344CB8AC3E}">
        <p14:creationId xmlns:p14="http://schemas.microsoft.com/office/powerpoint/2010/main" val="13769328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Empirical loss/cost function</a:t>
            </a:r>
          </a:p>
        </p:txBody>
      </p:sp>
      <p:pic>
        <p:nvPicPr>
          <p:cNvPr id="11" name="Picture 10">
            <a:extLst>
              <a:ext uri="{FF2B5EF4-FFF2-40B4-BE49-F238E27FC236}">
                <a16:creationId xmlns:a16="http://schemas.microsoft.com/office/drawing/2014/main" id="{74F8A968-E497-4225-AC3D-8302320CDCD3}"/>
              </a:ext>
            </a:extLst>
          </p:cNvPr>
          <p:cNvPicPr>
            <a:picLocks noChangeAspect="1"/>
          </p:cNvPicPr>
          <p:nvPr/>
        </p:nvPicPr>
        <p:blipFill rotWithShape="1">
          <a:blip r:embed="rId3"/>
          <a:srcRect l="1318" t="36520" r="32196" b="17642"/>
          <a:stretch/>
        </p:blipFill>
        <p:spPr>
          <a:xfrm>
            <a:off x="913917" y="2308504"/>
            <a:ext cx="10364166" cy="4017345"/>
          </a:xfrm>
          <a:prstGeom prst="rect">
            <a:avLst/>
          </a:prstGeom>
        </p:spPr>
      </p:pic>
      <p:sp>
        <p:nvSpPr>
          <p:cNvPr id="3" name="Slide Number Placeholder 2">
            <a:extLst>
              <a:ext uri="{FF2B5EF4-FFF2-40B4-BE49-F238E27FC236}">
                <a16:creationId xmlns:a16="http://schemas.microsoft.com/office/drawing/2014/main" id="{BD08C125-6287-4BB2-BE16-EED076090BAA}"/>
              </a:ext>
            </a:extLst>
          </p:cNvPr>
          <p:cNvSpPr>
            <a:spLocks noGrp="1"/>
          </p:cNvSpPr>
          <p:nvPr>
            <p:ph type="sldNum" sz="quarter" idx="12"/>
          </p:nvPr>
        </p:nvSpPr>
        <p:spPr/>
        <p:txBody>
          <a:bodyPr/>
          <a:lstStyle/>
          <a:p>
            <a:fld id="{F8D9BD54-7BE9-4F3B-8F4A-CE67E3F85104}" type="slidenum">
              <a:rPr lang="en-IN" smtClean="0"/>
              <a:t>29</a:t>
            </a:fld>
            <a:endParaRPr lang="en-IN"/>
          </a:p>
        </p:txBody>
      </p:sp>
    </p:spTree>
    <p:extLst>
      <p:ext uri="{BB962C8B-B14F-4D97-AF65-F5344CB8AC3E}">
        <p14:creationId xmlns:p14="http://schemas.microsoft.com/office/powerpoint/2010/main" val="32472271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Binary Cross Entropy Loss</a:t>
            </a:r>
          </a:p>
        </p:txBody>
      </p:sp>
      <p:pic>
        <p:nvPicPr>
          <p:cNvPr id="8" name="Picture 7">
            <a:extLst>
              <a:ext uri="{FF2B5EF4-FFF2-40B4-BE49-F238E27FC236}">
                <a16:creationId xmlns:a16="http://schemas.microsoft.com/office/drawing/2014/main" id="{CD26BEE9-16F1-4D91-9D15-4D6A50357563}"/>
              </a:ext>
            </a:extLst>
          </p:cNvPr>
          <p:cNvPicPr>
            <a:picLocks noChangeAspect="1"/>
          </p:cNvPicPr>
          <p:nvPr/>
        </p:nvPicPr>
        <p:blipFill rotWithShape="1">
          <a:blip r:embed="rId3"/>
          <a:srcRect l="9122" t="36520" r="30979" b="20346"/>
          <a:stretch/>
        </p:blipFill>
        <p:spPr>
          <a:xfrm>
            <a:off x="1330093" y="2664230"/>
            <a:ext cx="9119286" cy="3692120"/>
          </a:xfrm>
          <a:prstGeom prst="rect">
            <a:avLst/>
          </a:prstGeom>
        </p:spPr>
      </p:pic>
      <p:sp>
        <p:nvSpPr>
          <p:cNvPr id="9" name="Content Placeholder 5">
            <a:extLst>
              <a:ext uri="{FF2B5EF4-FFF2-40B4-BE49-F238E27FC236}">
                <a16:creationId xmlns:a16="http://schemas.microsoft.com/office/drawing/2014/main" id="{BD755876-AC11-4945-878A-0B0798058B0D}"/>
              </a:ext>
            </a:extLst>
          </p:cNvPr>
          <p:cNvSpPr>
            <a:spLocks noGrp="1"/>
          </p:cNvSpPr>
          <p:nvPr>
            <p:ph idx="1"/>
          </p:nvPr>
        </p:nvSpPr>
        <p:spPr>
          <a:xfrm>
            <a:off x="778240" y="2011719"/>
            <a:ext cx="10515600" cy="4854790"/>
          </a:xfrm>
        </p:spPr>
        <p:txBody>
          <a:bodyPr>
            <a:normAutofit/>
          </a:bodyPr>
          <a:lstStyle/>
          <a:p>
            <a:pPr marL="0" indent="0">
              <a:buNone/>
            </a:pPr>
            <a:r>
              <a:rPr lang="en-US" sz="2400" dirty="0">
                <a:latin typeface="+mj-lt"/>
              </a:rPr>
              <a:t>Output a probability between 0 and 1</a:t>
            </a:r>
            <a:endParaRPr lang="en-IN" sz="2400" dirty="0">
              <a:latin typeface="+mj-lt"/>
            </a:endParaRPr>
          </a:p>
        </p:txBody>
      </p:sp>
      <p:sp>
        <p:nvSpPr>
          <p:cNvPr id="3" name="Slide Number Placeholder 2">
            <a:extLst>
              <a:ext uri="{FF2B5EF4-FFF2-40B4-BE49-F238E27FC236}">
                <a16:creationId xmlns:a16="http://schemas.microsoft.com/office/drawing/2014/main" id="{E68B08C1-04EA-4B5E-8AA5-4CFAE7431FFD}"/>
              </a:ext>
            </a:extLst>
          </p:cNvPr>
          <p:cNvSpPr>
            <a:spLocks noGrp="1"/>
          </p:cNvSpPr>
          <p:nvPr>
            <p:ph type="sldNum" sz="quarter" idx="12"/>
          </p:nvPr>
        </p:nvSpPr>
        <p:spPr/>
        <p:txBody>
          <a:bodyPr/>
          <a:lstStyle/>
          <a:p>
            <a:fld id="{F8D9BD54-7BE9-4F3B-8F4A-CE67E3F85104}" type="slidenum">
              <a:rPr lang="en-IN" smtClean="0"/>
              <a:t>30</a:t>
            </a:fld>
            <a:endParaRPr lang="en-IN"/>
          </a:p>
        </p:txBody>
      </p:sp>
    </p:spTree>
    <p:extLst>
      <p:ext uri="{BB962C8B-B14F-4D97-AF65-F5344CB8AC3E}">
        <p14:creationId xmlns:p14="http://schemas.microsoft.com/office/powerpoint/2010/main" val="34849195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Mean Squared Error Loss</a:t>
            </a:r>
          </a:p>
        </p:txBody>
      </p:sp>
      <p:sp>
        <p:nvSpPr>
          <p:cNvPr id="9" name="Content Placeholder 5">
            <a:extLst>
              <a:ext uri="{FF2B5EF4-FFF2-40B4-BE49-F238E27FC236}">
                <a16:creationId xmlns:a16="http://schemas.microsoft.com/office/drawing/2014/main" id="{BD755876-AC11-4945-878A-0B0798058B0D}"/>
              </a:ext>
            </a:extLst>
          </p:cNvPr>
          <p:cNvSpPr>
            <a:spLocks noGrp="1"/>
          </p:cNvSpPr>
          <p:nvPr>
            <p:ph idx="1"/>
          </p:nvPr>
        </p:nvSpPr>
        <p:spPr>
          <a:xfrm>
            <a:off x="778240" y="2011719"/>
            <a:ext cx="10515600" cy="4854790"/>
          </a:xfrm>
        </p:spPr>
        <p:txBody>
          <a:bodyPr>
            <a:normAutofit/>
          </a:bodyPr>
          <a:lstStyle/>
          <a:p>
            <a:pPr marL="0" indent="0">
              <a:buNone/>
            </a:pPr>
            <a:r>
              <a:rPr lang="en-US" sz="2400" dirty="0">
                <a:latin typeface="+mj-lt"/>
              </a:rPr>
              <a:t>Used for regression models; Output continuous numbers</a:t>
            </a:r>
            <a:endParaRPr lang="en-IN" sz="2400" dirty="0">
              <a:latin typeface="+mj-lt"/>
            </a:endParaRPr>
          </a:p>
        </p:txBody>
      </p:sp>
      <p:pic>
        <p:nvPicPr>
          <p:cNvPr id="11" name="Picture 10">
            <a:extLst>
              <a:ext uri="{FF2B5EF4-FFF2-40B4-BE49-F238E27FC236}">
                <a16:creationId xmlns:a16="http://schemas.microsoft.com/office/drawing/2014/main" id="{15CB4100-DA62-419A-B8D2-E1B9E3D2D5AC}"/>
              </a:ext>
            </a:extLst>
          </p:cNvPr>
          <p:cNvPicPr>
            <a:picLocks noChangeAspect="1"/>
          </p:cNvPicPr>
          <p:nvPr/>
        </p:nvPicPr>
        <p:blipFill rotWithShape="1">
          <a:blip r:embed="rId3"/>
          <a:srcRect l="8311" t="36520" r="31993" b="21608"/>
          <a:stretch/>
        </p:blipFill>
        <p:spPr>
          <a:xfrm>
            <a:off x="1135046" y="2600116"/>
            <a:ext cx="9326500" cy="3677996"/>
          </a:xfrm>
          <a:prstGeom prst="rect">
            <a:avLst/>
          </a:prstGeom>
        </p:spPr>
      </p:pic>
      <p:sp>
        <p:nvSpPr>
          <p:cNvPr id="3" name="Slide Number Placeholder 2">
            <a:extLst>
              <a:ext uri="{FF2B5EF4-FFF2-40B4-BE49-F238E27FC236}">
                <a16:creationId xmlns:a16="http://schemas.microsoft.com/office/drawing/2014/main" id="{E07726A8-DD82-4943-9382-44B0E7BEF2C0}"/>
              </a:ext>
            </a:extLst>
          </p:cNvPr>
          <p:cNvSpPr>
            <a:spLocks noGrp="1"/>
          </p:cNvSpPr>
          <p:nvPr>
            <p:ph type="sldNum" sz="quarter" idx="12"/>
          </p:nvPr>
        </p:nvSpPr>
        <p:spPr/>
        <p:txBody>
          <a:bodyPr/>
          <a:lstStyle/>
          <a:p>
            <a:fld id="{F8D9BD54-7BE9-4F3B-8F4A-CE67E3F85104}" type="slidenum">
              <a:rPr lang="en-IN" smtClean="0"/>
              <a:t>31</a:t>
            </a:fld>
            <a:endParaRPr lang="en-IN"/>
          </a:p>
        </p:txBody>
      </p:sp>
    </p:spTree>
    <p:extLst>
      <p:ext uri="{BB962C8B-B14F-4D97-AF65-F5344CB8AC3E}">
        <p14:creationId xmlns:p14="http://schemas.microsoft.com/office/powerpoint/2010/main" val="1499608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07B7A2-E716-48BE-AB8C-E2A209918418}"/>
              </a:ext>
            </a:extLst>
          </p:cNvPr>
          <p:cNvSpPr>
            <a:spLocks noGrp="1"/>
          </p:cNvSpPr>
          <p:nvPr>
            <p:ph idx="1"/>
          </p:nvPr>
        </p:nvSpPr>
        <p:spPr/>
        <p:txBody>
          <a:bodyPr>
            <a:normAutofit/>
          </a:bodyPr>
          <a:lstStyle/>
          <a:p>
            <a:pPr marL="0" indent="0">
              <a:buNone/>
            </a:pPr>
            <a:r>
              <a:rPr lang="en-IN" sz="16600" dirty="0"/>
              <a:t>Thank You</a:t>
            </a:r>
          </a:p>
        </p:txBody>
      </p:sp>
      <p:sp>
        <p:nvSpPr>
          <p:cNvPr id="4" name="Slide Number Placeholder 3">
            <a:extLst>
              <a:ext uri="{FF2B5EF4-FFF2-40B4-BE49-F238E27FC236}">
                <a16:creationId xmlns:a16="http://schemas.microsoft.com/office/drawing/2014/main" id="{4B9CEF4D-6E73-4E05-83DF-6AEDAA4CB4AF}"/>
              </a:ext>
            </a:extLst>
          </p:cNvPr>
          <p:cNvSpPr>
            <a:spLocks noGrp="1"/>
          </p:cNvSpPr>
          <p:nvPr>
            <p:ph type="sldNum" sz="quarter" idx="12"/>
          </p:nvPr>
        </p:nvSpPr>
        <p:spPr/>
        <p:txBody>
          <a:bodyPr/>
          <a:lstStyle/>
          <a:p>
            <a:fld id="{F8D9BD54-7BE9-4F3B-8F4A-CE67E3F85104}" type="slidenum">
              <a:rPr lang="en-IN" smtClean="0"/>
              <a:t>32</a:t>
            </a:fld>
            <a:endParaRPr lang="en-IN"/>
          </a:p>
        </p:txBody>
      </p:sp>
    </p:spTree>
    <p:extLst>
      <p:ext uri="{BB962C8B-B14F-4D97-AF65-F5344CB8AC3E}">
        <p14:creationId xmlns:p14="http://schemas.microsoft.com/office/powerpoint/2010/main" val="33293793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4865</TotalTime>
  <Words>2263</Words>
  <Application>Microsoft Office PowerPoint</Application>
  <PresentationFormat>Widescreen</PresentationFormat>
  <Paragraphs>257</Paragraphs>
  <Slides>32</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arial</vt:lpstr>
      <vt:lpstr>Calibri</vt:lpstr>
      <vt:lpstr>Calibri Light</vt:lpstr>
      <vt:lpstr>Cambria</vt:lpstr>
      <vt:lpstr>Corbel</vt:lpstr>
      <vt:lpstr>Source Sans Pro</vt:lpstr>
      <vt:lpstr>Times New Roman</vt:lpstr>
      <vt:lpstr>Office Theme</vt:lpstr>
      <vt:lpstr>PowerPoint Presentation</vt:lpstr>
      <vt:lpstr>Outline</vt:lpstr>
      <vt:lpstr>Evaluation policy</vt:lpstr>
      <vt:lpstr>Real Self Driving Cars</vt:lpstr>
      <vt:lpstr>What is Deep learning?</vt:lpstr>
      <vt:lpstr>Machine Learning (ML) </vt:lpstr>
      <vt:lpstr>PowerPoint Presentation</vt:lpstr>
      <vt:lpstr>PowerPoint Presentation</vt:lpstr>
      <vt:lpstr>Deep Learning (DL)</vt:lpstr>
      <vt:lpstr>Why Deep Learning (DL)</vt:lpstr>
      <vt:lpstr>PowerPoint Presentation</vt:lpstr>
      <vt:lpstr>PowerPoint Presentation</vt:lpstr>
      <vt:lpstr>PowerPoint Presentation</vt:lpstr>
      <vt:lpstr>Why Deep Learning (DL)</vt:lpstr>
      <vt:lpstr>Deep Learning applications</vt:lpstr>
      <vt:lpstr>Deep Learning applications</vt:lpstr>
      <vt:lpstr>Artificial Neural Network (ANN)</vt:lpstr>
      <vt:lpstr>Artificial Neural Network (ANN)</vt:lpstr>
      <vt:lpstr>Artificial Neural Network (ANN)</vt:lpstr>
      <vt:lpstr>Activation function</vt:lpstr>
      <vt:lpstr>Activation function</vt:lpstr>
      <vt:lpstr>Non-linear activation functions</vt:lpstr>
      <vt:lpstr>Perceptron</vt:lpstr>
      <vt:lpstr>Multi-output perceptron</vt:lpstr>
      <vt:lpstr>Single layer neural network</vt:lpstr>
      <vt:lpstr>Single layer neural network</vt:lpstr>
      <vt:lpstr>Neural network</vt:lpstr>
      <vt:lpstr>Loss function</vt:lpstr>
      <vt:lpstr>Empirical loss/cost function</vt:lpstr>
      <vt:lpstr>Binary Cross Entropy Loss</vt:lpstr>
      <vt:lpstr>Mean Squared Error Loss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Deepika Vatsa</dc:creator>
  <cp:lastModifiedBy>Admin DyDir</cp:lastModifiedBy>
  <cp:revision>113</cp:revision>
  <dcterms:created xsi:type="dcterms:W3CDTF">2022-08-02T04:13:44Z</dcterms:created>
  <dcterms:modified xsi:type="dcterms:W3CDTF">2026-07-02T02:28:57Z</dcterms:modified>
</cp:coreProperties>
</file>