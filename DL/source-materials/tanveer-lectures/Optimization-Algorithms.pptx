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eer Ahmed" userId="ae65990c-ea0f-4c33-a6b2-48519e4fc857" providerId="ADAL" clId="{B62FB1E2-826A-47B9-BBD1-E7806A3B00B5}"/>
    <pc:docChg chg="undo addSld delSld modSld">
      <pc:chgData name="Tanveer Ahmed" userId="ae65990c-ea0f-4c33-a6b2-48519e4fc857" providerId="ADAL" clId="{B62FB1E2-826A-47B9-BBD1-E7806A3B00B5}" dt="2026-08-17T03:07:52.819" v="57" actId="20577"/>
      <pc:docMkLst>
        <pc:docMk/>
      </pc:docMkLst>
      <pc:sldChg chg="modSp">
        <pc:chgData name="Tanveer Ahmed" userId="ae65990c-ea0f-4c33-a6b2-48519e4fc857" providerId="ADAL" clId="{B62FB1E2-826A-47B9-BBD1-E7806A3B00B5}" dt="2026-08-17T03:05:34.106" v="4" actId="20577"/>
        <pc:sldMkLst>
          <pc:docMk/>
          <pc:sldMk cId="0" sldId="257"/>
        </pc:sldMkLst>
        <pc:spChg chg="mod">
          <ac:chgData name="Tanveer Ahmed" userId="ae65990c-ea0f-4c33-a6b2-48519e4fc857" providerId="ADAL" clId="{B62FB1E2-826A-47B9-BBD1-E7806A3B00B5}" dt="2026-08-17T03:05:32.139" v="3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Tanveer Ahmed" userId="ae65990c-ea0f-4c33-a6b2-48519e4fc857" providerId="ADAL" clId="{B62FB1E2-826A-47B9-BBD1-E7806A3B00B5}" dt="2026-08-17T03:05:29.469" v="1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Tanveer Ahmed" userId="ae65990c-ea0f-4c33-a6b2-48519e4fc857" providerId="ADAL" clId="{B62FB1E2-826A-47B9-BBD1-E7806A3B00B5}" dt="2026-08-17T03:05:34.106" v="4" actId="20577"/>
          <ac:spMkLst>
            <pc:docMk/>
            <pc:sldMk cId="0" sldId="257"/>
            <ac:spMk id="9" creationId="{00000000-0000-0000-0000-000000000000}"/>
          </ac:spMkLst>
        </pc:spChg>
      </pc:sldChg>
      <pc:sldChg chg="modSp add del">
        <pc:chgData name="Tanveer Ahmed" userId="ae65990c-ea0f-4c33-a6b2-48519e4fc857" providerId="ADAL" clId="{B62FB1E2-826A-47B9-BBD1-E7806A3B00B5}" dt="2026-08-17T03:06:19.245" v="38" actId="20577"/>
        <pc:sldMkLst>
          <pc:docMk/>
          <pc:sldMk cId="0" sldId="270"/>
        </pc:sldMkLst>
        <pc:spChg chg="mod">
          <ac:chgData name="Tanveer Ahmed" userId="ae65990c-ea0f-4c33-a6b2-48519e4fc857" providerId="ADAL" clId="{B62FB1E2-826A-47B9-BBD1-E7806A3B00B5}" dt="2026-08-17T03:06:19.245" v="38" actId="20577"/>
          <ac:spMkLst>
            <pc:docMk/>
            <pc:sldMk cId="0" sldId="270"/>
            <ac:spMk id="7" creationId="{00000000-0000-0000-0000-000000000000}"/>
          </ac:spMkLst>
        </pc:spChg>
      </pc:sldChg>
      <pc:sldChg chg="add del">
        <pc:chgData name="Tanveer Ahmed" userId="ae65990c-ea0f-4c33-a6b2-48519e4fc857" providerId="ADAL" clId="{B62FB1E2-826A-47B9-BBD1-E7806A3B00B5}" dt="2026-08-17T03:07:07.835" v="41" actId="2696"/>
        <pc:sldMkLst>
          <pc:docMk/>
          <pc:sldMk cId="0" sldId="275"/>
        </pc:sldMkLst>
      </pc:sldChg>
      <pc:sldChg chg="del">
        <pc:chgData name="Tanveer Ahmed" userId="ae65990c-ea0f-4c33-a6b2-48519e4fc857" providerId="ADAL" clId="{B62FB1E2-826A-47B9-BBD1-E7806A3B00B5}" dt="2026-08-17T03:07:39.640" v="42" actId="2696"/>
        <pc:sldMkLst>
          <pc:docMk/>
          <pc:sldMk cId="0" sldId="277"/>
        </pc:sldMkLst>
      </pc:sldChg>
      <pc:sldChg chg="modSp">
        <pc:chgData name="Tanveer Ahmed" userId="ae65990c-ea0f-4c33-a6b2-48519e4fc857" providerId="ADAL" clId="{B62FB1E2-826A-47B9-BBD1-E7806A3B00B5}" dt="2026-08-17T03:07:52.819" v="57" actId="20577"/>
        <pc:sldMkLst>
          <pc:docMk/>
          <pc:sldMk cId="0" sldId="284"/>
        </pc:sldMkLst>
        <pc:spChg chg="mod">
          <ac:chgData name="Tanveer Ahmed" userId="ae65990c-ea0f-4c33-a6b2-48519e4fc857" providerId="ADAL" clId="{B62FB1E2-826A-47B9-BBD1-E7806A3B00B5}" dt="2026-08-17T03:07:52.819" v="57" actId="20577"/>
          <ac:spMkLst>
            <pc:docMk/>
            <pc:sldMk cId="0" sldId="284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16502-DFA2-5E44-B768-03C32851DA02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47758-4C22-BC4D-BD33-18C0B26F1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844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hook: every model you train — from logistic regression to a 100B-parameter transformer — is solved by one of the algorithms on this slide. Two lectures: Lecture 1 builds the first-order family from scratch (GD to Nesterov); Lecture 2 covers adaptive methods (Adagrad to Adam) and learning-rate scheduling. Every plot in this deck is a real simulation, not a cartoon.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expectations. Lecture 1 is the conceptual backbone — if they understand momentum they understand 80% of Adam. Lecture 2 is 'what people actually use in 2025'. Tell them the same toy dataset threads through the whole module so comparisons are apples-to-apples.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field is about navigating a surface like this efficiently, using only local gradient information — you never get to see the whole landscape. Emphasise: high dimensions make this hard; we visualise in 2-D but real θ has millions of entries. The Rosenbrock surface shown is a classic hard test case we'll return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Convexity matters here: logistic-regression loss is convex, so there is one global minimum and every optimizer should reach it — which means differences we see are about SPEED and PATH, not about getting stuck. That's the cleanest way to teach optimizer behaviour before introducing non-convex traps.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fog metaphor hard — students reuse it for every later method. Momentum = you keep some of your previous velocity. Adam = you also remember how bumpy each direction has been. Everything is a modification of 'feel the slope, take a step'.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problem, same start, only η changes. Point at the right panel: the red fills the plot because each step lands further from the minimum than the last — classic divergence. There is a hard stability limit η &lt; 2/L (L = largest curvature); beyond it GD provably diverges on a quadratic. This is why LR tuning and, later, LR scheduling matter so much.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plot loss on a log axis — linear-axis loss curves hide everything after the first few steps. Teach them to read the slope as a rate. This log-scale habit carries into every convergence plot in Lecture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motivating failure. GD's step direction is the gradient, which points across the valley, not toward the minimum. The higher the condition number, the worse the zig-zag, and real neural-network loss surfaces are extremely ill-conditioned (κ can be 1e6+). Every improvement in Lecture 1 and 2 is, at heart, an answer to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reframe: the 'stochastic' in SGD is a feature, not just a bug. Noisy gradients let you take far more steps per unit compute, and the noise can kick you out of sharp minima toward flatter, better-generalizing ones. Modern training is essentially always mini-batch. Full batch is shown only as the smooth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forward: because SGD never fully settles at a constant η (it orbits the minimum in a noise ball whose radius ∝ η), we later DECAY η so the ball shrinks to a point. That is the single most important reason learning-rate schedules exist. Foreshadow it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figure uses a moderate β for a clean 2-D picture; in practice β ≈ 0.9. Physical picture: momentum is a ball with mass — it averages out the sideways bouncing and keeps the consistent downhill component. Mathematically it's an exponential moving average of gradients. This EMA idea returns in RMSprop and Adam.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1/(1−β) rule of thumb is worth memorising: β=0.9 → averages ~10 gradients, β=0.99 → ~100. Higher β accelerates but can overshoot and needs a smaller η. This is the classic speed-vs-stability trade you'll re-meet with Adam's β₁, β₂.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one-line intuition students remember: 'momentum acts then looks; Nesterov looks then acts.' Because you evaluate the gradient where you're heading, you feel an approaching wall one step early and can brake — reducing overshoot. On the banana valley you can see the tighter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Lecture 1 by stressing the shared limitation: all four methods use a SINGLE learning rate applied to every parameter identically. If one direction is steep and another flat, one η can't serve both. That's the exact gap adaptive methods fill — the hook into Lecture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Reset energy for lecture 2. Recap the one-sentence bridge: 'so far, one η for all parameters — now each parameter gets its own, and then we schedule η over time.'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shared mechanism: every adaptive method divides the step by a running measure of that parameter's gradient magnitude. They differ only in HOW they accumulate that measure. If students grasp 'divide by sqrt of gradient-squared history', all four methods become variations on a theme.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Adagrad's historic role: it made per-parameter rates practical and was a big deal for sparse NLP features. But flag the fatal flaw immediately (next slide): the accumulator never forgets, so the effective step size decays monotonically to zero and learning stalls on long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pivot to RMSprop. The effective rate for BOTH parameters marches monotonically down. On a convex toy problem that's tolerable; on a long deep-learning run it's fatal. The one-word fix is 'forget': replace the ever-growing sum with an exponentially-decaying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RMSprop is literally Adagrad with the sum swapped for an EMA — same decaying-average trick as momentum, but applied to squared gradients (the magnitude) rather than gradients (the direction). Fun history: it was introduced in Hinton's Coursera lecture, never formally published. It's still a strong default for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 = momentum (first moment m) + RMSprop (second moment v) + bias correction. Walk the three steps. The reason it's the default: it's robust to the choice of η across a huge range of problems, so people can train without heavy tuning. β₂=0.999 gives the magnitude estimate a ~1000-step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Situate Adam historically: it's the 2015 default, but the field moved on. AdamW is what actually trains today's large models — the weight-decay decoupling matters a lot for generalization. Mention Lion/Sophia as active research so students know the story isn't finished. Don't go deep; this is orientation.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money shot. Rosenbrock's banana valley is curved and ill-conditioned — GD's kryptonite. Watch Adam and momentum trace the floor while GD (red) bounces off the walls and barely descends. The numbers make it concrete: Adam ends ~0.3, GD still ~4. This is exactly the conditioning problem from Lecture 1, now 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Beale has sharp diagonal valleys and a single minimum at (3, 0.5). All methods here converge (unlike some Rosenbrock runs), but final accuracy spans ~30 orders of magnitude: Adam ~1e-30, GD ~6e-2. This drives home that 'reaches the minimum' and 'reaches it precisely and quickly' are different bars.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 common misconception: deep nets rarely get stuck in bad LOCAL MINIMA — the bigger obstacle is SADDLE POINTS, where some directions go up and some down, and the gradient nearly vanishes. GD limps; momentum and adaptive methods escape faster. This is a major reason vanilla SGD is rarely used bare.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 the bigger toy dataset (1,500 points, 12 features), mini-batch training. Because logistic loss is convex, everyone reaches the minimum — the plot is about SPEED. The shared jitter is genuine mini-batch gradient noise. Adam's line is the smoothest and lowest. Next slide puts exact numbers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measured numbers, not illustrative. Note test accuracy is essentially tied (~88%) — on a convex problem the optimizer choice barely affects the final solution, only how fast you get there. The 'epochs to gap&lt;0.01' column is the honest speed ranking. Caution students: on non-convex deep nets, optimizer choice CAN change the final solution and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we've been assuming a fixed η. The last big lever is letting η change over time. This is where a lot of real-world training performance is won or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it back to the SGD noise-ball from Lecture 1: constant η leaves you orbiting the minimum at a radius set by η. Decaying η is how you actually land. This single insight motivates every schedule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decay (drop η by a factor γ every s epochs) is still extremely common — the visible 'staircase' in loss curves is its signature, and each drop gives a sudden loss improvement. Exponential decay is the smooth continuous cousin. Both need you to pick a decay rate; step decay's drop points are often set by watching the validation curve plateau.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Cosine annealing is the go-to schedule in modern vision and language training. Its smoothness avoids the abrupt behaviour of step decay, and the long low-η tail lets the model settle. Mention SGDR (warm restarts): periodically resetting η high can jump to a different basin and often improves results / gives cheap ensembles.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fixes an instability at step zero: fresh random weights produce huge, noisy gradients, and Adam's second-moment estimate hasn't stabilized, so a full η can diverge. Ramping η up over a few hundred/thousand steps lets the statistics settle. This is non-optional for transformer pre-training — leave it out and training often explodes.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Cyclical LR (Leslie Smith) challenges the assumption that η should only go down. The periodic highs help escape saddles; the lows consolidate. The one-cycle policy — ramp up once, then down well below the start — can give 'super-convergence', training in far fewer epochs. The LR-range test (sweep η and watch loss) is a practical way to pick the bounds.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summary reference. Note they all share the same η₀ ceiling here so the shapes are comparable. If a student remembers only one: cosine (or warm-up + cosine for big models) is a safe modern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experiment: identical SGD, identical starting η — only the schedule differs. The constant rate is stuck on the noise floor at ~1e-2; step and cosine decay push the optimality gap 1–2 orders of magnitude lower. Concrete proof that scheduling isn't cosmetic. Numbers are from actual runs on the toy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slide students will photograph. Emphasise the meta-rule: reach for AdamW + cosine + warm-up by default, and only deviate with a reason. The 'if it diverges / if it's too slow' rows are the debugging playbook — lower η and add warm-up cure most training explosions.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plane. The two-lecture arc in one breath: 'feel the slope and step' → add memory (momentum) → add per-parameter scaling (adaptive) → Adam combines both → then schedule the rate over time. The pitfalls list is the practical residue students will actually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the references up while taking questions. Suggested exercise: have students re-run the toy simulations and try to make SGD beat Adam by tuning η and a schedule — it's often possible, and teaches that optimizer choice and LR tuning are entangled.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108960" cy="310896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-1417320"/>
            <a:ext cx="3749040" cy="374904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-1737360"/>
            <a:ext cx="4389120" cy="438912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-2057400"/>
            <a:ext cx="5029200" cy="502920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-2377440"/>
            <a:ext cx="5669280" cy="566928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FOR MACHINE LEARNING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Machines Learn to Descend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· SGD · Momentum · Nesterov · Adagrad · RMSprop · Adam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 simulations · learning-rate scheduling · numerical results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two-lecture module  ·  built on live optimizer simulations &amp; a toy dataset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LECTURES, ONE IDEA: FOLLOW THE GRADIENT DOWNHILL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32120" cy="4480560"/>
          </a:xfrm>
          <a:prstGeom prst="roundRect">
            <a:avLst>
              <a:gd name="adj" fmla="val 1837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63640" y="1600200"/>
            <a:ext cx="5376672" cy="4480560"/>
          </a:xfrm>
          <a:prstGeom prst="roundRect">
            <a:avLst>
              <a:gd name="adj" fmla="val 1837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First-order methods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9377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optimization problem &amp; loss landscapes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toy dataset we simulate 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+ the learning rate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Conditioning: why GD zig-zags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vs. stochastic vs. mini-batch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&amp; Nesterov acceleration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148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methods &amp; scheduling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697480"/>
            <a:ext cx="48463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Per-parameter rates: Adagrad, RMSprop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and its bias correction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on hard landscapes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results on the toy dataset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Learning-rate schedules (5 families)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cheat-sheet + pitfalls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 ·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= MINIMIZING A LOSS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optimization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is search. We pick parameters θ that make the average loss over the data as small as possible: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49377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pic>
        <p:nvPicPr>
          <p:cNvPr id="7" name="Image 0" descr="eq/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852928"/>
            <a:ext cx="2391347" cy="6949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886200"/>
            <a:ext cx="49377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— the parameters (weights) we adjust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the loss: how wrong we are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∇L — the gradient: steepest-ascent direction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can't solve it in closed form, so we descend iteratively.</a:t>
            </a:r>
            <a:endParaRPr lang="en-US" sz="1500" dirty="0"/>
          </a:p>
        </p:txBody>
      </p:sp>
      <p:pic>
        <p:nvPicPr>
          <p:cNvPr id="9" name="Image 1" descr="figs/landscape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405" y="1737360"/>
            <a:ext cx="4219431" cy="42976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72200" y="59893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non-convex loss surface: valleys, ridges, and a single global minimum (★).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 ·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THREADED THROUGH EVERY EXPERIMENT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toy dataset</a:t>
            </a:r>
            <a:endParaRPr lang="en-US" sz="3200" dirty="0"/>
          </a:p>
        </p:txBody>
      </p:sp>
      <p:pic>
        <p:nvPicPr>
          <p:cNvPr id="4" name="Image 0" descr="figs/toy_data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212080" cy="43491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1645920"/>
            <a:ext cx="5623560" cy="4389120"/>
          </a:xfrm>
          <a:prstGeom prst="roundRect">
            <a:avLst>
              <a:gd name="adj" fmla="val 1875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0936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toy dataset?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355080" y="233172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that the loss surface is exactly computable and contour-plottable.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Two-feature logistic regression → the loss lives in 2-D (w₁, w₂), so we can watch optimizers move.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12-feature version (1,500 points) drives the numerical convergence results later.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data, real gradients — every trajectory in this deck is an actual run, not a sketch.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5257800"/>
            <a:ext cx="5074920" cy="594360"/>
          </a:xfrm>
          <a:prstGeom prst="roundRect">
            <a:avLst>
              <a:gd name="adj" fmla="val 12308"/>
            </a:avLst>
          </a:prstGeom>
          <a:solidFill>
            <a:srgbClr val="E9F0F6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52578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setup:  </a:t>
            </a:r>
            <a:r>
              <a:rPr lang="en-US" sz="12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2 classes · standardized features · convex loss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 ·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EVERYTHING THAT FOLLOWS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step in the direction of steepest descent — the negative gradient — scaled by a learning rate η: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49377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pic>
        <p:nvPicPr>
          <p:cNvPr id="7" name="Image 0" descr="eq/g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852928"/>
            <a:ext cx="4412522" cy="6492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840480"/>
            <a:ext cx="49377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too small → painfully slow convergence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too large → overshoot, oscillate, diverge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FULL dataset for each step (batch GD)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knob η dominates behaviour — so we study it first.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0E1B2E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intuition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537960" y="23774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on a foggy hillside and can only feel the slope under your feet. Take a step downhill. Feel again. Repeat.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37960" y="361188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is that local slope. The learning rate is your stride length. Too timid and you crawl; too bold and you tumble past the valley floor.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37960" y="5394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E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= η   ·   slope = ∇L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 ·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HYPERPARAMETER YOU WILL EVER TUNE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descent: the learning rate decides everything</a:t>
            </a:r>
            <a:endParaRPr lang="en-US" sz="3200" dirty="0"/>
          </a:p>
        </p:txBody>
      </p:sp>
      <p:pic>
        <p:nvPicPr>
          <p:cNvPr id="4" name="Image 0" descr="figs/gd_l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11155680" cy="35457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57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small:  </a:t>
            </a: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but crawls.     </a:t>
            </a: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Well-tuned:  </a:t>
            </a: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brisk, controlled zig-zag into the minimum.     </a:t>
            </a: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large:  </a:t>
            </a: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overshoots and diverges.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 ·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THREE RUNS, AS LOSS CURVES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convergence on a log scale</a:t>
            </a:r>
            <a:endParaRPr lang="en-US" sz="3200" dirty="0"/>
          </a:p>
        </p:txBody>
      </p:sp>
      <p:pic>
        <p:nvPicPr>
          <p:cNvPr id="4" name="Image 0" descr="figs/gd_lr_con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6583680" cy="392307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1737360"/>
            <a:ext cx="4251960" cy="41148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35240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curves tell you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80960" y="2377440"/>
            <a:ext cx="3749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 line on a log-loss plot = geometric (linear) convergence.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 slope = faster convergence per iteration.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well-tuned rate reaches machine-precision loss; the tiny rate is still far from it.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oversized rate curve turns upward — the tell-tale of divergence.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 ·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PLAIN GRADIENT DESCENT STRUGGLES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Conditioning: the zig-zag problem</a:t>
            </a:r>
            <a:endParaRPr lang="en-US" sz="3200" dirty="0"/>
          </a:p>
        </p:txBody>
      </p:sp>
      <p:pic>
        <p:nvPicPr>
          <p:cNvPr id="4" name="Image 0" descr="figs/conditio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7223760" cy="270484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737360"/>
            <a:ext cx="3657600" cy="4114800"/>
          </a:xfrm>
          <a:prstGeom prst="roundRect">
            <a:avLst>
              <a:gd name="adj" fmla="val 2250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 number κ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75320" y="2377440"/>
            <a:ext cx="32004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ratio of steepest to flattest curvature.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κ → long narrow valley.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bounces across the steep walls while barely moving along the floor.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that are safe across the valley are far too small along it.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&amp; adaptive methods exist largely to fix this.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 ·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EXACTNESS FOR SPEED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Batch, mini-batch, and stochastic</a:t>
            </a:r>
            <a:endParaRPr lang="en-US" sz="3200" dirty="0"/>
          </a:p>
        </p:txBody>
      </p:sp>
      <p:pic>
        <p:nvPicPr>
          <p:cNvPr id="4" name="Image 0" descr="figs/batch_vs_sg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120640" cy="39842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645920"/>
            <a:ext cx="5715000" cy="4389120"/>
          </a:xfrm>
          <a:prstGeom prst="roundRect">
            <a:avLst>
              <a:gd name="adj" fmla="val 1875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data per step?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263640" y="2331720"/>
            <a:ext cx="51206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Full-batch: exact gradient from all N points. Smooth path, but every step is expensive.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(SGD): one point per step. Cheap and noisy — the path jitters.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Mini-batch: b points per step (b = 32–512). The practical sweet spot everyone uses.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noise isn't only a cost — it helps escape bad regions and generalize.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 ·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WORKHORSE OF DEEP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 gradient descent (SGD)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full gradient with the gradient of a random mini-batch 𝓑ₜ: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49377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pic>
        <p:nvPicPr>
          <p:cNvPr id="7" name="Image 0" descr="eq/sg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578608"/>
            <a:ext cx="4209927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47472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an unbiased but noisy estimate of the true gradient.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scale shrinks as batch size grows.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η leaves a residual 'noise ball' around the minimum — motivating LR decay (Lecture 2).</a:t>
            </a:r>
            <a:endParaRPr lang="en-US" sz="1500" dirty="0"/>
          </a:p>
        </p:txBody>
      </p:sp>
      <p:pic>
        <p:nvPicPr>
          <p:cNvPr id="9" name="Image 1" descr="figs/batch_noi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91640"/>
            <a:ext cx="5577840" cy="33237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0" y="59436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batches → smoother loss curves; b = 1 is the jittery extreme.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 ·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OPTIMIZER INERTIA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Momentum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a velocity — an exponentially-decaying average of past gradients — and step with it: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49377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pic>
        <p:nvPicPr>
          <p:cNvPr id="7" name="Image 0" descr="eq/moment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879834"/>
            <a:ext cx="4535424" cy="3668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61188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directions build speed; oscillating ones cancel out.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(typically 0.9) sets how much past velocity carries over.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heavy ball rolling downhill — it powers through the zig-zag.</a:t>
            </a:r>
            <a:endParaRPr lang="en-US" sz="1500" dirty="0"/>
          </a:p>
        </p:txBody>
      </p:sp>
      <p:pic>
        <p:nvPicPr>
          <p:cNvPr id="9" name="Image 1" descr="figs/moment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91640"/>
            <a:ext cx="5577840" cy="392847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0" y="59436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staircases across the valley; momentum damps the crossing and reaches the floor sooner.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 ·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THE MEMORY OF THE VELOCITY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momentum coefficient β</a:t>
            </a:r>
            <a:endParaRPr lang="en-US" sz="3200" dirty="0"/>
          </a:p>
        </p:txBody>
      </p:sp>
      <p:pic>
        <p:nvPicPr>
          <p:cNvPr id="4" name="Image 0" descr="figs/momentum_b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6583680" cy="392658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1737360"/>
            <a:ext cx="4251960" cy="41148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35240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β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80960" y="2377440"/>
            <a:ext cx="3749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 → plain gradient descent.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0.9 → ~10-step effective memory; the common default.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→ 0.99 → very long memory, faster on smooth valleys but risks overshoot.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horizon ≈ 1 / (1 − β).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 ·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BEFORE YOU LEAP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Nesterov accelerated gradient (NAG)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gradient at the look-ahead point θ + βv, where momentum is about to carry you: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49377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pic>
        <p:nvPicPr>
          <p:cNvPr id="7" name="Image 0" descr="eq/n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964707"/>
            <a:ext cx="4535424" cy="2885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70332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steps, then corrects; Nesterov peeks first, then steps.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foresight lets it brake earlier before overshooting.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theoretical convergence rate on convex problems.</a:t>
            </a:r>
            <a:endParaRPr lang="en-US" sz="1500" dirty="0"/>
          </a:p>
        </p:txBody>
      </p:sp>
      <p:pic>
        <p:nvPicPr>
          <p:cNvPr id="9" name="Image 1" descr="figs/n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91640"/>
            <a:ext cx="5577840" cy="392847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0" y="59436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Rosenbrock valley, Nesterov's look-ahead tracks the curve more tightly.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 ·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IN ONE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First-order methods: the family so far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315200" cy="32918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idea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descent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along −∇L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(the baseline)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F37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−∇L on a mini-batch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step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7209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 of gradients as velocity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zig-zag, slow valleys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B517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Nesterov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at the look-ahead point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overshoot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73736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0E1B2E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6676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through-line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412480" y="2423160"/>
            <a:ext cx="31089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'feel the slope, take a step'.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adds memory of direction.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b="1" dirty="0">
                <a:solidFill>
                  <a:srgbClr val="E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one global η for all parameters.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give every parameter its own rate.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· recap   ·  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108960" cy="310896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-1417320"/>
            <a:ext cx="3749040" cy="374904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-1737360"/>
            <a:ext cx="4389120" cy="438912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-2057400"/>
            <a:ext cx="5029200" cy="502920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-2377440"/>
            <a:ext cx="5669280" cy="566928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Evolution in the Machinery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Methods</a:t>
            </a:r>
            <a:endParaRPr lang="en-US" sz="4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Learning-Rate Scheduling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learning rate per parameter — and how to change it over time.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PARAMETERS NEED DIFFERENT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adapt the rate per parameter?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features are frequent, some rare; some directions steep, some flat.</a:t>
            </a:r>
            <a:endParaRPr lang="en-US" sz="155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η is a compromise that suits none of them.</a:t>
            </a:r>
            <a:endParaRPr lang="en-US" sz="155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scale each parameter's step by its own gradient history.</a:t>
            </a:r>
            <a:endParaRPr lang="en-US" sz="155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past gradients → take smaller steps (damp the steep directions).</a:t>
            </a:r>
            <a:endParaRPr lang="en-US" sz="155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past gradients → take larger steps (accelerate the flat directions).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172200" y="164592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0E1B2E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920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adaptive family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46520" y="24231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Adagrad  </a:t>
            </a:r>
            <a:r>
              <a:rPr lang="en-US" sz="15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accumulate all squared gradients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3246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  </a:t>
            </a:r>
            <a:r>
              <a:rPr lang="en-US" sz="15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 a decaying average instead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40690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Adadelta  </a:t>
            </a:r>
            <a:r>
              <a:rPr lang="en-US" sz="15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remove η with a ratio of averages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48920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</a:t>
            </a:r>
            <a:r>
              <a:rPr lang="en-US" sz="15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RMSprop + momentum + bias fix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ADAPTIVE 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Adagrad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the sum of squared gradients per parameter, and divide the step by its square root: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651760"/>
            <a:ext cx="49377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pic>
        <p:nvPicPr>
          <p:cNvPr id="7" name="Image 0" descr="eq/ada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850915"/>
            <a:ext cx="4535424" cy="5160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70332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parameter gets an individually-scaled learning rate.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sparse features (rare features keep large steps).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(~1e-8) only prevents division by zero.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Weakness: Gₜ only grows → the rate can vanish.</a:t>
            </a:r>
            <a:endParaRPr lang="en-US" sz="1500" dirty="0"/>
          </a:p>
        </p:txBody>
      </p:sp>
      <p:pic>
        <p:nvPicPr>
          <p:cNvPr id="9" name="Image 1" descr="figs/adagrad_conto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737360"/>
            <a:ext cx="5577840" cy="39932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0" y="59436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Adagrad heads straight down the scaled directions on the toy quadratic.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ADAGRAD'S ACHILLES HEEL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vanishing learning rate</a:t>
            </a:r>
            <a:endParaRPr lang="en-US" sz="3200" dirty="0"/>
          </a:p>
        </p:txBody>
      </p:sp>
      <p:pic>
        <p:nvPicPr>
          <p:cNvPr id="4" name="Image 0" descr="figs/adagrad_dec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6583680" cy="392307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1737360"/>
            <a:ext cx="4251960" cy="41148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35240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stalls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80960" y="2377440"/>
            <a:ext cx="3749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Gₜ is a running sum that only ever increases.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effective step η/√Gₜ shrinks toward zero — permanently.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long training runs the model effectively stops learning.</a:t>
            </a:r>
            <a:endParaRPr lang="en-US" sz="14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forget old gradients with a decaying average → RMSprop.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ADAGRAD, BUT IT FORGETS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RMSprop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growing sum with an exponentially-decaying average of squared gradients: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49377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pic>
        <p:nvPicPr>
          <p:cNvPr id="7" name="Image 0" descr="eq/rmsp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853650"/>
            <a:ext cx="4535424" cy="373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61188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(≈0.9) sets how fast old gradients are forgotten.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effective rate stays healthy — no vanishing.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non-stationary, noisy objectives well.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de-facto standard before Adam arrived.</a:t>
            </a:r>
            <a:endParaRPr lang="en-US" sz="1500" dirty="0"/>
          </a:p>
        </p:txBody>
      </p:sp>
      <p:pic>
        <p:nvPicPr>
          <p:cNvPr id="9" name="Image 1" descr="figs/rmsprop_conto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737360"/>
            <a:ext cx="5577840" cy="39932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0" y="59436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 keeps a steady, well-scaled step all the way in.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MEETS RMSPROP — THE DEFAULT OPTIMIZER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806440" cy="4526280"/>
          </a:xfrm>
          <a:prstGeom prst="roundRect">
            <a:avLst>
              <a:gd name="adj" fmla="val 1818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Track EMAs of the gradient (m) and its square (v):</a:t>
            </a:r>
            <a:endParaRPr lang="en-US" sz="1450" dirty="0"/>
          </a:p>
        </p:txBody>
      </p:sp>
      <p:pic>
        <p:nvPicPr>
          <p:cNvPr id="6" name="Image 0" descr="eq/adam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37761"/>
            <a:ext cx="5349240" cy="32507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Bias-correct both (they start at zero):</a:t>
            </a:r>
            <a:endParaRPr lang="en-US" sz="1450" dirty="0"/>
          </a:p>
        </p:txBody>
      </p:sp>
      <p:pic>
        <p:nvPicPr>
          <p:cNvPr id="8" name="Image 1" descr="eq/adam_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127248"/>
            <a:ext cx="2883018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3749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Step with the momentum, scaled by the magnitude:</a:t>
            </a:r>
            <a:endParaRPr lang="en-US" sz="1450" dirty="0"/>
          </a:p>
        </p:txBody>
      </p:sp>
      <p:pic>
        <p:nvPicPr>
          <p:cNvPr id="10" name="Image 2" descr="eq/adam_up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114800"/>
            <a:ext cx="2375273" cy="64008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2960" y="502920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E9F0F6"/>
          </a:solidFill>
          <a:ln/>
        </p:spPr>
      </p:sp>
      <p:sp>
        <p:nvSpPr>
          <p:cNvPr id="12" name="Text 7"/>
          <p:cNvSpPr/>
          <p:nvPr/>
        </p:nvSpPr>
        <p:spPr>
          <a:xfrm>
            <a:off x="1005840" y="50292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that 'just work':  </a:t>
            </a:r>
            <a:r>
              <a:rPr lang="en-US" sz="14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β₁=0.9,  β₂=0.999,  ε=1e-8</a:t>
            </a:r>
            <a:endParaRPr lang="en-US" sz="1400" dirty="0"/>
          </a:p>
        </p:txBody>
      </p:sp>
      <p:pic>
        <p:nvPicPr>
          <p:cNvPr id="13" name="Image 3" descr="figs/adam_contou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691640"/>
            <a:ext cx="5303520" cy="37968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55080" y="5897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glides in with momentum, scaled per-direction like RMSprop.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LINEUP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Adam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79192" cy="4023360"/>
          </a:xfrm>
          <a:prstGeom prst="roundRect">
            <a:avLst>
              <a:gd name="adj" fmla="val 3072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60604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weight decay from the gradient step. The current default for training transformers.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46704" y="1737360"/>
            <a:ext cx="2679192" cy="4023360"/>
          </a:xfrm>
          <a:prstGeom prst="roundRect">
            <a:avLst>
              <a:gd name="adj" fmla="val 3072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75304" y="1965960"/>
            <a:ext cx="457200" cy="457200"/>
          </a:xfrm>
          <a:prstGeom prst="ellipse">
            <a:avLst/>
          </a:prstGeom>
          <a:solidFill>
            <a:srgbClr val="7209B7"/>
          </a:solidFill>
          <a:ln/>
        </p:spPr>
      </p:sp>
      <p:sp>
        <p:nvSpPr>
          <p:cNvPr id="10" name="Text 8"/>
          <p:cNvSpPr/>
          <p:nvPr/>
        </p:nvSpPr>
        <p:spPr>
          <a:xfrm>
            <a:off x="3483864" y="260604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29584" y="310896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with Nesterov-style look-ahead momentum. Slightly faster on some problems.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44768" y="1737360"/>
            <a:ext cx="2679192" cy="4023360"/>
          </a:xfrm>
          <a:prstGeom prst="roundRect">
            <a:avLst>
              <a:gd name="adj" fmla="val 3072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73368" y="1965960"/>
            <a:ext cx="457200" cy="457200"/>
          </a:xfrm>
          <a:prstGeom prst="ellipse">
            <a:avLst/>
          </a:prstGeom>
          <a:solidFill>
            <a:srgbClr val="277DA1"/>
          </a:solidFill>
          <a:ln/>
        </p:spPr>
      </p:sp>
      <p:sp>
        <p:nvSpPr>
          <p:cNvPr id="14" name="Text 12"/>
          <p:cNvSpPr/>
          <p:nvPr/>
        </p:nvSpPr>
        <p:spPr>
          <a:xfrm>
            <a:off x="6281928" y="260604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AMSGrad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27648" y="310896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max of past v to guarantee non-increasing effective rates and fix a convergence gap.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42832" y="1737360"/>
            <a:ext cx="2679192" cy="4023360"/>
          </a:xfrm>
          <a:prstGeom prst="roundRect">
            <a:avLst>
              <a:gd name="adj" fmla="val 3072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71432" y="1965960"/>
            <a:ext cx="457200" cy="457200"/>
          </a:xfrm>
          <a:prstGeom prst="ellipse">
            <a:avLst/>
          </a:prstGeom>
          <a:solidFill>
            <a:srgbClr val="E1912B"/>
          </a:solidFill>
          <a:ln/>
        </p:spPr>
      </p:sp>
      <p:sp>
        <p:nvSpPr>
          <p:cNvPr id="18" name="Text 16"/>
          <p:cNvSpPr/>
          <p:nvPr/>
        </p:nvSpPr>
        <p:spPr>
          <a:xfrm>
            <a:off x="9079992" y="260604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Lion / Sophia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125712" y="3108960"/>
            <a:ext cx="2331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sign- and curvature-based optimizers aiming to beat AdamW at scale.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23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ON THE HARDEST CLASSIC TEST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Showdown: the Rosenbrock valley</a:t>
            </a:r>
            <a:endParaRPr lang="en-US" sz="3200" dirty="0"/>
          </a:p>
        </p:txBody>
      </p:sp>
      <p:pic>
        <p:nvPicPr>
          <p:cNvPr id="4" name="Image 0" descr="figs/all_ros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5674392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680" y="1737360"/>
            <a:ext cx="3931920" cy="4160520"/>
          </a:xfrm>
          <a:prstGeom prst="roundRect">
            <a:avLst>
              <a:gd name="adj" fmla="val 2093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loss after 400 steps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955280" y="2404872"/>
            <a:ext cx="201168" cy="201168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8" name="Text 5"/>
          <p:cNvSpPr/>
          <p:nvPr/>
        </p:nvSpPr>
        <p:spPr>
          <a:xfrm>
            <a:off x="8247888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966960" y="2331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2.9e-1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955280" y="2916936"/>
            <a:ext cx="201168" cy="201168"/>
          </a:xfrm>
          <a:prstGeom prst="rect">
            <a:avLst/>
          </a:prstGeom>
          <a:solidFill>
            <a:srgbClr val="7209B7"/>
          </a:solidFill>
          <a:ln/>
        </p:spPr>
      </p:sp>
      <p:sp>
        <p:nvSpPr>
          <p:cNvPr id="11" name="Text 8"/>
          <p:cNvSpPr/>
          <p:nvPr/>
        </p:nvSpPr>
        <p:spPr>
          <a:xfrm>
            <a:off x="8247888" y="28437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966960" y="284378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3.3e-2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955280" y="3429000"/>
            <a:ext cx="201168" cy="201168"/>
          </a:xfrm>
          <a:prstGeom prst="rect">
            <a:avLst/>
          </a:prstGeom>
          <a:solidFill>
            <a:srgbClr val="B5179E"/>
          </a:solidFill>
          <a:ln/>
        </p:spPr>
      </p:sp>
      <p:sp>
        <p:nvSpPr>
          <p:cNvPr id="14" name="Text 11"/>
          <p:cNvSpPr/>
          <p:nvPr/>
        </p:nvSpPr>
        <p:spPr>
          <a:xfrm>
            <a:off x="8247888" y="33558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966960" y="335584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1.9e-1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955280" y="3941064"/>
            <a:ext cx="201168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Text 14"/>
          <p:cNvSpPr/>
          <p:nvPr/>
        </p:nvSpPr>
        <p:spPr>
          <a:xfrm>
            <a:off x="8247888" y="38679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966960" y="386791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4.1e+0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955280" y="4453128"/>
            <a:ext cx="201168" cy="201168"/>
          </a:xfrm>
          <a:prstGeom prst="rect">
            <a:avLst/>
          </a:prstGeom>
          <a:solidFill>
            <a:srgbClr val="277DA1"/>
          </a:solidFill>
          <a:ln/>
        </p:spPr>
      </p:sp>
      <p:sp>
        <p:nvSpPr>
          <p:cNvPr id="20" name="Text 17"/>
          <p:cNvSpPr/>
          <p:nvPr/>
        </p:nvSpPr>
        <p:spPr>
          <a:xfrm>
            <a:off x="8247888" y="437997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966960" y="4379976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4.7e+0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955280" y="4965192"/>
            <a:ext cx="201168" cy="2011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3" name="Text 20"/>
          <p:cNvSpPr/>
          <p:nvPr/>
        </p:nvSpPr>
        <p:spPr>
          <a:xfrm>
            <a:off x="8247888" y="4892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Adagrad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966960" y="4892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5.9e+0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7955280" y="54406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&amp; momentum ride the curved floor; GD thrashes across the walls.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CONVERGES — BUT NOT EQUALLY FAST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Showdown: the Beale function</a:t>
            </a:r>
            <a:endParaRPr lang="en-US" sz="3200" dirty="0"/>
          </a:p>
        </p:txBody>
      </p:sp>
      <p:pic>
        <p:nvPicPr>
          <p:cNvPr id="4" name="Image 0" descr="figs/all_be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5674392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680" y="1737360"/>
            <a:ext cx="3931920" cy="4160520"/>
          </a:xfrm>
          <a:prstGeom prst="roundRect">
            <a:avLst>
              <a:gd name="adj" fmla="val 2093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loss after 800 steps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955280" y="2404872"/>
            <a:ext cx="201168" cy="201168"/>
          </a:xfrm>
          <a:prstGeom prst="rect">
            <a:avLst/>
          </a:prstGeom>
          <a:solidFill>
            <a:srgbClr val="111318"/>
          </a:solidFill>
          <a:ln/>
        </p:spPr>
      </p:sp>
      <p:sp>
        <p:nvSpPr>
          <p:cNvPr id="8" name="Text 5"/>
          <p:cNvSpPr/>
          <p:nvPr/>
        </p:nvSpPr>
        <p:spPr>
          <a:xfrm>
            <a:off x="8247888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966960" y="23317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3.6e-30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955280" y="2916936"/>
            <a:ext cx="201168" cy="2011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8"/>
          <p:cNvSpPr/>
          <p:nvPr/>
        </p:nvSpPr>
        <p:spPr>
          <a:xfrm>
            <a:off x="8247888" y="28437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Adagrad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966960" y="284378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1.5e-10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955280" y="3429000"/>
            <a:ext cx="201168" cy="201168"/>
          </a:xfrm>
          <a:prstGeom prst="rect">
            <a:avLst/>
          </a:prstGeom>
          <a:solidFill>
            <a:srgbClr val="7209B7"/>
          </a:solidFill>
          <a:ln/>
        </p:spPr>
      </p:sp>
      <p:sp>
        <p:nvSpPr>
          <p:cNvPr id="14" name="Text 11"/>
          <p:cNvSpPr/>
          <p:nvPr/>
        </p:nvSpPr>
        <p:spPr>
          <a:xfrm>
            <a:off x="8247888" y="33558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966960" y="335584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3.7e-4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955280" y="3941064"/>
            <a:ext cx="201168" cy="201168"/>
          </a:xfrm>
          <a:prstGeom prst="rect">
            <a:avLst/>
          </a:prstGeom>
          <a:solidFill>
            <a:srgbClr val="B5179E"/>
          </a:solidFill>
          <a:ln/>
        </p:spPr>
      </p:sp>
      <p:sp>
        <p:nvSpPr>
          <p:cNvPr id="17" name="Text 14"/>
          <p:cNvSpPr/>
          <p:nvPr/>
        </p:nvSpPr>
        <p:spPr>
          <a:xfrm>
            <a:off x="8247888" y="386791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966960" y="386791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1.2e-3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955280" y="4453128"/>
            <a:ext cx="201168" cy="201168"/>
          </a:xfrm>
          <a:prstGeom prst="rect">
            <a:avLst/>
          </a:prstGeom>
          <a:solidFill>
            <a:srgbClr val="277DA1"/>
          </a:solidFill>
          <a:ln/>
        </p:spPr>
      </p:sp>
      <p:sp>
        <p:nvSpPr>
          <p:cNvPr id="20" name="Text 17"/>
          <p:cNvSpPr/>
          <p:nvPr/>
        </p:nvSpPr>
        <p:spPr>
          <a:xfrm>
            <a:off x="8247888" y="437997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966960" y="4379976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7.8e-3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7955280" y="4965192"/>
            <a:ext cx="201168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3" name="Text 20"/>
          <p:cNvSpPr/>
          <p:nvPr/>
        </p:nvSpPr>
        <p:spPr>
          <a:xfrm>
            <a:off x="8247888" y="48920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966960" y="4892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5.9e-2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7955280" y="54406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same start, adaptive methods reach the minimum (3, 0.5) orders of magnitude closer.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ENEMY IN HIGH DIMENSIONS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Escaping saddle points</a:t>
            </a:r>
            <a:endParaRPr lang="en-US" sz="3200" dirty="0"/>
          </a:p>
        </p:txBody>
      </p:sp>
      <p:pic>
        <p:nvPicPr>
          <p:cNvPr id="4" name="Image 0" descr="figs/all_sadd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5674392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737360"/>
            <a:ext cx="4114800" cy="416052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saddles matter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818120" y="2377440"/>
            <a:ext cx="3657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 dimensions, saddle points vastly outnumber local minima.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a saddle the gradient is tiny — plain GD crawls and can stall.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carries speed through the flat region.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scaling amplifies the small escape direction.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12-FEATURE TOY DATASET — REAL TRAINING RUNS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Convergence speed, side by side</a:t>
            </a:r>
            <a:endParaRPr lang="en-US" sz="3200" dirty="0"/>
          </a:p>
        </p:txBody>
      </p:sp>
      <p:pic>
        <p:nvPicPr>
          <p:cNvPr id="4" name="Image 0" descr="figs/convergence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7040880" cy="427016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737360"/>
            <a:ext cx="3840480" cy="4114800"/>
          </a:xfrm>
          <a:prstGeom prst="roundRect">
            <a:avLst>
              <a:gd name="adj" fmla="val 2143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4672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plot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092440" y="2377440"/>
            <a:ext cx="333756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 is the optimality gap L(θ) − L* on a log scale.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and steeper = faster.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descends smoothly to the lowest gap.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noise shows as the wiggle everyone shares.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converge — this loss is convex — so it's a race, not a survival test.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27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BEHIND THE CURVES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results: optimizers</a:t>
            </a:r>
            <a:endParaRPr lang="en-US" sz="3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8503920" cy="396849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@ epoch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 to gap&lt;0.01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loss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372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0.3633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87.1%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7209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0.3655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B517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0.3646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Adagrad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0.0357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0.3648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77D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RMSprop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0.3630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87.6%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11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0.0448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4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0.3643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281160" y="1783080"/>
            <a:ext cx="2377440" cy="3703320"/>
          </a:xfrm>
          <a:prstGeom prst="roundRect">
            <a:avLst>
              <a:gd name="adj" fmla="val 3462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464040" y="1965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509760" y="2377440"/>
            <a:ext cx="21031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minimum for all (convex).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/ NAG reach it fastest.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ties — speed differs.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 dataset: 1,500 samples · 12 features · mini-batch = 64 · L* ≈ 0.362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28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108960" cy="310896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-1417320"/>
            <a:ext cx="3749040" cy="374904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-1737360"/>
            <a:ext cx="4389120" cy="438912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-2057400"/>
            <a:ext cx="5029200" cy="502920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-2377440"/>
            <a:ext cx="5669280" cy="566928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Evolution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Learning-Rate Scheduling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pick η — change it over training.</a:t>
            </a:r>
            <a:endParaRPr lang="en-US" sz="1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STEPS EARLY, SMALL STEPS LATE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schedule the learning rate?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32120" cy="4297680"/>
          </a:xfrm>
          <a:prstGeom prst="roundRect">
            <a:avLst>
              <a:gd name="adj" fmla="val 1915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51206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training: you're far away — take big steps to make progress fast.</a:t>
            </a:r>
            <a:endParaRPr lang="en-US" sz="155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training: you're near the minimum — big steps overshoot and bounce.</a:t>
            </a:r>
            <a:endParaRPr lang="en-US" sz="155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SGD's noise ball: its radius ∝ η. Shrinking η shrinks the ball to a point.</a:t>
            </a:r>
            <a:endParaRPr lang="en-US" sz="1550" dirty="0"/>
          </a:p>
          <a:p>
            <a:pPr marL="177800" indent="-177800">
              <a:lnSpc>
                <a:spcPct val="102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 gives you the best of both: speed then precision.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0E1B2E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trade-off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3796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834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progress, noisy, imprecise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precise, stable, but slow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37960" y="443484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14263F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4434840"/>
            <a:ext cx="4572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 = start high, decay low. Get the fast progress first, then settle in precisely.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DECAYS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decay &amp; exponential decay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pic>
        <p:nvPicPr>
          <p:cNvPr id="5" name="Image 0" descr="figs/lr_st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907" y="1874520"/>
            <a:ext cx="4955867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280160" y="5074920"/>
            <a:ext cx="402336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pic>
        <p:nvPicPr>
          <p:cNvPr id="7" name="Image 1" descr="eq/sched_st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1328" y="5184648"/>
            <a:ext cx="1756924" cy="4663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72200" y="164592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pic>
        <p:nvPicPr>
          <p:cNvPr id="9" name="Image 2" descr="figs/lr_ex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467" y="1874520"/>
            <a:ext cx="4955867" cy="31089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315200" y="5074920"/>
            <a:ext cx="320040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pic>
        <p:nvPicPr>
          <p:cNvPr id="11" name="Image 3" descr="eq/sched_ex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5184648"/>
            <a:ext cx="1729060" cy="4663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31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DEFAULT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annealing</a:t>
            </a:r>
            <a:endParaRPr lang="en-US" sz="3200" dirty="0"/>
          </a:p>
        </p:txBody>
      </p:sp>
      <p:pic>
        <p:nvPicPr>
          <p:cNvPr id="4" name="Image 0" descr="figs/lr_cos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035040" cy="37859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12280" y="1691640"/>
            <a:ext cx="4846320" cy="4206240"/>
          </a:xfrm>
          <a:prstGeom prst="roundRect">
            <a:avLst>
              <a:gd name="adj" fmla="val 1957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popular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040880" y="2331720"/>
            <a:ext cx="438912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pic>
        <p:nvPicPr>
          <p:cNvPr id="8" name="Image 1" descr="eq/sched_c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48" y="2469704"/>
            <a:ext cx="3986784" cy="5012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86600" y="3200400"/>
            <a:ext cx="4297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Smoothly eases η from η₀ down to ~0 following a half-cosine.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Gentle at the start and end, fastest decay in the middle.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sharp drops to tune — just set the total length T.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warm restarts (SGDR), η jumps back up periodically to escape and re-explore.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32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LARGE-BATCH AND TRANSFORMER TRAINING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Warm-up + cosine</a:t>
            </a:r>
            <a:endParaRPr lang="en-US" sz="3200" dirty="0"/>
          </a:p>
        </p:txBody>
      </p:sp>
      <p:pic>
        <p:nvPicPr>
          <p:cNvPr id="4" name="Image 0" descr="figs/lr_warm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035040" cy="37859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12280" y="1691640"/>
            <a:ext cx="4846320" cy="4206240"/>
          </a:xfrm>
          <a:prstGeom prst="roundRect">
            <a:avLst>
              <a:gd name="adj" fmla="val 1957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warm up?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086600" y="2331720"/>
            <a:ext cx="4297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initialization the gradients are large and unreliable.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η immediately can blow the model up.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Linearly ramp η from ~0 to η₀ over the first few hundred steps.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hand off to cosine (or another) decay.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 training BERT, GPT-style models, and any large-batch setup.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33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RATE OSCILLATE ON PURPOSE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Cyclical &amp; one-cycle policies</a:t>
            </a:r>
            <a:endParaRPr lang="en-US" sz="3200" dirty="0"/>
          </a:p>
        </p:txBody>
      </p:sp>
      <p:pic>
        <p:nvPicPr>
          <p:cNvPr id="4" name="Image 0" descr="figs/lr_cycl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035040" cy="37859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12280" y="1691640"/>
            <a:ext cx="4846320" cy="4206240"/>
          </a:xfrm>
          <a:prstGeom prst="roundRect">
            <a:avLst>
              <a:gd name="adj" fmla="val 1957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0" y="1920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086600" y="2331720"/>
            <a:ext cx="42976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η between a low and high bound instead of only decaying.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phases power through saddles and flat regions.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phases let the model settle.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LR-range test finds good bounds automatically.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One-cycle: a single up-then-down sweep — often trains faster ('super-convergence').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34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FAMILIES, ONE AXIS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schedules at a glance</a:t>
            </a:r>
            <a:endParaRPr lang="en-US" sz="3200" dirty="0"/>
          </a:p>
        </p:txBody>
      </p:sp>
      <p:pic>
        <p:nvPicPr>
          <p:cNvPr id="4" name="Image 0" descr="figs/lr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7315200" cy="421564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737360"/>
            <a:ext cx="3566160" cy="4114800"/>
          </a:xfrm>
          <a:prstGeom prst="roundRect">
            <a:avLst>
              <a:gd name="adj" fmla="val 2308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2104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by need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66760" y="2377440"/>
            <a:ext cx="32004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— simple, strong baseline.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— smooth decay.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— modern default.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Warm-up+cosine — large models.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— escape + fast train.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35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OPTIMIZER, ONLY THE SCHEDULE CHANGES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changes the result</a:t>
            </a:r>
            <a:endParaRPr lang="en-US" sz="3200" dirty="0"/>
          </a:p>
        </p:txBody>
      </p:sp>
      <p:pic>
        <p:nvPicPr>
          <p:cNvPr id="4" name="Image 0" descr="figs/sched_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6858000" cy="402824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737360"/>
            <a:ext cx="4023360" cy="4160520"/>
          </a:xfrm>
          <a:prstGeom prst="roundRect">
            <a:avLst>
              <a:gd name="adj" fmla="val 2045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6384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optimality gap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863840" y="2404872"/>
            <a:ext cx="201168" cy="20116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5"/>
          <p:cNvSpPr/>
          <p:nvPr/>
        </p:nvSpPr>
        <p:spPr>
          <a:xfrm>
            <a:off x="813816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η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424160" y="2331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0.0091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863840" y="2971800"/>
            <a:ext cx="201168" cy="201168"/>
          </a:xfrm>
          <a:prstGeom prst="rect">
            <a:avLst/>
          </a:prstGeom>
          <a:solidFill>
            <a:srgbClr val="F3722C"/>
          </a:solidFill>
          <a:ln/>
        </p:spPr>
      </p:sp>
      <p:sp>
        <p:nvSpPr>
          <p:cNvPr id="11" name="Text 8"/>
          <p:cNvSpPr/>
          <p:nvPr/>
        </p:nvSpPr>
        <p:spPr>
          <a:xfrm>
            <a:off x="8138160" y="28986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decay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424160" y="28986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863840" y="3538728"/>
            <a:ext cx="201168" cy="2011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1"/>
          <p:cNvSpPr/>
          <p:nvPr/>
        </p:nvSpPr>
        <p:spPr>
          <a:xfrm>
            <a:off x="8138160" y="34655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0424160" y="346557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863840" y="42976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deliberately hot constant η bounces on the gradient noise and never settles. Decay drops it to the floor — a 10–100× smaller gap.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36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ACTUALLY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cheat-sheet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39112"/>
            <a:ext cx="310896" cy="31089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91109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starting point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22860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+ cosine schedule with a short warm-up. Robust across most tasks.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2039112"/>
            <a:ext cx="310896" cy="310896"/>
          </a:xfrm>
          <a:prstGeom prst="ellipse">
            <a:avLst/>
          </a:prstGeom>
          <a:solidFill>
            <a:srgbClr val="277DA1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191109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Convex / classical ML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12280" y="228600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or L-BFGS; well-tuned SGD is hard to beat and generalizes well.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456432"/>
            <a:ext cx="310896" cy="310896"/>
          </a:xfrm>
          <a:prstGeom prst="ellipse">
            <a:avLst/>
          </a:prstGeom>
          <a:solidFill>
            <a:srgbClr val="7209B7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32841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a transformer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7033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warm-up then cosine/linear decay — warm-up is non-negotiable.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20040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3456432"/>
            <a:ext cx="310896" cy="310896"/>
          </a:xfrm>
          <a:prstGeom prst="ellipse">
            <a:avLst/>
          </a:prstGeom>
          <a:solidFill>
            <a:srgbClr val="E1912B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332841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37033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η (1e-5–1e-4), short schedule, sometimes just constant + decay at the end.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873752"/>
            <a:ext cx="310896" cy="3108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474573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it diverges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51206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η first; add/extend warm-up; clip gradients; check data scaling.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72200" y="4617720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4873752"/>
            <a:ext cx="310896" cy="310896"/>
          </a:xfrm>
          <a:prstGeom prst="ellipse">
            <a:avLst/>
          </a:prstGeom>
          <a:solidFill>
            <a:srgbClr val="B5179E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4745736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it's too slow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51206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η (do an LR-range test); add momentum; try a cyclical/one-cycle policy.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37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TRAPS AND THE BIG PICTURE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 &amp;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532120" cy="4297680"/>
          </a:xfrm>
          <a:prstGeom prst="roundRect">
            <a:avLst>
              <a:gd name="adj" fmla="val 1915"/>
            </a:avLst>
          </a:prstGeom>
          <a:solidFill>
            <a:srgbClr val="F4F7FB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to avoid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1206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tuning η — it dominates everything else.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scale/standardize inputs (wrecks conditioning).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optimizers at one shared η — each has its own sweet spot.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warm-up on large models.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4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loss on a linear axis — always use log.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0E1B2E"/>
          </a:solidFill>
          <a:ln w="12700">
            <a:solidFill>
              <a:srgbClr val="D3DCE6"/>
            </a:solidFill>
            <a:prstDash val="solid"/>
          </a:ln>
          <a:effectLst>
            <a:outerShdw blurRad="88900" dist="38100" dir="5400000" algn="bl" rotWithShape="0">
              <a:srgbClr val="9AA7B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one-slide summary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4892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= descend a loss surface with local gradients.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adds direction memory; adaptive methods add per-parameter scaling.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E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Adam(W) = momentum + RMSprop + bias fix — the default.</a:t>
            </a:r>
            <a:endParaRPr lang="en-US" sz="1450" dirty="0"/>
          </a:p>
          <a:p>
            <a:pPr marL="177800" indent="-177800">
              <a:lnSpc>
                <a:spcPct val="102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schedule η: high for speed, low for precision.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Algorithms for 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0" y="6510528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 ·   38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108960" cy="310896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-1417320"/>
            <a:ext cx="3749040" cy="374904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-1737360"/>
            <a:ext cx="4389120" cy="438912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0" y="-2057400"/>
            <a:ext cx="5029200" cy="502920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-2377440"/>
            <a:ext cx="5669280" cy="5669280"/>
          </a:xfrm>
          <a:prstGeom prst="ellipse">
            <a:avLst/>
          </a:prstGeom>
          <a:ln w="17780">
            <a:solidFill>
              <a:srgbClr val="2234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descends a gradient —</a:t>
            </a:r>
            <a:endParaRPr lang="en-US" sz="3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art is how you take the step.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→ SGD → Momentum → Nesterov: first-order foundations.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Adagrad → RMSprop → Adam(W): per-parameter adaptation.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7D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Learning-rate schedules turn a good optimizer into a great training run.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E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reading:  Ruder (2016), "An overview of gradient descent optimization algorithms"  ·  Goodfellow, Bengio &amp; Courville, Deep Learning, ch. 8  ·  Kingma &amp; Ba (2015), "Adam"  ·  Loshchilov &amp; Hutter, "SGDR" and "AdamW"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5015</Words>
  <Application>Microsoft Office PowerPoint</Application>
  <PresentationFormat>Widescreen</PresentationFormat>
  <Paragraphs>507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Tanveer Ahmed</cp:lastModifiedBy>
  <cp:revision>2</cp:revision>
  <dcterms:created xsi:type="dcterms:W3CDTF">2026-08-15T14:55:37Z</dcterms:created>
  <dcterms:modified xsi:type="dcterms:W3CDTF">2026-08-17T03:08:08Z</dcterms:modified>
</cp:coreProperties>
</file>