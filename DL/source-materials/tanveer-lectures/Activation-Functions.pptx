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3" r:id="rId18"/>
    <p:sldId id="274" r:id="rId19"/>
    <p:sldId id="275" r:id="rId20"/>
    <p:sldId id="276" r:id="rId21"/>
    <p:sldId id="277" r:id="rId22"/>
    <p:sldId id="278" r:id="rId23"/>
    <p:sldId id="279" r:id="rId24"/>
    <p:sldId id="280" r:id="rId25"/>
    <p:sldId id="281" r:id="rId26"/>
    <p:sldId id="284" r:id="rId2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3" d="100"/>
          <a:sy n="113" d="100"/>
        </p:scale>
        <p:origin x="47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nveer Ahmed" userId="ae65990c-ea0f-4c33-a6b2-48519e4fc857" providerId="ADAL" clId="{B911AA02-0C13-4861-98A4-CD96E3847B0D}"/>
    <pc:docChg chg="custSel modSld">
      <pc:chgData name="Tanveer Ahmed" userId="ae65990c-ea0f-4c33-a6b2-48519e4fc857" providerId="ADAL" clId="{B911AA02-0C13-4861-98A4-CD96E3847B0D}" dt="2026-08-13T02:59:15.670" v="2" actId="478"/>
      <pc:docMkLst>
        <pc:docMk/>
      </pc:docMkLst>
      <pc:sldChg chg="delSp">
        <pc:chgData name="Tanveer Ahmed" userId="ae65990c-ea0f-4c33-a6b2-48519e4fc857" providerId="ADAL" clId="{B911AA02-0C13-4861-98A4-CD96E3847B0D}" dt="2026-08-13T02:53:58.872" v="0" actId="478"/>
        <pc:sldMkLst>
          <pc:docMk/>
          <pc:sldMk cId="0" sldId="273"/>
        </pc:sldMkLst>
        <pc:spChg chg="del">
          <ac:chgData name="Tanveer Ahmed" userId="ae65990c-ea0f-4c33-a6b2-48519e4fc857" providerId="ADAL" clId="{B911AA02-0C13-4861-98A4-CD96E3847B0D}" dt="2026-08-13T02:53:58.872" v="0" actId="478"/>
          <ac:spMkLst>
            <pc:docMk/>
            <pc:sldMk cId="0" sldId="273"/>
            <ac:spMk id="22" creationId="{00000000-0000-0000-0000-000000000000}"/>
          </ac:spMkLst>
        </pc:spChg>
      </pc:sldChg>
      <pc:sldChg chg="delSp">
        <pc:chgData name="Tanveer Ahmed" userId="ae65990c-ea0f-4c33-a6b2-48519e4fc857" providerId="ADAL" clId="{B911AA02-0C13-4861-98A4-CD96E3847B0D}" dt="2026-08-13T02:59:15.670" v="2" actId="478"/>
        <pc:sldMkLst>
          <pc:docMk/>
          <pc:sldMk cId="0" sldId="279"/>
        </pc:sldMkLst>
        <pc:spChg chg="del">
          <ac:chgData name="Tanveer Ahmed" userId="ae65990c-ea0f-4c33-a6b2-48519e4fc857" providerId="ADAL" clId="{B911AA02-0C13-4861-98A4-CD96E3847B0D}" dt="2026-08-13T02:59:14.381" v="1" actId="478"/>
          <ac:spMkLst>
            <pc:docMk/>
            <pc:sldMk cId="0" sldId="279"/>
            <ac:spMk id="8" creationId="{00000000-0000-0000-0000-000000000000}"/>
          </ac:spMkLst>
        </pc:spChg>
        <pc:spChg chg="del">
          <ac:chgData name="Tanveer Ahmed" userId="ae65990c-ea0f-4c33-a6b2-48519e4fc857" providerId="ADAL" clId="{B911AA02-0C13-4861-98A4-CD96E3847B0D}" dt="2026-08-13T02:59:15.670" v="2" actId="478"/>
          <ac:spMkLst>
            <pc:docMk/>
            <pc:sldMk cId="0" sldId="279"/>
            <ac:spMk id="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01380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today we treat activation functions as an experiment, not a glossary. We'll actually train tiny networks, swap only the activation, and let the data pick a winner. Tell them: keep a mental bet on which function wins the spiral — we vote later.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evidence, not a claim. This is the whole lecture in one slide: non-linearity is the difference between 64% and 99% on the same data. Everything after this is choosing WHICH non-linearity.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sum is linear; the activation f is where all the non-linearity enters. Weights decide WHAT to combine; the activation decides HOW the neuron responds.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function ticks every box — the whole field is trade-offs. Keep this list in mind; every function later wins some boxes and loses others. That tension is what the experiments will expose.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Useful ONLY at the output of a regressor. As a hidden activation it's useless — that's exactly what slide 2 showed.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it all began, and why we moved on: a flat gradient means backprop has nothing to learn from. Everything after is a smooth stand-in for this step.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Great as a probability at the OUTPUT. As a hidden activation it saturates and its gradient vanishes — we'll measure exactly how badly in the lab.</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makes the CLAIM. Point forward: we don't ask them to trust it — Experiment 1 measures it on a real 18-layer network.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zero-centered upgrade to sigmoid. Interesting lab surprise: with matched init, tanh's gradients hold up far better than sigmoid's — being zero-centered genuinely matters.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function that made deep learning practical. One comparison, no exponentials. Its one real failure mode — dying neurons — we'll trigger on purpose in the lab.</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Balanced view: ReLU's strengths are real, and so is its one weakness. Tease the fixes on the next slides — and note we'll DEMONSTRATE the dying problem in Experiment 4.</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minimal fix: let a little signal leak through on the negative side so a neuron can always recover. Experiment 4 shows leaky neurons essentially never die.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smoother, zero-centered cousin. Buys robustness at the price of an exponential — the lab's cost plot shows that price.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self-gated generation: the input gates itself. Note the little dip below zero — that non-monotonic wiggle is the point, and it's visible in the boundary plot's smooth curves.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use a transformer, you use GELU. Same photo-finish accuracy as ReLU in our lab, at higher per-call cost — which is why frameworks fuse and approximate it.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experimental contract out loud: only the activation changes, so any difference in the results is caused by the activation and nothing else. This is what makes it a fair test.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an actual show-of-hands or a live poll. Predictions make people care about the result — they've now got skin in the game. Most rooms vote ReLU or GELU; the surprise is that the top four essentially tie, and the real story is WHY the losers lose.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Payoff for the promise on slide 8. The log axis is doing real work: sigmoid drops off the bottom of the chart. Note the honest nuance — tanh survives here, which tells you zero-centering, not just saturation, is what really hurt sigmoid.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vote reveal. Watch the sigmoid curve thrash — that instability IS the vanishing/saturation problem showing up in training. Linear never even leaves the ground. The moderns are a blur at the top; that blur is the real headline for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mindset shift: 'best' is not a single number. The moderns tie on accuracy here, so the decision has to be made on other axes. This reframes the rest of the lab and kills the naive 'which one is best' question.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visual that sticks. Have them stare at ReLU vs GELU: identical accuracy, visibly different boundary character (angular vs smooth). This is what 'the activation shapes the function class' means — you can literally see it.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didn't just assert dying ReLU — we caused it and measured it. Tie it back to slide 11. The practical takeaway: if ReLU is dying, your learning rate is probably too high; leaky/ELU are the cheap insurance.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Honesty slide: I flag that my cost numbers overstate the modern activations because pure NumPy doesn't fuse kernels. The DIRECTION is right though — ReLU is genuinely the cheapest op. 'Best' depends on which axis you optimise.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Synthesise the whole lab into a decision, not a ranking. The line to land: 'best' is context — the experiments replaced opinion with a rule you can defend.</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printout slide — tell them to photograph this one. It's the summary they'll actually reuse.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reframe: they arrived expecting a glossary and leave with a decision rule backed by their own experiments. Point back to the vote — the data, not intuition, settled it.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3C"/>
        </a:solidFill>
        <a:effectLst/>
      </p:bgPr>
    </p:bg>
    <p:spTree>
      <p:nvGrpSpPr>
        <p:cNvPr id="1" name=""/>
        <p:cNvGrpSpPr/>
        <p:nvPr/>
      </p:nvGrpSpPr>
      <p:grpSpPr>
        <a:xfrm>
          <a:off x="0" y="0"/>
          <a:ext cx="0" cy="0"/>
          <a:chOff x="0" y="0"/>
          <a:chExt cx="0" cy="0"/>
        </a:xfrm>
      </p:grpSpPr>
      <p:sp>
        <p:nvSpPr>
          <p:cNvPr id="2" name="Shape 0"/>
          <p:cNvSpPr/>
          <p:nvPr/>
        </p:nvSpPr>
        <p:spPr>
          <a:xfrm>
            <a:off x="1005840" y="1097280"/>
            <a:ext cx="128016" cy="128016"/>
          </a:xfrm>
          <a:prstGeom prst="ellipse">
            <a:avLst/>
          </a:prstGeom>
          <a:solidFill>
            <a:srgbClr val="6C4CE0"/>
          </a:solidFill>
          <a:ln/>
        </p:spPr>
      </p:sp>
      <p:sp>
        <p:nvSpPr>
          <p:cNvPr id="3" name="Shape 1"/>
          <p:cNvSpPr/>
          <p:nvPr/>
        </p:nvSpPr>
        <p:spPr>
          <a:xfrm>
            <a:off x="11064240" y="1463040"/>
            <a:ext cx="128016" cy="128016"/>
          </a:xfrm>
          <a:prstGeom prst="ellipse">
            <a:avLst/>
          </a:prstGeom>
          <a:solidFill>
            <a:srgbClr val="EC1E79"/>
          </a:solidFill>
          <a:ln/>
        </p:spPr>
      </p:sp>
      <p:sp>
        <p:nvSpPr>
          <p:cNvPr id="4" name="Shape 2"/>
          <p:cNvSpPr/>
          <p:nvPr/>
        </p:nvSpPr>
        <p:spPr>
          <a:xfrm>
            <a:off x="10424160" y="5394960"/>
            <a:ext cx="128016" cy="128016"/>
          </a:xfrm>
          <a:prstGeom prst="ellipse">
            <a:avLst/>
          </a:prstGeom>
          <a:solidFill>
            <a:srgbClr val="2F55D4"/>
          </a:solidFill>
          <a:ln/>
        </p:spPr>
      </p:sp>
      <p:sp>
        <p:nvSpPr>
          <p:cNvPr id="5" name="Shape 3"/>
          <p:cNvSpPr/>
          <p:nvPr/>
        </p:nvSpPr>
        <p:spPr>
          <a:xfrm>
            <a:off x="1554480" y="5120640"/>
            <a:ext cx="128016" cy="128016"/>
          </a:xfrm>
          <a:prstGeom prst="ellipse">
            <a:avLst/>
          </a:prstGeom>
          <a:solidFill>
            <a:srgbClr val="0EA5E9"/>
          </a:solidFill>
          <a:ln/>
        </p:spPr>
      </p:sp>
      <p:sp>
        <p:nvSpPr>
          <p:cNvPr id="6" name="Shape 4"/>
          <p:cNvSpPr/>
          <p:nvPr/>
        </p:nvSpPr>
        <p:spPr>
          <a:xfrm>
            <a:off x="5943600" y="731520"/>
            <a:ext cx="128016" cy="128016"/>
          </a:xfrm>
          <a:prstGeom prst="ellipse">
            <a:avLst/>
          </a:prstGeom>
          <a:solidFill>
            <a:srgbClr val="12B886"/>
          </a:solidFill>
          <a:ln/>
        </p:spPr>
      </p:sp>
      <p:sp>
        <p:nvSpPr>
          <p:cNvPr id="7" name="Shape 5"/>
          <p:cNvSpPr/>
          <p:nvPr/>
        </p:nvSpPr>
        <p:spPr>
          <a:xfrm>
            <a:off x="11521440" y="3291840"/>
            <a:ext cx="128016" cy="128016"/>
          </a:xfrm>
          <a:prstGeom prst="ellipse">
            <a:avLst/>
          </a:prstGeom>
          <a:solidFill>
            <a:srgbClr val="6C4CE0"/>
          </a:solidFill>
          <a:ln/>
        </p:spPr>
      </p:sp>
      <p:sp>
        <p:nvSpPr>
          <p:cNvPr id="8" name="Text 6"/>
          <p:cNvSpPr/>
          <p:nvPr/>
        </p:nvSpPr>
        <p:spPr>
          <a:xfrm>
            <a:off x="548640" y="1828800"/>
            <a:ext cx="10058400" cy="365760"/>
          </a:xfrm>
          <a:prstGeom prst="rect">
            <a:avLst/>
          </a:prstGeom>
          <a:noFill/>
          <a:ln/>
        </p:spPr>
        <p:txBody>
          <a:bodyPr wrap="square" lIns="0" tIns="0" rIns="0" bIns="0" rtlCol="0" anchor="ctr"/>
          <a:lstStyle/>
          <a:p>
            <a:pPr marL="0" indent="0">
              <a:buNone/>
            </a:pPr>
            <a:r>
              <a:rPr lang="en-US" sz="1300" b="1" kern="0" spc="200" dirty="0">
                <a:solidFill>
                  <a:srgbClr val="9AA3BE"/>
                </a:solidFill>
                <a:latin typeface="Calibri" pitchFamily="34" charset="0"/>
                <a:ea typeface="Calibri" pitchFamily="34" charset="-122"/>
                <a:cs typeface="Calibri" pitchFamily="34" charset="-120"/>
              </a:rPr>
              <a:t>NEURAL NETWORKS  ·  DEEP LEARNING</a:t>
            </a:r>
            <a:endParaRPr lang="en-US" sz="1300" dirty="0"/>
          </a:p>
        </p:txBody>
      </p:sp>
      <p:sp>
        <p:nvSpPr>
          <p:cNvPr id="9" name="Text 7"/>
          <p:cNvSpPr/>
          <p:nvPr/>
        </p:nvSpPr>
        <p:spPr>
          <a:xfrm>
            <a:off x="548640" y="2240280"/>
            <a:ext cx="10972800" cy="1097280"/>
          </a:xfrm>
          <a:prstGeom prst="rect">
            <a:avLst/>
          </a:prstGeom>
          <a:noFill/>
          <a:ln/>
        </p:spPr>
        <p:txBody>
          <a:bodyPr wrap="square" lIns="0" tIns="0" rIns="0" bIns="0" rtlCol="0" anchor="ctr"/>
          <a:lstStyle/>
          <a:p>
            <a:pPr marL="0" indent="0">
              <a:buNone/>
            </a:pPr>
            <a:r>
              <a:rPr lang="en-US" sz="5800" b="1" dirty="0">
                <a:solidFill>
                  <a:srgbClr val="FFFFFF"/>
                </a:solidFill>
                <a:latin typeface="Calibri" pitchFamily="34" charset="0"/>
                <a:ea typeface="Calibri" pitchFamily="34" charset="-122"/>
                <a:cs typeface="Calibri" pitchFamily="34" charset="-120"/>
              </a:rPr>
              <a:t>Activation Functions</a:t>
            </a:r>
            <a:endParaRPr lang="en-US" sz="5800" dirty="0"/>
          </a:p>
        </p:txBody>
      </p:sp>
      <p:sp>
        <p:nvSpPr>
          <p:cNvPr id="10" name="Text 8"/>
          <p:cNvSpPr/>
          <p:nvPr/>
        </p:nvSpPr>
        <p:spPr>
          <a:xfrm>
            <a:off x="548640" y="3429000"/>
            <a:ext cx="10424160" cy="548640"/>
          </a:xfrm>
          <a:prstGeom prst="rect">
            <a:avLst/>
          </a:prstGeom>
          <a:noFill/>
          <a:ln/>
        </p:spPr>
        <p:txBody>
          <a:bodyPr wrap="square" lIns="0" tIns="0" rIns="0" bIns="0" rtlCol="0" anchor="ctr"/>
          <a:lstStyle/>
          <a:p>
            <a:pPr marL="0" indent="0">
              <a:buNone/>
            </a:pPr>
            <a:r>
              <a:rPr lang="en-US" sz="1800" dirty="0">
                <a:solidFill>
                  <a:srgbClr val="C7CEE6"/>
                </a:solidFill>
                <a:latin typeface="Calibri" pitchFamily="34" charset="0"/>
                <a:ea typeface="Calibri" pitchFamily="34" charset="-122"/>
                <a:cs typeface="Calibri" pitchFamily="34" charset="-120"/>
              </a:rPr>
              <a:t>The non-linear spark that lets neural networks learn — and we won't just define them, we'll race them.</a:t>
            </a:r>
            <a:endParaRPr lang="en-US" sz="1800" dirty="0"/>
          </a:p>
        </p:txBody>
      </p:sp>
      <p:sp>
        <p:nvSpPr>
          <p:cNvPr id="11" name="Shape 9"/>
          <p:cNvSpPr/>
          <p:nvPr/>
        </p:nvSpPr>
        <p:spPr>
          <a:xfrm>
            <a:off x="548640" y="4343400"/>
            <a:ext cx="1106424" cy="457200"/>
          </a:xfrm>
          <a:prstGeom prst="roundRect">
            <a:avLst>
              <a:gd name="adj" fmla="val 50000"/>
            </a:avLst>
          </a:prstGeom>
          <a:solidFill>
            <a:srgbClr val="2F55D4"/>
          </a:solidFill>
          <a:ln/>
        </p:spPr>
      </p:sp>
      <p:sp>
        <p:nvSpPr>
          <p:cNvPr id="12" name="Text 10"/>
          <p:cNvSpPr/>
          <p:nvPr/>
        </p:nvSpPr>
        <p:spPr>
          <a:xfrm>
            <a:off x="548640" y="4343400"/>
            <a:ext cx="1106424"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Sigmoid</a:t>
            </a:r>
            <a:endParaRPr lang="en-US" sz="1400" dirty="0"/>
          </a:p>
        </p:txBody>
      </p:sp>
      <p:sp>
        <p:nvSpPr>
          <p:cNvPr id="13" name="Shape 11"/>
          <p:cNvSpPr/>
          <p:nvPr/>
        </p:nvSpPr>
        <p:spPr>
          <a:xfrm>
            <a:off x="1856232" y="4343400"/>
            <a:ext cx="749808" cy="457200"/>
          </a:xfrm>
          <a:prstGeom prst="roundRect">
            <a:avLst>
              <a:gd name="adj" fmla="val 50000"/>
            </a:avLst>
          </a:prstGeom>
          <a:solidFill>
            <a:srgbClr val="F59E0B"/>
          </a:solidFill>
          <a:ln/>
        </p:spPr>
      </p:sp>
      <p:sp>
        <p:nvSpPr>
          <p:cNvPr id="14" name="Text 12"/>
          <p:cNvSpPr/>
          <p:nvPr/>
        </p:nvSpPr>
        <p:spPr>
          <a:xfrm>
            <a:off x="1856232" y="4343400"/>
            <a:ext cx="749808"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Tanh</a:t>
            </a:r>
            <a:endParaRPr lang="en-US" sz="1400" dirty="0"/>
          </a:p>
        </p:txBody>
      </p:sp>
      <p:sp>
        <p:nvSpPr>
          <p:cNvPr id="15" name="Shape 13"/>
          <p:cNvSpPr/>
          <p:nvPr/>
        </p:nvSpPr>
        <p:spPr>
          <a:xfrm>
            <a:off x="2807208" y="4343400"/>
            <a:ext cx="749808" cy="457200"/>
          </a:xfrm>
          <a:prstGeom prst="roundRect">
            <a:avLst>
              <a:gd name="adj" fmla="val 50000"/>
            </a:avLst>
          </a:prstGeom>
          <a:solidFill>
            <a:srgbClr val="EC1E79"/>
          </a:solidFill>
          <a:ln/>
        </p:spPr>
      </p:sp>
      <p:sp>
        <p:nvSpPr>
          <p:cNvPr id="16" name="Text 14"/>
          <p:cNvSpPr/>
          <p:nvPr/>
        </p:nvSpPr>
        <p:spPr>
          <a:xfrm>
            <a:off x="2807208" y="4343400"/>
            <a:ext cx="749808"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ReLU</a:t>
            </a:r>
            <a:endParaRPr lang="en-US" sz="1400" dirty="0"/>
          </a:p>
        </p:txBody>
      </p:sp>
      <p:sp>
        <p:nvSpPr>
          <p:cNvPr id="17" name="Shape 15"/>
          <p:cNvSpPr/>
          <p:nvPr/>
        </p:nvSpPr>
        <p:spPr>
          <a:xfrm>
            <a:off x="3758184" y="4343400"/>
            <a:ext cx="868680" cy="457200"/>
          </a:xfrm>
          <a:prstGeom prst="roundRect">
            <a:avLst>
              <a:gd name="adj" fmla="val 50000"/>
            </a:avLst>
          </a:prstGeom>
          <a:solidFill>
            <a:srgbClr val="0EA5E9"/>
          </a:solidFill>
          <a:ln/>
        </p:spPr>
      </p:sp>
      <p:sp>
        <p:nvSpPr>
          <p:cNvPr id="18" name="Text 16"/>
          <p:cNvSpPr/>
          <p:nvPr/>
        </p:nvSpPr>
        <p:spPr>
          <a:xfrm>
            <a:off x="3758184" y="4343400"/>
            <a:ext cx="8686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Swish</a:t>
            </a:r>
            <a:endParaRPr lang="en-US" sz="1400" dirty="0"/>
          </a:p>
        </p:txBody>
      </p:sp>
      <p:sp>
        <p:nvSpPr>
          <p:cNvPr id="19" name="Shape 17"/>
          <p:cNvSpPr/>
          <p:nvPr/>
        </p:nvSpPr>
        <p:spPr>
          <a:xfrm>
            <a:off x="4828032" y="4343400"/>
            <a:ext cx="749808" cy="457200"/>
          </a:xfrm>
          <a:prstGeom prst="roundRect">
            <a:avLst>
              <a:gd name="adj" fmla="val 50000"/>
            </a:avLst>
          </a:prstGeom>
          <a:solidFill>
            <a:srgbClr val="1E2761"/>
          </a:solidFill>
          <a:ln/>
        </p:spPr>
      </p:sp>
      <p:sp>
        <p:nvSpPr>
          <p:cNvPr id="20" name="Text 18"/>
          <p:cNvSpPr/>
          <p:nvPr/>
        </p:nvSpPr>
        <p:spPr>
          <a:xfrm>
            <a:off x="4828032" y="4343400"/>
            <a:ext cx="749808"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GELU</a:t>
            </a:r>
            <a:endParaRPr lang="en-US" sz="1400" dirty="0"/>
          </a:p>
        </p:txBody>
      </p:sp>
      <p:sp>
        <p:nvSpPr>
          <p:cNvPr id="21" name="Shape 19"/>
          <p:cNvSpPr/>
          <p:nvPr/>
        </p:nvSpPr>
        <p:spPr>
          <a:xfrm>
            <a:off x="5779008" y="4343400"/>
            <a:ext cx="1106424" cy="457200"/>
          </a:xfrm>
          <a:prstGeom prst="roundRect">
            <a:avLst>
              <a:gd name="adj" fmla="val 50000"/>
            </a:avLst>
          </a:prstGeom>
          <a:solidFill>
            <a:srgbClr val="6C4CE0"/>
          </a:solidFill>
          <a:ln/>
        </p:spPr>
      </p:sp>
      <p:sp>
        <p:nvSpPr>
          <p:cNvPr id="22" name="Text 20"/>
          <p:cNvSpPr/>
          <p:nvPr/>
        </p:nvSpPr>
        <p:spPr>
          <a:xfrm>
            <a:off x="5779008" y="4343400"/>
            <a:ext cx="1106424"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Softmax</a:t>
            </a:r>
            <a:endParaRPr lang="en-US" sz="1400" dirty="0"/>
          </a:p>
        </p:txBody>
      </p:sp>
      <p:sp>
        <p:nvSpPr>
          <p:cNvPr id="24" name="Text 21"/>
          <p:cNvSpPr/>
          <p:nvPr/>
        </p:nvSpPr>
        <p:spPr>
          <a:xfrm>
            <a:off x="548640" y="6473952"/>
            <a:ext cx="4572000" cy="274320"/>
          </a:xfrm>
          <a:prstGeom prst="rect">
            <a:avLst/>
          </a:prstGeom>
          <a:noFill/>
          <a:ln/>
        </p:spPr>
        <p:txBody>
          <a:bodyPr wrap="square" lIns="0" tIns="0" rIns="0" bIns="0" rtlCol="0" anchor="ctr"/>
          <a:lstStyle/>
          <a:p>
            <a:pPr marL="0" indent="0" algn="l">
              <a:buNone/>
            </a:pPr>
            <a:r>
              <a:rPr lang="en-US" sz="900" dirty="0">
                <a:solidFill>
                  <a:srgbClr val="9AA3BE"/>
                </a:solidFill>
                <a:latin typeface="Calibri" pitchFamily="34" charset="0"/>
                <a:ea typeface="Calibri" pitchFamily="34" charset="-122"/>
                <a:cs typeface="Calibri" pitchFamily="34" charset="-120"/>
              </a:rPr>
              <a:t>Activation Functions</a:t>
            </a:r>
            <a:endParaRPr lang="en-US" sz="900" dirty="0"/>
          </a:p>
        </p:txBody>
      </p:sp>
      <p:sp>
        <p:nvSpPr>
          <p:cNvPr id="25" name="Text 22"/>
          <p:cNvSpPr/>
          <p:nvPr/>
        </p:nvSpPr>
        <p:spPr>
          <a:xfrm>
            <a:off x="11183112" y="6473952"/>
            <a:ext cx="457200" cy="274320"/>
          </a:xfrm>
          <a:prstGeom prst="rect">
            <a:avLst/>
          </a:prstGeom>
          <a:noFill/>
          <a:ln/>
        </p:spPr>
        <p:txBody>
          <a:bodyPr wrap="square" lIns="0" tIns="0" rIns="0" bIns="0" rtlCol="0" anchor="ctr"/>
          <a:lstStyle/>
          <a:p>
            <a:pPr marL="0" indent="0" algn="r">
              <a:buNone/>
            </a:pPr>
            <a:r>
              <a:rPr lang="en-US" sz="900" dirty="0">
                <a:solidFill>
                  <a:srgbClr val="9AA3BE"/>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48640"/>
            <a:ext cx="987552" cy="310896"/>
          </a:xfrm>
          <a:prstGeom prst="roundRect">
            <a:avLst>
              <a:gd name="adj" fmla="val 50000"/>
            </a:avLst>
          </a:prstGeom>
          <a:solidFill>
            <a:srgbClr val="EC1E79"/>
          </a:solidFill>
          <a:ln/>
        </p:spPr>
      </p:sp>
      <p:sp>
        <p:nvSpPr>
          <p:cNvPr id="3" name="Text 1"/>
          <p:cNvSpPr/>
          <p:nvPr/>
        </p:nvSpPr>
        <p:spPr>
          <a:xfrm>
            <a:off x="548640" y="548640"/>
            <a:ext cx="987552" cy="310896"/>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MOTIVATION</a:t>
            </a:r>
            <a:endParaRPr lang="en-US" sz="1100" dirty="0"/>
          </a:p>
        </p:txBody>
      </p:sp>
      <p:sp>
        <p:nvSpPr>
          <p:cNvPr id="4" name="Text 2"/>
          <p:cNvSpPr/>
          <p:nvPr/>
        </p:nvSpPr>
        <p:spPr>
          <a:xfrm>
            <a:off x="548640" y="932688"/>
            <a:ext cx="11091672" cy="731520"/>
          </a:xfrm>
          <a:prstGeom prst="rect">
            <a:avLst/>
          </a:prstGeom>
          <a:noFill/>
          <a:ln/>
        </p:spPr>
        <p:txBody>
          <a:bodyPr wrap="square" lIns="0" tIns="0" rIns="0" bIns="0" rtlCol="0" anchor="t"/>
          <a:lstStyle/>
          <a:p>
            <a:pPr marL="0" indent="0" algn="l">
              <a:buNone/>
            </a:pPr>
            <a:r>
              <a:rPr lang="en-US" sz="3300" b="1" dirty="0">
                <a:solidFill>
                  <a:srgbClr val="141B3C"/>
                </a:solidFill>
                <a:latin typeface="Calibri" pitchFamily="34" charset="0"/>
                <a:ea typeface="Calibri" pitchFamily="34" charset="-122"/>
                <a:cs typeface="Calibri" pitchFamily="34" charset="-120"/>
              </a:rPr>
              <a:t>Why do we even need them?</a:t>
            </a:r>
            <a:endParaRPr lang="en-US" sz="3300" dirty="0"/>
          </a:p>
        </p:txBody>
      </p:sp>
      <p:sp>
        <p:nvSpPr>
          <p:cNvPr id="5" name="Text 3"/>
          <p:cNvSpPr/>
          <p:nvPr/>
        </p:nvSpPr>
        <p:spPr>
          <a:xfrm>
            <a:off x="548640" y="1691640"/>
            <a:ext cx="5029200" cy="1280160"/>
          </a:xfrm>
          <a:prstGeom prst="rect">
            <a:avLst/>
          </a:prstGeom>
          <a:noFill/>
          <a:ln/>
        </p:spPr>
        <p:txBody>
          <a:bodyPr wrap="square" lIns="0" tIns="0" rIns="0" bIns="0" rtlCol="0" anchor="t"/>
          <a:lstStyle/>
          <a:p>
            <a:pPr marL="0" indent="0">
              <a:buNone/>
            </a:pPr>
            <a:r>
              <a:rPr lang="en-US" sz="1500" dirty="0">
                <a:solidFill>
                  <a:srgbClr val="1C2333"/>
                </a:solidFill>
                <a:latin typeface="Calibri" pitchFamily="34" charset="0"/>
                <a:ea typeface="Calibri" pitchFamily="34" charset="-122"/>
                <a:cs typeface="Calibri" pitchFamily="34" charset="-120"/>
              </a:rPr>
              <a:t>Stack linear layers and you still get one line. A network with no non-linear activation collapses to a single linear map — no matter how many layers you add.</a:t>
            </a:r>
            <a:endParaRPr lang="en-US" sz="1500" dirty="0"/>
          </a:p>
        </p:txBody>
      </p:sp>
      <p:sp>
        <p:nvSpPr>
          <p:cNvPr id="6" name="Shape 4"/>
          <p:cNvSpPr/>
          <p:nvPr/>
        </p:nvSpPr>
        <p:spPr>
          <a:xfrm>
            <a:off x="548640" y="2971800"/>
            <a:ext cx="5029200" cy="548640"/>
          </a:xfrm>
          <a:prstGeom prst="roundRect">
            <a:avLst>
              <a:gd name="adj" fmla="val 15000"/>
            </a:avLst>
          </a:prstGeom>
          <a:solidFill>
            <a:srgbClr val="F4F6FB"/>
          </a:solidFill>
          <a:ln/>
        </p:spPr>
      </p:sp>
      <p:sp>
        <p:nvSpPr>
          <p:cNvPr id="7" name="Text 5"/>
          <p:cNvSpPr/>
          <p:nvPr/>
        </p:nvSpPr>
        <p:spPr>
          <a:xfrm>
            <a:off x="548640" y="2971800"/>
            <a:ext cx="5029200" cy="548640"/>
          </a:xfrm>
          <a:prstGeom prst="rect">
            <a:avLst/>
          </a:prstGeom>
          <a:noFill/>
          <a:ln/>
        </p:spPr>
        <p:txBody>
          <a:bodyPr wrap="square" lIns="0" tIns="0" rIns="0" bIns="0" rtlCol="0" anchor="ctr"/>
          <a:lstStyle/>
          <a:p>
            <a:pPr marL="0" indent="0" algn="ctr">
              <a:buNone/>
            </a:pPr>
            <a:r>
              <a:rPr lang="en-US" sz="1600" b="1" dirty="0">
                <a:solidFill>
                  <a:srgbClr val="141B3C"/>
                </a:solidFill>
                <a:latin typeface="Consolas" pitchFamily="34" charset="0"/>
                <a:ea typeface="Consolas" pitchFamily="34" charset="-122"/>
                <a:cs typeface="Consolas" pitchFamily="34" charset="-120"/>
              </a:rPr>
              <a:t>Linear ∘ Linear ∘ Linear  =  Linear</a:t>
            </a:r>
            <a:endParaRPr lang="en-US" sz="1600" dirty="0"/>
          </a:p>
        </p:txBody>
      </p:sp>
      <p:sp>
        <p:nvSpPr>
          <p:cNvPr id="8" name="Text 6"/>
          <p:cNvSpPr/>
          <p:nvPr/>
        </p:nvSpPr>
        <p:spPr>
          <a:xfrm>
            <a:off x="548640" y="3794760"/>
            <a:ext cx="5029200" cy="1097280"/>
          </a:xfrm>
          <a:prstGeom prst="rect">
            <a:avLst/>
          </a:prstGeom>
          <a:noFill/>
          <a:ln/>
        </p:spPr>
        <p:txBody>
          <a:bodyPr wrap="square" lIns="0" tIns="0" rIns="0" bIns="0" rtlCol="0" anchor="t"/>
          <a:lstStyle/>
          <a:p>
            <a:pPr marL="0" indent="0">
              <a:spcAft>
                <a:spcPts val="400"/>
              </a:spcAft>
              <a:buNone/>
            </a:pPr>
            <a:r>
              <a:rPr lang="en-US" sz="1450" b="1" dirty="0">
                <a:solidFill>
                  <a:srgbClr val="141B3C"/>
                </a:solidFill>
                <a:latin typeface="Calibri" pitchFamily="34" charset="0"/>
                <a:ea typeface="Calibri" pitchFamily="34" charset="-122"/>
                <a:cs typeface="Calibri" pitchFamily="34" charset="-120"/>
              </a:rPr>
              <a:t>Same network, same spiral, same everything — I changed only the activation.</a:t>
            </a:r>
            <a:endParaRPr lang="en-US" sz="1450" dirty="0"/>
          </a:p>
          <a:p>
            <a:pPr marL="0" indent="0">
              <a:buNone/>
            </a:pPr>
            <a:r>
              <a:rPr lang="en-US" sz="1350" dirty="0">
                <a:solidFill>
                  <a:srgbClr val="6B7385"/>
                </a:solidFill>
                <a:latin typeface="Calibri" pitchFamily="34" charset="0"/>
                <a:ea typeface="Calibri" pitchFamily="34" charset="-122"/>
                <a:cs typeface="Calibri" pitchFamily="34" charset="-120"/>
              </a:rPr>
              <a:t>Left: no non-linearity, the boundary can only be straight cuts → 64%.  Right: ReLU bends the space → 99%.</a:t>
            </a:r>
            <a:endParaRPr lang="en-US" sz="1450" dirty="0"/>
          </a:p>
        </p:txBody>
      </p:sp>
      <p:pic>
        <p:nvPicPr>
          <p:cNvPr id="9" name="Image 0" descr="/home/claude/fig/motiv_boundary.png"/>
          <p:cNvPicPr>
            <a:picLocks noChangeAspect="1"/>
          </p:cNvPicPr>
          <p:nvPr/>
        </p:nvPicPr>
        <p:blipFill>
          <a:blip r:embed="rId3"/>
          <a:srcRect/>
          <a:stretch/>
        </p:blipFill>
        <p:spPr>
          <a:xfrm>
            <a:off x="5806440" y="1554480"/>
            <a:ext cx="5852160" cy="4480560"/>
          </a:xfrm>
          <a:prstGeom prst="rect">
            <a:avLst/>
          </a:prstGeom>
        </p:spPr>
      </p:pic>
      <p:sp>
        <p:nvSpPr>
          <p:cNvPr id="10" name="Text 7"/>
          <p:cNvSpPr/>
          <p:nvPr/>
        </p:nvSpPr>
        <p:spPr>
          <a:xfrm>
            <a:off x="548640" y="6473952"/>
            <a:ext cx="4572000" cy="274320"/>
          </a:xfrm>
          <a:prstGeom prst="rect">
            <a:avLst/>
          </a:prstGeom>
          <a:noFill/>
          <a:ln/>
        </p:spPr>
        <p:txBody>
          <a:bodyPr wrap="square" lIns="0" tIns="0" rIns="0" bIns="0" rtlCol="0" anchor="ctr"/>
          <a:lstStyle/>
          <a:p>
            <a:pPr marL="0" indent="0" algn="l">
              <a:buNone/>
            </a:pPr>
            <a:r>
              <a:rPr lang="en-US" sz="900" dirty="0">
                <a:solidFill>
                  <a:srgbClr val="6B7385"/>
                </a:solidFill>
                <a:latin typeface="Calibri" pitchFamily="34" charset="0"/>
                <a:ea typeface="Calibri" pitchFamily="34" charset="-122"/>
                <a:cs typeface="Calibri" pitchFamily="34" charset="-120"/>
              </a:rPr>
              <a:t>Activation Functions</a:t>
            </a:r>
            <a:endParaRPr lang="en-US" sz="900" dirty="0"/>
          </a:p>
        </p:txBody>
      </p:sp>
      <p:sp>
        <p:nvSpPr>
          <p:cNvPr id="11" name="Text 8"/>
          <p:cNvSpPr/>
          <p:nvPr/>
        </p:nvSpPr>
        <p:spPr>
          <a:xfrm>
            <a:off x="11183112" y="6473952"/>
            <a:ext cx="457200" cy="274320"/>
          </a:xfrm>
          <a:prstGeom prst="rect">
            <a:avLst/>
          </a:prstGeom>
          <a:noFill/>
          <a:ln/>
        </p:spPr>
        <p:txBody>
          <a:bodyPr wrap="square" lIns="0" tIns="0" rIns="0" bIns="0" rtlCol="0" anchor="ctr"/>
          <a:lstStyle/>
          <a:p>
            <a:pPr marL="0" indent="0" algn="r">
              <a:buNone/>
            </a:pPr>
            <a:r>
              <a:rPr lang="en-US" sz="900" dirty="0">
                <a:solidFill>
                  <a:srgbClr val="6B7385"/>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48640"/>
            <a:ext cx="987552" cy="310896"/>
          </a:xfrm>
          <a:prstGeom prst="roundRect">
            <a:avLst>
              <a:gd name="adj" fmla="val 50000"/>
            </a:avLst>
          </a:prstGeom>
          <a:solidFill>
            <a:srgbClr val="6C4CE0"/>
          </a:solidFill>
          <a:ln/>
        </p:spPr>
      </p:sp>
      <p:sp>
        <p:nvSpPr>
          <p:cNvPr id="3" name="Text 1"/>
          <p:cNvSpPr/>
          <p:nvPr/>
        </p:nvSpPr>
        <p:spPr>
          <a:xfrm>
            <a:off x="548640" y="548640"/>
            <a:ext cx="987552" cy="310896"/>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THE BASICS</a:t>
            </a:r>
            <a:endParaRPr lang="en-US" sz="1100" dirty="0"/>
          </a:p>
        </p:txBody>
      </p:sp>
      <p:sp>
        <p:nvSpPr>
          <p:cNvPr id="4" name="Text 2"/>
          <p:cNvSpPr/>
          <p:nvPr/>
        </p:nvSpPr>
        <p:spPr>
          <a:xfrm>
            <a:off x="548640" y="932688"/>
            <a:ext cx="11091672" cy="731520"/>
          </a:xfrm>
          <a:prstGeom prst="rect">
            <a:avLst/>
          </a:prstGeom>
          <a:noFill/>
          <a:ln/>
        </p:spPr>
        <p:txBody>
          <a:bodyPr wrap="square" lIns="0" tIns="0" rIns="0" bIns="0" rtlCol="0" anchor="t"/>
          <a:lstStyle/>
          <a:p>
            <a:pPr marL="0" indent="0" algn="l">
              <a:buNone/>
            </a:pPr>
            <a:r>
              <a:rPr lang="en-US" sz="3300" b="1" dirty="0">
                <a:solidFill>
                  <a:srgbClr val="141B3C"/>
                </a:solidFill>
                <a:latin typeface="Calibri" pitchFamily="34" charset="0"/>
                <a:ea typeface="Calibri" pitchFamily="34" charset="-122"/>
                <a:cs typeface="Calibri" pitchFamily="34" charset="-120"/>
              </a:rPr>
              <a:t>Where the activation lives</a:t>
            </a:r>
            <a:endParaRPr lang="en-US" sz="3300" dirty="0"/>
          </a:p>
        </p:txBody>
      </p:sp>
      <p:pic>
        <p:nvPicPr>
          <p:cNvPr id="5" name="Image 0" descr="/home/claude/fig/neuron.png"/>
          <p:cNvPicPr>
            <a:picLocks noChangeAspect="1"/>
          </p:cNvPicPr>
          <p:nvPr/>
        </p:nvPicPr>
        <p:blipFill>
          <a:blip r:embed="rId3"/>
          <a:srcRect/>
          <a:stretch/>
        </p:blipFill>
        <p:spPr>
          <a:xfrm>
            <a:off x="1280160" y="1828800"/>
            <a:ext cx="9601200" cy="3291840"/>
          </a:xfrm>
          <a:prstGeom prst="rect">
            <a:avLst/>
          </a:prstGeom>
        </p:spPr>
      </p:pic>
      <p:sp>
        <p:nvSpPr>
          <p:cNvPr id="6" name="Shape 3"/>
          <p:cNvSpPr/>
          <p:nvPr/>
        </p:nvSpPr>
        <p:spPr>
          <a:xfrm>
            <a:off x="548640" y="5440680"/>
            <a:ext cx="11091672" cy="731520"/>
          </a:xfrm>
          <a:prstGeom prst="roundRect">
            <a:avLst>
              <a:gd name="adj" fmla="val 12500"/>
            </a:avLst>
          </a:prstGeom>
          <a:solidFill>
            <a:srgbClr val="F4F6FB"/>
          </a:solidFill>
          <a:ln/>
        </p:spPr>
      </p:sp>
      <p:sp>
        <p:nvSpPr>
          <p:cNvPr id="7" name="Text 4"/>
          <p:cNvSpPr/>
          <p:nvPr/>
        </p:nvSpPr>
        <p:spPr>
          <a:xfrm>
            <a:off x="777240" y="5440680"/>
            <a:ext cx="10607040" cy="731520"/>
          </a:xfrm>
          <a:prstGeom prst="rect">
            <a:avLst/>
          </a:prstGeom>
          <a:noFill/>
          <a:ln/>
        </p:spPr>
        <p:txBody>
          <a:bodyPr wrap="square" lIns="0" tIns="0" rIns="0" bIns="0" rtlCol="0" anchor="ctr"/>
          <a:lstStyle/>
          <a:p>
            <a:pPr marL="0" indent="0">
              <a:buNone/>
            </a:pPr>
            <a:r>
              <a:rPr lang="en-US" sz="1500" dirty="0">
                <a:solidFill>
                  <a:srgbClr val="1C2333"/>
                </a:solidFill>
                <a:latin typeface="Calibri" pitchFamily="34" charset="0"/>
                <a:ea typeface="Calibri" pitchFamily="34" charset="-122"/>
                <a:cs typeface="Calibri" pitchFamily="34" charset="-120"/>
              </a:rPr>
              <a:t>Each neuron computes a weighted sum </a:t>
            </a:r>
            <a:r>
              <a:rPr lang="en-US" sz="1500" b="1" dirty="0">
                <a:solidFill>
                  <a:srgbClr val="141B3C"/>
                </a:solidFill>
                <a:latin typeface="Consolas" pitchFamily="34" charset="0"/>
                <a:ea typeface="Consolas" pitchFamily="34" charset="-122"/>
                <a:cs typeface="Consolas" pitchFamily="34" charset="-120"/>
              </a:rPr>
              <a:t>z = Σwᵢxᵢ + b</a:t>
            </a:r>
            <a:r>
              <a:rPr lang="en-US" sz="1500" dirty="0">
                <a:solidFill>
                  <a:srgbClr val="1C2333"/>
                </a:solidFill>
                <a:latin typeface="Calibri" pitchFamily="34" charset="0"/>
                <a:ea typeface="Calibri" pitchFamily="34" charset="-122"/>
                <a:cs typeface="Calibri" pitchFamily="34" charset="-120"/>
              </a:rPr>
              <a:t>, then passes it through an activation </a:t>
            </a:r>
            <a:r>
              <a:rPr lang="en-US" sz="1500" b="1" i="1" dirty="0">
                <a:solidFill>
                  <a:srgbClr val="EC1E79"/>
                </a:solidFill>
                <a:latin typeface="Calibri" pitchFamily="34" charset="0"/>
                <a:ea typeface="Calibri" pitchFamily="34" charset="-122"/>
                <a:cs typeface="Calibri" pitchFamily="34" charset="-120"/>
              </a:rPr>
              <a:t>f</a:t>
            </a:r>
            <a:r>
              <a:rPr lang="en-US" sz="1500" dirty="0">
                <a:solidFill>
                  <a:srgbClr val="1C2333"/>
                </a:solidFill>
                <a:latin typeface="Calibri" pitchFamily="34" charset="0"/>
                <a:ea typeface="Calibri" pitchFamily="34" charset="-122"/>
                <a:cs typeface="Calibri" pitchFamily="34" charset="-120"/>
              </a:rPr>
              <a:t> to produce its output </a:t>
            </a:r>
            <a:r>
              <a:rPr lang="en-US" sz="1500" b="1" dirty="0">
                <a:solidFill>
                  <a:srgbClr val="141B3C"/>
                </a:solidFill>
                <a:latin typeface="Consolas" pitchFamily="34" charset="0"/>
                <a:ea typeface="Consolas" pitchFamily="34" charset="-122"/>
                <a:cs typeface="Consolas" pitchFamily="34" charset="-120"/>
              </a:rPr>
              <a:t>a = f(z)</a:t>
            </a:r>
            <a:r>
              <a:rPr lang="en-US" sz="1500" dirty="0">
                <a:solidFill>
                  <a:srgbClr val="1C2333"/>
                </a:solidFill>
                <a:latin typeface="Calibri" pitchFamily="34" charset="0"/>
                <a:ea typeface="Calibri" pitchFamily="34" charset="-122"/>
                <a:cs typeface="Calibri" pitchFamily="34" charset="-120"/>
              </a:rPr>
              <a:t>.  The activation is the only non-linear step.</a:t>
            </a:r>
            <a:endParaRPr lang="en-US" sz="1500" dirty="0"/>
          </a:p>
        </p:txBody>
      </p:sp>
      <p:sp>
        <p:nvSpPr>
          <p:cNvPr id="8" name="Text 5"/>
          <p:cNvSpPr/>
          <p:nvPr/>
        </p:nvSpPr>
        <p:spPr>
          <a:xfrm>
            <a:off x="548640" y="6473952"/>
            <a:ext cx="4572000" cy="274320"/>
          </a:xfrm>
          <a:prstGeom prst="rect">
            <a:avLst/>
          </a:prstGeom>
          <a:noFill/>
          <a:ln/>
        </p:spPr>
        <p:txBody>
          <a:bodyPr wrap="square" lIns="0" tIns="0" rIns="0" bIns="0" rtlCol="0" anchor="ctr"/>
          <a:lstStyle/>
          <a:p>
            <a:pPr marL="0" indent="0" algn="l">
              <a:buNone/>
            </a:pPr>
            <a:r>
              <a:rPr lang="en-US" sz="900" dirty="0">
                <a:solidFill>
                  <a:srgbClr val="6B7385"/>
                </a:solidFill>
                <a:latin typeface="Calibri" pitchFamily="34" charset="0"/>
                <a:ea typeface="Calibri" pitchFamily="34" charset="-122"/>
                <a:cs typeface="Calibri" pitchFamily="34" charset="-120"/>
              </a:rPr>
              <a:t>Activation Functions</a:t>
            </a:r>
            <a:endParaRPr lang="en-US" sz="900" dirty="0"/>
          </a:p>
        </p:txBody>
      </p:sp>
      <p:sp>
        <p:nvSpPr>
          <p:cNvPr id="9" name="Text 6"/>
          <p:cNvSpPr/>
          <p:nvPr/>
        </p:nvSpPr>
        <p:spPr>
          <a:xfrm>
            <a:off x="11183112" y="6473952"/>
            <a:ext cx="457200" cy="274320"/>
          </a:xfrm>
          <a:prstGeom prst="rect">
            <a:avLst/>
          </a:prstGeom>
          <a:noFill/>
          <a:ln/>
        </p:spPr>
        <p:txBody>
          <a:bodyPr wrap="square" lIns="0" tIns="0" rIns="0" bIns="0" rtlCol="0" anchor="ctr"/>
          <a:lstStyle/>
          <a:p>
            <a:pPr marL="0" indent="0" algn="r">
              <a:buNone/>
            </a:pPr>
            <a:r>
              <a:rPr lang="en-US" sz="900" dirty="0">
                <a:solidFill>
                  <a:srgbClr val="6B7385"/>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48640"/>
            <a:ext cx="987552" cy="310896"/>
          </a:xfrm>
          <a:prstGeom prst="roundRect">
            <a:avLst>
              <a:gd name="adj" fmla="val 50000"/>
            </a:avLst>
          </a:prstGeom>
          <a:solidFill>
            <a:srgbClr val="6C4CE0"/>
          </a:solidFill>
          <a:ln/>
        </p:spPr>
      </p:sp>
      <p:sp>
        <p:nvSpPr>
          <p:cNvPr id="3" name="Text 1"/>
          <p:cNvSpPr/>
          <p:nvPr/>
        </p:nvSpPr>
        <p:spPr>
          <a:xfrm>
            <a:off x="548640" y="548640"/>
            <a:ext cx="987552" cy="310896"/>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THE BASICS</a:t>
            </a:r>
            <a:endParaRPr lang="en-US" sz="1100" dirty="0"/>
          </a:p>
        </p:txBody>
      </p:sp>
      <p:sp>
        <p:nvSpPr>
          <p:cNvPr id="4" name="Text 2"/>
          <p:cNvSpPr/>
          <p:nvPr/>
        </p:nvSpPr>
        <p:spPr>
          <a:xfrm>
            <a:off x="548640" y="932688"/>
            <a:ext cx="11091672" cy="731520"/>
          </a:xfrm>
          <a:prstGeom prst="rect">
            <a:avLst/>
          </a:prstGeom>
          <a:noFill/>
          <a:ln/>
        </p:spPr>
        <p:txBody>
          <a:bodyPr wrap="square" lIns="0" tIns="0" rIns="0" bIns="0" rtlCol="0" anchor="t"/>
          <a:lstStyle/>
          <a:p>
            <a:pPr marL="0" indent="0" algn="l">
              <a:buNone/>
            </a:pPr>
            <a:r>
              <a:rPr lang="en-US" sz="3300" b="1" dirty="0">
                <a:solidFill>
                  <a:srgbClr val="141B3C"/>
                </a:solidFill>
                <a:latin typeface="Calibri" pitchFamily="34" charset="0"/>
                <a:ea typeface="Calibri" pitchFamily="34" charset="-122"/>
                <a:cs typeface="Calibri" pitchFamily="34" charset="-120"/>
              </a:rPr>
              <a:t>What makes a good activation?</a:t>
            </a:r>
            <a:endParaRPr lang="en-US" sz="3300" dirty="0"/>
          </a:p>
        </p:txBody>
      </p:sp>
      <p:sp>
        <p:nvSpPr>
          <p:cNvPr id="5" name="Shape 3"/>
          <p:cNvSpPr/>
          <p:nvPr/>
        </p:nvSpPr>
        <p:spPr>
          <a:xfrm>
            <a:off x="548640" y="1783080"/>
            <a:ext cx="3529584" cy="1737360"/>
          </a:xfrm>
          <a:prstGeom prst="roundRect">
            <a:avLst>
              <a:gd name="adj" fmla="val 5263"/>
            </a:avLst>
          </a:prstGeom>
          <a:solidFill>
            <a:srgbClr val="F4F6FB"/>
          </a:solidFill>
          <a:ln/>
        </p:spPr>
      </p:sp>
      <p:sp>
        <p:nvSpPr>
          <p:cNvPr id="6" name="Shape 4"/>
          <p:cNvSpPr/>
          <p:nvPr/>
        </p:nvSpPr>
        <p:spPr>
          <a:xfrm>
            <a:off x="777240" y="2039112"/>
            <a:ext cx="548640" cy="548640"/>
          </a:xfrm>
          <a:prstGeom prst="ellipse">
            <a:avLst/>
          </a:prstGeom>
          <a:solidFill>
            <a:srgbClr val="2F55D4"/>
          </a:solidFill>
          <a:ln/>
        </p:spPr>
      </p:sp>
      <p:sp>
        <p:nvSpPr>
          <p:cNvPr id="7" name="Text 5"/>
          <p:cNvSpPr/>
          <p:nvPr/>
        </p:nvSpPr>
        <p:spPr>
          <a:xfrm>
            <a:off x="777240" y="2039112"/>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8" name="Text 6"/>
          <p:cNvSpPr/>
          <p:nvPr/>
        </p:nvSpPr>
        <p:spPr>
          <a:xfrm>
            <a:off x="1463040" y="2057400"/>
            <a:ext cx="2478024" cy="548640"/>
          </a:xfrm>
          <a:prstGeom prst="rect">
            <a:avLst/>
          </a:prstGeom>
          <a:noFill/>
          <a:ln/>
        </p:spPr>
        <p:txBody>
          <a:bodyPr wrap="square" lIns="0" tIns="0" rIns="0" bIns="0" rtlCol="0" anchor="ctr"/>
          <a:lstStyle/>
          <a:p>
            <a:pPr marL="0" indent="0">
              <a:buNone/>
            </a:pPr>
            <a:r>
              <a:rPr lang="en-US" sz="1550" b="1" dirty="0">
                <a:solidFill>
                  <a:srgbClr val="141B3C"/>
                </a:solidFill>
                <a:latin typeface="Calibri" pitchFamily="34" charset="0"/>
                <a:ea typeface="Calibri" pitchFamily="34" charset="-122"/>
                <a:cs typeface="Calibri" pitchFamily="34" charset="-120"/>
              </a:rPr>
              <a:t>Non-linear</a:t>
            </a:r>
            <a:endParaRPr lang="en-US" sz="1550" dirty="0"/>
          </a:p>
        </p:txBody>
      </p:sp>
      <p:sp>
        <p:nvSpPr>
          <p:cNvPr id="9" name="Text 7"/>
          <p:cNvSpPr/>
          <p:nvPr/>
        </p:nvSpPr>
        <p:spPr>
          <a:xfrm>
            <a:off x="777240" y="2715768"/>
            <a:ext cx="3072384" cy="731520"/>
          </a:xfrm>
          <a:prstGeom prst="rect">
            <a:avLst/>
          </a:prstGeom>
          <a:noFill/>
          <a:ln/>
        </p:spPr>
        <p:txBody>
          <a:bodyPr wrap="square" lIns="0" tIns="0" rIns="0" bIns="0" rtlCol="0" anchor="t"/>
          <a:lstStyle/>
          <a:p>
            <a:pPr marL="0" indent="0">
              <a:buNone/>
            </a:pPr>
            <a:r>
              <a:rPr lang="en-US" sz="1250" dirty="0">
                <a:solidFill>
                  <a:srgbClr val="6B7385"/>
                </a:solidFill>
                <a:latin typeface="Calibri" pitchFamily="34" charset="0"/>
                <a:ea typeface="Calibri" pitchFamily="34" charset="-122"/>
                <a:cs typeface="Calibri" pitchFamily="34" charset="-120"/>
              </a:rPr>
              <a:t>Lets the network model curved, complex relationships.</a:t>
            </a:r>
            <a:endParaRPr lang="en-US" sz="1250" dirty="0"/>
          </a:p>
        </p:txBody>
      </p:sp>
      <p:sp>
        <p:nvSpPr>
          <p:cNvPr id="10" name="Shape 8"/>
          <p:cNvSpPr/>
          <p:nvPr/>
        </p:nvSpPr>
        <p:spPr>
          <a:xfrm>
            <a:off x="4334256" y="1783080"/>
            <a:ext cx="3529584" cy="1737360"/>
          </a:xfrm>
          <a:prstGeom prst="roundRect">
            <a:avLst>
              <a:gd name="adj" fmla="val 5263"/>
            </a:avLst>
          </a:prstGeom>
          <a:solidFill>
            <a:srgbClr val="F4F6FB"/>
          </a:solidFill>
          <a:ln/>
        </p:spPr>
      </p:sp>
      <p:sp>
        <p:nvSpPr>
          <p:cNvPr id="11" name="Shape 9"/>
          <p:cNvSpPr/>
          <p:nvPr/>
        </p:nvSpPr>
        <p:spPr>
          <a:xfrm>
            <a:off x="4562856" y="2039112"/>
            <a:ext cx="548640" cy="548640"/>
          </a:xfrm>
          <a:prstGeom prst="ellipse">
            <a:avLst/>
          </a:prstGeom>
          <a:solidFill>
            <a:srgbClr val="EC1E79"/>
          </a:solidFill>
          <a:ln/>
        </p:spPr>
      </p:sp>
      <p:sp>
        <p:nvSpPr>
          <p:cNvPr id="12" name="Text 10"/>
          <p:cNvSpPr/>
          <p:nvPr/>
        </p:nvSpPr>
        <p:spPr>
          <a:xfrm>
            <a:off x="4562856" y="2039112"/>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3" name="Text 11"/>
          <p:cNvSpPr/>
          <p:nvPr/>
        </p:nvSpPr>
        <p:spPr>
          <a:xfrm>
            <a:off x="5248656" y="2057400"/>
            <a:ext cx="2478024" cy="548640"/>
          </a:xfrm>
          <a:prstGeom prst="rect">
            <a:avLst/>
          </a:prstGeom>
          <a:noFill/>
          <a:ln/>
        </p:spPr>
        <p:txBody>
          <a:bodyPr wrap="square" lIns="0" tIns="0" rIns="0" bIns="0" rtlCol="0" anchor="ctr"/>
          <a:lstStyle/>
          <a:p>
            <a:pPr marL="0" indent="0">
              <a:buNone/>
            </a:pPr>
            <a:r>
              <a:rPr lang="en-US" sz="1550" b="1" dirty="0">
                <a:solidFill>
                  <a:srgbClr val="141B3C"/>
                </a:solidFill>
                <a:latin typeface="Calibri" pitchFamily="34" charset="0"/>
                <a:ea typeface="Calibri" pitchFamily="34" charset="-122"/>
                <a:cs typeface="Calibri" pitchFamily="34" charset="-120"/>
              </a:rPr>
              <a:t>Differentiable</a:t>
            </a:r>
            <a:endParaRPr lang="en-US" sz="1550" dirty="0"/>
          </a:p>
        </p:txBody>
      </p:sp>
      <p:sp>
        <p:nvSpPr>
          <p:cNvPr id="14" name="Text 12"/>
          <p:cNvSpPr/>
          <p:nvPr/>
        </p:nvSpPr>
        <p:spPr>
          <a:xfrm>
            <a:off x="4562856" y="2715768"/>
            <a:ext cx="3072384" cy="731520"/>
          </a:xfrm>
          <a:prstGeom prst="rect">
            <a:avLst/>
          </a:prstGeom>
          <a:noFill/>
          <a:ln/>
        </p:spPr>
        <p:txBody>
          <a:bodyPr wrap="square" lIns="0" tIns="0" rIns="0" bIns="0" rtlCol="0" anchor="t"/>
          <a:lstStyle/>
          <a:p>
            <a:pPr marL="0" indent="0">
              <a:buNone/>
            </a:pPr>
            <a:r>
              <a:rPr lang="en-US" sz="1250" dirty="0">
                <a:solidFill>
                  <a:srgbClr val="6B7385"/>
                </a:solidFill>
                <a:latin typeface="Calibri" pitchFamily="34" charset="0"/>
                <a:ea typeface="Calibri" pitchFamily="34" charset="-122"/>
                <a:cs typeface="Calibri" pitchFamily="34" charset="-120"/>
              </a:rPr>
              <a:t>Gradients must flow for backprop to train.</a:t>
            </a:r>
            <a:endParaRPr lang="en-US" sz="1250" dirty="0"/>
          </a:p>
        </p:txBody>
      </p:sp>
      <p:sp>
        <p:nvSpPr>
          <p:cNvPr id="15" name="Shape 13"/>
          <p:cNvSpPr/>
          <p:nvPr/>
        </p:nvSpPr>
        <p:spPr>
          <a:xfrm>
            <a:off x="8119872" y="1783080"/>
            <a:ext cx="3529584" cy="1737360"/>
          </a:xfrm>
          <a:prstGeom prst="roundRect">
            <a:avLst>
              <a:gd name="adj" fmla="val 5263"/>
            </a:avLst>
          </a:prstGeom>
          <a:solidFill>
            <a:srgbClr val="F4F6FB"/>
          </a:solidFill>
          <a:ln/>
        </p:spPr>
      </p:sp>
      <p:sp>
        <p:nvSpPr>
          <p:cNvPr id="16" name="Shape 14"/>
          <p:cNvSpPr/>
          <p:nvPr/>
        </p:nvSpPr>
        <p:spPr>
          <a:xfrm>
            <a:off x="8348472" y="2039112"/>
            <a:ext cx="548640" cy="548640"/>
          </a:xfrm>
          <a:prstGeom prst="ellipse">
            <a:avLst/>
          </a:prstGeom>
          <a:solidFill>
            <a:srgbClr val="6C4CE0"/>
          </a:solidFill>
          <a:ln/>
        </p:spPr>
      </p:sp>
      <p:sp>
        <p:nvSpPr>
          <p:cNvPr id="17" name="Text 15"/>
          <p:cNvSpPr/>
          <p:nvPr/>
        </p:nvSpPr>
        <p:spPr>
          <a:xfrm>
            <a:off x="8348472" y="2039112"/>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8" name="Text 16"/>
          <p:cNvSpPr/>
          <p:nvPr/>
        </p:nvSpPr>
        <p:spPr>
          <a:xfrm>
            <a:off x="9034272" y="2057400"/>
            <a:ext cx="2478024" cy="548640"/>
          </a:xfrm>
          <a:prstGeom prst="rect">
            <a:avLst/>
          </a:prstGeom>
          <a:noFill/>
          <a:ln/>
        </p:spPr>
        <p:txBody>
          <a:bodyPr wrap="square" lIns="0" tIns="0" rIns="0" bIns="0" rtlCol="0" anchor="ctr"/>
          <a:lstStyle/>
          <a:p>
            <a:pPr marL="0" indent="0">
              <a:buNone/>
            </a:pPr>
            <a:r>
              <a:rPr lang="en-US" sz="1550" b="1" dirty="0">
                <a:solidFill>
                  <a:srgbClr val="141B3C"/>
                </a:solidFill>
                <a:latin typeface="Calibri" pitchFamily="34" charset="0"/>
                <a:ea typeface="Calibri" pitchFamily="34" charset="-122"/>
                <a:cs typeface="Calibri" pitchFamily="34" charset="-120"/>
              </a:rPr>
              <a:t>Well-behaved gradient</a:t>
            </a:r>
            <a:endParaRPr lang="en-US" sz="1550" dirty="0"/>
          </a:p>
        </p:txBody>
      </p:sp>
      <p:sp>
        <p:nvSpPr>
          <p:cNvPr id="19" name="Text 17"/>
          <p:cNvSpPr/>
          <p:nvPr/>
        </p:nvSpPr>
        <p:spPr>
          <a:xfrm>
            <a:off x="8348472" y="2715768"/>
            <a:ext cx="3072384" cy="731520"/>
          </a:xfrm>
          <a:prstGeom prst="rect">
            <a:avLst/>
          </a:prstGeom>
          <a:noFill/>
          <a:ln/>
        </p:spPr>
        <p:txBody>
          <a:bodyPr wrap="square" lIns="0" tIns="0" rIns="0" bIns="0" rtlCol="0" anchor="t"/>
          <a:lstStyle/>
          <a:p>
            <a:pPr marL="0" indent="0">
              <a:buNone/>
            </a:pPr>
            <a:r>
              <a:rPr lang="en-US" sz="1250" dirty="0">
                <a:solidFill>
                  <a:srgbClr val="6B7385"/>
                </a:solidFill>
                <a:latin typeface="Calibri" pitchFamily="34" charset="0"/>
                <a:ea typeface="Calibri" pitchFamily="34" charset="-122"/>
                <a:cs typeface="Calibri" pitchFamily="34" charset="-120"/>
              </a:rPr>
              <a:t>Smooth, non-vanishing gradients ease optimisation.</a:t>
            </a:r>
            <a:endParaRPr lang="en-US" sz="1250" dirty="0"/>
          </a:p>
        </p:txBody>
      </p:sp>
      <p:sp>
        <p:nvSpPr>
          <p:cNvPr id="20" name="Shape 18"/>
          <p:cNvSpPr/>
          <p:nvPr/>
        </p:nvSpPr>
        <p:spPr>
          <a:xfrm>
            <a:off x="548640" y="3776472"/>
            <a:ext cx="3529584" cy="1737360"/>
          </a:xfrm>
          <a:prstGeom prst="roundRect">
            <a:avLst>
              <a:gd name="adj" fmla="val 5263"/>
            </a:avLst>
          </a:prstGeom>
          <a:solidFill>
            <a:srgbClr val="F4F6FB"/>
          </a:solidFill>
          <a:ln/>
        </p:spPr>
      </p:sp>
      <p:sp>
        <p:nvSpPr>
          <p:cNvPr id="21" name="Shape 19"/>
          <p:cNvSpPr/>
          <p:nvPr/>
        </p:nvSpPr>
        <p:spPr>
          <a:xfrm>
            <a:off x="777240" y="4032504"/>
            <a:ext cx="548640" cy="548640"/>
          </a:xfrm>
          <a:prstGeom prst="ellipse">
            <a:avLst/>
          </a:prstGeom>
          <a:solidFill>
            <a:srgbClr val="12B886"/>
          </a:solidFill>
          <a:ln/>
        </p:spPr>
      </p:sp>
      <p:sp>
        <p:nvSpPr>
          <p:cNvPr id="22" name="Text 20"/>
          <p:cNvSpPr/>
          <p:nvPr/>
        </p:nvSpPr>
        <p:spPr>
          <a:xfrm>
            <a:off x="777240" y="4032504"/>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3" name="Text 21"/>
          <p:cNvSpPr/>
          <p:nvPr/>
        </p:nvSpPr>
        <p:spPr>
          <a:xfrm>
            <a:off x="1463040" y="4050792"/>
            <a:ext cx="2478024" cy="548640"/>
          </a:xfrm>
          <a:prstGeom prst="rect">
            <a:avLst/>
          </a:prstGeom>
          <a:noFill/>
          <a:ln/>
        </p:spPr>
        <p:txBody>
          <a:bodyPr wrap="square" lIns="0" tIns="0" rIns="0" bIns="0" rtlCol="0" anchor="ctr"/>
          <a:lstStyle/>
          <a:p>
            <a:pPr marL="0" indent="0">
              <a:buNone/>
            </a:pPr>
            <a:r>
              <a:rPr lang="en-US" sz="1550" b="1" dirty="0">
                <a:solidFill>
                  <a:srgbClr val="141B3C"/>
                </a:solidFill>
                <a:latin typeface="Calibri" pitchFamily="34" charset="0"/>
                <a:ea typeface="Calibri" pitchFamily="34" charset="-122"/>
                <a:cs typeface="Calibri" pitchFamily="34" charset="-120"/>
              </a:rPr>
              <a:t>Right output range</a:t>
            </a:r>
            <a:endParaRPr lang="en-US" sz="1550" dirty="0"/>
          </a:p>
        </p:txBody>
      </p:sp>
      <p:sp>
        <p:nvSpPr>
          <p:cNvPr id="24" name="Text 22"/>
          <p:cNvSpPr/>
          <p:nvPr/>
        </p:nvSpPr>
        <p:spPr>
          <a:xfrm>
            <a:off x="777240" y="4709160"/>
            <a:ext cx="3072384" cy="731520"/>
          </a:xfrm>
          <a:prstGeom prst="rect">
            <a:avLst/>
          </a:prstGeom>
          <a:noFill/>
          <a:ln/>
        </p:spPr>
        <p:txBody>
          <a:bodyPr wrap="square" lIns="0" tIns="0" rIns="0" bIns="0" rtlCol="0" anchor="t"/>
          <a:lstStyle/>
          <a:p>
            <a:pPr marL="0" indent="0">
              <a:buNone/>
            </a:pPr>
            <a:r>
              <a:rPr lang="en-US" sz="1250" dirty="0">
                <a:solidFill>
                  <a:srgbClr val="6B7385"/>
                </a:solidFill>
                <a:latin typeface="Calibri" pitchFamily="34" charset="0"/>
                <a:ea typeface="Calibri" pitchFamily="34" charset="-122"/>
                <a:cs typeface="Calibri" pitchFamily="34" charset="-120"/>
              </a:rPr>
              <a:t>Bounded or unbounded to suit the layer's job.</a:t>
            </a:r>
            <a:endParaRPr lang="en-US" sz="1250" dirty="0"/>
          </a:p>
        </p:txBody>
      </p:sp>
      <p:sp>
        <p:nvSpPr>
          <p:cNvPr id="25" name="Shape 23"/>
          <p:cNvSpPr/>
          <p:nvPr/>
        </p:nvSpPr>
        <p:spPr>
          <a:xfrm>
            <a:off x="4334256" y="3776472"/>
            <a:ext cx="3529584" cy="1737360"/>
          </a:xfrm>
          <a:prstGeom prst="roundRect">
            <a:avLst>
              <a:gd name="adj" fmla="val 5263"/>
            </a:avLst>
          </a:prstGeom>
          <a:solidFill>
            <a:srgbClr val="F4F6FB"/>
          </a:solidFill>
          <a:ln/>
        </p:spPr>
      </p:sp>
      <p:sp>
        <p:nvSpPr>
          <p:cNvPr id="26" name="Shape 24"/>
          <p:cNvSpPr/>
          <p:nvPr/>
        </p:nvSpPr>
        <p:spPr>
          <a:xfrm>
            <a:off x="4562856" y="4032504"/>
            <a:ext cx="548640" cy="548640"/>
          </a:xfrm>
          <a:prstGeom prst="ellipse">
            <a:avLst/>
          </a:prstGeom>
          <a:solidFill>
            <a:srgbClr val="F59E0B"/>
          </a:solidFill>
          <a:ln/>
        </p:spPr>
      </p:sp>
      <p:sp>
        <p:nvSpPr>
          <p:cNvPr id="27" name="Text 25"/>
          <p:cNvSpPr/>
          <p:nvPr/>
        </p:nvSpPr>
        <p:spPr>
          <a:xfrm>
            <a:off x="4562856" y="4032504"/>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8" name="Text 26"/>
          <p:cNvSpPr/>
          <p:nvPr/>
        </p:nvSpPr>
        <p:spPr>
          <a:xfrm>
            <a:off x="5248656" y="4050792"/>
            <a:ext cx="2478024" cy="548640"/>
          </a:xfrm>
          <a:prstGeom prst="rect">
            <a:avLst/>
          </a:prstGeom>
          <a:noFill/>
          <a:ln/>
        </p:spPr>
        <p:txBody>
          <a:bodyPr wrap="square" lIns="0" tIns="0" rIns="0" bIns="0" rtlCol="0" anchor="ctr"/>
          <a:lstStyle/>
          <a:p>
            <a:pPr marL="0" indent="0">
              <a:buNone/>
            </a:pPr>
            <a:r>
              <a:rPr lang="en-US" sz="1550" b="1" dirty="0">
                <a:solidFill>
                  <a:srgbClr val="141B3C"/>
                </a:solidFill>
                <a:latin typeface="Calibri" pitchFamily="34" charset="0"/>
                <a:ea typeface="Calibri" pitchFamily="34" charset="-122"/>
                <a:cs typeface="Calibri" pitchFamily="34" charset="-120"/>
              </a:rPr>
              <a:t>Cheap to compute</a:t>
            </a:r>
            <a:endParaRPr lang="en-US" sz="1550" dirty="0"/>
          </a:p>
        </p:txBody>
      </p:sp>
      <p:sp>
        <p:nvSpPr>
          <p:cNvPr id="29" name="Text 27"/>
          <p:cNvSpPr/>
          <p:nvPr/>
        </p:nvSpPr>
        <p:spPr>
          <a:xfrm>
            <a:off x="4562856" y="4709160"/>
            <a:ext cx="3072384" cy="731520"/>
          </a:xfrm>
          <a:prstGeom prst="rect">
            <a:avLst/>
          </a:prstGeom>
          <a:noFill/>
          <a:ln/>
        </p:spPr>
        <p:txBody>
          <a:bodyPr wrap="square" lIns="0" tIns="0" rIns="0" bIns="0" rtlCol="0" anchor="t"/>
          <a:lstStyle/>
          <a:p>
            <a:pPr marL="0" indent="0">
              <a:buNone/>
            </a:pPr>
            <a:r>
              <a:rPr lang="en-US" sz="1250" dirty="0">
                <a:solidFill>
                  <a:srgbClr val="6B7385"/>
                </a:solidFill>
                <a:latin typeface="Calibri" pitchFamily="34" charset="0"/>
                <a:ea typeface="Calibri" pitchFamily="34" charset="-122"/>
                <a:cs typeface="Calibri" pitchFamily="34" charset="-120"/>
              </a:rPr>
              <a:t>It runs millions of times — speed matters.</a:t>
            </a:r>
            <a:endParaRPr lang="en-US" sz="1250" dirty="0"/>
          </a:p>
        </p:txBody>
      </p:sp>
      <p:sp>
        <p:nvSpPr>
          <p:cNvPr id="30" name="Shape 28"/>
          <p:cNvSpPr/>
          <p:nvPr/>
        </p:nvSpPr>
        <p:spPr>
          <a:xfrm>
            <a:off x="8119872" y="3776472"/>
            <a:ext cx="3529584" cy="1737360"/>
          </a:xfrm>
          <a:prstGeom prst="roundRect">
            <a:avLst>
              <a:gd name="adj" fmla="val 5263"/>
            </a:avLst>
          </a:prstGeom>
          <a:solidFill>
            <a:srgbClr val="F4F6FB"/>
          </a:solidFill>
          <a:ln/>
        </p:spPr>
      </p:sp>
      <p:sp>
        <p:nvSpPr>
          <p:cNvPr id="31" name="Shape 29"/>
          <p:cNvSpPr/>
          <p:nvPr/>
        </p:nvSpPr>
        <p:spPr>
          <a:xfrm>
            <a:off x="8348472" y="4032504"/>
            <a:ext cx="548640" cy="548640"/>
          </a:xfrm>
          <a:prstGeom prst="ellipse">
            <a:avLst/>
          </a:prstGeom>
          <a:solidFill>
            <a:srgbClr val="0EA5E9"/>
          </a:solidFill>
          <a:ln/>
        </p:spPr>
      </p:sp>
      <p:sp>
        <p:nvSpPr>
          <p:cNvPr id="32" name="Text 30"/>
          <p:cNvSpPr/>
          <p:nvPr/>
        </p:nvSpPr>
        <p:spPr>
          <a:xfrm>
            <a:off x="8348472" y="4032504"/>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33" name="Text 31"/>
          <p:cNvSpPr/>
          <p:nvPr/>
        </p:nvSpPr>
        <p:spPr>
          <a:xfrm>
            <a:off x="9034272" y="4050792"/>
            <a:ext cx="2478024" cy="548640"/>
          </a:xfrm>
          <a:prstGeom prst="rect">
            <a:avLst/>
          </a:prstGeom>
          <a:noFill/>
          <a:ln/>
        </p:spPr>
        <p:txBody>
          <a:bodyPr wrap="square" lIns="0" tIns="0" rIns="0" bIns="0" rtlCol="0" anchor="ctr"/>
          <a:lstStyle/>
          <a:p>
            <a:pPr marL="0" indent="0">
              <a:buNone/>
            </a:pPr>
            <a:r>
              <a:rPr lang="en-US" sz="1550" b="1" dirty="0">
                <a:solidFill>
                  <a:srgbClr val="141B3C"/>
                </a:solidFill>
                <a:latin typeface="Calibri" pitchFamily="34" charset="0"/>
                <a:ea typeface="Calibri" pitchFamily="34" charset="-122"/>
                <a:cs typeface="Calibri" pitchFamily="34" charset="-120"/>
              </a:rPr>
              <a:t>Zero-centered</a:t>
            </a:r>
            <a:endParaRPr lang="en-US" sz="1550" dirty="0"/>
          </a:p>
        </p:txBody>
      </p:sp>
      <p:sp>
        <p:nvSpPr>
          <p:cNvPr id="34" name="Text 32"/>
          <p:cNvSpPr/>
          <p:nvPr/>
        </p:nvSpPr>
        <p:spPr>
          <a:xfrm>
            <a:off x="8348472" y="4709160"/>
            <a:ext cx="3072384" cy="731520"/>
          </a:xfrm>
          <a:prstGeom prst="rect">
            <a:avLst/>
          </a:prstGeom>
          <a:noFill/>
          <a:ln/>
        </p:spPr>
        <p:txBody>
          <a:bodyPr wrap="square" lIns="0" tIns="0" rIns="0" bIns="0" rtlCol="0" anchor="t"/>
          <a:lstStyle/>
          <a:p>
            <a:pPr marL="0" indent="0">
              <a:buNone/>
            </a:pPr>
            <a:r>
              <a:rPr lang="en-US" sz="1250" dirty="0">
                <a:solidFill>
                  <a:srgbClr val="6B7385"/>
                </a:solidFill>
                <a:latin typeface="Calibri" pitchFamily="34" charset="0"/>
                <a:ea typeface="Calibri" pitchFamily="34" charset="-122"/>
                <a:cs typeface="Calibri" pitchFamily="34" charset="-120"/>
              </a:rPr>
              <a:t>Outputs around 0 help gradients converge faster.</a:t>
            </a:r>
            <a:endParaRPr lang="en-US" sz="1250" dirty="0"/>
          </a:p>
        </p:txBody>
      </p:sp>
      <p:sp>
        <p:nvSpPr>
          <p:cNvPr id="35" name="Text 33"/>
          <p:cNvSpPr/>
          <p:nvPr/>
        </p:nvSpPr>
        <p:spPr>
          <a:xfrm>
            <a:off x="548640" y="6473952"/>
            <a:ext cx="4572000" cy="274320"/>
          </a:xfrm>
          <a:prstGeom prst="rect">
            <a:avLst/>
          </a:prstGeom>
          <a:noFill/>
          <a:ln/>
        </p:spPr>
        <p:txBody>
          <a:bodyPr wrap="square" lIns="0" tIns="0" rIns="0" bIns="0" rtlCol="0" anchor="ctr"/>
          <a:lstStyle/>
          <a:p>
            <a:pPr marL="0" indent="0" algn="l">
              <a:buNone/>
            </a:pPr>
            <a:r>
              <a:rPr lang="en-US" sz="900" dirty="0">
                <a:solidFill>
                  <a:srgbClr val="6B7385"/>
                </a:solidFill>
                <a:latin typeface="Calibri" pitchFamily="34" charset="0"/>
                <a:ea typeface="Calibri" pitchFamily="34" charset="-122"/>
                <a:cs typeface="Calibri" pitchFamily="34" charset="-120"/>
              </a:rPr>
              <a:t>Activation Functions</a:t>
            </a:r>
            <a:endParaRPr lang="en-US" sz="900" dirty="0"/>
          </a:p>
        </p:txBody>
      </p:sp>
      <p:sp>
        <p:nvSpPr>
          <p:cNvPr id="36" name="Text 34"/>
          <p:cNvSpPr/>
          <p:nvPr/>
        </p:nvSpPr>
        <p:spPr>
          <a:xfrm>
            <a:off x="11183112" y="6473952"/>
            <a:ext cx="457200" cy="274320"/>
          </a:xfrm>
          <a:prstGeom prst="rect">
            <a:avLst/>
          </a:prstGeom>
          <a:noFill/>
          <a:ln/>
        </p:spPr>
        <p:txBody>
          <a:bodyPr wrap="square" lIns="0" tIns="0" rIns="0" bIns="0" rtlCol="0" anchor="ctr"/>
          <a:lstStyle/>
          <a:p>
            <a:pPr marL="0" indent="0" algn="r">
              <a:buNone/>
            </a:pPr>
            <a:r>
              <a:rPr lang="en-US" sz="900" dirty="0">
                <a:solidFill>
                  <a:srgbClr val="6B738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48640"/>
            <a:ext cx="1223467" cy="310896"/>
          </a:xfrm>
          <a:prstGeom prst="roundRect">
            <a:avLst>
              <a:gd name="adj" fmla="val 50000"/>
            </a:avLst>
          </a:prstGeom>
          <a:solidFill>
            <a:srgbClr val="2F55D4"/>
          </a:solidFill>
          <a:ln/>
        </p:spPr>
      </p:sp>
      <p:sp>
        <p:nvSpPr>
          <p:cNvPr id="3" name="Text 1"/>
          <p:cNvSpPr/>
          <p:nvPr/>
        </p:nvSpPr>
        <p:spPr>
          <a:xfrm>
            <a:off x="548640" y="548640"/>
            <a:ext cx="1223467" cy="310896"/>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LINEAR FAMILY</a:t>
            </a:r>
            <a:endParaRPr lang="en-US" sz="1100" dirty="0"/>
          </a:p>
        </p:txBody>
      </p:sp>
      <p:sp>
        <p:nvSpPr>
          <p:cNvPr id="4" name="Shape 2"/>
          <p:cNvSpPr/>
          <p:nvPr/>
        </p:nvSpPr>
        <p:spPr>
          <a:xfrm>
            <a:off x="548640" y="932688"/>
            <a:ext cx="566928" cy="566928"/>
          </a:xfrm>
          <a:prstGeom prst="roundRect">
            <a:avLst>
              <a:gd name="adj" fmla="val 19355"/>
            </a:avLst>
          </a:prstGeom>
          <a:solidFill>
            <a:srgbClr val="2F55D4"/>
          </a:solidFill>
          <a:ln/>
        </p:spPr>
      </p:sp>
      <p:sp>
        <p:nvSpPr>
          <p:cNvPr id="5" name="Text 3"/>
          <p:cNvSpPr/>
          <p:nvPr/>
        </p:nvSpPr>
        <p:spPr>
          <a:xfrm>
            <a:off x="548640" y="932688"/>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f</a:t>
            </a:r>
            <a:endParaRPr lang="en-US" sz="2200" dirty="0"/>
          </a:p>
        </p:txBody>
      </p:sp>
      <p:sp>
        <p:nvSpPr>
          <p:cNvPr id="6" name="Text 4"/>
          <p:cNvSpPr/>
          <p:nvPr/>
        </p:nvSpPr>
        <p:spPr>
          <a:xfrm>
            <a:off x="1298448" y="932688"/>
            <a:ext cx="5486400" cy="566928"/>
          </a:xfrm>
          <a:prstGeom prst="rect">
            <a:avLst/>
          </a:prstGeom>
          <a:noFill/>
          <a:ln/>
        </p:spPr>
        <p:txBody>
          <a:bodyPr wrap="square" lIns="0" tIns="0" rIns="0" bIns="0" rtlCol="0" anchor="ctr"/>
          <a:lstStyle/>
          <a:p>
            <a:pPr marL="0" indent="0">
              <a:buNone/>
            </a:pPr>
            <a:r>
              <a:rPr lang="en-US" sz="2900" b="1" dirty="0">
                <a:solidFill>
                  <a:srgbClr val="141B3C"/>
                </a:solidFill>
                <a:latin typeface="Calibri" pitchFamily="34" charset="0"/>
                <a:ea typeface="Calibri" pitchFamily="34" charset="-122"/>
                <a:cs typeface="Calibri" pitchFamily="34" charset="-120"/>
              </a:rPr>
              <a:t>Identity / Linear</a:t>
            </a:r>
            <a:endParaRPr lang="en-US" sz="2900" dirty="0"/>
          </a:p>
        </p:txBody>
      </p:sp>
      <p:sp>
        <p:nvSpPr>
          <p:cNvPr id="7" name="Shape 5"/>
          <p:cNvSpPr/>
          <p:nvPr/>
        </p:nvSpPr>
        <p:spPr>
          <a:xfrm>
            <a:off x="548640" y="1783080"/>
            <a:ext cx="5029200" cy="786384"/>
          </a:xfrm>
          <a:prstGeom prst="roundRect">
            <a:avLst>
              <a:gd name="adj" fmla="val 10465"/>
            </a:avLst>
          </a:prstGeom>
          <a:solidFill>
            <a:srgbClr val="F4F6FB"/>
          </a:solidFill>
          <a:ln/>
        </p:spPr>
      </p:sp>
      <p:sp>
        <p:nvSpPr>
          <p:cNvPr id="8" name="Text 6"/>
          <p:cNvSpPr/>
          <p:nvPr/>
        </p:nvSpPr>
        <p:spPr>
          <a:xfrm>
            <a:off x="713232" y="1783080"/>
            <a:ext cx="4700016" cy="786384"/>
          </a:xfrm>
          <a:prstGeom prst="rect">
            <a:avLst/>
          </a:prstGeom>
          <a:noFill/>
          <a:ln/>
        </p:spPr>
        <p:txBody>
          <a:bodyPr wrap="square" lIns="0" tIns="0" rIns="0" bIns="0" rtlCol="0" anchor="ctr"/>
          <a:lstStyle/>
          <a:p>
            <a:pPr marL="0" indent="0" algn="l">
              <a:buNone/>
            </a:pPr>
            <a:r>
              <a:rPr lang="en-US" sz="1700" b="1" dirty="0">
                <a:solidFill>
                  <a:srgbClr val="2F55D4"/>
                </a:solidFill>
                <a:latin typeface="Consolas" pitchFamily="34" charset="0"/>
                <a:ea typeface="Consolas" pitchFamily="34" charset="-122"/>
                <a:cs typeface="Consolas" pitchFamily="34" charset="-120"/>
              </a:rPr>
              <a:t>f(x) = x</a:t>
            </a:r>
            <a:endParaRPr lang="en-US" sz="1700" dirty="0"/>
          </a:p>
        </p:txBody>
      </p:sp>
      <p:sp>
        <p:nvSpPr>
          <p:cNvPr id="9" name="Text 7"/>
          <p:cNvSpPr/>
          <p:nvPr/>
        </p:nvSpPr>
        <p:spPr>
          <a:xfrm>
            <a:off x="548640" y="2697480"/>
            <a:ext cx="5029200" cy="310896"/>
          </a:xfrm>
          <a:prstGeom prst="rect">
            <a:avLst/>
          </a:prstGeom>
          <a:noFill/>
          <a:ln/>
        </p:spPr>
        <p:txBody>
          <a:bodyPr wrap="square" lIns="0" tIns="0" rIns="0" bIns="0" rtlCol="0" anchor="ctr"/>
          <a:lstStyle/>
          <a:p>
            <a:pPr marL="0" indent="0">
              <a:buNone/>
            </a:pPr>
            <a:r>
              <a:rPr lang="en-US" sz="1350" b="1" dirty="0">
                <a:solidFill>
                  <a:srgbClr val="6B7385"/>
                </a:solidFill>
                <a:latin typeface="Calibri" pitchFamily="34" charset="0"/>
                <a:ea typeface="Calibri" pitchFamily="34" charset="-122"/>
                <a:cs typeface="Calibri" pitchFamily="34" charset="-120"/>
              </a:rPr>
              <a:t>Range:  (−∞, +∞)</a:t>
            </a:r>
            <a:endParaRPr lang="en-US" sz="1350" dirty="0"/>
          </a:p>
        </p:txBody>
      </p:sp>
      <p:sp>
        <p:nvSpPr>
          <p:cNvPr id="10" name="Text 8"/>
          <p:cNvSpPr/>
          <p:nvPr/>
        </p:nvSpPr>
        <p:spPr>
          <a:xfrm>
            <a:off x="548640" y="3154680"/>
            <a:ext cx="5029200" cy="256032"/>
          </a:xfrm>
          <a:prstGeom prst="rect">
            <a:avLst/>
          </a:prstGeom>
          <a:noFill/>
          <a:ln/>
        </p:spPr>
        <p:txBody>
          <a:bodyPr wrap="square" lIns="0" tIns="0" rIns="0" bIns="0" rtlCol="0" anchor="ctr"/>
          <a:lstStyle/>
          <a:p>
            <a:pPr marL="0" indent="0">
              <a:buNone/>
            </a:pPr>
            <a:r>
              <a:rPr lang="en-US" sz="1100" b="1" kern="0" spc="100" dirty="0">
                <a:solidFill>
                  <a:srgbClr val="12B886"/>
                </a:solidFill>
                <a:latin typeface="Calibri" pitchFamily="34" charset="0"/>
                <a:ea typeface="Calibri" pitchFamily="34" charset="-122"/>
                <a:cs typeface="Calibri" pitchFamily="34" charset="-120"/>
              </a:rPr>
              <a:t>PROS</a:t>
            </a:r>
            <a:endParaRPr lang="en-US" sz="1100" dirty="0"/>
          </a:p>
        </p:txBody>
      </p:sp>
      <p:sp>
        <p:nvSpPr>
          <p:cNvPr id="11" name="Text 9"/>
          <p:cNvSpPr/>
          <p:nvPr/>
        </p:nvSpPr>
        <p:spPr>
          <a:xfrm>
            <a:off x="548640" y="3465576"/>
            <a:ext cx="274320" cy="292608"/>
          </a:xfrm>
          <a:prstGeom prst="rect">
            <a:avLst/>
          </a:prstGeom>
          <a:noFill/>
          <a:ln/>
        </p:spPr>
        <p:txBody>
          <a:bodyPr wrap="square" lIns="0" tIns="0" rIns="0" bIns="0" rtlCol="0" anchor="t"/>
          <a:lstStyle/>
          <a:p>
            <a:pPr marL="0" indent="0">
              <a:buNone/>
            </a:pPr>
            <a:r>
              <a:rPr lang="en-US" sz="1400" b="1" dirty="0">
                <a:solidFill>
                  <a:srgbClr val="12B886"/>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841248" y="3465576"/>
            <a:ext cx="4736592" cy="548640"/>
          </a:xfrm>
          <a:prstGeom prst="rect">
            <a:avLst/>
          </a:prstGeom>
          <a:noFill/>
          <a:ln/>
        </p:spPr>
        <p:txBody>
          <a:bodyPr wrap="square" lIns="0" tIns="0" rIns="0" bIns="0" rtlCol="0" anchor="t"/>
          <a:lstStyle/>
          <a:p>
            <a:pPr marL="0" indent="0">
              <a:buNone/>
            </a:pPr>
            <a:r>
              <a:rPr lang="en-US" sz="1350" dirty="0">
                <a:solidFill>
                  <a:srgbClr val="1C2333"/>
                </a:solidFill>
                <a:latin typeface="Calibri" pitchFamily="34" charset="0"/>
                <a:ea typeface="Calibri" pitchFamily="34" charset="-122"/>
                <a:cs typeface="Calibri" pitchFamily="34" charset="-120"/>
              </a:rPr>
              <a:t>Simple; output is unbounded</a:t>
            </a:r>
            <a:endParaRPr lang="en-US" sz="1350" dirty="0"/>
          </a:p>
        </p:txBody>
      </p:sp>
      <p:sp>
        <p:nvSpPr>
          <p:cNvPr id="13" name="Text 11"/>
          <p:cNvSpPr/>
          <p:nvPr/>
        </p:nvSpPr>
        <p:spPr>
          <a:xfrm>
            <a:off x="548640" y="3867912"/>
            <a:ext cx="274320" cy="292608"/>
          </a:xfrm>
          <a:prstGeom prst="rect">
            <a:avLst/>
          </a:prstGeom>
          <a:noFill/>
          <a:ln/>
        </p:spPr>
        <p:txBody>
          <a:bodyPr wrap="square" lIns="0" tIns="0" rIns="0" bIns="0" rtlCol="0" anchor="t"/>
          <a:lstStyle/>
          <a:p>
            <a:pPr marL="0" indent="0">
              <a:buNone/>
            </a:pPr>
            <a:r>
              <a:rPr lang="en-US" sz="1400" b="1" dirty="0">
                <a:solidFill>
                  <a:srgbClr val="12B886"/>
                </a:solidFill>
                <a:latin typeface="Calibri" pitchFamily="34" charset="0"/>
                <a:ea typeface="Calibri" pitchFamily="34" charset="-122"/>
                <a:cs typeface="Calibri" pitchFamily="34" charset="-120"/>
              </a:rPr>
              <a:t>✓</a:t>
            </a:r>
            <a:endParaRPr lang="en-US" sz="1400" dirty="0"/>
          </a:p>
        </p:txBody>
      </p:sp>
      <p:sp>
        <p:nvSpPr>
          <p:cNvPr id="14" name="Text 12"/>
          <p:cNvSpPr/>
          <p:nvPr/>
        </p:nvSpPr>
        <p:spPr>
          <a:xfrm>
            <a:off x="841248" y="3867912"/>
            <a:ext cx="4736592" cy="548640"/>
          </a:xfrm>
          <a:prstGeom prst="rect">
            <a:avLst/>
          </a:prstGeom>
          <a:noFill/>
          <a:ln/>
        </p:spPr>
        <p:txBody>
          <a:bodyPr wrap="square" lIns="0" tIns="0" rIns="0" bIns="0" rtlCol="0" anchor="t"/>
          <a:lstStyle/>
          <a:p>
            <a:pPr marL="0" indent="0">
              <a:buNone/>
            </a:pPr>
            <a:r>
              <a:rPr lang="en-US" sz="1350" dirty="0">
                <a:solidFill>
                  <a:srgbClr val="1C2333"/>
                </a:solidFill>
                <a:latin typeface="Calibri" pitchFamily="34" charset="0"/>
                <a:ea typeface="Calibri" pitchFamily="34" charset="-122"/>
                <a:cs typeface="Calibri" pitchFamily="34" charset="-120"/>
              </a:rPr>
              <a:t>Right choice for regression outputs</a:t>
            </a:r>
            <a:endParaRPr lang="en-US" sz="1350" dirty="0"/>
          </a:p>
        </p:txBody>
      </p:sp>
      <p:sp>
        <p:nvSpPr>
          <p:cNvPr id="15" name="Text 13"/>
          <p:cNvSpPr/>
          <p:nvPr/>
        </p:nvSpPr>
        <p:spPr>
          <a:xfrm>
            <a:off x="548640" y="4379976"/>
            <a:ext cx="5029200" cy="256032"/>
          </a:xfrm>
          <a:prstGeom prst="rect">
            <a:avLst/>
          </a:prstGeom>
          <a:noFill/>
          <a:ln/>
        </p:spPr>
        <p:txBody>
          <a:bodyPr wrap="square" lIns="0" tIns="0" rIns="0" bIns="0" rtlCol="0" anchor="ctr"/>
          <a:lstStyle/>
          <a:p>
            <a:pPr marL="0" indent="0">
              <a:buNone/>
            </a:pPr>
            <a:r>
              <a:rPr lang="en-US" sz="1100" b="1" kern="0" spc="100" dirty="0">
                <a:solidFill>
                  <a:srgbClr val="E5484D"/>
                </a:solidFill>
                <a:latin typeface="Calibri" pitchFamily="34" charset="0"/>
                <a:ea typeface="Calibri" pitchFamily="34" charset="-122"/>
                <a:cs typeface="Calibri" pitchFamily="34" charset="-120"/>
              </a:rPr>
              <a:t>CONS</a:t>
            </a:r>
            <a:endParaRPr lang="en-US" sz="1100" dirty="0"/>
          </a:p>
        </p:txBody>
      </p:sp>
      <p:sp>
        <p:nvSpPr>
          <p:cNvPr id="16" name="Text 14"/>
          <p:cNvSpPr/>
          <p:nvPr/>
        </p:nvSpPr>
        <p:spPr>
          <a:xfrm>
            <a:off x="548640" y="4690872"/>
            <a:ext cx="274320" cy="292608"/>
          </a:xfrm>
          <a:prstGeom prst="rect">
            <a:avLst/>
          </a:prstGeom>
          <a:noFill/>
          <a:ln/>
        </p:spPr>
        <p:txBody>
          <a:bodyPr wrap="square" lIns="0" tIns="0" rIns="0" bIns="0" rtlCol="0" anchor="t"/>
          <a:lstStyle/>
          <a:p>
            <a:pPr marL="0" indent="0">
              <a:buNone/>
            </a:pPr>
            <a:r>
              <a:rPr lang="en-US" sz="1400" b="1" dirty="0">
                <a:solidFill>
                  <a:srgbClr val="E5484D"/>
                </a:solidFill>
                <a:latin typeface="Calibri" pitchFamily="34" charset="0"/>
                <a:ea typeface="Calibri" pitchFamily="34" charset="-122"/>
                <a:cs typeface="Calibri" pitchFamily="34" charset="-120"/>
              </a:rPr>
              <a:t>✗</a:t>
            </a:r>
            <a:endParaRPr lang="en-US" sz="1400" dirty="0"/>
          </a:p>
        </p:txBody>
      </p:sp>
      <p:sp>
        <p:nvSpPr>
          <p:cNvPr id="17" name="Text 15"/>
          <p:cNvSpPr/>
          <p:nvPr/>
        </p:nvSpPr>
        <p:spPr>
          <a:xfrm>
            <a:off x="841248" y="4690872"/>
            <a:ext cx="4736592" cy="548640"/>
          </a:xfrm>
          <a:prstGeom prst="rect">
            <a:avLst/>
          </a:prstGeom>
          <a:noFill/>
          <a:ln/>
        </p:spPr>
        <p:txBody>
          <a:bodyPr wrap="square" lIns="0" tIns="0" rIns="0" bIns="0" rtlCol="0" anchor="t"/>
          <a:lstStyle/>
          <a:p>
            <a:pPr marL="0" indent="0">
              <a:buNone/>
            </a:pPr>
            <a:r>
              <a:rPr lang="en-US" sz="1350" dirty="0">
                <a:solidFill>
                  <a:srgbClr val="1C2333"/>
                </a:solidFill>
                <a:latin typeface="Calibri" pitchFamily="34" charset="0"/>
                <a:ea typeface="Calibri" pitchFamily="34" charset="-122"/>
                <a:cs typeface="Calibri" pitchFamily="34" charset="-120"/>
              </a:rPr>
              <a:t>Derivative is constant (= 1)</a:t>
            </a:r>
            <a:endParaRPr lang="en-US" sz="1350" dirty="0"/>
          </a:p>
        </p:txBody>
      </p:sp>
      <p:sp>
        <p:nvSpPr>
          <p:cNvPr id="18" name="Text 16"/>
          <p:cNvSpPr/>
          <p:nvPr/>
        </p:nvSpPr>
        <p:spPr>
          <a:xfrm>
            <a:off x="548640" y="5093208"/>
            <a:ext cx="274320" cy="292608"/>
          </a:xfrm>
          <a:prstGeom prst="rect">
            <a:avLst/>
          </a:prstGeom>
          <a:noFill/>
          <a:ln/>
        </p:spPr>
        <p:txBody>
          <a:bodyPr wrap="square" lIns="0" tIns="0" rIns="0" bIns="0" rtlCol="0" anchor="t"/>
          <a:lstStyle/>
          <a:p>
            <a:pPr marL="0" indent="0">
              <a:buNone/>
            </a:pPr>
            <a:r>
              <a:rPr lang="en-US" sz="1400" b="1" dirty="0">
                <a:solidFill>
                  <a:srgbClr val="E5484D"/>
                </a:solidFill>
                <a:latin typeface="Calibri" pitchFamily="34" charset="0"/>
                <a:ea typeface="Calibri" pitchFamily="34" charset="-122"/>
                <a:cs typeface="Calibri" pitchFamily="34" charset="-120"/>
              </a:rPr>
              <a:t>✗</a:t>
            </a:r>
            <a:endParaRPr lang="en-US" sz="1400" dirty="0"/>
          </a:p>
        </p:txBody>
      </p:sp>
      <p:sp>
        <p:nvSpPr>
          <p:cNvPr id="19" name="Text 17"/>
          <p:cNvSpPr/>
          <p:nvPr/>
        </p:nvSpPr>
        <p:spPr>
          <a:xfrm>
            <a:off x="841248" y="5093208"/>
            <a:ext cx="4736592" cy="548640"/>
          </a:xfrm>
          <a:prstGeom prst="rect">
            <a:avLst/>
          </a:prstGeom>
          <a:noFill/>
          <a:ln/>
        </p:spPr>
        <p:txBody>
          <a:bodyPr wrap="square" lIns="0" tIns="0" rIns="0" bIns="0" rtlCol="0" anchor="t"/>
          <a:lstStyle/>
          <a:p>
            <a:pPr marL="0" indent="0">
              <a:buNone/>
            </a:pPr>
            <a:r>
              <a:rPr lang="en-US" sz="1350" dirty="0">
                <a:solidFill>
                  <a:srgbClr val="1C2333"/>
                </a:solidFill>
                <a:latin typeface="Calibri" pitchFamily="34" charset="0"/>
                <a:ea typeface="Calibri" pitchFamily="34" charset="-122"/>
                <a:cs typeface="Calibri" pitchFamily="34" charset="-120"/>
              </a:rPr>
              <a:t>Stacking stays linear — no learning power</a:t>
            </a:r>
            <a:endParaRPr lang="en-US" sz="1350" dirty="0"/>
          </a:p>
        </p:txBody>
      </p:sp>
      <p:sp>
        <p:nvSpPr>
          <p:cNvPr id="20" name="Shape 18"/>
          <p:cNvSpPr/>
          <p:nvPr/>
        </p:nvSpPr>
        <p:spPr>
          <a:xfrm>
            <a:off x="5852160" y="5806440"/>
            <a:ext cx="5788152" cy="603504"/>
          </a:xfrm>
          <a:prstGeom prst="roundRect">
            <a:avLst>
              <a:gd name="adj" fmla="val 15152"/>
            </a:avLst>
          </a:prstGeom>
          <a:solidFill>
            <a:srgbClr val="141B3C"/>
          </a:solidFill>
          <a:ln/>
        </p:spPr>
      </p:sp>
      <p:sp>
        <p:nvSpPr>
          <p:cNvPr id="21" name="Text 19"/>
          <p:cNvSpPr/>
          <p:nvPr/>
        </p:nvSpPr>
        <p:spPr>
          <a:xfrm>
            <a:off x="6035040" y="5806440"/>
            <a:ext cx="5394960" cy="603504"/>
          </a:xfrm>
          <a:prstGeom prst="rect">
            <a:avLst/>
          </a:prstGeom>
          <a:noFill/>
          <a:ln/>
        </p:spPr>
        <p:txBody>
          <a:bodyPr wrap="square" lIns="0" tIns="0" rIns="0" bIns="0" rtlCol="0" anchor="ctr"/>
          <a:lstStyle/>
          <a:p>
            <a:pPr marL="0" indent="0">
              <a:buNone/>
            </a:pPr>
            <a:r>
              <a:rPr lang="en-US" sz="1100" b="1" kern="0" spc="100" dirty="0">
                <a:solidFill>
                  <a:srgbClr val="2F55D4"/>
                </a:solidFill>
                <a:latin typeface="Calibri" pitchFamily="34" charset="0"/>
                <a:ea typeface="Calibri" pitchFamily="34" charset="-122"/>
                <a:cs typeface="Calibri" pitchFamily="34" charset="-120"/>
              </a:rPr>
              <a:t>USE FOR   </a:t>
            </a:r>
            <a:r>
              <a:rPr lang="en-US" sz="1350" dirty="0">
                <a:solidFill>
                  <a:srgbClr val="FFFFFF"/>
                </a:solidFill>
                <a:latin typeface="Calibri" pitchFamily="34" charset="0"/>
                <a:ea typeface="Calibri" pitchFamily="34" charset="-122"/>
                <a:cs typeface="Calibri" pitchFamily="34" charset="-120"/>
              </a:rPr>
              <a:t>the final layer of a regression model</a:t>
            </a:r>
            <a:endParaRPr lang="en-US" sz="1100" dirty="0"/>
          </a:p>
        </p:txBody>
      </p:sp>
      <p:pic>
        <p:nvPicPr>
          <p:cNvPr id="22" name="Image 0" descr="/home/claude/fig/fn_identity.png"/>
          <p:cNvPicPr>
            <a:picLocks noChangeAspect="1"/>
          </p:cNvPicPr>
          <p:nvPr/>
        </p:nvPicPr>
        <p:blipFill>
          <a:blip r:embed="rId3"/>
          <a:srcRect/>
          <a:stretch/>
        </p:blipFill>
        <p:spPr>
          <a:xfrm>
            <a:off x="5852160" y="1417320"/>
            <a:ext cx="5788152" cy="4206240"/>
          </a:xfrm>
          <a:prstGeom prst="rect">
            <a:avLst/>
          </a:prstGeom>
        </p:spPr>
      </p:pic>
      <p:sp>
        <p:nvSpPr>
          <p:cNvPr id="23" name="Text 20"/>
          <p:cNvSpPr/>
          <p:nvPr/>
        </p:nvSpPr>
        <p:spPr>
          <a:xfrm>
            <a:off x="548640" y="6473952"/>
            <a:ext cx="4572000" cy="274320"/>
          </a:xfrm>
          <a:prstGeom prst="rect">
            <a:avLst/>
          </a:prstGeom>
          <a:noFill/>
          <a:ln/>
        </p:spPr>
        <p:txBody>
          <a:bodyPr wrap="square" lIns="0" tIns="0" rIns="0" bIns="0" rtlCol="0" anchor="ctr"/>
          <a:lstStyle/>
          <a:p>
            <a:pPr marL="0" indent="0" algn="l">
              <a:buNone/>
            </a:pPr>
            <a:r>
              <a:rPr lang="en-US" sz="900" dirty="0">
                <a:solidFill>
                  <a:srgbClr val="6B7385"/>
                </a:solidFill>
                <a:latin typeface="Calibri" pitchFamily="34" charset="0"/>
                <a:ea typeface="Calibri" pitchFamily="34" charset="-122"/>
                <a:cs typeface="Calibri" pitchFamily="34" charset="-120"/>
              </a:rPr>
              <a:t>Activation Functions</a:t>
            </a:r>
            <a:endParaRPr lang="en-US" sz="900" dirty="0"/>
          </a:p>
        </p:txBody>
      </p:sp>
      <p:sp>
        <p:nvSpPr>
          <p:cNvPr id="24" name="Text 21"/>
          <p:cNvSpPr/>
          <p:nvPr/>
        </p:nvSpPr>
        <p:spPr>
          <a:xfrm>
            <a:off x="11183112" y="6473952"/>
            <a:ext cx="457200" cy="274320"/>
          </a:xfrm>
          <a:prstGeom prst="rect">
            <a:avLst/>
          </a:prstGeom>
          <a:noFill/>
          <a:ln/>
        </p:spPr>
        <p:txBody>
          <a:bodyPr wrap="square" lIns="0" tIns="0" rIns="0" bIns="0" rtlCol="0" anchor="ctr"/>
          <a:lstStyle/>
          <a:p>
            <a:pPr marL="0" indent="0" algn="r">
              <a:buNone/>
            </a:pPr>
            <a:r>
              <a:rPr lang="en-US" sz="900" dirty="0">
                <a:solidFill>
                  <a:srgbClr val="6B738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48640"/>
            <a:ext cx="751637" cy="310896"/>
          </a:xfrm>
          <a:prstGeom prst="roundRect">
            <a:avLst>
              <a:gd name="adj" fmla="val 50000"/>
            </a:avLst>
          </a:prstGeom>
          <a:solidFill>
            <a:srgbClr val="6B7385"/>
          </a:solidFill>
          <a:ln/>
        </p:spPr>
      </p:sp>
      <p:sp>
        <p:nvSpPr>
          <p:cNvPr id="3" name="Text 1"/>
          <p:cNvSpPr/>
          <p:nvPr/>
        </p:nvSpPr>
        <p:spPr>
          <a:xfrm>
            <a:off x="548640" y="548640"/>
            <a:ext cx="751637" cy="310896"/>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CLASSIC</a:t>
            </a:r>
            <a:endParaRPr lang="en-US" sz="1100" dirty="0"/>
          </a:p>
        </p:txBody>
      </p:sp>
      <p:sp>
        <p:nvSpPr>
          <p:cNvPr id="4" name="Shape 2"/>
          <p:cNvSpPr/>
          <p:nvPr/>
        </p:nvSpPr>
        <p:spPr>
          <a:xfrm>
            <a:off x="548640" y="932688"/>
            <a:ext cx="566928" cy="566928"/>
          </a:xfrm>
          <a:prstGeom prst="roundRect">
            <a:avLst>
              <a:gd name="adj" fmla="val 19355"/>
            </a:avLst>
          </a:prstGeom>
          <a:solidFill>
            <a:srgbClr val="6B7385"/>
          </a:solidFill>
          <a:ln/>
        </p:spPr>
      </p:sp>
      <p:sp>
        <p:nvSpPr>
          <p:cNvPr id="5" name="Text 3"/>
          <p:cNvSpPr/>
          <p:nvPr/>
        </p:nvSpPr>
        <p:spPr>
          <a:xfrm>
            <a:off x="548640" y="932688"/>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6" name="Text 4"/>
          <p:cNvSpPr/>
          <p:nvPr/>
        </p:nvSpPr>
        <p:spPr>
          <a:xfrm>
            <a:off x="1298448" y="932688"/>
            <a:ext cx="5486400" cy="566928"/>
          </a:xfrm>
          <a:prstGeom prst="rect">
            <a:avLst/>
          </a:prstGeom>
          <a:noFill/>
          <a:ln/>
        </p:spPr>
        <p:txBody>
          <a:bodyPr wrap="square" lIns="0" tIns="0" rIns="0" bIns="0" rtlCol="0" anchor="ctr"/>
          <a:lstStyle/>
          <a:p>
            <a:pPr marL="0" indent="0">
              <a:buNone/>
            </a:pPr>
            <a:r>
              <a:rPr lang="en-US" sz="2900" b="1" dirty="0">
                <a:solidFill>
                  <a:srgbClr val="141B3C"/>
                </a:solidFill>
                <a:latin typeface="Calibri" pitchFamily="34" charset="0"/>
                <a:ea typeface="Calibri" pitchFamily="34" charset="-122"/>
                <a:cs typeface="Calibri" pitchFamily="34" charset="-120"/>
              </a:rPr>
              <a:t>Binary Step</a:t>
            </a:r>
            <a:endParaRPr lang="en-US" sz="2900" dirty="0"/>
          </a:p>
        </p:txBody>
      </p:sp>
      <p:sp>
        <p:nvSpPr>
          <p:cNvPr id="7" name="Shape 5"/>
          <p:cNvSpPr/>
          <p:nvPr/>
        </p:nvSpPr>
        <p:spPr>
          <a:xfrm>
            <a:off x="548640" y="1783080"/>
            <a:ext cx="5029200" cy="786384"/>
          </a:xfrm>
          <a:prstGeom prst="roundRect">
            <a:avLst>
              <a:gd name="adj" fmla="val 10465"/>
            </a:avLst>
          </a:prstGeom>
          <a:solidFill>
            <a:srgbClr val="F4F6FB"/>
          </a:solidFill>
          <a:ln/>
        </p:spPr>
      </p:sp>
      <p:sp>
        <p:nvSpPr>
          <p:cNvPr id="8" name="Text 6"/>
          <p:cNvSpPr/>
          <p:nvPr/>
        </p:nvSpPr>
        <p:spPr>
          <a:xfrm>
            <a:off x="713232" y="1783080"/>
            <a:ext cx="4700016" cy="786384"/>
          </a:xfrm>
          <a:prstGeom prst="rect">
            <a:avLst/>
          </a:prstGeom>
          <a:noFill/>
          <a:ln/>
        </p:spPr>
        <p:txBody>
          <a:bodyPr wrap="square" lIns="0" tIns="0" rIns="0" bIns="0" rtlCol="0" anchor="ctr"/>
          <a:lstStyle/>
          <a:p>
            <a:pPr marL="0" indent="0" algn="l">
              <a:buNone/>
            </a:pPr>
            <a:r>
              <a:rPr lang="en-US" sz="1700" b="1" dirty="0">
                <a:solidFill>
                  <a:srgbClr val="6B7385"/>
                </a:solidFill>
                <a:latin typeface="Consolas" pitchFamily="34" charset="0"/>
                <a:ea typeface="Consolas" pitchFamily="34" charset="-122"/>
                <a:cs typeface="Consolas" pitchFamily="34" charset="-120"/>
              </a:rPr>
              <a:t>f(x) = 0 if x&lt;0 ; 1 if x≥0</a:t>
            </a:r>
            <a:endParaRPr lang="en-US" sz="1700" dirty="0"/>
          </a:p>
        </p:txBody>
      </p:sp>
      <p:sp>
        <p:nvSpPr>
          <p:cNvPr id="9" name="Text 7"/>
          <p:cNvSpPr/>
          <p:nvPr/>
        </p:nvSpPr>
        <p:spPr>
          <a:xfrm>
            <a:off x="548640" y="2697480"/>
            <a:ext cx="5029200" cy="310896"/>
          </a:xfrm>
          <a:prstGeom prst="rect">
            <a:avLst/>
          </a:prstGeom>
          <a:noFill/>
          <a:ln/>
        </p:spPr>
        <p:txBody>
          <a:bodyPr wrap="square" lIns="0" tIns="0" rIns="0" bIns="0" rtlCol="0" anchor="ctr"/>
          <a:lstStyle/>
          <a:p>
            <a:pPr marL="0" indent="0">
              <a:buNone/>
            </a:pPr>
            <a:r>
              <a:rPr lang="en-US" sz="1350" b="1" dirty="0">
                <a:solidFill>
                  <a:srgbClr val="6B7385"/>
                </a:solidFill>
                <a:latin typeface="Calibri" pitchFamily="34" charset="0"/>
                <a:ea typeface="Calibri" pitchFamily="34" charset="-122"/>
                <a:cs typeface="Calibri" pitchFamily="34" charset="-120"/>
              </a:rPr>
              <a:t>Range:  {0, 1}</a:t>
            </a:r>
            <a:endParaRPr lang="en-US" sz="1350" dirty="0"/>
          </a:p>
        </p:txBody>
      </p:sp>
      <p:sp>
        <p:nvSpPr>
          <p:cNvPr id="10" name="Text 8"/>
          <p:cNvSpPr/>
          <p:nvPr/>
        </p:nvSpPr>
        <p:spPr>
          <a:xfrm>
            <a:off x="548640" y="3154680"/>
            <a:ext cx="5029200" cy="256032"/>
          </a:xfrm>
          <a:prstGeom prst="rect">
            <a:avLst/>
          </a:prstGeom>
          <a:noFill/>
          <a:ln/>
        </p:spPr>
        <p:txBody>
          <a:bodyPr wrap="square" lIns="0" tIns="0" rIns="0" bIns="0" rtlCol="0" anchor="ctr"/>
          <a:lstStyle/>
          <a:p>
            <a:pPr marL="0" indent="0">
              <a:buNone/>
            </a:pPr>
            <a:r>
              <a:rPr lang="en-US" sz="1100" b="1" kern="0" spc="100" dirty="0">
                <a:solidFill>
                  <a:srgbClr val="12B886"/>
                </a:solidFill>
                <a:latin typeface="Calibri" pitchFamily="34" charset="0"/>
                <a:ea typeface="Calibri" pitchFamily="34" charset="-122"/>
                <a:cs typeface="Calibri" pitchFamily="34" charset="-120"/>
              </a:rPr>
              <a:t>PROS</a:t>
            </a:r>
            <a:endParaRPr lang="en-US" sz="1100" dirty="0"/>
          </a:p>
        </p:txBody>
      </p:sp>
      <p:sp>
        <p:nvSpPr>
          <p:cNvPr id="11" name="Text 9"/>
          <p:cNvSpPr/>
          <p:nvPr/>
        </p:nvSpPr>
        <p:spPr>
          <a:xfrm>
            <a:off x="548640" y="3465576"/>
            <a:ext cx="274320" cy="292608"/>
          </a:xfrm>
          <a:prstGeom prst="rect">
            <a:avLst/>
          </a:prstGeom>
          <a:noFill/>
          <a:ln/>
        </p:spPr>
        <p:txBody>
          <a:bodyPr wrap="square" lIns="0" tIns="0" rIns="0" bIns="0" rtlCol="0" anchor="t"/>
          <a:lstStyle/>
          <a:p>
            <a:pPr marL="0" indent="0">
              <a:buNone/>
            </a:pPr>
            <a:r>
              <a:rPr lang="en-US" sz="1400" b="1" dirty="0">
                <a:solidFill>
                  <a:srgbClr val="12B886"/>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841248" y="3465576"/>
            <a:ext cx="4736592" cy="548640"/>
          </a:xfrm>
          <a:prstGeom prst="rect">
            <a:avLst/>
          </a:prstGeom>
          <a:noFill/>
          <a:ln/>
        </p:spPr>
        <p:txBody>
          <a:bodyPr wrap="square" lIns="0" tIns="0" rIns="0" bIns="0" rtlCol="0" anchor="t"/>
          <a:lstStyle/>
          <a:p>
            <a:pPr marL="0" indent="0">
              <a:buNone/>
            </a:pPr>
            <a:r>
              <a:rPr lang="en-US" sz="1350" dirty="0">
                <a:solidFill>
                  <a:srgbClr val="1C2333"/>
                </a:solidFill>
                <a:latin typeface="Calibri" pitchFamily="34" charset="0"/>
                <a:ea typeface="Calibri" pitchFamily="34" charset="-122"/>
                <a:cs typeface="Calibri" pitchFamily="34" charset="-120"/>
              </a:rPr>
              <a:t>Intuitive on/off firing rule</a:t>
            </a:r>
            <a:endParaRPr lang="en-US" sz="1350" dirty="0"/>
          </a:p>
        </p:txBody>
      </p:sp>
      <p:sp>
        <p:nvSpPr>
          <p:cNvPr id="13" name="Text 11"/>
          <p:cNvSpPr/>
          <p:nvPr/>
        </p:nvSpPr>
        <p:spPr>
          <a:xfrm>
            <a:off x="548640" y="3867912"/>
            <a:ext cx="274320" cy="292608"/>
          </a:xfrm>
          <a:prstGeom prst="rect">
            <a:avLst/>
          </a:prstGeom>
          <a:noFill/>
          <a:ln/>
        </p:spPr>
        <p:txBody>
          <a:bodyPr wrap="square" lIns="0" tIns="0" rIns="0" bIns="0" rtlCol="0" anchor="t"/>
          <a:lstStyle/>
          <a:p>
            <a:pPr marL="0" indent="0">
              <a:buNone/>
            </a:pPr>
            <a:r>
              <a:rPr lang="en-US" sz="1400" b="1" dirty="0">
                <a:solidFill>
                  <a:srgbClr val="12B886"/>
                </a:solidFill>
                <a:latin typeface="Calibri" pitchFamily="34" charset="0"/>
                <a:ea typeface="Calibri" pitchFamily="34" charset="-122"/>
                <a:cs typeface="Calibri" pitchFamily="34" charset="-120"/>
              </a:rPr>
              <a:t>✓</a:t>
            </a:r>
            <a:endParaRPr lang="en-US" sz="1400" dirty="0"/>
          </a:p>
        </p:txBody>
      </p:sp>
      <p:sp>
        <p:nvSpPr>
          <p:cNvPr id="14" name="Text 12"/>
          <p:cNvSpPr/>
          <p:nvPr/>
        </p:nvSpPr>
        <p:spPr>
          <a:xfrm>
            <a:off x="841248" y="3867912"/>
            <a:ext cx="4736592" cy="548640"/>
          </a:xfrm>
          <a:prstGeom prst="rect">
            <a:avLst/>
          </a:prstGeom>
          <a:noFill/>
          <a:ln/>
        </p:spPr>
        <p:txBody>
          <a:bodyPr wrap="square" lIns="0" tIns="0" rIns="0" bIns="0" rtlCol="0" anchor="t"/>
          <a:lstStyle/>
          <a:p>
            <a:pPr marL="0" indent="0">
              <a:buNone/>
            </a:pPr>
            <a:r>
              <a:rPr lang="en-US" sz="1350" dirty="0">
                <a:solidFill>
                  <a:srgbClr val="1C2333"/>
                </a:solidFill>
                <a:latin typeface="Calibri" pitchFamily="34" charset="0"/>
                <a:ea typeface="Calibri" pitchFamily="34" charset="-122"/>
                <a:cs typeface="Calibri" pitchFamily="34" charset="-120"/>
              </a:rPr>
              <a:t>Basis of the original perceptron</a:t>
            </a:r>
            <a:endParaRPr lang="en-US" sz="1350" dirty="0"/>
          </a:p>
        </p:txBody>
      </p:sp>
      <p:sp>
        <p:nvSpPr>
          <p:cNvPr id="15" name="Text 13"/>
          <p:cNvSpPr/>
          <p:nvPr/>
        </p:nvSpPr>
        <p:spPr>
          <a:xfrm>
            <a:off x="548640" y="4379976"/>
            <a:ext cx="5029200" cy="256032"/>
          </a:xfrm>
          <a:prstGeom prst="rect">
            <a:avLst/>
          </a:prstGeom>
          <a:noFill/>
          <a:ln/>
        </p:spPr>
        <p:txBody>
          <a:bodyPr wrap="square" lIns="0" tIns="0" rIns="0" bIns="0" rtlCol="0" anchor="ctr"/>
          <a:lstStyle/>
          <a:p>
            <a:pPr marL="0" indent="0">
              <a:buNone/>
            </a:pPr>
            <a:r>
              <a:rPr lang="en-US" sz="1100" b="1" kern="0" spc="100" dirty="0">
                <a:solidFill>
                  <a:srgbClr val="E5484D"/>
                </a:solidFill>
                <a:latin typeface="Calibri" pitchFamily="34" charset="0"/>
                <a:ea typeface="Calibri" pitchFamily="34" charset="-122"/>
                <a:cs typeface="Calibri" pitchFamily="34" charset="-120"/>
              </a:rPr>
              <a:t>CONS</a:t>
            </a:r>
            <a:endParaRPr lang="en-US" sz="1100" dirty="0"/>
          </a:p>
        </p:txBody>
      </p:sp>
      <p:sp>
        <p:nvSpPr>
          <p:cNvPr id="16" name="Text 14"/>
          <p:cNvSpPr/>
          <p:nvPr/>
        </p:nvSpPr>
        <p:spPr>
          <a:xfrm>
            <a:off x="548640" y="4690872"/>
            <a:ext cx="274320" cy="292608"/>
          </a:xfrm>
          <a:prstGeom prst="rect">
            <a:avLst/>
          </a:prstGeom>
          <a:noFill/>
          <a:ln/>
        </p:spPr>
        <p:txBody>
          <a:bodyPr wrap="square" lIns="0" tIns="0" rIns="0" bIns="0" rtlCol="0" anchor="t"/>
          <a:lstStyle/>
          <a:p>
            <a:pPr marL="0" indent="0">
              <a:buNone/>
            </a:pPr>
            <a:r>
              <a:rPr lang="en-US" sz="1400" b="1" dirty="0">
                <a:solidFill>
                  <a:srgbClr val="E5484D"/>
                </a:solidFill>
                <a:latin typeface="Calibri" pitchFamily="34" charset="0"/>
                <a:ea typeface="Calibri" pitchFamily="34" charset="-122"/>
                <a:cs typeface="Calibri" pitchFamily="34" charset="-120"/>
              </a:rPr>
              <a:t>✗</a:t>
            </a:r>
            <a:endParaRPr lang="en-US" sz="1400" dirty="0"/>
          </a:p>
        </p:txBody>
      </p:sp>
      <p:sp>
        <p:nvSpPr>
          <p:cNvPr id="17" name="Text 15"/>
          <p:cNvSpPr/>
          <p:nvPr/>
        </p:nvSpPr>
        <p:spPr>
          <a:xfrm>
            <a:off x="841248" y="4690872"/>
            <a:ext cx="4736592" cy="548640"/>
          </a:xfrm>
          <a:prstGeom prst="rect">
            <a:avLst/>
          </a:prstGeom>
          <a:noFill/>
          <a:ln/>
        </p:spPr>
        <p:txBody>
          <a:bodyPr wrap="square" lIns="0" tIns="0" rIns="0" bIns="0" rtlCol="0" anchor="t"/>
          <a:lstStyle/>
          <a:p>
            <a:pPr marL="0" indent="0">
              <a:buNone/>
            </a:pPr>
            <a:r>
              <a:rPr lang="en-US" sz="1350" dirty="0">
                <a:solidFill>
                  <a:srgbClr val="1C2333"/>
                </a:solidFill>
                <a:latin typeface="Calibri" pitchFamily="34" charset="0"/>
                <a:ea typeface="Calibri" pitchFamily="34" charset="-122"/>
                <a:cs typeface="Calibri" pitchFamily="34" charset="-120"/>
              </a:rPr>
              <a:t>Gradient is 0 — can't train by backprop</a:t>
            </a:r>
            <a:endParaRPr lang="en-US" sz="1350" dirty="0"/>
          </a:p>
        </p:txBody>
      </p:sp>
      <p:sp>
        <p:nvSpPr>
          <p:cNvPr id="18" name="Text 16"/>
          <p:cNvSpPr/>
          <p:nvPr/>
        </p:nvSpPr>
        <p:spPr>
          <a:xfrm>
            <a:off x="548640" y="5093208"/>
            <a:ext cx="274320" cy="292608"/>
          </a:xfrm>
          <a:prstGeom prst="rect">
            <a:avLst/>
          </a:prstGeom>
          <a:noFill/>
          <a:ln/>
        </p:spPr>
        <p:txBody>
          <a:bodyPr wrap="square" lIns="0" tIns="0" rIns="0" bIns="0" rtlCol="0" anchor="t"/>
          <a:lstStyle/>
          <a:p>
            <a:pPr marL="0" indent="0">
              <a:buNone/>
            </a:pPr>
            <a:r>
              <a:rPr lang="en-US" sz="1400" b="1" dirty="0">
                <a:solidFill>
                  <a:srgbClr val="E5484D"/>
                </a:solidFill>
                <a:latin typeface="Calibri" pitchFamily="34" charset="0"/>
                <a:ea typeface="Calibri" pitchFamily="34" charset="-122"/>
                <a:cs typeface="Calibri" pitchFamily="34" charset="-120"/>
              </a:rPr>
              <a:t>✗</a:t>
            </a:r>
            <a:endParaRPr lang="en-US" sz="1400" dirty="0"/>
          </a:p>
        </p:txBody>
      </p:sp>
      <p:sp>
        <p:nvSpPr>
          <p:cNvPr id="19" name="Text 17"/>
          <p:cNvSpPr/>
          <p:nvPr/>
        </p:nvSpPr>
        <p:spPr>
          <a:xfrm>
            <a:off x="841248" y="5093208"/>
            <a:ext cx="4736592" cy="548640"/>
          </a:xfrm>
          <a:prstGeom prst="rect">
            <a:avLst/>
          </a:prstGeom>
          <a:noFill/>
          <a:ln/>
        </p:spPr>
        <p:txBody>
          <a:bodyPr wrap="square" lIns="0" tIns="0" rIns="0" bIns="0" rtlCol="0" anchor="t"/>
          <a:lstStyle/>
          <a:p>
            <a:pPr marL="0" indent="0">
              <a:buNone/>
            </a:pPr>
            <a:r>
              <a:rPr lang="en-US" sz="1350" dirty="0">
                <a:solidFill>
                  <a:srgbClr val="1C2333"/>
                </a:solidFill>
                <a:latin typeface="Calibri" pitchFamily="34" charset="0"/>
                <a:ea typeface="Calibri" pitchFamily="34" charset="-122"/>
                <a:cs typeface="Calibri" pitchFamily="34" charset="-120"/>
              </a:rPr>
              <a:t>No graded output; no multi-class</a:t>
            </a:r>
            <a:endParaRPr lang="en-US" sz="1350" dirty="0"/>
          </a:p>
        </p:txBody>
      </p:sp>
      <p:sp>
        <p:nvSpPr>
          <p:cNvPr id="20" name="Shape 18"/>
          <p:cNvSpPr/>
          <p:nvPr/>
        </p:nvSpPr>
        <p:spPr>
          <a:xfrm>
            <a:off x="5852160" y="5806440"/>
            <a:ext cx="5788152" cy="603504"/>
          </a:xfrm>
          <a:prstGeom prst="roundRect">
            <a:avLst>
              <a:gd name="adj" fmla="val 15152"/>
            </a:avLst>
          </a:prstGeom>
          <a:solidFill>
            <a:srgbClr val="141B3C"/>
          </a:solidFill>
          <a:ln/>
        </p:spPr>
      </p:sp>
      <p:sp>
        <p:nvSpPr>
          <p:cNvPr id="21" name="Text 19"/>
          <p:cNvSpPr/>
          <p:nvPr/>
        </p:nvSpPr>
        <p:spPr>
          <a:xfrm>
            <a:off x="6035040" y="5806440"/>
            <a:ext cx="5394960" cy="603504"/>
          </a:xfrm>
          <a:prstGeom prst="rect">
            <a:avLst/>
          </a:prstGeom>
          <a:noFill/>
          <a:ln/>
        </p:spPr>
        <p:txBody>
          <a:bodyPr wrap="square" lIns="0" tIns="0" rIns="0" bIns="0" rtlCol="0" anchor="ctr"/>
          <a:lstStyle/>
          <a:p>
            <a:pPr marL="0" indent="0">
              <a:buNone/>
            </a:pPr>
            <a:r>
              <a:rPr lang="en-US" sz="1100" b="1" kern="0" spc="100" dirty="0">
                <a:solidFill>
                  <a:srgbClr val="6B7385"/>
                </a:solidFill>
                <a:latin typeface="Calibri" pitchFamily="34" charset="0"/>
                <a:ea typeface="Calibri" pitchFamily="34" charset="-122"/>
                <a:cs typeface="Calibri" pitchFamily="34" charset="-120"/>
              </a:rPr>
              <a:t>USE FOR   </a:t>
            </a:r>
            <a:r>
              <a:rPr lang="en-US" sz="1350" dirty="0">
                <a:solidFill>
                  <a:srgbClr val="FFFFFF"/>
                </a:solidFill>
                <a:latin typeface="Calibri" pitchFamily="34" charset="0"/>
                <a:ea typeface="Calibri" pitchFamily="34" charset="-122"/>
                <a:cs typeface="Calibri" pitchFamily="34" charset="-120"/>
              </a:rPr>
              <a:t>historical / theoretical interest only</a:t>
            </a:r>
            <a:endParaRPr lang="en-US" sz="1100" dirty="0"/>
          </a:p>
        </p:txBody>
      </p:sp>
      <p:pic>
        <p:nvPicPr>
          <p:cNvPr id="22" name="Image 0" descr="/home/claude/fig/fn_step.png"/>
          <p:cNvPicPr>
            <a:picLocks noChangeAspect="1"/>
          </p:cNvPicPr>
          <p:nvPr/>
        </p:nvPicPr>
        <p:blipFill>
          <a:blip r:embed="rId3"/>
          <a:srcRect/>
          <a:stretch/>
        </p:blipFill>
        <p:spPr>
          <a:xfrm>
            <a:off x="5852160" y="1417320"/>
            <a:ext cx="5788152" cy="4206240"/>
          </a:xfrm>
          <a:prstGeom prst="rect">
            <a:avLst/>
          </a:prstGeom>
        </p:spPr>
      </p:pic>
      <p:sp>
        <p:nvSpPr>
          <p:cNvPr id="23" name="Text 20"/>
          <p:cNvSpPr/>
          <p:nvPr/>
        </p:nvSpPr>
        <p:spPr>
          <a:xfrm>
            <a:off x="548640" y="6473952"/>
            <a:ext cx="4572000" cy="274320"/>
          </a:xfrm>
          <a:prstGeom prst="rect">
            <a:avLst/>
          </a:prstGeom>
          <a:noFill/>
          <a:ln/>
        </p:spPr>
        <p:txBody>
          <a:bodyPr wrap="square" lIns="0" tIns="0" rIns="0" bIns="0" rtlCol="0" anchor="ctr"/>
          <a:lstStyle/>
          <a:p>
            <a:pPr marL="0" indent="0" algn="l">
              <a:buNone/>
            </a:pPr>
            <a:r>
              <a:rPr lang="en-US" sz="900" dirty="0">
                <a:solidFill>
                  <a:srgbClr val="6B7385"/>
                </a:solidFill>
                <a:latin typeface="Calibri" pitchFamily="34" charset="0"/>
                <a:ea typeface="Calibri" pitchFamily="34" charset="-122"/>
                <a:cs typeface="Calibri" pitchFamily="34" charset="-120"/>
              </a:rPr>
              <a:t>Activation Functions</a:t>
            </a:r>
            <a:endParaRPr lang="en-US" sz="900" dirty="0"/>
          </a:p>
        </p:txBody>
      </p:sp>
      <p:sp>
        <p:nvSpPr>
          <p:cNvPr id="24" name="Text 21"/>
          <p:cNvSpPr/>
          <p:nvPr/>
        </p:nvSpPr>
        <p:spPr>
          <a:xfrm>
            <a:off x="11183112" y="6473952"/>
            <a:ext cx="457200" cy="274320"/>
          </a:xfrm>
          <a:prstGeom prst="rect">
            <a:avLst/>
          </a:prstGeom>
          <a:noFill/>
          <a:ln/>
        </p:spPr>
        <p:txBody>
          <a:bodyPr wrap="square" lIns="0" tIns="0" rIns="0" bIns="0" rtlCol="0" anchor="ctr"/>
          <a:lstStyle/>
          <a:p>
            <a:pPr marL="0" indent="0" algn="r">
              <a:buNone/>
            </a:pPr>
            <a:r>
              <a:rPr lang="en-US" sz="900" dirty="0">
                <a:solidFill>
                  <a:srgbClr val="6B7385"/>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48640"/>
            <a:ext cx="751637" cy="310896"/>
          </a:xfrm>
          <a:prstGeom prst="roundRect">
            <a:avLst>
              <a:gd name="adj" fmla="val 50000"/>
            </a:avLst>
          </a:prstGeom>
          <a:solidFill>
            <a:srgbClr val="2F55D4"/>
          </a:solidFill>
          <a:ln/>
        </p:spPr>
      </p:sp>
      <p:sp>
        <p:nvSpPr>
          <p:cNvPr id="3" name="Text 1"/>
          <p:cNvSpPr/>
          <p:nvPr/>
        </p:nvSpPr>
        <p:spPr>
          <a:xfrm>
            <a:off x="548640" y="548640"/>
            <a:ext cx="751637" cy="310896"/>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CLASSIC</a:t>
            </a:r>
            <a:endParaRPr lang="en-US" sz="1100" dirty="0"/>
          </a:p>
        </p:txBody>
      </p:sp>
      <p:sp>
        <p:nvSpPr>
          <p:cNvPr id="4" name="Shape 2"/>
          <p:cNvSpPr/>
          <p:nvPr/>
        </p:nvSpPr>
        <p:spPr>
          <a:xfrm>
            <a:off x="548640" y="932688"/>
            <a:ext cx="566928" cy="566928"/>
          </a:xfrm>
          <a:prstGeom prst="roundRect">
            <a:avLst>
              <a:gd name="adj" fmla="val 19355"/>
            </a:avLst>
          </a:prstGeom>
          <a:solidFill>
            <a:srgbClr val="2F55D4"/>
          </a:solidFill>
          <a:ln/>
        </p:spPr>
      </p:sp>
      <p:sp>
        <p:nvSpPr>
          <p:cNvPr id="5" name="Text 3"/>
          <p:cNvSpPr/>
          <p:nvPr/>
        </p:nvSpPr>
        <p:spPr>
          <a:xfrm>
            <a:off x="548640" y="932688"/>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σ</a:t>
            </a:r>
            <a:endParaRPr lang="en-US" sz="2200" dirty="0"/>
          </a:p>
        </p:txBody>
      </p:sp>
      <p:sp>
        <p:nvSpPr>
          <p:cNvPr id="6" name="Text 4"/>
          <p:cNvSpPr/>
          <p:nvPr/>
        </p:nvSpPr>
        <p:spPr>
          <a:xfrm>
            <a:off x="1298448" y="932688"/>
            <a:ext cx="5486400" cy="566928"/>
          </a:xfrm>
          <a:prstGeom prst="rect">
            <a:avLst/>
          </a:prstGeom>
          <a:noFill/>
          <a:ln/>
        </p:spPr>
        <p:txBody>
          <a:bodyPr wrap="square" lIns="0" tIns="0" rIns="0" bIns="0" rtlCol="0" anchor="ctr"/>
          <a:lstStyle/>
          <a:p>
            <a:pPr marL="0" indent="0">
              <a:buNone/>
            </a:pPr>
            <a:r>
              <a:rPr lang="en-US" sz="2900" b="1" dirty="0">
                <a:solidFill>
                  <a:srgbClr val="141B3C"/>
                </a:solidFill>
                <a:latin typeface="Calibri" pitchFamily="34" charset="0"/>
                <a:ea typeface="Calibri" pitchFamily="34" charset="-122"/>
                <a:cs typeface="Calibri" pitchFamily="34" charset="-120"/>
              </a:rPr>
              <a:t>Sigmoid (Logistic)</a:t>
            </a:r>
            <a:endParaRPr lang="en-US" sz="2900" dirty="0"/>
          </a:p>
        </p:txBody>
      </p:sp>
      <p:sp>
        <p:nvSpPr>
          <p:cNvPr id="7" name="Shape 5"/>
          <p:cNvSpPr/>
          <p:nvPr/>
        </p:nvSpPr>
        <p:spPr>
          <a:xfrm>
            <a:off x="548640" y="1783080"/>
            <a:ext cx="5029200" cy="786384"/>
          </a:xfrm>
          <a:prstGeom prst="roundRect">
            <a:avLst>
              <a:gd name="adj" fmla="val 10465"/>
            </a:avLst>
          </a:prstGeom>
          <a:solidFill>
            <a:srgbClr val="F4F6FB"/>
          </a:solidFill>
          <a:ln/>
        </p:spPr>
      </p:sp>
      <p:sp>
        <p:nvSpPr>
          <p:cNvPr id="8" name="Text 6"/>
          <p:cNvSpPr/>
          <p:nvPr/>
        </p:nvSpPr>
        <p:spPr>
          <a:xfrm>
            <a:off x="713232" y="1783080"/>
            <a:ext cx="4700016" cy="786384"/>
          </a:xfrm>
          <a:prstGeom prst="rect">
            <a:avLst/>
          </a:prstGeom>
          <a:noFill/>
          <a:ln/>
        </p:spPr>
        <p:txBody>
          <a:bodyPr wrap="square" lIns="0" tIns="0" rIns="0" bIns="0" rtlCol="0" anchor="ctr"/>
          <a:lstStyle/>
          <a:p>
            <a:pPr marL="0" indent="0" algn="l">
              <a:buNone/>
            </a:pPr>
            <a:r>
              <a:rPr lang="en-US" sz="1700" b="1" dirty="0">
                <a:solidFill>
                  <a:srgbClr val="2F55D4"/>
                </a:solidFill>
                <a:latin typeface="Consolas" pitchFamily="34" charset="0"/>
                <a:ea typeface="Consolas" pitchFamily="34" charset="-122"/>
                <a:cs typeface="Consolas" pitchFamily="34" charset="-120"/>
              </a:rPr>
              <a:t>σ(x) = 1 / (1 + e⁻ˣ)</a:t>
            </a:r>
            <a:endParaRPr lang="en-US" sz="1700" dirty="0"/>
          </a:p>
        </p:txBody>
      </p:sp>
      <p:sp>
        <p:nvSpPr>
          <p:cNvPr id="9" name="Text 7"/>
          <p:cNvSpPr/>
          <p:nvPr/>
        </p:nvSpPr>
        <p:spPr>
          <a:xfrm>
            <a:off x="548640" y="2697480"/>
            <a:ext cx="5029200" cy="310896"/>
          </a:xfrm>
          <a:prstGeom prst="rect">
            <a:avLst/>
          </a:prstGeom>
          <a:noFill/>
          <a:ln/>
        </p:spPr>
        <p:txBody>
          <a:bodyPr wrap="square" lIns="0" tIns="0" rIns="0" bIns="0" rtlCol="0" anchor="ctr"/>
          <a:lstStyle/>
          <a:p>
            <a:pPr marL="0" indent="0">
              <a:buNone/>
            </a:pPr>
            <a:r>
              <a:rPr lang="en-US" sz="1350" b="1" dirty="0">
                <a:solidFill>
                  <a:srgbClr val="6B7385"/>
                </a:solidFill>
                <a:latin typeface="Calibri" pitchFamily="34" charset="0"/>
                <a:ea typeface="Calibri" pitchFamily="34" charset="-122"/>
                <a:cs typeface="Calibri" pitchFamily="34" charset="-120"/>
              </a:rPr>
              <a:t>Range:  (0, 1)</a:t>
            </a:r>
            <a:endParaRPr lang="en-US" sz="1350" dirty="0"/>
          </a:p>
        </p:txBody>
      </p:sp>
      <p:sp>
        <p:nvSpPr>
          <p:cNvPr id="10" name="Text 8"/>
          <p:cNvSpPr/>
          <p:nvPr/>
        </p:nvSpPr>
        <p:spPr>
          <a:xfrm>
            <a:off x="548640" y="3154680"/>
            <a:ext cx="5029200" cy="256032"/>
          </a:xfrm>
          <a:prstGeom prst="rect">
            <a:avLst/>
          </a:prstGeom>
          <a:noFill/>
          <a:ln/>
        </p:spPr>
        <p:txBody>
          <a:bodyPr wrap="square" lIns="0" tIns="0" rIns="0" bIns="0" rtlCol="0" anchor="ctr"/>
          <a:lstStyle/>
          <a:p>
            <a:pPr marL="0" indent="0">
              <a:buNone/>
            </a:pPr>
            <a:r>
              <a:rPr lang="en-US" sz="1100" b="1" kern="0" spc="100" dirty="0">
                <a:solidFill>
                  <a:srgbClr val="12B886"/>
                </a:solidFill>
                <a:latin typeface="Calibri" pitchFamily="34" charset="0"/>
                <a:ea typeface="Calibri" pitchFamily="34" charset="-122"/>
                <a:cs typeface="Calibri" pitchFamily="34" charset="-120"/>
              </a:rPr>
              <a:t>PROS</a:t>
            </a:r>
            <a:endParaRPr lang="en-US" sz="1100" dirty="0"/>
          </a:p>
        </p:txBody>
      </p:sp>
      <p:sp>
        <p:nvSpPr>
          <p:cNvPr id="11" name="Text 9"/>
          <p:cNvSpPr/>
          <p:nvPr/>
        </p:nvSpPr>
        <p:spPr>
          <a:xfrm>
            <a:off x="548640" y="3465576"/>
            <a:ext cx="274320" cy="292608"/>
          </a:xfrm>
          <a:prstGeom prst="rect">
            <a:avLst/>
          </a:prstGeom>
          <a:noFill/>
          <a:ln/>
        </p:spPr>
        <p:txBody>
          <a:bodyPr wrap="square" lIns="0" tIns="0" rIns="0" bIns="0" rtlCol="0" anchor="t"/>
          <a:lstStyle/>
          <a:p>
            <a:pPr marL="0" indent="0">
              <a:buNone/>
            </a:pPr>
            <a:r>
              <a:rPr lang="en-US" sz="1400" b="1" dirty="0">
                <a:solidFill>
                  <a:srgbClr val="12B886"/>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841248" y="3465576"/>
            <a:ext cx="4736592" cy="548640"/>
          </a:xfrm>
          <a:prstGeom prst="rect">
            <a:avLst/>
          </a:prstGeom>
          <a:noFill/>
          <a:ln/>
        </p:spPr>
        <p:txBody>
          <a:bodyPr wrap="square" lIns="0" tIns="0" rIns="0" bIns="0" rtlCol="0" anchor="t"/>
          <a:lstStyle/>
          <a:p>
            <a:pPr marL="0" indent="0">
              <a:buNone/>
            </a:pPr>
            <a:r>
              <a:rPr lang="en-US" sz="1350" dirty="0">
                <a:solidFill>
                  <a:srgbClr val="1C2333"/>
                </a:solidFill>
                <a:latin typeface="Calibri" pitchFamily="34" charset="0"/>
                <a:ea typeface="Calibri" pitchFamily="34" charset="-122"/>
                <a:cs typeface="Calibri" pitchFamily="34" charset="-120"/>
              </a:rPr>
              <a:t>Smooth, differentiable everywhere</a:t>
            </a:r>
            <a:endParaRPr lang="en-US" sz="1350" dirty="0"/>
          </a:p>
        </p:txBody>
      </p:sp>
      <p:sp>
        <p:nvSpPr>
          <p:cNvPr id="13" name="Text 11"/>
          <p:cNvSpPr/>
          <p:nvPr/>
        </p:nvSpPr>
        <p:spPr>
          <a:xfrm>
            <a:off x="548640" y="3867912"/>
            <a:ext cx="274320" cy="292608"/>
          </a:xfrm>
          <a:prstGeom prst="rect">
            <a:avLst/>
          </a:prstGeom>
          <a:noFill/>
          <a:ln/>
        </p:spPr>
        <p:txBody>
          <a:bodyPr wrap="square" lIns="0" tIns="0" rIns="0" bIns="0" rtlCol="0" anchor="t"/>
          <a:lstStyle/>
          <a:p>
            <a:pPr marL="0" indent="0">
              <a:buNone/>
            </a:pPr>
            <a:r>
              <a:rPr lang="en-US" sz="1400" b="1" dirty="0">
                <a:solidFill>
                  <a:srgbClr val="12B886"/>
                </a:solidFill>
                <a:latin typeface="Calibri" pitchFamily="34" charset="0"/>
                <a:ea typeface="Calibri" pitchFamily="34" charset="-122"/>
                <a:cs typeface="Calibri" pitchFamily="34" charset="-120"/>
              </a:rPr>
              <a:t>✓</a:t>
            </a:r>
            <a:endParaRPr lang="en-US" sz="1400" dirty="0"/>
          </a:p>
        </p:txBody>
      </p:sp>
      <p:sp>
        <p:nvSpPr>
          <p:cNvPr id="14" name="Text 12"/>
          <p:cNvSpPr/>
          <p:nvPr/>
        </p:nvSpPr>
        <p:spPr>
          <a:xfrm>
            <a:off x="841248" y="3867912"/>
            <a:ext cx="4736592" cy="548640"/>
          </a:xfrm>
          <a:prstGeom prst="rect">
            <a:avLst/>
          </a:prstGeom>
          <a:noFill/>
          <a:ln/>
        </p:spPr>
        <p:txBody>
          <a:bodyPr wrap="square" lIns="0" tIns="0" rIns="0" bIns="0" rtlCol="0" anchor="t"/>
          <a:lstStyle/>
          <a:p>
            <a:pPr marL="0" indent="0">
              <a:buNone/>
            </a:pPr>
            <a:r>
              <a:rPr lang="en-US" sz="1350" dirty="0">
                <a:solidFill>
                  <a:srgbClr val="1C2333"/>
                </a:solidFill>
                <a:latin typeface="Calibri" pitchFamily="34" charset="0"/>
                <a:ea typeface="Calibri" pitchFamily="34" charset="-122"/>
                <a:cs typeface="Calibri" pitchFamily="34" charset="-120"/>
              </a:rPr>
              <a:t>Output reads as a probability</a:t>
            </a:r>
            <a:endParaRPr lang="en-US" sz="1350" dirty="0"/>
          </a:p>
        </p:txBody>
      </p:sp>
      <p:sp>
        <p:nvSpPr>
          <p:cNvPr id="15" name="Text 13"/>
          <p:cNvSpPr/>
          <p:nvPr/>
        </p:nvSpPr>
        <p:spPr>
          <a:xfrm>
            <a:off x="548640" y="4379976"/>
            <a:ext cx="5029200" cy="256032"/>
          </a:xfrm>
          <a:prstGeom prst="rect">
            <a:avLst/>
          </a:prstGeom>
          <a:noFill/>
          <a:ln/>
        </p:spPr>
        <p:txBody>
          <a:bodyPr wrap="square" lIns="0" tIns="0" rIns="0" bIns="0" rtlCol="0" anchor="ctr"/>
          <a:lstStyle/>
          <a:p>
            <a:pPr marL="0" indent="0">
              <a:buNone/>
            </a:pPr>
            <a:r>
              <a:rPr lang="en-US" sz="1100" b="1" kern="0" spc="100" dirty="0">
                <a:solidFill>
                  <a:srgbClr val="E5484D"/>
                </a:solidFill>
                <a:latin typeface="Calibri" pitchFamily="34" charset="0"/>
                <a:ea typeface="Calibri" pitchFamily="34" charset="-122"/>
                <a:cs typeface="Calibri" pitchFamily="34" charset="-120"/>
              </a:rPr>
              <a:t>CONS</a:t>
            </a:r>
            <a:endParaRPr lang="en-US" sz="1100" dirty="0"/>
          </a:p>
        </p:txBody>
      </p:sp>
      <p:sp>
        <p:nvSpPr>
          <p:cNvPr id="16" name="Text 14"/>
          <p:cNvSpPr/>
          <p:nvPr/>
        </p:nvSpPr>
        <p:spPr>
          <a:xfrm>
            <a:off x="548640" y="4690872"/>
            <a:ext cx="274320" cy="292608"/>
          </a:xfrm>
          <a:prstGeom prst="rect">
            <a:avLst/>
          </a:prstGeom>
          <a:noFill/>
          <a:ln/>
        </p:spPr>
        <p:txBody>
          <a:bodyPr wrap="square" lIns="0" tIns="0" rIns="0" bIns="0" rtlCol="0" anchor="t"/>
          <a:lstStyle/>
          <a:p>
            <a:pPr marL="0" indent="0">
              <a:buNone/>
            </a:pPr>
            <a:r>
              <a:rPr lang="en-US" sz="1400" b="1" dirty="0">
                <a:solidFill>
                  <a:srgbClr val="E5484D"/>
                </a:solidFill>
                <a:latin typeface="Calibri" pitchFamily="34" charset="0"/>
                <a:ea typeface="Calibri" pitchFamily="34" charset="-122"/>
                <a:cs typeface="Calibri" pitchFamily="34" charset="-120"/>
              </a:rPr>
              <a:t>✗</a:t>
            </a:r>
            <a:endParaRPr lang="en-US" sz="1400" dirty="0"/>
          </a:p>
        </p:txBody>
      </p:sp>
      <p:sp>
        <p:nvSpPr>
          <p:cNvPr id="17" name="Text 15"/>
          <p:cNvSpPr/>
          <p:nvPr/>
        </p:nvSpPr>
        <p:spPr>
          <a:xfrm>
            <a:off x="841248" y="4690872"/>
            <a:ext cx="4736592" cy="548640"/>
          </a:xfrm>
          <a:prstGeom prst="rect">
            <a:avLst/>
          </a:prstGeom>
          <a:noFill/>
          <a:ln/>
        </p:spPr>
        <p:txBody>
          <a:bodyPr wrap="square" lIns="0" tIns="0" rIns="0" bIns="0" rtlCol="0" anchor="t"/>
          <a:lstStyle/>
          <a:p>
            <a:pPr marL="0" indent="0">
              <a:buNone/>
            </a:pPr>
            <a:r>
              <a:rPr lang="en-US" sz="1350" dirty="0">
                <a:solidFill>
                  <a:srgbClr val="1C2333"/>
                </a:solidFill>
                <a:latin typeface="Calibri" pitchFamily="34" charset="0"/>
                <a:ea typeface="Calibri" pitchFamily="34" charset="-122"/>
                <a:cs typeface="Calibri" pitchFamily="34" charset="-120"/>
              </a:rPr>
              <a:t>Saturates → vanishing gradients</a:t>
            </a:r>
            <a:endParaRPr lang="en-US" sz="1350" dirty="0"/>
          </a:p>
        </p:txBody>
      </p:sp>
      <p:sp>
        <p:nvSpPr>
          <p:cNvPr id="18" name="Text 16"/>
          <p:cNvSpPr/>
          <p:nvPr/>
        </p:nvSpPr>
        <p:spPr>
          <a:xfrm>
            <a:off x="548640" y="5093208"/>
            <a:ext cx="274320" cy="292608"/>
          </a:xfrm>
          <a:prstGeom prst="rect">
            <a:avLst/>
          </a:prstGeom>
          <a:noFill/>
          <a:ln/>
        </p:spPr>
        <p:txBody>
          <a:bodyPr wrap="square" lIns="0" tIns="0" rIns="0" bIns="0" rtlCol="0" anchor="t"/>
          <a:lstStyle/>
          <a:p>
            <a:pPr marL="0" indent="0">
              <a:buNone/>
            </a:pPr>
            <a:r>
              <a:rPr lang="en-US" sz="1400" b="1" dirty="0">
                <a:solidFill>
                  <a:srgbClr val="E5484D"/>
                </a:solidFill>
                <a:latin typeface="Calibri" pitchFamily="34" charset="0"/>
                <a:ea typeface="Calibri" pitchFamily="34" charset="-122"/>
                <a:cs typeface="Calibri" pitchFamily="34" charset="-120"/>
              </a:rPr>
              <a:t>✗</a:t>
            </a:r>
            <a:endParaRPr lang="en-US" sz="1400" dirty="0"/>
          </a:p>
        </p:txBody>
      </p:sp>
      <p:sp>
        <p:nvSpPr>
          <p:cNvPr id="19" name="Text 17"/>
          <p:cNvSpPr/>
          <p:nvPr/>
        </p:nvSpPr>
        <p:spPr>
          <a:xfrm>
            <a:off x="841248" y="5093208"/>
            <a:ext cx="4736592" cy="548640"/>
          </a:xfrm>
          <a:prstGeom prst="rect">
            <a:avLst/>
          </a:prstGeom>
          <a:noFill/>
          <a:ln/>
        </p:spPr>
        <p:txBody>
          <a:bodyPr wrap="square" lIns="0" tIns="0" rIns="0" bIns="0" rtlCol="0" anchor="t"/>
          <a:lstStyle/>
          <a:p>
            <a:pPr marL="0" indent="0">
              <a:buNone/>
            </a:pPr>
            <a:r>
              <a:rPr lang="en-US" sz="1350" dirty="0">
                <a:solidFill>
                  <a:srgbClr val="1C2333"/>
                </a:solidFill>
                <a:latin typeface="Calibri" pitchFamily="34" charset="0"/>
                <a:ea typeface="Calibri" pitchFamily="34" charset="-122"/>
                <a:cs typeface="Calibri" pitchFamily="34" charset="-120"/>
              </a:rPr>
              <a:t>Not zero-centered; slower training</a:t>
            </a:r>
            <a:endParaRPr lang="en-US" sz="1350" dirty="0"/>
          </a:p>
        </p:txBody>
      </p:sp>
      <p:sp>
        <p:nvSpPr>
          <p:cNvPr id="20" name="Shape 18"/>
          <p:cNvSpPr/>
          <p:nvPr/>
        </p:nvSpPr>
        <p:spPr>
          <a:xfrm>
            <a:off x="5852160" y="5806440"/>
            <a:ext cx="5788152" cy="603504"/>
          </a:xfrm>
          <a:prstGeom prst="roundRect">
            <a:avLst>
              <a:gd name="adj" fmla="val 15152"/>
            </a:avLst>
          </a:prstGeom>
          <a:solidFill>
            <a:srgbClr val="141B3C"/>
          </a:solidFill>
          <a:ln/>
        </p:spPr>
      </p:sp>
      <p:sp>
        <p:nvSpPr>
          <p:cNvPr id="21" name="Text 19"/>
          <p:cNvSpPr/>
          <p:nvPr/>
        </p:nvSpPr>
        <p:spPr>
          <a:xfrm>
            <a:off x="6035040" y="5806440"/>
            <a:ext cx="5394960" cy="603504"/>
          </a:xfrm>
          <a:prstGeom prst="rect">
            <a:avLst/>
          </a:prstGeom>
          <a:noFill/>
          <a:ln/>
        </p:spPr>
        <p:txBody>
          <a:bodyPr wrap="square" lIns="0" tIns="0" rIns="0" bIns="0" rtlCol="0" anchor="ctr"/>
          <a:lstStyle/>
          <a:p>
            <a:pPr marL="0" indent="0">
              <a:buNone/>
            </a:pPr>
            <a:r>
              <a:rPr lang="en-US" sz="1100" b="1" kern="0" spc="100" dirty="0">
                <a:solidFill>
                  <a:srgbClr val="2F55D4"/>
                </a:solidFill>
                <a:latin typeface="Calibri" pitchFamily="34" charset="0"/>
                <a:ea typeface="Calibri" pitchFamily="34" charset="-122"/>
                <a:cs typeface="Calibri" pitchFamily="34" charset="-120"/>
              </a:rPr>
              <a:t>USE FOR   </a:t>
            </a:r>
            <a:r>
              <a:rPr lang="en-US" sz="1350" dirty="0">
                <a:solidFill>
                  <a:srgbClr val="FFFFFF"/>
                </a:solidFill>
                <a:latin typeface="Calibri" pitchFamily="34" charset="0"/>
                <a:ea typeface="Calibri" pitchFamily="34" charset="-122"/>
                <a:cs typeface="Calibri" pitchFamily="34" charset="-120"/>
              </a:rPr>
              <a:t>a binary-classification output unit</a:t>
            </a:r>
            <a:endParaRPr lang="en-US" sz="1100" dirty="0"/>
          </a:p>
        </p:txBody>
      </p:sp>
      <p:pic>
        <p:nvPicPr>
          <p:cNvPr id="22" name="Image 0" descr="/home/claude/fig/fn_sigmoid.png"/>
          <p:cNvPicPr>
            <a:picLocks noChangeAspect="1"/>
          </p:cNvPicPr>
          <p:nvPr/>
        </p:nvPicPr>
        <p:blipFill>
          <a:blip r:embed="rId3"/>
          <a:srcRect/>
          <a:stretch/>
        </p:blipFill>
        <p:spPr>
          <a:xfrm>
            <a:off x="5852160" y="1417320"/>
            <a:ext cx="5788152" cy="4206240"/>
          </a:xfrm>
          <a:prstGeom prst="rect">
            <a:avLst/>
          </a:prstGeom>
        </p:spPr>
      </p:pic>
      <p:sp>
        <p:nvSpPr>
          <p:cNvPr id="23" name="Text 20"/>
          <p:cNvSpPr/>
          <p:nvPr/>
        </p:nvSpPr>
        <p:spPr>
          <a:xfrm>
            <a:off x="548640" y="6473952"/>
            <a:ext cx="4572000" cy="274320"/>
          </a:xfrm>
          <a:prstGeom prst="rect">
            <a:avLst/>
          </a:prstGeom>
          <a:noFill/>
          <a:ln/>
        </p:spPr>
        <p:txBody>
          <a:bodyPr wrap="square" lIns="0" tIns="0" rIns="0" bIns="0" rtlCol="0" anchor="ctr"/>
          <a:lstStyle/>
          <a:p>
            <a:pPr marL="0" indent="0" algn="l">
              <a:buNone/>
            </a:pPr>
            <a:r>
              <a:rPr lang="en-US" sz="900" dirty="0">
                <a:solidFill>
                  <a:srgbClr val="6B7385"/>
                </a:solidFill>
                <a:latin typeface="Calibri" pitchFamily="34" charset="0"/>
                <a:ea typeface="Calibri" pitchFamily="34" charset="-122"/>
                <a:cs typeface="Calibri" pitchFamily="34" charset="-120"/>
              </a:rPr>
              <a:t>Activation Functions</a:t>
            </a:r>
            <a:endParaRPr lang="en-US" sz="900" dirty="0"/>
          </a:p>
        </p:txBody>
      </p:sp>
      <p:sp>
        <p:nvSpPr>
          <p:cNvPr id="24" name="Text 21"/>
          <p:cNvSpPr/>
          <p:nvPr/>
        </p:nvSpPr>
        <p:spPr>
          <a:xfrm>
            <a:off x="11183112" y="6473952"/>
            <a:ext cx="457200" cy="274320"/>
          </a:xfrm>
          <a:prstGeom prst="rect">
            <a:avLst/>
          </a:prstGeom>
          <a:noFill/>
          <a:ln/>
        </p:spPr>
        <p:txBody>
          <a:bodyPr wrap="square" lIns="0" tIns="0" rIns="0" bIns="0" rtlCol="0" anchor="ctr"/>
          <a:lstStyle/>
          <a:p>
            <a:pPr marL="0" indent="0" algn="r">
              <a:buNone/>
            </a:pPr>
            <a:r>
              <a:rPr lang="en-US" sz="900" dirty="0">
                <a:solidFill>
                  <a:srgbClr val="6B7385"/>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48640"/>
            <a:ext cx="908914" cy="310896"/>
          </a:xfrm>
          <a:prstGeom prst="roundRect">
            <a:avLst>
              <a:gd name="adj" fmla="val 50000"/>
            </a:avLst>
          </a:prstGeom>
          <a:solidFill>
            <a:srgbClr val="2F55D4"/>
          </a:solidFill>
          <a:ln/>
        </p:spPr>
      </p:sp>
      <p:sp>
        <p:nvSpPr>
          <p:cNvPr id="3" name="Text 1"/>
          <p:cNvSpPr/>
          <p:nvPr/>
        </p:nvSpPr>
        <p:spPr>
          <a:xfrm>
            <a:off x="548640" y="548640"/>
            <a:ext cx="908914" cy="310896"/>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DEEP DIVE</a:t>
            </a:r>
            <a:endParaRPr lang="en-US" sz="1100" dirty="0"/>
          </a:p>
        </p:txBody>
      </p:sp>
      <p:sp>
        <p:nvSpPr>
          <p:cNvPr id="4" name="Text 2"/>
          <p:cNvSpPr/>
          <p:nvPr/>
        </p:nvSpPr>
        <p:spPr>
          <a:xfrm>
            <a:off x="548640" y="932688"/>
            <a:ext cx="11091672" cy="731520"/>
          </a:xfrm>
          <a:prstGeom prst="rect">
            <a:avLst/>
          </a:prstGeom>
          <a:noFill/>
          <a:ln/>
        </p:spPr>
        <p:txBody>
          <a:bodyPr wrap="square" lIns="0" tIns="0" rIns="0" bIns="0" rtlCol="0" anchor="t"/>
          <a:lstStyle/>
          <a:p>
            <a:pPr marL="0" indent="0" algn="l">
              <a:buNone/>
            </a:pPr>
            <a:r>
              <a:rPr lang="en-US" sz="3300" b="1" dirty="0">
                <a:solidFill>
                  <a:srgbClr val="141B3C"/>
                </a:solidFill>
                <a:latin typeface="Calibri" pitchFamily="34" charset="0"/>
                <a:ea typeface="Calibri" pitchFamily="34" charset="-122"/>
                <a:cs typeface="Calibri" pitchFamily="34" charset="-120"/>
              </a:rPr>
              <a:t>Sigmoid's Achilles heel</a:t>
            </a:r>
            <a:endParaRPr lang="en-US" sz="3300" dirty="0"/>
          </a:p>
        </p:txBody>
      </p:sp>
      <p:sp>
        <p:nvSpPr>
          <p:cNvPr id="5" name="Text 3"/>
          <p:cNvSpPr/>
          <p:nvPr/>
        </p:nvSpPr>
        <p:spPr>
          <a:xfrm>
            <a:off x="548640" y="1691640"/>
            <a:ext cx="5120640" cy="457200"/>
          </a:xfrm>
          <a:prstGeom prst="rect">
            <a:avLst/>
          </a:prstGeom>
          <a:noFill/>
          <a:ln/>
        </p:spPr>
        <p:txBody>
          <a:bodyPr wrap="square" lIns="0" tIns="0" rIns="0" bIns="0" rtlCol="0" anchor="ctr"/>
          <a:lstStyle/>
          <a:p>
            <a:pPr marL="0" indent="0">
              <a:buNone/>
            </a:pPr>
            <a:r>
              <a:rPr lang="en-US" sz="1900" b="1" dirty="0">
                <a:solidFill>
                  <a:srgbClr val="141B3C"/>
                </a:solidFill>
                <a:latin typeface="Calibri" pitchFamily="34" charset="0"/>
                <a:ea typeface="Calibri" pitchFamily="34" charset="-122"/>
                <a:cs typeface="Calibri" pitchFamily="34" charset="-120"/>
              </a:rPr>
              <a:t>The vanishing-gradient problem</a:t>
            </a:r>
            <a:endParaRPr lang="en-US" sz="1900" dirty="0"/>
          </a:p>
        </p:txBody>
      </p:sp>
      <p:sp>
        <p:nvSpPr>
          <p:cNvPr id="6" name="Text 4"/>
          <p:cNvSpPr/>
          <p:nvPr/>
        </p:nvSpPr>
        <p:spPr>
          <a:xfrm>
            <a:off x="548640" y="2240280"/>
            <a:ext cx="5120640" cy="3200400"/>
          </a:xfrm>
          <a:prstGeom prst="rect">
            <a:avLst/>
          </a:prstGeom>
          <a:noFill/>
          <a:ln/>
        </p:spPr>
        <p:txBody>
          <a:bodyPr wrap="square" lIns="0" tIns="0" rIns="0" bIns="0" rtlCol="0" anchor="t"/>
          <a:lstStyle/>
          <a:p>
            <a:pPr marL="177800" indent="-177800">
              <a:lnSpc>
                <a:spcPct val="102000"/>
              </a:lnSpc>
              <a:spcAft>
                <a:spcPts val="900"/>
              </a:spcAft>
              <a:buSzPct val="100000"/>
              <a:buChar char="•"/>
            </a:pPr>
            <a:r>
              <a:rPr lang="en-US" sz="1450" dirty="0">
                <a:solidFill>
                  <a:srgbClr val="1C2333"/>
                </a:solidFill>
                <a:latin typeface="Calibri" pitchFamily="34" charset="0"/>
                <a:ea typeface="Calibri" pitchFamily="34" charset="-122"/>
                <a:cs typeface="Calibri" pitchFamily="34" charset="-120"/>
              </a:rPr>
              <a:t>The derivative peaks at just 0.25 and shrinks toward 0 for large |x|.</a:t>
            </a:r>
            <a:endParaRPr lang="en-US" sz="1450" dirty="0"/>
          </a:p>
          <a:p>
            <a:pPr marL="177800" indent="-177800">
              <a:lnSpc>
                <a:spcPct val="102000"/>
              </a:lnSpc>
              <a:spcAft>
                <a:spcPts val="900"/>
              </a:spcAft>
              <a:buSzPct val="100000"/>
              <a:buChar char="•"/>
            </a:pPr>
            <a:r>
              <a:rPr lang="en-US" sz="1450" dirty="0">
                <a:solidFill>
                  <a:srgbClr val="1C2333"/>
                </a:solidFill>
                <a:latin typeface="Calibri" pitchFamily="34" charset="0"/>
                <a:ea typeface="Calibri" pitchFamily="34" charset="-122"/>
                <a:cs typeface="Calibri" pitchFamily="34" charset="-120"/>
              </a:rPr>
              <a:t>In a deep net these small numbers multiply layer-by-layer and collapse.</a:t>
            </a:r>
            <a:endParaRPr lang="en-US" sz="1450" dirty="0"/>
          </a:p>
          <a:p>
            <a:pPr marL="177800" indent="-177800">
              <a:lnSpc>
                <a:spcPct val="102000"/>
              </a:lnSpc>
              <a:spcAft>
                <a:spcPts val="900"/>
              </a:spcAft>
              <a:buSzPct val="100000"/>
              <a:buChar char="•"/>
            </a:pPr>
            <a:r>
              <a:rPr lang="en-US" sz="1450" dirty="0">
                <a:solidFill>
                  <a:srgbClr val="1C2333"/>
                </a:solidFill>
                <a:latin typeface="Calibri" pitchFamily="34" charset="0"/>
                <a:ea typeface="Calibri" pitchFamily="34" charset="-122"/>
                <a:cs typeface="Calibri" pitchFamily="34" charset="-120"/>
              </a:rPr>
              <a:t>Early layers stop receiving signal — training stalls.</a:t>
            </a:r>
            <a:endParaRPr lang="en-US" sz="1450" dirty="0"/>
          </a:p>
          <a:p>
            <a:pPr marL="177800" indent="-177800">
              <a:lnSpc>
                <a:spcPct val="102000"/>
              </a:lnSpc>
              <a:spcAft>
                <a:spcPts val="900"/>
              </a:spcAft>
              <a:buSzPct val="100000"/>
              <a:buChar char="•"/>
            </a:pPr>
            <a:r>
              <a:rPr lang="en-US" sz="1450" dirty="0">
                <a:solidFill>
                  <a:srgbClr val="1C2333"/>
                </a:solidFill>
                <a:latin typeface="Calibri" pitchFamily="34" charset="0"/>
                <a:ea typeface="Calibri" pitchFamily="34" charset="-122"/>
                <a:cs typeface="Calibri" pitchFamily="34" charset="-120"/>
              </a:rPr>
              <a:t>Outputs are always positive (not zero-centered), so weight updates zig-zag.</a:t>
            </a:r>
            <a:endParaRPr lang="en-US" sz="1450" dirty="0"/>
          </a:p>
        </p:txBody>
      </p:sp>
      <p:sp>
        <p:nvSpPr>
          <p:cNvPr id="7" name="Shape 5"/>
          <p:cNvSpPr/>
          <p:nvPr/>
        </p:nvSpPr>
        <p:spPr>
          <a:xfrm>
            <a:off x="548640" y="5074920"/>
            <a:ext cx="5120640" cy="640080"/>
          </a:xfrm>
          <a:prstGeom prst="roundRect">
            <a:avLst>
              <a:gd name="adj" fmla="val 14286"/>
            </a:avLst>
          </a:prstGeom>
          <a:solidFill>
            <a:srgbClr val="FDE7F1"/>
          </a:solidFill>
          <a:ln/>
        </p:spPr>
      </p:sp>
      <p:sp>
        <p:nvSpPr>
          <p:cNvPr id="8" name="Text 6"/>
          <p:cNvSpPr/>
          <p:nvPr/>
        </p:nvSpPr>
        <p:spPr>
          <a:xfrm>
            <a:off x="731520" y="5074920"/>
            <a:ext cx="4800600" cy="640080"/>
          </a:xfrm>
          <a:prstGeom prst="rect">
            <a:avLst/>
          </a:prstGeom>
          <a:noFill/>
          <a:ln/>
        </p:spPr>
        <p:txBody>
          <a:bodyPr wrap="square" lIns="0" tIns="0" rIns="0" bIns="0" rtlCol="0" anchor="ctr"/>
          <a:lstStyle/>
          <a:p>
            <a:pPr marL="0" indent="0">
              <a:buNone/>
            </a:pPr>
            <a:r>
              <a:rPr lang="en-US" sz="1350" b="1" dirty="0">
                <a:solidFill>
                  <a:srgbClr val="EC1E79"/>
                </a:solidFill>
                <a:latin typeface="Calibri" pitchFamily="34" charset="0"/>
                <a:ea typeface="Calibri" pitchFamily="34" charset="-122"/>
                <a:cs typeface="Calibri" pitchFamily="34" charset="-120"/>
              </a:rPr>
              <a:t>In the lab (slide 21): </a:t>
            </a:r>
            <a:r>
              <a:rPr lang="en-US" sz="1350" dirty="0">
                <a:solidFill>
                  <a:srgbClr val="1C2333"/>
                </a:solidFill>
                <a:latin typeface="Calibri" pitchFamily="34" charset="0"/>
                <a:ea typeface="Calibri" pitchFamily="34" charset="-122"/>
                <a:cs typeface="Calibri" pitchFamily="34" charset="-120"/>
              </a:rPr>
              <a:t>we'll watch a sigmoid's input-layer gradient sit ~10 orders of magnitude below its output layer.</a:t>
            </a:r>
            <a:endParaRPr lang="en-US" sz="1350" dirty="0"/>
          </a:p>
        </p:txBody>
      </p:sp>
      <p:pic>
        <p:nvPicPr>
          <p:cNvPr id="9" name="Image 0" descr="/home/claude/fig/fn_sigmoid_deriv.png"/>
          <p:cNvPicPr>
            <a:picLocks noChangeAspect="1"/>
          </p:cNvPicPr>
          <p:nvPr/>
        </p:nvPicPr>
        <p:blipFill>
          <a:blip r:embed="rId3"/>
          <a:srcRect/>
          <a:stretch/>
        </p:blipFill>
        <p:spPr>
          <a:xfrm>
            <a:off x="5943600" y="1600200"/>
            <a:ext cx="5669280" cy="4297680"/>
          </a:xfrm>
          <a:prstGeom prst="rect">
            <a:avLst/>
          </a:prstGeom>
        </p:spPr>
      </p:pic>
      <p:sp>
        <p:nvSpPr>
          <p:cNvPr id="10" name="Text 7"/>
          <p:cNvSpPr/>
          <p:nvPr/>
        </p:nvSpPr>
        <p:spPr>
          <a:xfrm>
            <a:off x="548640" y="6473952"/>
            <a:ext cx="4572000" cy="274320"/>
          </a:xfrm>
          <a:prstGeom prst="rect">
            <a:avLst/>
          </a:prstGeom>
          <a:noFill/>
          <a:ln/>
        </p:spPr>
        <p:txBody>
          <a:bodyPr wrap="square" lIns="0" tIns="0" rIns="0" bIns="0" rtlCol="0" anchor="ctr"/>
          <a:lstStyle/>
          <a:p>
            <a:pPr marL="0" indent="0" algn="l">
              <a:buNone/>
            </a:pPr>
            <a:r>
              <a:rPr lang="en-US" sz="900" dirty="0">
                <a:solidFill>
                  <a:srgbClr val="6B7385"/>
                </a:solidFill>
                <a:latin typeface="Calibri" pitchFamily="34" charset="0"/>
                <a:ea typeface="Calibri" pitchFamily="34" charset="-122"/>
                <a:cs typeface="Calibri" pitchFamily="34" charset="-120"/>
              </a:rPr>
              <a:t>Activation Functions</a:t>
            </a:r>
            <a:endParaRPr lang="en-US" sz="900" dirty="0"/>
          </a:p>
        </p:txBody>
      </p:sp>
      <p:sp>
        <p:nvSpPr>
          <p:cNvPr id="11" name="Text 8"/>
          <p:cNvSpPr/>
          <p:nvPr/>
        </p:nvSpPr>
        <p:spPr>
          <a:xfrm>
            <a:off x="11183112" y="6473952"/>
            <a:ext cx="457200" cy="274320"/>
          </a:xfrm>
          <a:prstGeom prst="rect">
            <a:avLst/>
          </a:prstGeom>
          <a:noFill/>
          <a:ln/>
        </p:spPr>
        <p:txBody>
          <a:bodyPr wrap="square" lIns="0" tIns="0" rIns="0" bIns="0" rtlCol="0" anchor="ctr"/>
          <a:lstStyle/>
          <a:p>
            <a:pPr marL="0" indent="0" algn="r">
              <a:buNone/>
            </a:pPr>
            <a:r>
              <a:rPr lang="en-US" sz="900" dirty="0">
                <a:solidFill>
                  <a:srgbClr val="6B7385"/>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48640"/>
            <a:ext cx="751637" cy="310896"/>
          </a:xfrm>
          <a:prstGeom prst="roundRect">
            <a:avLst>
              <a:gd name="adj" fmla="val 50000"/>
            </a:avLst>
          </a:prstGeom>
          <a:solidFill>
            <a:srgbClr val="F59E0B"/>
          </a:solidFill>
          <a:ln/>
        </p:spPr>
      </p:sp>
      <p:sp>
        <p:nvSpPr>
          <p:cNvPr id="3" name="Text 1"/>
          <p:cNvSpPr/>
          <p:nvPr/>
        </p:nvSpPr>
        <p:spPr>
          <a:xfrm>
            <a:off x="548640" y="548640"/>
            <a:ext cx="751637" cy="310896"/>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CLASSIC</a:t>
            </a:r>
            <a:endParaRPr lang="en-US" sz="1100" dirty="0"/>
          </a:p>
        </p:txBody>
      </p:sp>
      <p:sp>
        <p:nvSpPr>
          <p:cNvPr id="4" name="Shape 2"/>
          <p:cNvSpPr/>
          <p:nvPr/>
        </p:nvSpPr>
        <p:spPr>
          <a:xfrm>
            <a:off x="548640" y="932688"/>
            <a:ext cx="566928" cy="566928"/>
          </a:xfrm>
          <a:prstGeom prst="roundRect">
            <a:avLst>
              <a:gd name="adj" fmla="val 19355"/>
            </a:avLst>
          </a:prstGeom>
          <a:solidFill>
            <a:srgbClr val="F59E0B"/>
          </a:solidFill>
          <a:ln/>
        </p:spPr>
      </p:sp>
      <p:sp>
        <p:nvSpPr>
          <p:cNvPr id="5" name="Text 3"/>
          <p:cNvSpPr/>
          <p:nvPr/>
        </p:nvSpPr>
        <p:spPr>
          <a:xfrm>
            <a:off x="548640" y="932688"/>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th</a:t>
            </a:r>
            <a:endParaRPr lang="en-US" sz="2200" dirty="0"/>
          </a:p>
        </p:txBody>
      </p:sp>
      <p:sp>
        <p:nvSpPr>
          <p:cNvPr id="6" name="Text 4"/>
          <p:cNvSpPr/>
          <p:nvPr/>
        </p:nvSpPr>
        <p:spPr>
          <a:xfrm>
            <a:off x="1298448" y="932688"/>
            <a:ext cx="5486400" cy="566928"/>
          </a:xfrm>
          <a:prstGeom prst="rect">
            <a:avLst/>
          </a:prstGeom>
          <a:noFill/>
          <a:ln/>
        </p:spPr>
        <p:txBody>
          <a:bodyPr wrap="square" lIns="0" tIns="0" rIns="0" bIns="0" rtlCol="0" anchor="ctr"/>
          <a:lstStyle/>
          <a:p>
            <a:pPr marL="0" indent="0">
              <a:buNone/>
            </a:pPr>
            <a:r>
              <a:rPr lang="en-US" sz="2900" b="1" dirty="0">
                <a:solidFill>
                  <a:srgbClr val="141B3C"/>
                </a:solidFill>
                <a:latin typeface="Calibri" pitchFamily="34" charset="0"/>
                <a:ea typeface="Calibri" pitchFamily="34" charset="-122"/>
                <a:cs typeface="Calibri" pitchFamily="34" charset="-120"/>
              </a:rPr>
              <a:t>Tanh</a:t>
            </a:r>
            <a:endParaRPr lang="en-US" sz="2900" dirty="0"/>
          </a:p>
        </p:txBody>
      </p:sp>
      <p:sp>
        <p:nvSpPr>
          <p:cNvPr id="7" name="Shape 5"/>
          <p:cNvSpPr/>
          <p:nvPr/>
        </p:nvSpPr>
        <p:spPr>
          <a:xfrm>
            <a:off x="548640" y="1783080"/>
            <a:ext cx="5029200" cy="786384"/>
          </a:xfrm>
          <a:prstGeom prst="roundRect">
            <a:avLst>
              <a:gd name="adj" fmla="val 10465"/>
            </a:avLst>
          </a:prstGeom>
          <a:solidFill>
            <a:srgbClr val="F4F6FB"/>
          </a:solidFill>
          <a:ln/>
        </p:spPr>
      </p:sp>
      <p:sp>
        <p:nvSpPr>
          <p:cNvPr id="8" name="Text 6"/>
          <p:cNvSpPr/>
          <p:nvPr/>
        </p:nvSpPr>
        <p:spPr>
          <a:xfrm>
            <a:off x="713232" y="1783080"/>
            <a:ext cx="4700016" cy="786384"/>
          </a:xfrm>
          <a:prstGeom prst="rect">
            <a:avLst/>
          </a:prstGeom>
          <a:noFill/>
          <a:ln/>
        </p:spPr>
        <p:txBody>
          <a:bodyPr wrap="square" lIns="0" tIns="0" rIns="0" bIns="0" rtlCol="0" anchor="ctr"/>
          <a:lstStyle/>
          <a:p>
            <a:pPr marL="0" indent="0" algn="l">
              <a:buNone/>
            </a:pPr>
            <a:r>
              <a:rPr lang="en-US" sz="1700" b="1" dirty="0">
                <a:solidFill>
                  <a:srgbClr val="F59E0B"/>
                </a:solidFill>
                <a:latin typeface="Consolas" pitchFamily="34" charset="0"/>
                <a:ea typeface="Consolas" pitchFamily="34" charset="-122"/>
                <a:cs typeface="Consolas" pitchFamily="34" charset="-120"/>
              </a:rPr>
              <a:t>tanh(x) = (eˣ−e⁻ˣ)/(eˣ+e⁻ˣ)</a:t>
            </a:r>
            <a:endParaRPr lang="en-US" sz="1700" dirty="0"/>
          </a:p>
        </p:txBody>
      </p:sp>
      <p:sp>
        <p:nvSpPr>
          <p:cNvPr id="9" name="Text 7"/>
          <p:cNvSpPr/>
          <p:nvPr/>
        </p:nvSpPr>
        <p:spPr>
          <a:xfrm>
            <a:off x="548640" y="2697480"/>
            <a:ext cx="5029200" cy="310896"/>
          </a:xfrm>
          <a:prstGeom prst="rect">
            <a:avLst/>
          </a:prstGeom>
          <a:noFill/>
          <a:ln/>
        </p:spPr>
        <p:txBody>
          <a:bodyPr wrap="square" lIns="0" tIns="0" rIns="0" bIns="0" rtlCol="0" anchor="ctr"/>
          <a:lstStyle/>
          <a:p>
            <a:pPr marL="0" indent="0">
              <a:buNone/>
            </a:pPr>
            <a:r>
              <a:rPr lang="en-US" sz="1350" b="1" dirty="0">
                <a:solidFill>
                  <a:srgbClr val="6B7385"/>
                </a:solidFill>
                <a:latin typeface="Calibri" pitchFamily="34" charset="0"/>
                <a:ea typeface="Calibri" pitchFamily="34" charset="-122"/>
                <a:cs typeface="Calibri" pitchFamily="34" charset="-120"/>
              </a:rPr>
              <a:t>Range:  (−1, 1)</a:t>
            </a:r>
            <a:endParaRPr lang="en-US" sz="1350" dirty="0"/>
          </a:p>
        </p:txBody>
      </p:sp>
      <p:sp>
        <p:nvSpPr>
          <p:cNvPr id="10" name="Text 8"/>
          <p:cNvSpPr/>
          <p:nvPr/>
        </p:nvSpPr>
        <p:spPr>
          <a:xfrm>
            <a:off x="548640" y="3154680"/>
            <a:ext cx="5029200" cy="256032"/>
          </a:xfrm>
          <a:prstGeom prst="rect">
            <a:avLst/>
          </a:prstGeom>
          <a:noFill/>
          <a:ln/>
        </p:spPr>
        <p:txBody>
          <a:bodyPr wrap="square" lIns="0" tIns="0" rIns="0" bIns="0" rtlCol="0" anchor="ctr"/>
          <a:lstStyle/>
          <a:p>
            <a:pPr marL="0" indent="0">
              <a:buNone/>
            </a:pPr>
            <a:r>
              <a:rPr lang="en-US" sz="1100" b="1" kern="0" spc="100" dirty="0">
                <a:solidFill>
                  <a:srgbClr val="12B886"/>
                </a:solidFill>
                <a:latin typeface="Calibri" pitchFamily="34" charset="0"/>
                <a:ea typeface="Calibri" pitchFamily="34" charset="-122"/>
                <a:cs typeface="Calibri" pitchFamily="34" charset="-120"/>
              </a:rPr>
              <a:t>PROS</a:t>
            </a:r>
            <a:endParaRPr lang="en-US" sz="1100" dirty="0"/>
          </a:p>
        </p:txBody>
      </p:sp>
      <p:sp>
        <p:nvSpPr>
          <p:cNvPr id="11" name="Text 9"/>
          <p:cNvSpPr/>
          <p:nvPr/>
        </p:nvSpPr>
        <p:spPr>
          <a:xfrm>
            <a:off x="548640" y="3465576"/>
            <a:ext cx="274320" cy="292608"/>
          </a:xfrm>
          <a:prstGeom prst="rect">
            <a:avLst/>
          </a:prstGeom>
          <a:noFill/>
          <a:ln/>
        </p:spPr>
        <p:txBody>
          <a:bodyPr wrap="square" lIns="0" tIns="0" rIns="0" bIns="0" rtlCol="0" anchor="t"/>
          <a:lstStyle/>
          <a:p>
            <a:pPr marL="0" indent="0">
              <a:buNone/>
            </a:pPr>
            <a:r>
              <a:rPr lang="en-US" sz="1400" b="1" dirty="0">
                <a:solidFill>
                  <a:srgbClr val="12B886"/>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841248" y="3465576"/>
            <a:ext cx="4736592" cy="548640"/>
          </a:xfrm>
          <a:prstGeom prst="rect">
            <a:avLst/>
          </a:prstGeom>
          <a:noFill/>
          <a:ln/>
        </p:spPr>
        <p:txBody>
          <a:bodyPr wrap="square" lIns="0" tIns="0" rIns="0" bIns="0" rtlCol="0" anchor="t"/>
          <a:lstStyle/>
          <a:p>
            <a:pPr marL="0" indent="0">
              <a:buNone/>
            </a:pPr>
            <a:r>
              <a:rPr lang="en-US" sz="1350" dirty="0">
                <a:solidFill>
                  <a:srgbClr val="1C2333"/>
                </a:solidFill>
                <a:latin typeface="Calibri" pitchFamily="34" charset="0"/>
                <a:ea typeface="Calibri" pitchFamily="34" charset="-122"/>
                <a:cs typeface="Calibri" pitchFamily="34" charset="-120"/>
              </a:rPr>
              <a:t>Zero-centered — faster than sigmoid</a:t>
            </a:r>
            <a:endParaRPr lang="en-US" sz="1350" dirty="0"/>
          </a:p>
        </p:txBody>
      </p:sp>
      <p:sp>
        <p:nvSpPr>
          <p:cNvPr id="13" name="Text 11"/>
          <p:cNvSpPr/>
          <p:nvPr/>
        </p:nvSpPr>
        <p:spPr>
          <a:xfrm>
            <a:off x="548640" y="3867912"/>
            <a:ext cx="274320" cy="292608"/>
          </a:xfrm>
          <a:prstGeom prst="rect">
            <a:avLst/>
          </a:prstGeom>
          <a:noFill/>
          <a:ln/>
        </p:spPr>
        <p:txBody>
          <a:bodyPr wrap="square" lIns="0" tIns="0" rIns="0" bIns="0" rtlCol="0" anchor="t"/>
          <a:lstStyle/>
          <a:p>
            <a:pPr marL="0" indent="0">
              <a:buNone/>
            </a:pPr>
            <a:r>
              <a:rPr lang="en-US" sz="1400" b="1" dirty="0">
                <a:solidFill>
                  <a:srgbClr val="12B886"/>
                </a:solidFill>
                <a:latin typeface="Calibri" pitchFamily="34" charset="0"/>
                <a:ea typeface="Calibri" pitchFamily="34" charset="-122"/>
                <a:cs typeface="Calibri" pitchFamily="34" charset="-120"/>
              </a:rPr>
              <a:t>✓</a:t>
            </a:r>
            <a:endParaRPr lang="en-US" sz="1400" dirty="0"/>
          </a:p>
        </p:txBody>
      </p:sp>
      <p:sp>
        <p:nvSpPr>
          <p:cNvPr id="14" name="Text 12"/>
          <p:cNvSpPr/>
          <p:nvPr/>
        </p:nvSpPr>
        <p:spPr>
          <a:xfrm>
            <a:off x="841248" y="3867912"/>
            <a:ext cx="4736592" cy="548640"/>
          </a:xfrm>
          <a:prstGeom prst="rect">
            <a:avLst/>
          </a:prstGeom>
          <a:noFill/>
          <a:ln/>
        </p:spPr>
        <p:txBody>
          <a:bodyPr wrap="square" lIns="0" tIns="0" rIns="0" bIns="0" rtlCol="0" anchor="t"/>
          <a:lstStyle/>
          <a:p>
            <a:pPr marL="0" indent="0">
              <a:buNone/>
            </a:pPr>
            <a:r>
              <a:rPr lang="en-US" sz="1350" dirty="0">
                <a:solidFill>
                  <a:srgbClr val="1C2333"/>
                </a:solidFill>
                <a:latin typeface="Calibri" pitchFamily="34" charset="0"/>
                <a:ea typeface="Calibri" pitchFamily="34" charset="-122"/>
                <a:cs typeface="Calibri" pitchFamily="34" charset="-120"/>
              </a:rPr>
              <a:t>Stronger gradients near the origin</a:t>
            </a:r>
            <a:endParaRPr lang="en-US" sz="1350" dirty="0"/>
          </a:p>
        </p:txBody>
      </p:sp>
      <p:sp>
        <p:nvSpPr>
          <p:cNvPr id="15" name="Text 13"/>
          <p:cNvSpPr/>
          <p:nvPr/>
        </p:nvSpPr>
        <p:spPr>
          <a:xfrm>
            <a:off x="548640" y="4379976"/>
            <a:ext cx="5029200" cy="256032"/>
          </a:xfrm>
          <a:prstGeom prst="rect">
            <a:avLst/>
          </a:prstGeom>
          <a:noFill/>
          <a:ln/>
        </p:spPr>
        <p:txBody>
          <a:bodyPr wrap="square" lIns="0" tIns="0" rIns="0" bIns="0" rtlCol="0" anchor="ctr"/>
          <a:lstStyle/>
          <a:p>
            <a:pPr marL="0" indent="0">
              <a:buNone/>
            </a:pPr>
            <a:r>
              <a:rPr lang="en-US" sz="1100" b="1" kern="0" spc="100" dirty="0">
                <a:solidFill>
                  <a:srgbClr val="E5484D"/>
                </a:solidFill>
                <a:latin typeface="Calibri" pitchFamily="34" charset="0"/>
                <a:ea typeface="Calibri" pitchFamily="34" charset="-122"/>
                <a:cs typeface="Calibri" pitchFamily="34" charset="-120"/>
              </a:rPr>
              <a:t>CONS</a:t>
            </a:r>
            <a:endParaRPr lang="en-US" sz="1100" dirty="0"/>
          </a:p>
        </p:txBody>
      </p:sp>
      <p:sp>
        <p:nvSpPr>
          <p:cNvPr id="16" name="Text 14"/>
          <p:cNvSpPr/>
          <p:nvPr/>
        </p:nvSpPr>
        <p:spPr>
          <a:xfrm>
            <a:off x="548640" y="4690872"/>
            <a:ext cx="274320" cy="292608"/>
          </a:xfrm>
          <a:prstGeom prst="rect">
            <a:avLst/>
          </a:prstGeom>
          <a:noFill/>
          <a:ln/>
        </p:spPr>
        <p:txBody>
          <a:bodyPr wrap="square" lIns="0" tIns="0" rIns="0" bIns="0" rtlCol="0" anchor="t"/>
          <a:lstStyle/>
          <a:p>
            <a:pPr marL="0" indent="0">
              <a:buNone/>
            </a:pPr>
            <a:r>
              <a:rPr lang="en-US" sz="1400" b="1" dirty="0">
                <a:solidFill>
                  <a:srgbClr val="E5484D"/>
                </a:solidFill>
                <a:latin typeface="Calibri" pitchFamily="34" charset="0"/>
                <a:ea typeface="Calibri" pitchFamily="34" charset="-122"/>
                <a:cs typeface="Calibri" pitchFamily="34" charset="-120"/>
              </a:rPr>
              <a:t>✗</a:t>
            </a:r>
            <a:endParaRPr lang="en-US" sz="1400" dirty="0"/>
          </a:p>
        </p:txBody>
      </p:sp>
      <p:sp>
        <p:nvSpPr>
          <p:cNvPr id="17" name="Text 15"/>
          <p:cNvSpPr/>
          <p:nvPr/>
        </p:nvSpPr>
        <p:spPr>
          <a:xfrm>
            <a:off x="841248" y="4690872"/>
            <a:ext cx="4736592" cy="548640"/>
          </a:xfrm>
          <a:prstGeom prst="rect">
            <a:avLst/>
          </a:prstGeom>
          <a:noFill/>
          <a:ln/>
        </p:spPr>
        <p:txBody>
          <a:bodyPr wrap="square" lIns="0" tIns="0" rIns="0" bIns="0" rtlCol="0" anchor="t"/>
          <a:lstStyle/>
          <a:p>
            <a:pPr marL="0" indent="0">
              <a:buNone/>
            </a:pPr>
            <a:r>
              <a:rPr lang="en-US" sz="1350" dirty="0">
                <a:solidFill>
                  <a:srgbClr val="1C2333"/>
                </a:solidFill>
                <a:latin typeface="Calibri" pitchFamily="34" charset="0"/>
                <a:ea typeface="Calibri" pitchFamily="34" charset="-122"/>
                <a:cs typeface="Calibri" pitchFamily="34" charset="-120"/>
              </a:rPr>
              <a:t>Still saturates at the extremes</a:t>
            </a:r>
            <a:endParaRPr lang="en-US" sz="1350" dirty="0"/>
          </a:p>
        </p:txBody>
      </p:sp>
      <p:sp>
        <p:nvSpPr>
          <p:cNvPr id="18" name="Text 16"/>
          <p:cNvSpPr/>
          <p:nvPr/>
        </p:nvSpPr>
        <p:spPr>
          <a:xfrm>
            <a:off x="548640" y="5093208"/>
            <a:ext cx="274320" cy="292608"/>
          </a:xfrm>
          <a:prstGeom prst="rect">
            <a:avLst/>
          </a:prstGeom>
          <a:noFill/>
          <a:ln/>
        </p:spPr>
        <p:txBody>
          <a:bodyPr wrap="square" lIns="0" tIns="0" rIns="0" bIns="0" rtlCol="0" anchor="t"/>
          <a:lstStyle/>
          <a:p>
            <a:pPr marL="0" indent="0">
              <a:buNone/>
            </a:pPr>
            <a:r>
              <a:rPr lang="en-US" sz="1400" b="1" dirty="0">
                <a:solidFill>
                  <a:srgbClr val="E5484D"/>
                </a:solidFill>
                <a:latin typeface="Calibri" pitchFamily="34" charset="0"/>
                <a:ea typeface="Calibri" pitchFamily="34" charset="-122"/>
                <a:cs typeface="Calibri" pitchFamily="34" charset="-120"/>
              </a:rPr>
              <a:t>✗</a:t>
            </a:r>
            <a:endParaRPr lang="en-US" sz="1400" dirty="0"/>
          </a:p>
        </p:txBody>
      </p:sp>
      <p:sp>
        <p:nvSpPr>
          <p:cNvPr id="19" name="Text 17"/>
          <p:cNvSpPr/>
          <p:nvPr/>
        </p:nvSpPr>
        <p:spPr>
          <a:xfrm>
            <a:off x="841248" y="5093208"/>
            <a:ext cx="4736592" cy="548640"/>
          </a:xfrm>
          <a:prstGeom prst="rect">
            <a:avLst/>
          </a:prstGeom>
          <a:noFill/>
          <a:ln/>
        </p:spPr>
        <p:txBody>
          <a:bodyPr wrap="square" lIns="0" tIns="0" rIns="0" bIns="0" rtlCol="0" anchor="t"/>
          <a:lstStyle/>
          <a:p>
            <a:pPr marL="0" indent="0">
              <a:buNone/>
            </a:pPr>
            <a:r>
              <a:rPr lang="en-US" sz="1350" dirty="0">
                <a:solidFill>
                  <a:srgbClr val="1C2333"/>
                </a:solidFill>
                <a:latin typeface="Calibri" pitchFamily="34" charset="0"/>
                <a:ea typeface="Calibri" pitchFamily="34" charset="-122"/>
                <a:cs typeface="Calibri" pitchFamily="34" charset="-120"/>
              </a:rPr>
              <a:t>Vanishing gradients persist in deep nets</a:t>
            </a:r>
            <a:endParaRPr lang="en-US" sz="1350" dirty="0"/>
          </a:p>
        </p:txBody>
      </p:sp>
      <p:sp>
        <p:nvSpPr>
          <p:cNvPr id="20" name="Shape 18"/>
          <p:cNvSpPr/>
          <p:nvPr/>
        </p:nvSpPr>
        <p:spPr>
          <a:xfrm>
            <a:off x="5852160" y="5806440"/>
            <a:ext cx="5788152" cy="603504"/>
          </a:xfrm>
          <a:prstGeom prst="roundRect">
            <a:avLst>
              <a:gd name="adj" fmla="val 15152"/>
            </a:avLst>
          </a:prstGeom>
          <a:solidFill>
            <a:srgbClr val="141B3C"/>
          </a:solidFill>
          <a:ln/>
        </p:spPr>
      </p:sp>
      <p:sp>
        <p:nvSpPr>
          <p:cNvPr id="21" name="Text 19"/>
          <p:cNvSpPr/>
          <p:nvPr/>
        </p:nvSpPr>
        <p:spPr>
          <a:xfrm>
            <a:off x="6035040" y="5806440"/>
            <a:ext cx="5394960" cy="603504"/>
          </a:xfrm>
          <a:prstGeom prst="rect">
            <a:avLst/>
          </a:prstGeom>
          <a:noFill/>
          <a:ln/>
        </p:spPr>
        <p:txBody>
          <a:bodyPr wrap="square" lIns="0" tIns="0" rIns="0" bIns="0" rtlCol="0" anchor="ctr"/>
          <a:lstStyle/>
          <a:p>
            <a:pPr marL="0" indent="0">
              <a:buNone/>
            </a:pPr>
            <a:r>
              <a:rPr lang="en-US" sz="1100" b="1" kern="0" spc="100" dirty="0">
                <a:solidFill>
                  <a:srgbClr val="F59E0B"/>
                </a:solidFill>
                <a:latin typeface="Calibri" pitchFamily="34" charset="0"/>
                <a:ea typeface="Calibri" pitchFamily="34" charset="-122"/>
                <a:cs typeface="Calibri" pitchFamily="34" charset="-120"/>
              </a:rPr>
              <a:t>USE FOR   </a:t>
            </a:r>
            <a:r>
              <a:rPr lang="en-US" sz="1350" dirty="0">
                <a:solidFill>
                  <a:srgbClr val="FFFFFF"/>
                </a:solidFill>
                <a:latin typeface="Calibri" pitchFamily="34" charset="0"/>
                <a:ea typeface="Calibri" pitchFamily="34" charset="-122"/>
                <a:cs typeface="Calibri" pitchFamily="34" charset="-120"/>
              </a:rPr>
              <a:t>RNN hidden layers; shallow networks</a:t>
            </a:r>
            <a:endParaRPr lang="en-US" sz="1100" dirty="0"/>
          </a:p>
        </p:txBody>
      </p:sp>
      <p:pic>
        <p:nvPicPr>
          <p:cNvPr id="22" name="Image 0" descr="/home/claude/fig/fn_tanh.png"/>
          <p:cNvPicPr>
            <a:picLocks noChangeAspect="1"/>
          </p:cNvPicPr>
          <p:nvPr/>
        </p:nvPicPr>
        <p:blipFill>
          <a:blip r:embed="rId3"/>
          <a:srcRect/>
          <a:stretch/>
        </p:blipFill>
        <p:spPr>
          <a:xfrm>
            <a:off x="5852160" y="1417320"/>
            <a:ext cx="5788152" cy="4206240"/>
          </a:xfrm>
          <a:prstGeom prst="rect">
            <a:avLst/>
          </a:prstGeom>
        </p:spPr>
      </p:pic>
      <p:sp>
        <p:nvSpPr>
          <p:cNvPr id="23" name="Text 20"/>
          <p:cNvSpPr/>
          <p:nvPr/>
        </p:nvSpPr>
        <p:spPr>
          <a:xfrm>
            <a:off x="548640" y="6473952"/>
            <a:ext cx="4572000" cy="274320"/>
          </a:xfrm>
          <a:prstGeom prst="rect">
            <a:avLst/>
          </a:prstGeom>
          <a:noFill/>
          <a:ln/>
        </p:spPr>
        <p:txBody>
          <a:bodyPr wrap="square" lIns="0" tIns="0" rIns="0" bIns="0" rtlCol="0" anchor="ctr"/>
          <a:lstStyle/>
          <a:p>
            <a:pPr marL="0" indent="0" algn="l">
              <a:buNone/>
            </a:pPr>
            <a:r>
              <a:rPr lang="en-US" sz="900" dirty="0">
                <a:solidFill>
                  <a:srgbClr val="6B7385"/>
                </a:solidFill>
                <a:latin typeface="Calibri" pitchFamily="34" charset="0"/>
                <a:ea typeface="Calibri" pitchFamily="34" charset="-122"/>
                <a:cs typeface="Calibri" pitchFamily="34" charset="-120"/>
              </a:rPr>
              <a:t>Activation Functions</a:t>
            </a:r>
            <a:endParaRPr lang="en-US" sz="900" dirty="0"/>
          </a:p>
        </p:txBody>
      </p:sp>
      <p:sp>
        <p:nvSpPr>
          <p:cNvPr id="24" name="Text 21"/>
          <p:cNvSpPr/>
          <p:nvPr/>
        </p:nvSpPr>
        <p:spPr>
          <a:xfrm>
            <a:off x="11183112" y="6473952"/>
            <a:ext cx="457200" cy="274320"/>
          </a:xfrm>
          <a:prstGeom prst="rect">
            <a:avLst/>
          </a:prstGeom>
          <a:noFill/>
          <a:ln/>
        </p:spPr>
        <p:txBody>
          <a:bodyPr wrap="square" lIns="0" tIns="0" rIns="0" bIns="0" rtlCol="0" anchor="ctr"/>
          <a:lstStyle/>
          <a:p>
            <a:pPr marL="0" indent="0" algn="r">
              <a:buNone/>
            </a:pPr>
            <a:r>
              <a:rPr lang="en-US" sz="900" dirty="0">
                <a:solidFill>
                  <a:srgbClr val="6B7385"/>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48640"/>
            <a:ext cx="1459382" cy="310896"/>
          </a:xfrm>
          <a:prstGeom prst="roundRect">
            <a:avLst>
              <a:gd name="adj" fmla="val 50000"/>
            </a:avLst>
          </a:prstGeom>
          <a:solidFill>
            <a:srgbClr val="EC1E79"/>
          </a:solidFill>
          <a:ln/>
        </p:spPr>
      </p:sp>
      <p:sp>
        <p:nvSpPr>
          <p:cNvPr id="3" name="Text 1"/>
          <p:cNvSpPr/>
          <p:nvPr/>
        </p:nvSpPr>
        <p:spPr>
          <a:xfrm>
            <a:off x="548640" y="548640"/>
            <a:ext cx="1459382" cy="310896"/>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MODERN WORKHORSE</a:t>
            </a:r>
            <a:endParaRPr lang="en-US" sz="1100" dirty="0"/>
          </a:p>
        </p:txBody>
      </p:sp>
      <p:sp>
        <p:nvSpPr>
          <p:cNvPr id="4" name="Shape 2"/>
          <p:cNvSpPr/>
          <p:nvPr/>
        </p:nvSpPr>
        <p:spPr>
          <a:xfrm>
            <a:off x="548640" y="932688"/>
            <a:ext cx="566928" cy="566928"/>
          </a:xfrm>
          <a:prstGeom prst="roundRect">
            <a:avLst>
              <a:gd name="adj" fmla="val 19355"/>
            </a:avLst>
          </a:prstGeom>
          <a:solidFill>
            <a:srgbClr val="EC1E79"/>
          </a:solidFill>
          <a:ln/>
        </p:spPr>
      </p:sp>
      <p:sp>
        <p:nvSpPr>
          <p:cNvPr id="5" name="Text 3"/>
          <p:cNvSpPr/>
          <p:nvPr/>
        </p:nvSpPr>
        <p:spPr>
          <a:xfrm>
            <a:off x="548640" y="932688"/>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R</a:t>
            </a:r>
            <a:endParaRPr lang="en-US" sz="2200" dirty="0"/>
          </a:p>
        </p:txBody>
      </p:sp>
      <p:sp>
        <p:nvSpPr>
          <p:cNvPr id="6" name="Text 4"/>
          <p:cNvSpPr/>
          <p:nvPr/>
        </p:nvSpPr>
        <p:spPr>
          <a:xfrm>
            <a:off x="1298448" y="932688"/>
            <a:ext cx="5486400" cy="566928"/>
          </a:xfrm>
          <a:prstGeom prst="rect">
            <a:avLst/>
          </a:prstGeom>
          <a:noFill/>
          <a:ln/>
        </p:spPr>
        <p:txBody>
          <a:bodyPr wrap="square" lIns="0" tIns="0" rIns="0" bIns="0" rtlCol="0" anchor="ctr"/>
          <a:lstStyle/>
          <a:p>
            <a:pPr marL="0" indent="0">
              <a:buNone/>
            </a:pPr>
            <a:r>
              <a:rPr lang="en-US" sz="2900" b="1" dirty="0">
                <a:solidFill>
                  <a:srgbClr val="141B3C"/>
                </a:solidFill>
                <a:latin typeface="Calibri" pitchFamily="34" charset="0"/>
                <a:ea typeface="Calibri" pitchFamily="34" charset="-122"/>
                <a:cs typeface="Calibri" pitchFamily="34" charset="-120"/>
              </a:rPr>
              <a:t>ReLU</a:t>
            </a:r>
            <a:endParaRPr lang="en-US" sz="2900" dirty="0"/>
          </a:p>
        </p:txBody>
      </p:sp>
      <p:sp>
        <p:nvSpPr>
          <p:cNvPr id="7" name="Shape 5"/>
          <p:cNvSpPr/>
          <p:nvPr/>
        </p:nvSpPr>
        <p:spPr>
          <a:xfrm>
            <a:off x="548640" y="1783080"/>
            <a:ext cx="5029200" cy="786384"/>
          </a:xfrm>
          <a:prstGeom prst="roundRect">
            <a:avLst>
              <a:gd name="adj" fmla="val 10465"/>
            </a:avLst>
          </a:prstGeom>
          <a:solidFill>
            <a:srgbClr val="F4F6FB"/>
          </a:solidFill>
          <a:ln/>
        </p:spPr>
      </p:sp>
      <p:sp>
        <p:nvSpPr>
          <p:cNvPr id="8" name="Text 6"/>
          <p:cNvSpPr/>
          <p:nvPr/>
        </p:nvSpPr>
        <p:spPr>
          <a:xfrm>
            <a:off x="713232" y="1783080"/>
            <a:ext cx="4700016" cy="786384"/>
          </a:xfrm>
          <a:prstGeom prst="rect">
            <a:avLst/>
          </a:prstGeom>
          <a:noFill/>
          <a:ln/>
        </p:spPr>
        <p:txBody>
          <a:bodyPr wrap="square" lIns="0" tIns="0" rIns="0" bIns="0" rtlCol="0" anchor="ctr"/>
          <a:lstStyle/>
          <a:p>
            <a:pPr marL="0" indent="0" algn="l">
              <a:buNone/>
            </a:pPr>
            <a:r>
              <a:rPr lang="en-US" sz="1700" b="1" dirty="0">
                <a:solidFill>
                  <a:srgbClr val="EC1E79"/>
                </a:solidFill>
                <a:latin typeface="Consolas" pitchFamily="34" charset="0"/>
                <a:ea typeface="Consolas" pitchFamily="34" charset="-122"/>
                <a:cs typeface="Consolas" pitchFamily="34" charset="-120"/>
              </a:rPr>
              <a:t>f(x) = max(0, x)</a:t>
            </a:r>
            <a:endParaRPr lang="en-US" sz="1700" dirty="0"/>
          </a:p>
        </p:txBody>
      </p:sp>
      <p:sp>
        <p:nvSpPr>
          <p:cNvPr id="9" name="Text 7"/>
          <p:cNvSpPr/>
          <p:nvPr/>
        </p:nvSpPr>
        <p:spPr>
          <a:xfrm>
            <a:off x="548640" y="2697480"/>
            <a:ext cx="5029200" cy="310896"/>
          </a:xfrm>
          <a:prstGeom prst="rect">
            <a:avLst/>
          </a:prstGeom>
          <a:noFill/>
          <a:ln/>
        </p:spPr>
        <p:txBody>
          <a:bodyPr wrap="square" lIns="0" tIns="0" rIns="0" bIns="0" rtlCol="0" anchor="ctr"/>
          <a:lstStyle/>
          <a:p>
            <a:pPr marL="0" indent="0">
              <a:buNone/>
            </a:pPr>
            <a:r>
              <a:rPr lang="en-US" sz="1350" b="1" dirty="0">
                <a:solidFill>
                  <a:srgbClr val="6B7385"/>
                </a:solidFill>
                <a:latin typeface="Calibri" pitchFamily="34" charset="0"/>
                <a:ea typeface="Calibri" pitchFamily="34" charset="-122"/>
                <a:cs typeface="Calibri" pitchFamily="34" charset="-120"/>
              </a:rPr>
              <a:t>Range:  [0, +∞)</a:t>
            </a:r>
            <a:endParaRPr lang="en-US" sz="1350" dirty="0"/>
          </a:p>
        </p:txBody>
      </p:sp>
      <p:sp>
        <p:nvSpPr>
          <p:cNvPr id="10" name="Text 8"/>
          <p:cNvSpPr/>
          <p:nvPr/>
        </p:nvSpPr>
        <p:spPr>
          <a:xfrm>
            <a:off x="548640" y="3154680"/>
            <a:ext cx="5029200" cy="256032"/>
          </a:xfrm>
          <a:prstGeom prst="rect">
            <a:avLst/>
          </a:prstGeom>
          <a:noFill/>
          <a:ln/>
        </p:spPr>
        <p:txBody>
          <a:bodyPr wrap="square" lIns="0" tIns="0" rIns="0" bIns="0" rtlCol="0" anchor="ctr"/>
          <a:lstStyle/>
          <a:p>
            <a:pPr marL="0" indent="0">
              <a:buNone/>
            </a:pPr>
            <a:r>
              <a:rPr lang="en-US" sz="1100" b="1" kern="0" spc="100" dirty="0">
                <a:solidFill>
                  <a:srgbClr val="12B886"/>
                </a:solidFill>
                <a:latin typeface="Calibri" pitchFamily="34" charset="0"/>
                <a:ea typeface="Calibri" pitchFamily="34" charset="-122"/>
                <a:cs typeface="Calibri" pitchFamily="34" charset="-120"/>
              </a:rPr>
              <a:t>PROS</a:t>
            </a:r>
            <a:endParaRPr lang="en-US" sz="1100" dirty="0"/>
          </a:p>
        </p:txBody>
      </p:sp>
      <p:sp>
        <p:nvSpPr>
          <p:cNvPr id="11" name="Text 9"/>
          <p:cNvSpPr/>
          <p:nvPr/>
        </p:nvSpPr>
        <p:spPr>
          <a:xfrm>
            <a:off x="548640" y="3465576"/>
            <a:ext cx="274320" cy="292608"/>
          </a:xfrm>
          <a:prstGeom prst="rect">
            <a:avLst/>
          </a:prstGeom>
          <a:noFill/>
          <a:ln/>
        </p:spPr>
        <p:txBody>
          <a:bodyPr wrap="square" lIns="0" tIns="0" rIns="0" bIns="0" rtlCol="0" anchor="t"/>
          <a:lstStyle/>
          <a:p>
            <a:pPr marL="0" indent="0">
              <a:buNone/>
            </a:pPr>
            <a:r>
              <a:rPr lang="en-US" sz="1400" b="1" dirty="0">
                <a:solidFill>
                  <a:srgbClr val="12B886"/>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841248" y="3465576"/>
            <a:ext cx="4736592" cy="548640"/>
          </a:xfrm>
          <a:prstGeom prst="rect">
            <a:avLst/>
          </a:prstGeom>
          <a:noFill/>
          <a:ln/>
        </p:spPr>
        <p:txBody>
          <a:bodyPr wrap="square" lIns="0" tIns="0" rIns="0" bIns="0" rtlCol="0" anchor="t"/>
          <a:lstStyle/>
          <a:p>
            <a:pPr marL="0" indent="0">
              <a:buNone/>
            </a:pPr>
            <a:r>
              <a:rPr lang="en-US" sz="1350" dirty="0">
                <a:solidFill>
                  <a:srgbClr val="1C2333"/>
                </a:solidFill>
                <a:latin typeface="Calibri" pitchFamily="34" charset="0"/>
                <a:ea typeface="Calibri" pitchFamily="34" charset="-122"/>
                <a:cs typeface="Calibri" pitchFamily="34" charset="-120"/>
              </a:rPr>
              <a:t>Extremely cheap — just a comparison</a:t>
            </a:r>
            <a:endParaRPr lang="en-US" sz="1350" dirty="0"/>
          </a:p>
        </p:txBody>
      </p:sp>
      <p:sp>
        <p:nvSpPr>
          <p:cNvPr id="13" name="Text 11"/>
          <p:cNvSpPr/>
          <p:nvPr/>
        </p:nvSpPr>
        <p:spPr>
          <a:xfrm>
            <a:off x="548640" y="3867912"/>
            <a:ext cx="274320" cy="292608"/>
          </a:xfrm>
          <a:prstGeom prst="rect">
            <a:avLst/>
          </a:prstGeom>
          <a:noFill/>
          <a:ln/>
        </p:spPr>
        <p:txBody>
          <a:bodyPr wrap="square" lIns="0" tIns="0" rIns="0" bIns="0" rtlCol="0" anchor="t"/>
          <a:lstStyle/>
          <a:p>
            <a:pPr marL="0" indent="0">
              <a:buNone/>
            </a:pPr>
            <a:r>
              <a:rPr lang="en-US" sz="1400" b="1" dirty="0">
                <a:solidFill>
                  <a:srgbClr val="12B886"/>
                </a:solidFill>
                <a:latin typeface="Calibri" pitchFamily="34" charset="0"/>
                <a:ea typeface="Calibri" pitchFamily="34" charset="-122"/>
                <a:cs typeface="Calibri" pitchFamily="34" charset="-120"/>
              </a:rPr>
              <a:t>✓</a:t>
            </a:r>
            <a:endParaRPr lang="en-US" sz="1400" dirty="0"/>
          </a:p>
        </p:txBody>
      </p:sp>
      <p:sp>
        <p:nvSpPr>
          <p:cNvPr id="14" name="Text 12"/>
          <p:cNvSpPr/>
          <p:nvPr/>
        </p:nvSpPr>
        <p:spPr>
          <a:xfrm>
            <a:off x="841248" y="3867912"/>
            <a:ext cx="4736592" cy="548640"/>
          </a:xfrm>
          <a:prstGeom prst="rect">
            <a:avLst/>
          </a:prstGeom>
          <a:noFill/>
          <a:ln/>
        </p:spPr>
        <p:txBody>
          <a:bodyPr wrap="square" lIns="0" tIns="0" rIns="0" bIns="0" rtlCol="0" anchor="t"/>
          <a:lstStyle/>
          <a:p>
            <a:pPr marL="0" indent="0">
              <a:buNone/>
            </a:pPr>
            <a:r>
              <a:rPr lang="en-US" sz="1350" dirty="0">
                <a:solidFill>
                  <a:srgbClr val="1C2333"/>
                </a:solidFill>
                <a:latin typeface="Calibri" pitchFamily="34" charset="0"/>
                <a:ea typeface="Calibri" pitchFamily="34" charset="-122"/>
                <a:cs typeface="Calibri" pitchFamily="34" charset="-120"/>
              </a:rPr>
              <a:t>No saturation for x&gt;0 → fast training</a:t>
            </a:r>
            <a:endParaRPr lang="en-US" sz="1350" dirty="0"/>
          </a:p>
        </p:txBody>
      </p:sp>
      <p:sp>
        <p:nvSpPr>
          <p:cNvPr id="15" name="Text 13"/>
          <p:cNvSpPr/>
          <p:nvPr/>
        </p:nvSpPr>
        <p:spPr>
          <a:xfrm>
            <a:off x="548640" y="4379976"/>
            <a:ext cx="5029200" cy="256032"/>
          </a:xfrm>
          <a:prstGeom prst="rect">
            <a:avLst/>
          </a:prstGeom>
          <a:noFill/>
          <a:ln/>
        </p:spPr>
        <p:txBody>
          <a:bodyPr wrap="square" lIns="0" tIns="0" rIns="0" bIns="0" rtlCol="0" anchor="ctr"/>
          <a:lstStyle/>
          <a:p>
            <a:pPr marL="0" indent="0">
              <a:buNone/>
            </a:pPr>
            <a:r>
              <a:rPr lang="en-US" sz="1100" b="1" kern="0" spc="100" dirty="0">
                <a:solidFill>
                  <a:srgbClr val="E5484D"/>
                </a:solidFill>
                <a:latin typeface="Calibri" pitchFamily="34" charset="0"/>
                <a:ea typeface="Calibri" pitchFamily="34" charset="-122"/>
                <a:cs typeface="Calibri" pitchFamily="34" charset="-120"/>
              </a:rPr>
              <a:t>CONS</a:t>
            </a:r>
            <a:endParaRPr lang="en-US" sz="1100" dirty="0"/>
          </a:p>
        </p:txBody>
      </p:sp>
      <p:sp>
        <p:nvSpPr>
          <p:cNvPr id="16" name="Text 14"/>
          <p:cNvSpPr/>
          <p:nvPr/>
        </p:nvSpPr>
        <p:spPr>
          <a:xfrm>
            <a:off x="548640" y="4690872"/>
            <a:ext cx="274320" cy="292608"/>
          </a:xfrm>
          <a:prstGeom prst="rect">
            <a:avLst/>
          </a:prstGeom>
          <a:noFill/>
          <a:ln/>
        </p:spPr>
        <p:txBody>
          <a:bodyPr wrap="square" lIns="0" tIns="0" rIns="0" bIns="0" rtlCol="0" anchor="t"/>
          <a:lstStyle/>
          <a:p>
            <a:pPr marL="0" indent="0">
              <a:buNone/>
            </a:pPr>
            <a:r>
              <a:rPr lang="en-US" sz="1400" b="1" dirty="0">
                <a:solidFill>
                  <a:srgbClr val="E5484D"/>
                </a:solidFill>
                <a:latin typeface="Calibri" pitchFamily="34" charset="0"/>
                <a:ea typeface="Calibri" pitchFamily="34" charset="-122"/>
                <a:cs typeface="Calibri" pitchFamily="34" charset="-120"/>
              </a:rPr>
              <a:t>✗</a:t>
            </a:r>
            <a:endParaRPr lang="en-US" sz="1400" dirty="0"/>
          </a:p>
        </p:txBody>
      </p:sp>
      <p:sp>
        <p:nvSpPr>
          <p:cNvPr id="17" name="Text 15"/>
          <p:cNvSpPr/>
          <p:nvPr/>
        </p:nvSpPr>
        <p:spPr>
          <a:xfrm>
            <a:off x="841248" y="4690872"/>
            <a:ext cx="4736592" cy="548640"/>
          </a:xfrm>
          <a:prstGeom prst="rect">
            <a:avLst/>
          </a:prstGeom>
          <a:noFill/>
          <a:ln/>
        </p:spPr>
        <p:txBody>
          <a:bodyPr wrap="square" lIns="0" tIns="0" rIns="0" bIns="0" rtlCol="0" anchor="t"/>
          <a:lstStyle/>
          <a:p>
            <a:pPr marL="0" indent="0">
              <a:buNone/>
            </a:pPr>
            <a:r>
              <a:rPr lang="en-US" sz="1350" dirty="0">
                <a:solidFill>
                  <a:srgbClr val="1C2333"/>
                </a:solidFill>
                <a:latin typeface="Calibri" pitchFamily="34" charset="0"/>
                <a:ea typeface="Calibri" pitchFamily="34" charset="-122"/>
                <a:cs typeface="Calibri" pitchFamily="34" charset="-120"/>
              </a:rPr>
              <a:t>Not zero-centered</a:t>
            </a:r>
            <a:endParaRPr lang="en-US" sz="1350" dirty="0"/>
          </a:p>
        </p:txBody>
      </p:sp>
      <p:sp>
        <p:nvSpPr>
          <p:cNvPr id="18" name="Text 16"/>
          <p:cNvSpPr/>
          <p:nvPr/>
        </p:nvSpPr>
        <p:spPr>
          <a:xfrm>
            <a:off x="548640" y="5093208"/>
            <a:ext cx="274320" cy="292608"/>
          </a:xfrm>
          <a:prstGeom prst="rect">
            <a:avLst/>
          </a:prstGeom>
          <a:noFill/>
          <a:ln/>
        </p:spPr>
        <p:txBody>
          <a:bodyPr wrap="square" lIns="0" tIns="0" rIns="0" bIns="0" rtlCol="0" anchor="t"/>
          <a:lstStyle/>
          <a:p>
            <a:pPr marL="0" indent="0">
              <a:buNone/>
            </a:pPr>
            <a:r>
              <a:rPr lang="en-US" sz="1400" b="1" dirty="0">
                <a:solidFill>
                  <a:srgbClr val="E5484D"/>
                </a:solidFill>
                <a:latin typeface="Calibri" pitchFamily="34" charset="0"/>
                <a:ea typeface="Calibri" pitchFamily="34" charset="-122"/>
                <a:cs typeface="Calibri" pitchFamily="34" charset="-120"/>
              </a:rPr>
              <a:t>✗</a:t>
            </a:r>
            <a:endParaRPr lang="en-US" sz="1400" dirty="0"/>
          </a:p>
        </p:txBody>
      </p:sp>
      <p:sp>
        <p:nvSpPr>
          <p:cNvPr id="19" name="Text 17"/>
          <p:cNvSpPr/>
          <p:nvPr/>
        </p:nvSpPr>
        <p:spPr>
          <a:xfrm>
            <a:off x="841248" y="5093208"/>
            <a:ext cx="4736592" cy="548640"/>
          </a:xfrm>
          <a:prstGeom prst="rect">
            <a:avLst/>
          </a:prstGeom>
          <a:noFill/>
          <a:ln/>
        </p:spPr>
        <p:txBody>
          <a:bodyPr wrap="square" lIns="0" tIns="0" rIns="0" bIns="0" rtlCol="0" anchor="t"/>
          <a:lstStyle/>
          <a:p>
            <a:pPr marL="0" indent="0">
              <a:buNone/>
            </a:pPr>
            <a:r>
              <a:rPr lang="en-US" sz="1350" dirty="0">
                <a:solidFill>
                  <a:srgbClr val="1C2333"/>
                </a:solidFill>
                <a:latin typeface="Calibri" pitchFamily="34" charset="0"/>
                <a:ea typeface="Calibri" pitchFamily="34" charset="-122"/>
                <a:cs typeface="Calibri" pitchFamily="34" charset="-120"/>
              </a:rPr>
              <a:t>“Dying ReLU”: stuck-at-0 neurons stop learning</a:t>
            </a:r>
            <a:endParaRPr lang="en-US" sz="1350" dirty="0"/>
          </a:p>
        </p:txBody>
      </p:sp>
      <p:sp>
        <p:nvSpPr>
          <p:cNvPr id="20" name="Shape 18"/>
          <p:cNvSpPr/>
          <p:nvPr/>
        </p:nvSpPr>
        <p:spPr>
          <a:xfrm>
            <a:off x="5852160" y="5806440"/>
            <a:ext cx="5788152" cy="603504"/>
          </a:xfrm>
          <a:prstGeom prst="roundRect">
            <a:avLst>
              <a:gd name="adj" fmla="val 15152"/>
            </a:avLst>
          </a:prstGeom>
          <a:solidFill>
            <a:srgbClr val="141B3C"/>
          </a:solidFill>
          <a:ln/>
        </p:spPr>
      </p:sp>
      <p:sp>
        <p:nvSpPr>
          <p:cNvPr id="21" name="Text 19"/>
          <p:cNvSpPr/>
          <p:nvPr/>
        </p:nvSpPr>
        <p:spPr>
          <a:xfrm>
            <a:off x="6035040" y="5806440"/>
            <a:ext cx="5394960" cy="603504"/>
          </a:xfrm>
          <a:prstGeom prst="rect">
            <a:avLst/>
          </a:prstGeom>
          <a:noFill/>
          <a:ln/>
        </p:spPr>
        <p:txBody>
          <a:bodyPr wrap="square" lIns="0" tIns="0" rIns="0" bIns="0" rtlCol="0" anchor="ctr"/>
          <a:lstStyle/>
          <a:p>
            <a:pPr marL="0" indent="0">
              <a:buNone/>
            </a:pPr>
            <a:r>
              <a:rPr lang="en-US" sz="1100" b="1" kern="0" spc="100" dirty="0">
                <a:solidFill>
                  <a:srgbClr val="EC1E79"/>
                </a:solidFill>
                <a:latin typeface="Calibri" pitchFamily="34" charset="0"/>
                <a:ea typeface="Calibri" pitchFamily="34" charset="-122"/>
                <a:cs typeface="Calibri" pitchFamily="34" charset="-120"/>
              </a:rPr>
              <a:t>USE FOR   </a:t>
            </a:r>
            <a:r>
              <a:rPr lang="en-US" sz="1350" dirty="0">
                <a:solidFill>
                  <a:srgbClr val="FFFFFF"/>
                </a:solidFill>
                <a:latin typeface="Calibri" pitchFamily="34" charset="0"/>
                <a:ea typeface="Calibri" pitchFamily="34" charset="-122"/>
                <a:cs typeface="Calibri" pitchFamily="34" charset="-120"/>
              </a:rPr>
              <a:t>the default for CNN &amp; MLP hidden layers</a:t>
            </a:r>
            <a:endParaRPr lang="en-US" sz="1100" dirty="0"/>
          </a:p>
        </p:txBody>
      </p:sp>
      <p:pic>
        <p:nvPicPr>
          <p:cNvPr id="22" name="Image 0" descr="/home/claude/fig/fn_relu.png"/>
          <p:cNvPicPr>
            <a:picLocks noChangeAspect="1"/>
          </p:cNvPicPr>
          <p:nvPr/>
        </p:nvPicPr>
        <p:blipFill>
          <a:blip r:embed="rId3"/>
          <a:srcRect/>
          <a:stretch/>
        </p:blipFill>
        <p:spPr>
          <a:xfrm>
            <a:off x="5852160" y="1417320"/>
            <a:ext cx="5788152" cy="4206240"/>
          </a:xfrm>
          <a:prstGeom prst="rect">
            <a:avLst/>
          </a:prstGeom>
        </p:spPr>
      </p:pic>
      <p:sp>
        <p:nvSpPr>
          <p:cNvPr id="23" name="Text 20"/>
          <p:cNvSpPr/>
          <p:nvPr/>
        </p:nvSpPr>
        <p:spPr>
          <a:xfrm>
            <a:off x="548640" y="6473952"/>
            <a:ext cx="4572000" cy="274320"/>
          </a:xfrm>
          <a:prstGeom prst="rect">
            <a:avLst/>
          </a:prstGeom>
          <a:noFill/>
          <a:ln/>
        </p:spPr>
        <p:txBody>
          <a:bodyPr wrap="square" lIns="0" tIns="0" rIns="0" bIns="0" rtlCol="0" anchor="ctr"/>
          <a:lstStyle/>
          <a:p>
            <a:pPr marL="0" indent="0" algn="l">
              <a:buNone/>
            </a:pPr>
            <a:r>
              <a:rPr lang="en-US" sz="900" dirty="0">
                <a:solidFill>
                  <a:srgbClr val="6B7385"/>
                </a:solidFill>
                <a:latin typeface="Calibri" pitchFamily="34" charset="0"/>
                <a:ea typeface="Calibri" pitchFamily="34" charset="-122"/>
                <a:cs typeface="Calibri" pitchFamily="34" charset="-120"/>
              </a:rPr>
              <a:t>Activation Functions</a:t>
            </a:r>
            <a:endParaRPr lang="en-US" sz="900" dirty="0"/>
          </a:p>
        </p:txBody>
      </p:sp>
      <p:sp>
        <p:nvSpPr>
          <p:cNvPr id="24" name="Text 21"/>
          <p:cNvSpPr/>
          <p:nvPr/>
        </p:nvSpPr>
        <p:spPr>
          <a:xfrm>
            <a:off x="11183112" y="6473952"/>
            <a:ext cx="457200" cy="274320"/>
          </a:xfrm>
          <a:prstGeom prst="rect">
            <a:avLst/>
          </a:prstGeom>
          <a:noFill/>
          <a:ln/>
        </p:spPr>
        <p:txBody>
          <a:bodyPr wrap="square" lIns="0" tIns="0" rIns="0" bIns="0" rtlCol="0" anchor="ctr"/>
          <a:lstStyle/>
          <a:p>
            <a:pPr marL="0" indent="0" algn="r">
              <a:buNone/>
            </a:pPr>
            <a:r>
              <a:rPr lang="en-US" sz="900" dirty="0">
                <a:solidFill>
                  <a:srgbClr val="6B7385"/>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48640"/>
            <a:ext cx="908914" cy="310896"/>
          </a:xfrm>
          <a:prstGeom prst="roundRect">
            <a:avLst>
              <a:gd name="adj" fmla="val 50000"/>
            </a:avLst>
          </a:prstGeom>
          <a:solidFill>
            <a:srgbClr val="EC1E79"/>
          </a:solidFill>
          <a:ln/>
        </p:spPr>
      </p:sp>
      <p:sp>
        <p:nvSpPr>
          <p:cNvPr id="3" name="Text 1"/>
          <p:cNvSpPr/>
          <p:nvPr/>
        </p:nvSpPr>
        <p:spPr>
          <a:xfrm>
            <a:off x="548640" y="548640"/>
            <a:ext cx="908914" cy="310896"/>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DEEP DIVE</a:t>
            </a:r>
            <a:endParaRPr lang="en-US" sz="1100" dirty="0"/>
          </a:p>
        </p:txBody>
      </p:sp>
      <p:sp>
        <p:nvSpPr>
          <p:cNvPr id="4" name="Text 2"/>
          <p:cNvSpPr/>
          <p:nvPr/>
        </p:nvSpPr>
        <p:spPr>
          <a:xfrm>
            <a:off x="548640" y="932688"/>
            <a:ext cx="11091672" cy="731520"/>
          </a:xfrm>
          <a:prstGeom prst="rect">
            <a:avLst/>
          </a:prstGeom>
          <a:noFill/>
          <a:ln/>
        </p:spPr>
        <p:txBody>
          <a:bodyPr wrap="square" lIns="0" tIns="0" rIns="0" bIns="0" rtlCol="0" anchor="t"/>
          <a:lstStyle/>
          <a:p>
            <a:pPr marL="0" indent="0" algn="l">
              <a:buNone/>
            </a:pPr>
            <a:r>
              <a:rPr lang="en-US" sz="3300" b="1" dirty="0">
                <a:solidFill>
                  <a:srgbClr val="141B3C"/>
                </a:solidFill>
                <a:latin typeface="Calibri" pitchFamily="34" charset="0"/>
                <a:ea typeface="Calibri" pitchFamily="34" charset="-122"/>
                <a:cs typeface="Calibri" pitchFamily="34" charset="-120"/>
              </a:rPr>
              <a:t>Why ReLU took over — and its catch</a:t>
            </a:r>
            <a:endParaRPr lang="en-US" sz="3300" dirty="0"/>
          </a:p>
        </p:txBody>
      </p:sp>
      <p:sp>
        <p:nvSpPr>
          <p:cNvPr id="5" name="Shape 3"/>
          <p:cNvSpPr/>
          <p:nvPr/>
        </p:nvSpPr>
        <p:spPr>
          <a:xfrm>
            <a:off x="548640" y="1828800"/>
            <a:ext cx="5349240" cy="4023360"/>
          </a:xfrm>
          <a:prstGeom prst="roundRect">
            <a:avLst>
              <a:gd name="adj" fmla="val 2727"/>
            </a:avLst>
          </a:prstGeom>
          <a:solidFill>
            <a:srgbClr val="E7F7F0"/>
          </a:solidFill>
          <a:ln/>
        </p:spPr>
      </p:sp>
      <p:sp>
        <p:nvSpPr>
          <p:cNvPr id="6" name="Shape 4"/>
          <p:cNvSpPr/>
          <p:nvPr/>
        </p:nvSpPr>
        <p:spPr>
          <a:xfrm>
            <a:off x="822960" y="2103120"/>
            <a:ext cx="502920" cy="502920"/>
          </a:xfrm>
          <a:prstGeom prst="ellipse">
            <a:avLst/>
          </a:prstGeom>
          <a:solidFill>
            <a:srgbClr val="12B886"/>
          </a:solidFill>
          <a:ln/>
        </p:spPr>
      </p:sp>
      <p:sp>
        <p:nvSpPr>
          <p:cNvPr id="7" name="Text 5"/>
          <p:cNvSpPr/>
          <p:nvPr/>
        </p:nvSpPr>
        <p:spPr>
          <a:xfrm>
            <a:off x="822960" y="21031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8" name="Text 6"/>
          <p:cNvSpPr/>
          <p:nvPr/>
        </p:nvSpPr>
        <p:spPr>
          <a:xfrm>
            <a:off x="1463040" y="2121408"/>
            <a:ext cx="4114800" cy="457200"/>
          </a:xfrm>
          <a:prstGeom prst="rect">
            <a:avLst/>
          </a:prstGeom>
          <a:noFill/>
          <a:ln/>
        </p:spPr>
        <p:txBody>
          <a:bodyPr wrap="square" lIns="0" tIns="0" rIns="0" bIns="0" rtlCol="0" anchor="ctr"/>
          <a:lstStyle/>
          <a:p>
            <a:pPr marL="0" indent="0">
              <a:buNone/>
            </a:pPr>
            <a:r>
              <a:rPr lang="en-US" sz="1800" b="1" dirty="0">
                <a:solidFill>
                  <a:srgbClr val="141B3C"/>
                </a:solidFill>
                <a:latin typeface="Calibri" pitchFamily="34" charset="0"/>
                <a:ea typeface="Calibri" pitchFamily="34" charset="-122"/>
                <a:cs typeface="Calibri" pitchFamily="34" charset="-120"/>
              </a:rPr>
              <a:t>Why it won</a:t>
            </a:r>
            <a:endParaRPr lang="en-US" sz="1800" dirty="0"/>
          </a:p>
        </p:txBody>
      </p:sp>
      <p:sp>
        <p:nvSpPr>
          <p:cNvPr id="9" name="Text 7"/>
          <p:cNvSpPr/>
          <p:nvPr/>
        </p:nvSpPr>
        <p:spPr>
          <a:xfrm>
            <a:off x="868680" y="2834640"/>
            <a:ext cx="4754880" cy="3200400"/>
          </a:xfrm>
          <a:prstGeom prst="rect">
            <a:avLst/>
          </a:prstGeom>
          <a:noFill/>
          <a:ln/>
        </p:spPr>
        <p:txBody>
          <a:bodyPr wrap="square" lIns="0" tIns="0" rIns="0" bIns="0" rtlCol="0" anchor="t"/>
          <a:lstStyle/>
          <a:p>
            <a:pPr marL="177800" indent="-177800">
              <a:lnSpc>
                <a:spcPct val="102000"/>
              </a:lnSpc>
              <a:spcAft>
                <a:spcPts val="1000"/>
              </a:spcAft>
              <a:buSzPct val="100000"/>
              <a:buChar char="•"/>
            </a:pPr>
            <a:r>
              <a:rPr lang="en-US" sz="1400" dirty="0">
                <a:solidFill>
                  <a:srgbClr val="1C2333"/>
                </a:solidFill>
                <a:latin typeface="Calibri" pitchFamily="34" charset="0"/>
                <a:ea typeface="Calibri" pitchFamily="34" charset="-122"/>
                <a:cs typeface="Calibri" pitchFamily="34" charset="-120"/>
              </a:rPr>
              <a:t>Gradient is just 0 or 1 — no vanishing for positive inputs.</a:t>
            </a:r>
            <a:endParaRPr lang="en-US" sz="1400" dirty="0"/>
          </a:p>
          <a:p>
            <a:pPr marL="177800" indent="-177800">
              <a:lnSpc>
                <a:spcPct val="102000"/>
              </a:lnSpc>
              <a:spcAft>
                <a:spcPts val="1000"/>
              </a:spcAft>
              <a:buSzPct val="100000"/>
              <a:buChar char="•"/>
            </a:pPr>
            <a:r>
              <a:rPr lang="en-US" sz="1400" dirty="0">
                <a:solidFill>
                  <a:srgbClr val="1C2333"/>
                </a:solidFill>
                <a:latin typeface="Calibri" pitchFamily="34" charset="0"/>
                <a:ea typeface="Calibri" pitchFamily="34" charset="-122"/>
                <a:cs typeface="Calibri" pitchFamily="34" charset="-120"/>
              </a:rPr>
              <a:t>Sparse activations (many exact zeros) are efficient.</a:t>
            </a:r>
            <a:endParaRPr lang="en-US" sz="1400" dirty="0"/>
          </a:p>
          <a:p>
            <a:pPr marL="177800" indent="-177800">
              <a:lnSpc>
                <a:spcPct val="102000"/>
              </a:lnSpc>
              <a:spcAft>
                <a:spcPts val="1000"/>
              </a:spcAft>
              <a:buSzPct val="100000"/>
              <a:buChar char="•"/>
            </a:pPr>
            <a:r>
              <a:rPr lang="en-US" sz="1400" dirty="0">
                <a:solidFill>
                  <a:srgbClr val="1C2333"/>
                </a:solidFill>
                <a:latin typeface="Calibri" pitchFamily="34" charset="0"/>
                <a:ea typeface="Calibri" pitchFamily="34" charset="-122"/>
                <a:cs typeface="Calibri" pitchFamily="34" charset="-120"/>
              </a:rPr>
              <a:t>Trains deep nets far faster than sigmoid or tanh.</a:t>
            </a:r>
            <a:endParaRPr lang="en-US" sz="1400" dirty="0"/>
          </a:p>
        </p:txBody>
      </p:sp>
      <p:sp>
        <p:nvSpPr>
          <p:cNvPr id="10" name="Shape 8"/>
          <p:cNvSpPr/>
          <p:nvPr/>
        </p:nvSpPr>
        <p:spPr>
          <a:xfrm>
            <a:off x="6080760" y="1828800"/>
            <a:ext cx="5349240" cy="4023360"/>
          </a:xfrm>
          <a:prstGeom prst="roundRect">
            <a:avLst>
              <a:gd name="adj" fmla="val 2727"/>
            </a:avLst>
          </a:prstGeom>
          <a:solidFill>
            <a:srgbClr val="FDE7F1"/>
          </a:solidFill>
          <a:ln/>
        </p:spPr>
      </p:sp>
      <p:sp>
        <p:nvSpPr>
          <p:cNvPr id="11" name="Shape 9"/>
          <p:cNvSpPr/>
          <p:nvPr/>
        </p:nvSpPr>
        <p:spPr>
          <a:xfrm>
            <a:off x="6355080" y="2103120"/>
            <a:ext cx="502920" cy="502920"/>
          </a:xfrm>
          <a:prstGeom prst="ellipse">
            <a:avLst/>
          </a:prstGeom>
          <a:solidFill>
            <a:srgbClr val="EC1E79"/>
          </a:solidFill>
          <a:ln/>
        </p:spPr>
      </p:sp>
      <p:sp>
        <p:nvSpPr>
          <p:cNvPr id="12" name="Text 10"/>
          <p:cNvSpPr/>
          <p:nvPr/>
        </p:nvSpPr>
        <p:spPr>
          <a:xfrm>
            <a:off x="6355080" y="21031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3" name="Text 11"/>
          <p:cNvSpPr/>
          <p:nvPr/>
        </p:nvSpPr>
        <p:spPr>
          <a:xfrm>
            <a:off x="6995160" y="2121408"/>
            <a:ext cx="4114800" cy="457200"/>
          </a:xfrm>
          <a:prstGeom prst="rect">
            <a:avLst/>
          </a:prstGeom>
          <a:noFill/>
          <a:ln/>
        </p:spPr>
        <p:txBody>
          <a:bodyPr wrap="square" lIns="0" tIns="0" rIns="0" bIns="0" rtlCol="0" anchor="ctr"/>
          <a:lstStyle/>
          <a:p>
            <a:pPr marL="0" indent="0">
              <a:buNone/>
            </a:pPr>
            <a:r>
              <a:rPr lang="en-US" sz="1800" b="1" dirty="0">
                <a:solidFill>
                  <a:srgbClr val="141B3C"/>
                </a:solidFill>
                <a:latin typeface="Calibri" pitchFamily="34" charset="0"/>
                <a:ea typeface="Calibri" pitchFamily="34" charset="-122"/>
                <a:cs typeface="Calibri" pitchFamily="34" charset="-120"/>
              </a:rPr>
              <a:t>The dying ReLU</a:t>
            </a:r>
            <a:endParaRPr lang="en-US" sz="1800" dirty="0"/>
          </a:p>
        </p:txBody>
      </p:sp>
      <p:sp>
        <p:nvSpPr>
          <p:cNvPr id="14" name="Text 12"/>
          <p:cNvSpPr/>
          <p:nvPr/>
        </p:nvSpPr>
        <p:spPr>
          <a:xfrm>
            <a:off x="6400800" y="2834640"/>
            <a:ext cx="4754880" cy="3200400"/>
          </a:xfrm>
          <a:prstGeom prst="rect">
            <a:avLst/>
          </a:prstGeom>
          <a:noFill/>
          <a:ln/>
        </p:spPr>
        <p:txBody>
          <a:bodyPr wrap="square" lIns="0" tIns="0" rIns="0" bIns="0" rtlCol="0" anchor="t"/>
          <a:lstStyle/>
          <a:p>
            <a:pPr marL="177800" indent="-177800">
              <a:lnSpc>
                <a:spcPct val="102000"/>
              </a:lnSpc>
              <a:spcAft>
                <a:spcPts val="1000"/>
              </a:spcAft>
              <a:buSzPct val="100000"/>
              <a:buChar char="•"/>
            </a:pPr>
            <a:r>
              <a:rPr lang="en-US" sz="1400" dirty="0">
                <a:solidFill>
                  <a:srgbClr val="1C2333"/>
                </a:solidFill>
                <a:latin typeface="Calibri" pitchFamily="34" charset="0"/>
                <a:ea typeface="Calibri" pitchFamily="34" charset="-122"/>
                <a:cs typeface="Calibri" pitchFamily="34" charset="-120"/>
              </a:rPr>
              <a:t>If a neuron's input stays negative, its gradient is always 0.</a:t>
            </a:r>
            <a:endParaRPr lang="en-US" sz="1400" dirty="0"/>
          </a:p>
          <a:p>
            <a:pPr marL="177800" indent="-177800">
              <a:lnSpc>
                <a:spcPct val="102000"/>
              </a:lnSpc>
              <a:spcAft>
                <a:spcPts val="1000"/>
              </a:spcAft>
              <a:buSzPct val="100000"/>
              <a:buChar char="•"/>
            </a:pPr>
            <a:r>
              <a:rPr lang="en-US" sz="1400" dirty="0">
                <a:solidFill>
                  <a:srgbClr val="1C2333"/>
                </a:solidFill>
                <a:latin typeface="Calibri" pitchFamily="34" charset="0"/>
                <a:ea typeface="Calibri" pitchFamily="34" charset="-122"/>
                <a:cs typeface="Calibri" pitchFamily="34" charset="-120"/>
              </a:rPr>
              <a:t>It then outputs 0 forever — effectively dead.</a:t>
            </a:r>
            <a:endParaRPr lang="en-US" sz="1400" dirty="0"/>
          </a:p>
          <a:p>
            <a:pPr marL="177800" indent="-177800">
              <a:lnSpc>
                <a:spcPct val="102000"/>
              </a:lnSpc>
              <a:spcAft>
                <a:spcPts val="1000"/>
              </a:spcAft>
              <a:buSzPct val="100000"/>
              <a:buChar char="•"/>
            </a:pPr>
            <a:r>
              <a:rPr lang="en-US" sz="1400" dirty="0">
                <a:solidFill>
                  <a:srgbClr val="1C2333"/>
                </a:solidFill>
                <a:latin typeface="Calibri" pitchFamily="34" charset="0"/>
                <a:ea typeface="Calibri" pitchFamily="34" charset="-122"/>
                <a:cs typeface="Calibri" pitchFamily="34" charset="-120"/>
              </a:rPr>
              <a:t>A large learning rate can knock out many neurons at once.</a:t>
            </a:r>
            <a:endParaRPr lang="en-US" sz="1400" dirty="0"/>
          </a:p>
        </p:txBody>
      </p:sp>
      <p:sp>
        <p:nvSpPr>
          <p:cNvPr id="15" name="Text 13"/>
          <p:cNvSpPr/>
          <p:nvPr/>
        </p:nvSpPr>
        <p:spPr>
          <a:xfrm>
            <a:off x="548640" y="5989320"/>
            <a:ext cx="10972800" cy="365760"/>
          </a:xfrm>
          <a:prstGeom prst="rect">
            <a:avLst/>
          </a:prstGeom>
          <a:noFill/>
          <a:ln/>
        </p:spPr>
        <p:txBody>
          <a:bodyPr wrap="square" lIns="0" tIns="0" rIns="0" bIns="0" rtlCol="0" anchor="ctr"/>
          <a:lstStyle/>
          <a:p>
            <a:pPr marL="0" indent="0" algn="ctr">
              <a:buNone/>
            </a:pPr>
            <a:r>
              <a:rPr lang="en-US" sz="1400" b="1" i="1" dirty="0">
                <a:solidFill>
                  <a:srgbClr val="6B7385"/>
                </a:solidFill>
                <a:latin typeface="Calibri" pitchFamily="34" charset="0"/>
                <a:ea typeface="Calibri" pitchFamily="34" charset="-122"/>
                <a:cs typeface="Calibri" pitchFamily="34" charset="-120"/>
              </a:rPr>
              <a:t>→  Leaky ReLU, PReLU and ELU were invented to cure the dying-ReLU problem.</a:t>
            </a:r>
            <a:endParaRPr lang="en-US" sz="1400" dirty="0"/>
          </a:p>
        </p:txBody>
      </p:sp>
      <p:sp>
        <p:nvSpPr>
          <p:cNvPr id="16" name="Text 14"/>
          <p:cNvSpPr/>
          <p:nvPr/>
        </p:nvSpPr>
        <p:spPr>
          <a:xfrm>
            <a:off x="548640" y="6473952"/>
            <a:ext cx="4572000" cy="274320"/>
          </a:xfrm>
          <a:prstGeom prst="rect">
            <a:avLst/>
          </a:prstGeom>
          <a:noFill/>
          <a:ln/>
        </p:spPr>
        <p:txBody>
          <a:bodyPr wrap="square" lIns="0" tIns="0" rIns="0" bIns="0" rtlCol="0" anchor="ctr"/>
          <a:lstStyle/>
          <a:p>
            <a:pPr marL="0" indent="0" algn="l">
              <a:buNone/>
            </a:pPr>
            <a:r>
              <a:rPr lang="en-US" sz="900" dirty="0">
                <a:solidFill>
                  <a:srgbClr val="6B7385"/>
                </a:solidFill>
                <a:latin typeface="Calibri" pitchFamily="34" charset="0"/>
                <a:ea typeface="Calibri" pitchFamily="34" charset="-122"/>
                <a:cs typeface="Calibri" pitchFamily="34" charset="-120"/>
              </a:rPr>
              <a:t>Activation Functions</a:t>
            </a:r>
            <a:endParaRPr lang="en-US" sz="900" dirty="0"/>
          </a:p>
        </p:txBody>
      </p:sp>
      <p:sp>
        <p:nvSpPr>
          <p:cNvPr id="17" name="Text 15"/>
          <p:cNvSpPr/>
          <p:nvPr/>
        </p:nvSpPr>
        <p:spPr>
          <a:xfrm>
            <a:off x="11183112" y="6473952"/>
            <a:ext cx="457200" cy="274320"/>
          </a:xfrm>
          <a:prstGeom prst="rect">
            <a:avLst/>
          </a:prstGeom>
          <a:noFill/>
          <a:ln/>
        </p:spPr>
        <p:txBody>
          <a:bodyPr wrap="square" lIns="0" tIns="0" rIns="0" bIns="0" rtlCol="0" anchor="ctr"/>
          <a:lstStyle/>
          <a:p>
            <a:pPr marL="0" indent="0" algn="r">
              <a:buNone/>
            </a:pPr>
            <a:r>
              <a:rPr lang="en-US" sz="900" dirty="0">
                <a:solidFill>
                  <a:srgbClr val="6B7385"/>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48640"/>
            <a:ext cx="1066190" cy="310896"/>
          </a:xfrm>
          <a:prstGeom prst="roundRect">
            <a:avLst>
              <a:gd name="adj" fmla="val 50000"/>
            </a:avLst>
          </a:prstGeom>
          <a:solidFill>
            <a:srgbClr val="6C4CE0"/>
          </a:solidFill>
          <a:ln/>
        </p:spPr>
      </p:sp>
      <p:sp>
        <p:nvSpPr>
          <p:cNvPr id="3" name="Text 1"/>
          <p:cNvSpPr/>
          <p:nvPr/>
        </p:nvSpPr>
        <p:spPr>
          <a:xfrm>
            <a:off x="548640" y="548640"/>
            <a:ext cx="1066190" cy="310896"/>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RELU FAMILY</a:t>
            </a:r>
            <a:endParaRPr lang="en-US" sz="1100" dirty="0"/>
          </a:p>
        </p:txBody>
      </p:sp>
      <p:sp>
        <p:nvSpPr>
          <p:cNvPr id="4" name="Shape 2"/>
          <p:cNvSpPr/>
          <p:nvPr/>
        </p:nvSpPr>
        <p:spPr>
          <a:xfrm>
            <a:off x="548640" y="932688"/>
            <a:ext cx="566928" cy="566928"/>
          </a:xfrm>
          <a:prstGeom prst="roundRect">
            <a:avLst>
              <a:gd name="adj" fmla="val 19355"/>
            </a:avLst>
          </a:prstGeom>
          <a:solidFill>
            <a:srgbClr val="6C4CE0"/>
          </a:solidFill>
          <a:ln/>
        </p:spPr>
      </p:sp>
      <p:sp>
        <p:nvSpPr>
          <p:cNvPr id="5" name="Text 3"/>
          <p:cNvSpPr/>
          <p:nvPr/>
        </p:nvSpPr>
        <p:spPr>
          <a:xfrm>
            <a:off x="548640" y="932688"/>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L</a:t>
            </a:r>
            <a:endParaRPr lang="en-US" sz="2200" dirty="0"/>
          </a:p>
        </p:txBody>
      </p:sp>
      <p:sp>
        <p:nvSpPr>
          <p:cNvPr id="6" name="Text 4"/>
          <p:cNvSpPr/>
          <p:nvPr/>
        </p:nvSpPr>
        <p:spPr>
          <a:xfrm>
            <a:off x="1298448" y="932688"/>
            <a:ext cx="5486400" cy="566928"/>
          </a:xfrm>
          <a:prstGeom prst="rect">
            <a:avLst/>
          </a:prstGeom>
          <a:noFill/>
          <a:ln/>
        </p:spPr>
        <p:txBody>
          <a:bodyPr wrap="square" lIns="0" tIns="0" rIns="0" bIns="0" rtlCol="0" anchor="ctr"/>
          <a:lstStyle/>
          <a:p>
            <a:pPr marL="0" indent="0">
              <a:buNone/>
            </a:pPr>
            <a:r>
              <a:rPr lang="en-US" sz="2900" b="1" dirty="0">
                <a:solidFill>
                  <a:srgbClr val="141B3C"/>
                </a:solidFill>
                <a:latin typeface="Calibri" pitchFamily="34" charset="0"/>
                <a:ea typeface="Calibri" pitchFamily="34" charset="-122"/>
                <a:cs typeface="Calibri" pitchFamily="34" charset="-120"/>
              </a:rPr>
              <a:t>Leaky ReLU / PReLU</a:t>
            </a:r>
            <a:endParaRPr lang="en-US" sz="2900" dirty="0"/>
          </a:p>
        </p:txBody>
      </p:sp>
      <p:sp>
        <p:nvSpPr>
          <p:cNvPr id="7" name="Shape 5"/>
          <p:cNvSpPr/>
          <p:nvPr/>
        </p:nvSpPr>
        <p:spPr>
          <a:xfrm>
            <a:off x="548640" y="1783080"/>
            <a:ext cx="5029200" cy="786384"/>
          </a:xfrm>
          <a:prstGeom prst="roundRect">
            <a:avLst>
              <a:gd name="adj" fmla="val 10465"/>
            </a:avLst>
          </a:prstGeom>
          <a:solidFill>
            <a:srgbClr val="F4F6FB"/>
          </a:solidFill>
          <a:ln/>
        </p:spPr>
      </p:sp>
      <p:sp>
        <p:nvSpPr>
          <p:cNvPr id="8" name="Text 6"/>
          <p:cNvSpPr/>
          <p:nvPr/>
        </p:nvSpPr>
        <p:spPr>
          <a:xfrm>
            <a:off x="713232" y="1783080"/>
            <a:ext cx="4700016" cy="786384"/>
          </a:xfrm>
          <a:prstGeom prst="rect">
            <a:avLst/>
          </a:prstGeom>
          <a:noFill/>
          <a:ln/>
        </p:spPr>
        <p:txBody>
          <a:bodyPr wrap="square" lIns="0" tIns="0" rIns="0" bIns="0" rtlCol="0" anchor="ctr"/>
          <a:lstStyle/>
          <a:p>
            <a:pPr marL="0" indent="0" algn="l">
              <a:buNone/>
            </a:pPr>
            <a:r>
              <a:rPr lang="en-US" sz="1700" b="1" dirty="0">
                <a:solidFill>
                  <a:srgbClr val="6C4CE0"/>
                </a:solidFill>
                <a:latin typeface="Consolas" pitchFamily="34" charset="0"/>
                <a:ea typeface="Consolas" pitchFamily="34" charset="-122"/>
                <a:cs typeface="Consolas" pitchFamily="34" charset="-120"/>
              </a:rPr>
              <a:t>f(x) = x if x&gt;0 ; αx if x≤0</a:t>
            </a:r>
            <a:endParaRPr lang="en-US" sz="1700" dirty="0"/>
          </a:p>
        </p:txBody>
      </p:sp>
      <p:sp>
        <p:nvSpPr>
          <p:cNvPr id="9" name="Text 7"/>
          <p:cNvSpPr/>
          <p:nvPr/>
        </p:nvSpPr>
        <p:spPr>
          <a:xfrm>
            <a:off x="548640" y="2697480"/>
            <a:ext cx="5029200" cy="310896"/>
          </a:xfrm>
          <a:prstGeom prst="rect">
            <a:avLst/>
          </a:prstGeom>
          <a:noFill/>
          <a:ln/>
        </p:spPr>
        <p:txBody>
          <a:bodyPr wrap="square" lIns="0" tIns="0" rIns="0" bIns="0" rtlCol="0" anchor="ctr"/>
          <a:lstStyle/>
          <a:p>
            <a:pPr marL="0" indent="0">
              <a:buNone/>
            </a:pPr>
            <a:r>
              <a:rPr lang="en-US" sz="1350" b="1" dirty="0">
                <a:solidFill>
                  <a:srgbClr val="6B7385"/>
                </a:solidFill>
                <a:latin typeface="Calibri" pitchFamily="34" charset="0"/>
                <a:ea typeface="Calibri" pitchFamily="34" charset="-122"/>
                <a:cs typeface="Calibri" pitchFamily="34" charset="-120"/>
              </a:rPr>
              <a:t>Range:  (−∞, +∞)</a:t>
            </a:r>
            <a:endParaRPr lang="en-US" sz="1350" dirty="0"/>
          </a:p>
        </p:txBody>
      </p:sp>
      <p:sp>
        <p:nvSpPr>
          <p:cNvPr id="10" name="Text 8"/>
          <p:cNvSpPr/>
          <p:nvPr/>
        </p:nvSpPr>
        <p:spPr>
          <a:xfrm>
            <a:off x="548640" y="3154680"/>
            <a:ext cx="5029200" cy="256032"/>
          </a:xfrm>
          <a:prstGeom prst="rect">
            <a:avLst/>
          </a:prstGeom>
          <a:noFill/>
          <a:ln/>
        </p:spPr>
        <p:txBody>
          <a:bodyPr wrap="square" lIns="0" tIns="0" rIns="0" bIns="0" rtlCol="0" anchor="ctr"/>
          <a:lstStyle/>
          <a:p>
            <a:pPr marL="0" indent="0">
              <a:buNone/>
            </a:pPr>
            <a:r>
              <a:rPr lang="en-US" sz="1100" b="1" kern="0" spc="100" dirty="0">
                <a:solidFill>
                  <a:srgbClr val="12B886"/>
                </a:solidFill>
                <a:latin typeface="Calibri" pitchFamily="34" charset="0"/>
                <a:ea typeface="Calibri" pitchFamily="34" charset="-122"/>
                <a:cs typeface="Calibri" pitchFamily="34" charset="-120"/>
              </a:rPr>
              <a:t>PROS</a:t>
            </a:r>
            <a:endParaRPr lang="en-US" sz="1100" dirty="0"/>
          </a:p>
        </p:txBody>
      </p:sp>
      <p:sp>
        <p:nvSpPr>
          <p:cNvPr id="11" name="Text 9"/>
          <p:cNvSpPr/>
          <p:nvPr/>
        </p:nvSpPr>
        <p:spPr>
          <a:xfrm>
            <a:off x="548640" y="3465576"/>
            <a:ext cx="274320" cy="292608"/>
          </a:xfrm>
          <a:prstGeom prst="rect">
            <a:avLst/>
          </a:prstGeom>
          <a:noFill/>
          <a:ln/>
        </p:spPr>
        <p:txBody>
          <a:bodyPr wrap="square" lIns="0" tIns="0" rIns="0" bIns="0" rtlCol="0" anchor="t"/>
          <a:lstStyle/>
          <a:p>
            <a:pPr marL="0" indent="0">
              <a:buNone/>
            </a:pPr>
            <a:r>
              <a:rPr lang="en-US" sz="1400" b="1" dirty="0">
                <a:solidFill>
                  <a:srgbClr val="12B886"/>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841248" y="3465576"/>
            <a:ext cx="4736592" cy="548640"/>
          </a:xfrm>
          <a:prstGeom prst="rect">
            <a:avLst/>
          </a:prstGeom>
          <a:noFill/>
          <a:ln/>
        </p:spPr>
        <p:txBody>
          <a:bodyPr wrap="square" lIns="0" tIns="0" rIns="0" bIns="0" rtlCol="0" anchor="t"/>
          <a:lstStyle/>
          <a:p>
            <a:pPr marL="0" indent="0">
              <a:buNone/>
            </a:pPr>
            <a:r>
              <a:rPr lang="en-US" sz="1350" dirty="0">
                <a:solidFill>
                  <a:srgbClr val="1C2333"/>
                </a:solidFill>
                <a:latin typeface="Calibri" pitchFamily="34" charset="0"/>
                <a:ea typeface="Calibri" pitchFamily="34" charset="-122"/>
                <a:cs typeface="Calibri" pitchFamily="34" charset="-120"/>
              </a:rPr>
              <a:t>Small negative slope keeps neurons alive</a:t>
            </a:r>
            <a:endParaRPr lang="en-US" sz="1350" dirty="0"/>
          </a:p>
        </p:txBody>
      </p:sp>
      <p:sp>
        <p:nvSpPr>
          <p:cNvPr id="13" name="Text 11"/>
          <p:cNvSpPr/>
          <p:nvPr/>
        </p:nvSpPr>
        <p:spPr>
          <a:xfrm>
            <a:off x="548640" y="3867912"/>
            <a:ext cx="274320" cy="292608"/>
          </a:xfrm>
          <a:prstGeom prst="rect">
            <a:avLst/>
          </a:prstGeom>
          <a:noFill/>
          <a:ln/>
        </p:spPr>
        <p:txBody>
          <a:bodyPr wrap="square" lIns="0" tIns="0" rIns="0" bIns="0" rtlCol="0" anchor="t"/>
          <a:lstStyle/>
          <a:p>
            <a:pPr marL="0" indent="0">
              <a:buNone/>
            </a:pPr>
            <a:r>
              <a:rPr lang="en-US" sz="1400" b="1" dirty="0">
                <a:solidFill>
                  <a:srgbClr val="12B886"/>
                </a:solidFill>
                <a:latin typeface="Calibri" pitchFamily="34" charset="0"/>
                <a:ea typeface="Calibri" pitchFamily="34" charset="-122"/>
                <a:cs typeface="Calibri" pitchFamily="34" charset="-120"/>
              </a:rPr>
              <a:t>✓</a:t>
            </a:r>
            <a:endParaRPr lang="en-US" sz="1400" dirty="0"/>
          </a:p>
        </p:txBody>
      </p:sp>
      <p:sp>
        <p:nvSpPr>
          <p:cNvPr id="14" name="Text 12"/>
          <p:cNvSpPr/>
          <p:nvPr/>
        </p:nvSpPr>
        <p:spPr>
          <a:xfrm>
            <a:off x="841248" y="3867912"/>
            <a:ext cx="4736592" cy="548640"/>
          </a:xfrm>
          <a:prstGeom prst="rect">
            <a:avLst/>
          </a:prstGeom>
          <a:noFill/>
          <a:ln/>
        </p:spPr>
        <p:txBody>
          <a:bodyPr wrap="square" lIns="0" tIns="0" rIns="0" bIns="0" rtlCol="0" anchor="t"/>
          <a:lstStyle/>
          <a:p>
            <a:pPr marL="0" indent="0">
              <a:buNone/>
            </a:pPr>
            <a:r>
              <a:rPr lang="en-US" sz="1350" dirty="0">
                <a:solidFill>
                  <a:srgbClr val="1C2333"/>
                </a:solidFill>
                <a:latin typeface="Calibri" pitchFamily="34" charset="0"/>
                <a:ea typeface="Calibri" pitchFamily="34" charset="-122"/>
                <a:cs typeface="Calibri" pitchFamily="34" charset="-120"/>
              </a:rPr>
              <a:t>Fixes the dying-ReLU problem</a:t>
            </a:r>
            <a:endParaRPr lang="en-US" sz="1350" dirty="0"/>
          </a:p>
        </p:txBody>
      </p:sp>
      <p:sp>
        <p:nvSpPr>
          <p:cNvPr id="15" name="Text 13"/>
          <p:cNvSpPr/>
          <p:nvPr/>
        </p:nvSpPr>
        <p:spPr>
          <a:xfrm>
            <a:off x="548640" y="4379976"/>
            <a:ext cx="5029200" cy="256032"/>
          </a:xfrm>
          <a:prstGeom prst="rect">
            <a:avLst/>
          </a:prstGeom>
          <a:noFill/>
          <a:ln/>
        </p:spPr>
        <p:txBody>
          <a:bodyPr wrap="square" lIns="0" tIns="0" rIns="0" bIns="0" rtlCol="0" anchor="ctr"/>
          <a:lstStyle/>
          <a:p>
            <a:pPr marL="0" indent="0">
              <a:buNone/>
            </a:pPr>
            <a:r>
              <a:rPr lang="en-US" sz="1100" b="1" kern="0" spc="100" dirty="0">
                <a:solidFill>
                  <a:srgbClr val="E5484D"/>
                </a:solidFill>
                <a:latin typeface="Calibri" pitchFamily="34" charset="0"/>
                <a:ea typeface="Calibri" pitchFamily="34" charset="-122"/>
                <a:cs typeface="Calibri" pitchFamily="34" charset="-120"/>
              </a:rPr>
              <a:t>CONS</a:t>
            </a:r>
            <a:endParaRPr lang="en-US" sz="1100" dirty="0"/>
          </a:p>
        </p:txBody>
      </p:sp>
      <p:sp>
        <p:nvSpPr>
          <p:cNvPr id="16" name="Text 14"/>
          <p:cNvSpPr/>
          <p:nvPr/>
        </p:nvSpPr>
        <p:spPr>
          <a:xfrm>
            <a:off x="548640" y="4690872"/>
            <a:ext cx="274320" cy="292608"/>
          </a:xfrm>
          <a:prstGeom prst="rect">
            <a:avLst/>
          </a:prstGeom>
          <a:noFill/>
          <a:ln/>
        </p:spPr>
        <p:txBody>
          <a:bodyPr wrap="square" lIns="0" tIns="0" rIns="0" bIns="0" rtlCol="0" anchor="t"/>
          <a:lstStyle/>
          <a:p>
            <a:pPr marL="0" indent="0">
              <a:buNone/>
            </a:pPr>
            <a:r>
              <a:rPr lang="en-US" sz="1400" b="1" dirty="0">
                <a:solidFill>
                  <a:srgbClr val="E5484D"/>
                </a:solidFill>
                <a:latin typeface="Calibri" pitchFamily="34" charset="0"/>
                <a:ea typeface="Calibri" pitchFamily="34" charset="-122"/>
                <a:cs typeface="Calibri" pitchFamily="34" charset="-120"/>
              </a:rPr>
              <a:t>✗</a:t>
            </a:r>
            <a:endParaRPr lang="en-US" sz="1400" dirty="0"/>
          </a:p>
        </p:txBody>
      </p:sp>
      <p:sp>
        <p:nvSpPr>
          <p:cNvPr id="17" name="Text 15"/>
          <p:cNvSpPr/>
          <p:nvPr/>
        </p:nvSpPr>
        <p:spPr>
          <a:xfrm>
            <a:off x="841248" y="4690872"/>
            <a:ext cx="4736592" cy="548640"/>
          </a:xfrm>
          <a:prstGeom prst="rect">
            <a:avLst/>
          </a:prstGeom>
          <a:noFill/>
          <a:ln/>
        </p:spPr>
        <p:txBody>
          <a:bodyPr wrap="square" lIns="0" tIns="0" rIns="0" bIns="0" rtlCol="0" anchor="t"/>
          <a:lstStyle/>
          <a:p>
            <a:pPr marL="0" indent="0">
              <a:buNone/>
            </a:pPr>
            <a:r>
              <a:rPr lang="en-US" sz="1350" dirty="0">
                <a:solidFill>
                  <a:srgbClr val="1C2333"/>
                </a:solidFill>
                <a:latin typeface="Calibri" pitchFamily="34" charset="0"/>
                <a:ea typeface="Calibri" pitchFamily="34" charset="-122"/>
                <a:cs typeface="Calibri" pitchFamily="34" charset="-120"/>
              </a:rPr>
              <a:t>α is an extra hyper-parameter (PReLU learns it)</a:t>
            </a:r>
            <a:endParaRPr lang="en-US" sz="1350" dirty="0"/>
          </a:p>
        </p:txBody>
      </p:sp>
      <p:sp>
        <p:nvSpPr>
          <p:cNvPr id="18" name="Text 16"/>
          <p:cNvSpPr/>
          <p:nvPr/>
        </p:nvSpPr>
        <p:spPr>
          <a:xfrm>
            <a:off x="548640" y="5093208"/>
            <a:ext cx="274320" cy="292608"/>
          </a:xfrm>
          <a:prstGeom prst="rect">
            <a:avLst/>
          </a:prstGeom>
          <a:noFill/>
          <a:ln/>
        </p:spPr>
        <p:txBody>
          <a:bodyPr wrap="square" lIns="0" tIns="0" rIns="0" bIns="0" rtlCol="0" anchor="t"/>
          <a:lstStyle/>
          <a:p>
            <a:pPr marL="0" indent="0">
              <a:buNone/>
            </a:pPr>
            <a:r>
              <a:rPr lang="en-US" sz="1400" b="1" dirty="0">
                <a:solidFill>
                  <a:srgbClr val="E5484D"/>
                </a:solidFill>
                <a:latin typeface="Calibri" pitchFamily="34" charset="0"/>
                <a:ea typeface="Calibri" pitchFamily="34" charset="-122"/>
                <a:cs typeface="Calibri" pitchFamily="34" charset="-120"/>
              </a:rPr>
              <a:t>✗</a:t>
            </a:r>
            <a:endParaRPr lang="en-US" sz="1400" dirty="0"/>
          </a:p>
        </p:txBody>
      </p:sp>
      <p:sp>
        <p:nvSpPr>
          <p:cNvPr id="19" name="Text 17"/>
          <p:cNvSpPr/>
          <p:nvPr/>
        </p:nvSpPr>
        <p:spPr>
          <a:xfrm>
            <a:off x="841248" y="5093208"/>
            <a:ext cx="4736592" cy="548640"/>
          </a:xfrm>
          <a:prstGeom prst="rect">
            <a:avLst/>
          </a:prstGeom>
          <a:noFill/>
          <a:ln/>
        </p:spPr>
        <p:txBody>
          <a:bodyPr wrap="square" lIns="0" tIns="0" rIns="0" bIns="0" rtlCol="0" anchor="t"/>
          <a:lstStyle/>
          <a:p>
            <a:pPr marL="0" indent="0">
              <a:buNone/>
            </a:pPr>
            <a:r>
              <a:rPr lang="en-US" sz="1350" dirty="0">
                <a:solidFill>
                  <a:srgbClr val="1C2333"/>
                </a:solidFill>
                <a:latin typeface="Calibri" pitchFamily="34" charset="0"/>
                <a:ea typeface="Calibri" pitchFamily="34" charset="-122"/>
                <a:cs typeface="Calibri" pitchFamily="34" charset="-120"/>
              </a:rPr>
              <a:t>Gains over ReLU are inconsistent</a:t>
            </a:r>
            <a:endParaRPr lang="en-US" sz="1350" dirty="0"/>
          </a:p>
        </p:txBody>
      </p:sp>
      <p:sp>
        <p:nvSpPr>
          <p:cNvPr id="20" name="Shape 18"/>
          <p:cNvSpPr/>
          <p:nvPr/>
        </p:nvSpPr>
        <p:spPr>
          <a:xfrm>
            <a:off x="5852160" y="5806440"/>
            <a:ext cx="5788152" cy="603504"/>
          </a:xfrm>
          <a:prstGeom prst="roundRect">
            <a:avLst>
              <a:gd name="adj" fmla="val 15152"/>
            </a:avLst>
          </a:prstGeom>
          <a:solidFill>
            <a:srgbClr val="141B3C"/>
          </a:solidFill>
          <a:ln/>
        </p:spPr>
      </p:sp>
      <p:sp>
        <p:nvSpPr>
          <p:cNvPr id="21" name="Text 19"/>
          <p:cNvSpPr/>
          <p:nvPr/>
        </p:nvSpPr>
        <p:spPr>
          <a:xfrm>
            <a:off x="6035040" y="5806440"/>
            <a:ext cx="5394960" cy="603504"/>
          </a:xfrm>
          <a:prstGeom prst="rect">
            <a:avLst/>
          </a:prstGeom>
          <a:noFill/>
          <a:ln/>
        </p:spPr>
        <p:txBody>
          <a:bodyPr wrap="square" lIns="0" tIns="0" rIns="0" bIns="0" rtlCol="0" anchor="ctr"/>
          <a:lstStyle/>
          <a:p>
            <a:pPr marL="0" indent="0">
              <a:buNone/>
            </a:pPr>
            <a:r>
              <a:rPr lang="en-US" sz="1100" b="1" kern="0" spc="100" dirty="0">
                <a:solidFill>
                  <a:srgbClr val="6C4CE0"/>
                </a:solidFill>
                <a:latin typeface="Calibri" pitchFamily="34" charset="0"/>
                <a:ea typeface="Calibri" pitchFamily="34" charset="-122"/>
                <a:cs typeface="Calibri" pitchFamily="34" charset="-120"/>
              </a:rPr>
              <a:t>USE FOR   </a:t>
            </a:r>
            <a:r>
              <a:rPr lang="en-US" sz="1350" dirty="0">
                <a:solidFill>
                  <a:srgbClr val="FFFFFF"/>
                </a:solidFill>
                <a:latin typeface="Calibri" pitchFamily="34" charset="0"/>
                <a:ea typeface="Calibri" pitchFamily="34" charset="-122"/>
                <a:cs typeface="Calibri" pitchFamily="34" charset="-120"/>
              </a:rPr>
              <a:t>when your ReLU units keep dying</a:t>
            </a:r>
            <a:endParaRPr lang="en-US" sz="1100" dirty="0"/>
          </a:p>
        </p:txBody>
      </p:sp>
      <p:pic>
        <p:nvPicPr>
          <p:cNvPr id="22" name="Image 0" descr="/home/claude/fig/fn_leaky.png"/>
          <p:cNvPicPr>
            <a:picLocks noChangeAspect="1"/>
          </p:cNvPicPr>
          <p:nvPr/>
        </p:nvPicPr>
        <p:blipFill>
          <a:blip r:embed="rId3"/>
          <a:srcRect/>
          <a:stretch/>
        </p:blipFill>
        <p:spPr>
          <a:xfrm>
            <a:off x="5852160" y="1417320"/>
            <a:ext cx="5788152" cy="4206240"/>
          </a:xfrm>
          <a:prstGeom prst="rect">
            <a:avLst/>
          </a:prstGeom>
        </p:spPr>
      </p:pic>
      <p:sp>
        <p:nvSpPr>
          <p:cNvPr id="23" name="Text 20"/>
          <p:cNvSpPr/>
          <p:nvPr/>
        </p:nvSpPr>
        <p:spPr>
          <a:xfrm>
            <a:off x="548640" y="6473952"/>
            <a:ext cx="4572000" cy="274320"/>
          </a:xfrm>
          <a:prstGeom prst="rect">
            <a:avLst/>
          </a:prstGeom>
          <a:noFill/>
          <a:ln/>
        </p:spPr>
        <p:txBody>
          <a:bodyPr wrap="square" lIns="0" tIns="0" rIns="0" bIns="0" rtlCol="0" anchor="ctr"/>
          <a:lstStyle/>
          <a:p>
            <a:pPr marL="0" indent="0" algn="l">
              <a:buNone/>
            </a:pPr>
            <a:r>
              <a:rPr lang="en-US" sz="900" dirty="0">
                <a:solidFill>
                  <a:srgbClr val="6B7385"/>
                </a:solidFill>
                <a:latin typeface="Calibri" pitchFamily="34" charset="0"/>
                <a:ea typeface="Calibri" pitchFamily="34" charset="-122"/>
                <a:cs typeface="Calibri" pitchFamily="34" charset="-120"/>
              </a:rPr>
              <a:t>Activation Functions</a:t>
            </a:r>
            <a:endParaRPr lang="en-US" sz="900" dirty="0"/>
          </a:p>
        </p:txBody>
      </p:sp>
      <p:sp>
        <p:nvSpPr>
          <p:cNvPr id="24" name="Text 21"/>
          <p:cNvSpPr/>
          <p:nvPr/>
        </p:nvSpPr>
        <p:spPr>
          <a:xfrm>
            <a:off x="11183112" y="6473952"/>
            <a:ext cx="457200" cy="274320"/>
          </a:xfrm>
          <a:prstGeom prst="rect">
            <a:avLst/>
          </a:prstGeom>
          <a:noFill/>
          <a:ln/>
        </p:spPr>
        <p:txBody>
          <a:bodyPr wrap="square" lIns="0" tIns="0" rIns="0" bIns="0" rtlCol="0" anchor="ctr"/>
          <a:lstStyle/>
          <a:p>
            <a:pPr marL="0" indent="0" algn="r">
              <a:buNone/>
            </a:pPr>
            <a:r>
              <a:rPr lang="en-US" sz="900" dirty="0">
                <a:solidFill>
                  <a:srgbClr val="6B7385"/>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48640"/>
            <a:ext cx="1066190" cy="310896"/>
          </a:xfrm>
          <a:prstGeom prst="roundRect">
            <a:avLst>
              <a:gd name="adj" fmla="val 50000"/>
            </a:avLst>
          </a:prstGeom>
          <a:solidFill>
            <a:srgbClr val="12B886"/>
          </a:solidFill>
          <a:ln/>
        </p:spPr>
      </p:sp>
      <p:sp>
        <p:nvSpPr>
          <p:cNvPr id="3" name="Text 1"/>
          <p:cNvSpPr/>
          <p:nvPr/>
        </p:nvSpPr>
        <p:spPr>
          <a:xfrm>
            <a:off x="548640" y="548640"/>
            <a:ext cx="1066190" cy="310896"/>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RELU FAMILY</a:t>
            </a:r>
            <a:endParaRPr lang="en-US" sz="1100" dirty="0"/>
          </a:p>
        </p:txBody>
      </p:sp>
      <p:sp>
        <p:nvSpPr>
          <p:cNvPr id="4" name="Shape 2"/>
          <p:cNvSpPr/>
          <p:nvPr/>
        </p:nvSpPr>
        <p:spPr>
          <a:xfrm>
            <a:off x="548640" y="932688"/>
            <a:ext cx="566928" cy="566928"/>
          </a:xfrm>
          <a:prstGeom prst="roundRect">
            <a:avLst>
              <a:gd name="adj" fmla="val 19355"/>
            </a:avLst>
          </a:prstGeom>
          <a:solidFill>
            <a:srgbClr val="12B886"/>
          </a:solidFill>
          <a:ln/>
        </p:spPr>
      </p:sp>
      <p:sp>
        <p:nvSpPr>
          <p:cNvPr id="5" name="Text 3"/>
          <p:cNvSpPr/>
          <p:nvPr/>
        </p:nvSpPr>
        <p:spPr>
          <a:xfrm>
            <a:off x="548640" y="932688"/>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E</a:t>
            </a:r>
            <a:endParaRPr lang="en-US" sz="2200" dirty="0"/>
          </a:p>
        </p:txBody>
      </p:sp>
      <p:sp>
        <p:nvSpPr>
          <p:cNvPr id="6" name="Text 4"/>
          <p:cNvSpPr/>
          <p:nvPr/>
        </p:nvSpPr>
        <p:spPr>
          <a:xfrm>
            <a:off x="1298448" y="932688"/>
            <a:ext cx="5486400" cy="566928"/>
          </a:xfrm>
          <a:prstGeom prst="rect">
            <a:avLst/>
          </a:prstGeom>
          <a:noFill/>
          <a:ln/>
        </p:spPr>
        <p:txBody>
          <a:bodyPr wrap="square" lIns="0" tIns="0" rIns="0" bIns="0" rtlCol="0" anchor="ctr"/>
          <a:lstStyle/>
          <a:p>
            <a:pPr marL="0" indent="0">
              <a:buNone/>
            </a:pPr>
            <a:r>
              <a:rPr lang="en-US" sz="2900" b="1" dirty="0">
                <a:solidFill>
                  <a:srgbClr val="141B3C"/>
                </a:solidFill>
                <a:latin typeface="Calibri" pitchFamily="34" charset="0"/>
                <a:ea typeface="Calibri" pitchFamily="34" charset="-122"/>
                <a:cs typeface="Calibri" pitchFamily="34" charset="-120"/>
              </a:rPr>
              <a:t>ELU</a:t>
            </a:r>
            <a:endParaRPr lang="en-US" sz="2900" dirty="0"/>
          </a:p>
        </p:txBody>
      </p:sp>
      <p:sp>
        <p:nvSpPr>
          <p:cNvPr id="7" name="Shape 5"/>
          <p:cNvSpPr/>
          <p:nvPr/>
        </p:nvSpPr>
        <p:spPr>
          <a:xfrm>
            <a:off x="548640" y="1783080"/>
            <a:ext cx="5029200" cy="786384"/>
          </a:xfrm>
          <a:prstGeom prst="roundRect">
            <a:avLst>
              <a:gd name="adj" fmla="val 10465"/>
            </a:avLst>
          </a:prstGeom>
          <a:solidFill>
            <a:srgbClr val="F4F6FB"/>
          </a:solidFill>
          <a:ln/>
        </p:spPr>
      </p:sp>
      <p:sp>
        <p:nvSpPr>
          <p:cNvPr id="8" name="Text 6"/>
          <p:cNvSpPr/>
          <p:nvPr/>
        </p:nvSpPr>
        <p:spPr>
          <a:xfrm>
            <a:off x="713232" y="1783080"/>
            <a:ext cx="4700016" cy="786384"/>
          </a:xfrm>
          <a:prstGeom prst="rect">
            <a:avLst/>
          </a:prstGeom>
          <a:noFill/>
          <a:ln/>
        </p:spPr>
        <p:txBody>
          <a:bodyPr wrap="square" lIns="0" tIns="0" rIns="0" bIns="0" rtlCol="0" anchor="ctr"/>
          <a:lstStyle/>
          <a:p>
            <a:pPr marL="0" indent="0" algn="l">
              <a:buNone/>
            </a:pPr>
            <a:r>
              <a:rPr lang="en-US" sz="1700" b="1" dirty="0">
                <a:solidFill>
                  <a:srgbClr val="12B886"/>
                </a:solidFill>
                <a:latin typeface="Consolas" pitchFamily="34" charset="0"/>
                <a:ea typeface="Consolas" pitchFamily="34" charset="-122"/>
                <a:cs typeface="Consolas" pitchFamily="34" charset="-120"/>
              </a:rPr>
              <a:t>f(x) = x if x&gt;0 ; α(eˣ−1) if x≤0</a:t>
            </a:r>
            <a:endParaRPr lang="en-US" sz="1700" dirty="0"/>
          </a:p>
        </p:txBody>
      </p:sp>
      <p:sp>
        <p:nvSpPr>
          <p:cNvPr id="9" name="Text 7"/>
          <p:cNvSpPr/>
          <p:nvPr/>
        </p:nvSpPr>
        <p:spPr>
          <a:xfrm>
            <a:off x="548640" y="2697480"/>
            <a:ext cx="5029200" cy="310896"/>
          </a:xfrm>
          <a:prstGeom prst="rect">
            <a:avLst/>
          </a:prstGeom>
          <a:noFill/>
          <a:ln/>
        </p:spPr>
        <p:txBody>
          <a:bodyPr wrap="square" lIns="0" tIns="0" rIns="0" bIns="0" rtlCol="0" anchor="ctr"/>
          <a:lstStyle/>
          <a:p>
            <a:pPr marL="0" indent="0">
              <a:buNone/>
            </a:pPr>
            <a:r>
              <a:rPr lang="en-US" sz="1350" b="1" dirty="0">
                <a:solidFill>
                  <a:srgbClr val="6B7385"/>
                </a:solidFill>
                <a:latin typeface="Calibri" pitchFamily="34" charset="0"/>
                <a:ea typeface="Calibri" pitchFamily="34" charset="-122"/>
                <a:cs typeface="Calibri" pitchFamily="34" charset="-120"/>
              </a:rPr>
              <a:t>Range:  (−α, +∞)</a:t>
            </a:r>
            <a:endParaRPr lang="en-US" sz="1350" dirty="0"/>
          </a:p>
        </p:txBody>
      </p:sp>
      <p:sp>
        <p:nvSpPr>
          <p:cNvPr id="10" name="Text 8"/>
          <p:cNvSpPr/>
          <p:nvPr/>
        </p:nvSpPr>
        <p:spPr>
          <a:xfrm>
            <a:off x="548640" y="3154680"/>
            <a:ext cx="5029200" cy="256032"/>
          </a:xfrm>
          <a:prstGeom prst="rect">
            <a:avLst/>
          </a:prstGeom>
          <a:noFill/>
          <a:ln/>
        </p:spPr>
        <p:txBody>
          <a:bodyPr wrap="square" lIns="0" tIns="0" rIns="0" bIns="0" rtlCol="0" anchor="ctr"/>
          <a:lstStyle/>
          <a:p>
            <a:pPr marL="0" indent="0">
              <a:buNone/>
            </a:pPr>
            <a:r>
              <a:rPr lang="en-US" sz="1100" b="1" kern="0" spc="100" dirty="0">
                <a:solidFill>
                  <a:srgbClr val="12B886"/>
                </a:solidFill>
                <a:latin typeface="Calibri" pitchFamily="34" charset="0"/>
                <a:ea typeface="Calibri" pitchFamily="34" charset="-122"/>
                <a:cs typeface="Calibri" pitchFamily="34" charset="-120"/>
              </a:rPr>
              <a:t>PROS</a:t>
            </a:r>
            <a:endParaRPr lang="en-US" sz="1100" dirty="0"/>
          </a:p>
        </p:txBody>
      </p:sp>
      <p:sp>
        <p:nvSpPr>
          <p:cNvPr id="11" name="Text 9"/>
          <p:cNvSpPr/>
          <p:nvPr/>
        </p:nvSpPr>
        <p:spPr>
          <a:xfrm>
            <a:off x="548640" y="3465576"/>
            <a:ext cx="274320" cy="292608"/>
          </a:xfrm>
          <a:prstGeom prst="rect">
            <a:avLst/>
          </a:prstGeom>
          <a:noFill/>
          <a:ln/>
        </p:spPr>
        <p:txBody>
          <a:bodyPr wrap="square" lIns="0" tIns="0" rIns="0" bIns="0" rtlCol="0" anchor="t"/>
          <a:lstStyle/>
          <a:p>
            <a:pPr marL="0" indent="0">
              <a:buNone/>
            </a:pPr>
            <a:r>
              <a:rPr lang="en-US" sz="1400" b="1" dirty="0">
                <a:solidFill>
                  <a:srgbClr val="12B886"/>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841248" y="3465576"/>
            <a:ext cx="4736592" cy="548640"/>
          </a:xfrm>
          <a:prstGeom prst="rect">
            <a:avLst/>
          </a:prstGeom>
          <a:noFill/>
          <a:ln/>
        </p:spPr>
        <p:txBody>
          <a:bodyPr wrap="square" lIns="0" tIns="0" rIns="0" bIns="0" rtlCol="0" anchor="t"/>
          <a:lstStyle/>
          <a:p>
            <a:pPr marL="0" indent="0">
              <a:buNone/>
            </a:pPr>
            <a:r>
              <a:rPr lang="en-US" sz="1350" dirty="0">
                <a:solidFill>
                  <a:srgbClr val="1C2333"/>
                </a:solidFill>
                <a:latin typeface="Calibri" pitchFamily="34" charset="0"/>
                <a:ea typeface="Calibri" pitchFamily="34" charset="-122"/>
                <a:cs typeface="Calibri" pitchFamily="34" charset="-120"/>
              </a:rPr>
              <a:t>Smooth negative curve, closer to zero-mean</a:t>
            </a:r>
            <a:endParaRPr lang="en-US" sz="1350" dirty="0"/>
          </a:p>
        </p:txBody>
      </p:sp>
      <p:sp>
        <p:nvSpPr>
          <p:cNvPr id="13" name="Text 11"/>
          <p:cNvSpPr/>
          <p:nvPr/>
        </p:nvSpPr>
        <p:spPr>
          <a:xfrm>
            <a:off x="548640" y="3867912"/>
            <a:ext cx="274320" cy="292608"/>
          </a:xfrm>
          <a:prstGeom prst="rect">
            <a:avLst/>
          </a:prstGeom>
          <a:noFill/>
          <a:ln/>
        </p:spPr>
        <p:txBody>
          <a:bodyPr wrap="square" lIns="0" tIns="0" rIns="0" bIns="0" rtlCol="0" anchor="t"/>
          <a:lstStyle/>
          <a:p>
            <a:pPr marL="0" indent="0">
              <a:buNone/>
            </a:pPr>
            <a:r>
              <a:rPr lang="en-US" sz="1400" b="1" dirty="0">
                <a:solidFill>
                  <a:srgbClr val="12B886"/>
                </a:solidFill>
                <a:latin typeface="Calibri" pitchFamily="34" charset="0"/>
                <a:ea typeface="Calibri" pitchFamily="34" charset="-122"/>
                <a:cs typeface="Calibri" pitchFamily="34" charset="-120"/>
              </a:rPr>
              <a:t>✓</a:t>
            </a:r>
            <a:endParaRPr lang="en-US" sz="1400" dirty="0"/>
          </a:p>
        </p:txBody>
      </p:sp>
      <p:sp>
        <p:nvSpPr>
          <p:cNvPr id="14" name="Text 12"/>
          <p:cNvSpPr/>
          <p:nvPr/>
        </p:nvSpPr>
        <p:spPr>
          <a:xfrm>
            <a:off x="841248" y="3867912"/>
            <a:ext cx="4736592" cy="548640"/>
          </a:xfrm>
          <a:prstGeom prst="rect">
            <a:avLst/>
          </a:prstGeom>
          <a:noFill/>
          <a:ln/>
        </p:spPr>
        <p:txBody>
          <a:bodyPr wrap="square" lIns="0" tIns="0" rIns="0" bIns="0" rtlCol="0" anchor="t"/>
          <a:lstStyle/>
          <a:p>
            <a:pPr marL="0" indent="0">
              <a:buNone/>
            </a:pPr>
            <a:r>
              <a:rPr lang="en-US" sz="1350" dirty="0">
                <a:solidFill>
                  <a:srgbClr val="1C2333"/>
                </a:solidFill>
                <a:latin typeface="Calibri" pitchFamily="34" charset="0"/>
                <a:ea typeface="Calibri" pitchFamily="34" charset="-122"/>
                <a:cs typeface="Calibri" pitchFamily="34" charset="-120"/>
              </a:rPr>
              <a:t>Pushes activations toward zero-centered</a:t>
            </a:r>
            <a:endParaRPr lang="en-US" sz="1350" dirty="0"/>
          </a:p>
        </p:txBody>
      </p:sp>
      <p:sp>
        <p:nvSpPr>
          <p:cNvPr id="15" name="Text 13"/>
          <p:cNvSpPr/>
          <p:nvPr/>
        </p:nvSpPr>
        <p:spPr>
          <a:xfrm>
            <a:off x="548640" y="4379976"/>
            <a:ext cx="5029200" cy="256032"/>
          </a:xfrm>
          <a:prstGeom prst="rect">
            <a:avLst/>
          </a:prstGeom>
          <a:noFill/>
          <a:ln/>
        </p:spPr>
        <p:txBody>
          <a:bodyPr wrap="square" lIns="0" tIns="0" rIns="0" bIns="0" rtlCol="0" anchor="ctr"/>
          <a:lstStyle/>
          <a:p>
            <a:pPr marL="0" indent="0">
              <a:buNone/>
            </a:pPr>
            <a:r>
              <a:rPr lang="en-US" sz="1100" b="1" kern="0" spc="100" dirty="0">
                <a:solidFill>
                  <a:srgbClr val="E5484D"/>
                </a:solidFill>
                <a:latin typeface="Calibri" pitchFamily="34" charset="0"/>
                <a:ea typeface="Calibri" pitchFamily="34" charset="-122"/>
                <a:cs typeface="Calibri" pitchFamily="34" charset="-120"/>
              </a:rPr>
              <a:t>CONS</a:t>
            </a:r>
            <a:endParaRPr lang="en-US" sz="1100" dirty="0"/>
          </a:p>
        </p:txBody>
      </p:sp>
      <p:sp>
        <p:nvSpPr>
          <p:cNvPr id="16" name="Text 14"/>
          <p:cNvSpPr/>
          <p:nvPr/>
        </p:nvSpPr>
        <p:spPr>
          <a:xfrm>
            <a:off x="548640" y="4690872"/>
            <a:ext cx="274320" cy="292608"/>
          </a:xfrm>
          <a:prstGeom prst="rect">
            <a:avLst/>
          </a:prstGeom>
          <a:noFill/>
          <a:ln/>
        </p:spPr>
        <p:txBody>
          <a:bodyPr wrap="square" lIns="0" tIns="0" rIns="0" bIns="0" rtlCol="0" anchor="t"/>
          <a:lstStyle/>
          <a:p>
            <a:pPr marL="0" indent="0">
              <a:buNone/>
            </a:pPr>
            <a:r>
              <a:rPr lang="en-US" sz="1400" b="1" dirty="0">
                <a:solidFill>
                  <a:srgbClr val="E5484D"/>
                </a:solidFill>
                <a:latin typeface="Calibri" pitchFamily="34" charset="0"/>
                <a:ea typeface="Calibri" pitchFamily="34" charset="-122"/>
                <a:cs typeface="Calibri" pitchFamily="34" charset="-120"/>
              </a:rPr>
              <a:t>✗</a:t>
            </a:r>
            <a:endParaRPr lang="en-US" sz="1400" dirty="0"/>
          </a:p>
        </p:txBody>
      </p:sp>
      <p:sp>
        <p:nvSpPr>
          <p:cNvPr id="17" name="Text 15"/>
          <p:cNvSpPr/>
          <p:nvPr/>
        </p:nvSpPr>
        <p:spPr>
          <a:xfrm>
            <a:off x="841248" y="4690872"/>
            <a:ext cx="4736592" cy="548640"/>
          </a:xfrm>
          <a:prstGeom prst="rect">
            <a:avLst/>
          </a:prstGeom>
          <a:noFill/>
          <a:ln/>
        </p:spPr>
        <p:txBody>
          <a:bodyPr wrap="square" lIns="0" tIns="0" rIns="0" bIns="0" rtlCol="0" anchor="t"/>
          <a:lstStyle/>
          <a:p>
            <a:pPr marL="0" indent="0">
              <a:buNone/>
            </a:pPr>
            <a:r>
              <a:rPr lang="en-US" sz="1350" dirty="0">
                <a:solidFill>
                  <a:srgbClr val="1C2333"/>
                </a:solidFill>
                <a:latin typeface="Calibri" pitchFamily="34" charset="0"/>
                <a:ea typeface="Calibri" pitchFamily="34" charset="-122"/>
                <a:cs typeface="Calibri" pitchFamily="34" charset="-120"/>
              </a:rPr>
              <a:t>Exponential makes it costlier than ReLU</a:t>
            </a:r>
            <a:endParaRPr lang="en-US" sz="1350" dirty="0"/>
          </a:p>
        </p:txBody>
      </p:sp>
      <p:sp>
        <p:nvSpPr>
          <p:cNvPr id="18" name="Text 16"/>
          <p:cNvSpPr/>
          <p:nvPr/>
        </p:nvSpPr>
        <p:spPr>
          <a:xfrm>
            <a:off x="548640" y="5093208"/>
            <a:ext cx="274320" cy="292608"/>
          </a:xfrm>
          <a:prstGeom prst="rect">
            <a:avLst/>
          </a:prstGeom>
          <a:noFill/>
          <a:ln/>
        </p:spPr>
        <p:txBody>
          <a:bodyPr wrap="square" lIns="0" tIns="0" rIns="0" bIns="0" rtlCol="0" anchor="t"/>
          <a:lstStyle/>
          <a:p>
            <a:pPr marL="0" indent="0">
              <a:buNone/>
            </a:pPr>
            <a:r>
              <a:rPr lang="en-US" sz="1400" b="1" dirty="0">
                <a:solidFill>
                  <a:srgbClr val="E5484D"/>
                </a:solidFill>
                <a:latin typeface="Calibri" pitchFamily="34" charset="0"/>
                <a:ea typeface="Calibri" pitchFamily="34" charset="-122"/>
                <a:cs typeface="Calibri" pitchFamily="34" charset="-120"/>
              </a:rPr>
              <a:t>✗</a:t>
            </a:r>
            <a:endParaRPr lang="en-US" sz="1400" dirty="0"/>
          </a:p>
        </p:txBody>
      </p:sp>
      <p:sp>
        <p:nvSpPr>
          <p:cNvPr id="19" name="Text 17"/>
          <p:cNvSpPr/>
          <p:nvPr/>
        </p:nvSpPr>
        <p:spPr>
          <a:xfrm>
            <a:off x="841248" y="5093208"/>
            <a:ext cx="4736592" cy="548640"/>
          </a:xfrm>
          <a:prstGeom prst="rect">
            <a:avLst/>
          </a:prstGeom>
          <a:noFill/>
          <a:ln/>
        </p:spPr>
        <p:txBody>
          <a:bodyPr wrap="square" lIns="0" tIns="0" rIns="0" bIns="0" rtlCol="0" anchor="t"/>
          <a:lstStyle/>
          <a:p>
            <a:pPr marL="0" indent="0">
              <a:buNone/>
            </a:pPr>
            <a:r>
              <a:rPr lang="en-US" sz="1350" dirty="0">
                <a:solidFill>
                  <a:srgbClr val="1C2333"/>
                </a:solidFill>
                <a:latin typeface="Calibri" pitchFamily="34" charset="0"/>
                <a:ea typeface="Calibri" pitchFamily="34" charset="-122"/>
                <a:cs typeface="Calibri" pitchFamily="34" charset="-120"/>
              </a:rPr>
              <a:t>α still needs tuning</a:t>
            </a:r>
            <a:endParaRPr lang="en-US" sz="1350" dirty="0"/>
          </a:p>
        </p:txBody>
      </p:sp>
      <p:sp>
        <p:nvSpPr>
          <p:cNvPr id="20" name="Shape 18"/>
          <p:cNvSpPr/>
          <p:nvPr/>
        </p:nvSpPr>
        <p:spPr>
          <a:xfrm>
            <a:off x="5852160" y="5806440"/>
            <a:ext cx="5788152" cy="603504"/>
          </a:xfrm>
          <a:prstGeom prst="roundRect">
            <a:avLst>
              <a:gd name="adj" fmla="val 15152"/>
            </a:avLst>
          </a:prstGeom>
          <a:solidFill>
            <a:srgbClr val="141B3C"/>
          </a:solidFill>
          <a:ln/>
        </p:spPr>
      </p:sp>
      <p:sp>
        <p:nvSpPr>
          <p:cNvPr id="21" name="Text 19"/>
          <p:cNvSpPr/>
          <p:nvPr/>
        </p:nvSpPr>
        <p:spPr>
          <a:xfrm>
            <a:off x="6035040" y="5806440"/>
            <a:ext cx="5394960" cy="603504"/>
          </a:xfrm>
          <a:prstGeom prst="rect">
            <a:avLst/>
          </a:prstGeom>
          <a:noFill/>
          <a:ln/>
        </p:spPr>
        <p:txBody>
          <a:bodyPr wrap="square" lIns="0" tIns="0" rIns="0" bIns="0" rtlCol="0" anchor="ctr"/>
          <a:lstStyle/>
          <a:p>
            <a:pPr marL="0" indent="0">
              <a:buNone/>
            </a:pPr>
            <a:r>
              <a:rPr lang="en-US" sz="1100" b="1" kern="0" spc="100" dirty="0">
                <a:solidFill>
                  <a:srgbClr val="12B886"/>
                </a:solidFill>
                <a:latin typeface="Calibri" pitchFamily="34" charset="0"/>
                <a:ea typeface="Calibri" pitchFamily="34" charset="-122"/>
                <a:cs typeface="Calibri" pitchFamily="34" charset="-120"/>
              </a:rPr>
              <a:t>USE FOR   </a:t>
            </a:r>
            <a:r>
              <a:rPr lang="en-US" sz="1350" dirty="0">
                <a:solidFill>
                  <a:srgbClr val="FFFFFF"/>
                </a:solidFill>
                <a:latin typeface="Calibri" pitchFamily="34" charset="0"/>
                <a:ea typeface="Calibri" pitchFamily="34" charset="-122"/>
                <a:cs typeface="Calibri" pitchFamily="34" charset="-120"/>
              </a:rPr>
              <a:t>deeper nets wanting robust convergence</a:t>
            </a:r>
            <a:endParaRPr lang="en-US" sz="1100" dirty="0"/>
          </a:p>
        </p:txBody>
      </p:sp>
      <p:pic>
        <p:nvPicPr>
          <p:cNvPr id="22" name="Image 0" descr="/home/claude/fig/fn_elu.png"/>
          <p:cNvPicPr>
            <a:picLocks noChangeAspect="1"/>
          </p:cNvPicPr>
          <p:nvPr/>
        </p:nvPicPr>
        <p:blipFill>
          <a:blip r:embed="rId3"/>
          <a:srcRect/>
          <a:stretch/>
        </p:blipFill>
        <p:spPr>
          <a:xfrm>
            <a:off x="5852160" y="1417320"/>
            <a:ext cx="5788152" cy="4206240"/>
          </a:xfrm>
          <a:prstGeom prst="rect">
            <a:avLst/>
          </a:prstGeom>
        </p:spPr>
      </p:pic>
      <p:sp>
        <p:nvSpPr>
          <p:cNvPr id="23" name="Text 20"/>
          <p:cNvSpPr/>
          <p:nvPr/>
        </p:nvSpPr>
        <p:spPr>
          <a:xfrm>
            <a:off x="548640" y="6473952"/>
            <a:ext cx="4572000" cy="274320"/>
          </a:xfrm>
          <a:prstGeom prst="rect">
            <a:avLst/>
          </a:prstGeom>
          <a:noFill/>
          <a:ln/>
        </p:spPr>
        <p:txBody>
          <a:bodyPr wrap="square" lIns="0" tIns="0" rIns="0" bIns="0" rtlCol="0" anchor="ctr"/>
          <a:lstStyle/>
          <a:p>
            <a:pPr marL="0" indent="0" algn="l">
              <a:buNone/>
            </a:pPr>
            <a:r>
              <a:rPr lang="en-US" sz="900" dirty="0">
                <a:solidFill>
                  <a:srgbClr val="6B7385"/>
                </a:solidFill>
                <a:latin typeface="Calibri" pitchFamily="34" charset="0"/>
                <a:ea typeface="Calibri" pitchFamily="34" charset="-122"/>
                <a:cs typeface="Calibri" pitchFamily="34" charset="-120"/>
              </a:rPr>
              <a:t>Activation Functions</a:t>
            </a:r>
            <a:endParaRPr lang="en-US" sz="900" dirty="0"/>
          </a:p>
        </p:txBody>
      </p:sp>
      <p:sp>
        <p:nvSpPr>
          <p:cNvPr id="24" name="Text 21"/>
          <p:cNvSpPr/>
          <p:nvPr/>
        </p:nvSpPr>
        <p:spPr>
          <a:xfrm>
            <a:off x="11183112" y="6473952"/>
            <a:ext cx="457200" cy="274320"/>
          </a:xfrm>
          <a:prstGeom prst="rect">
            <a:avLst/>
          </a:prstGeom>
          <a:noFill/>
          <a:ln/>
        </p:spPr>
        <p:txBody>
          <a:bodyPr wrap="square" lIns="0" tIns="0" rIns="0" bIns="0" rtlCol="0" anchor="ctr"/>
          <a:lstStyle/>
          <a:p>
            <a:pPr marL="0" indent="0" algn="r">
              <a:buNone/>
            </a:pPr>
            <a:r>
              <a:rPr lang="en-US" sz="900" dirty="0">
                <a:solidFill>
                  <a:srgbClr val="6B7385"/>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48640"/>
            <a:ext cx="987552" cy="310896"/>
          </a:xfrm>
          <a:prstGeom prst="roundRect">
            <a:avLst>
              <a:gd name="adj" fmla="val 50000"/>
            </a:avLst>
          </a:prstGeom>
          <a:solidFill>
            <a:srgbClr val="0EA5E9"/>
          </a:solidFill>
          <a:ln/>
        </p:spPr>
      </p:sp>
      <p:sp>
        <p:nvSpPr>
          <p:cNvPr id="3" name="Text 1"/>
          <p:cNvSpPr/>
          <p:nvPr/>
        </p:nvSpPr>
        <p:spPr>
          <a:xfrm>
            <a:off x="548640" y="548640"/>
            <a:ext cx="987552" cy="310896"/>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SELF-GATED</a:t>
            </a:r>
            <a:endParaRPr lang="en-US" sz="1100" dirty="0"/>
          </a:p>
        </p:txBody>
      </p:sp>
      <p:sp>
        <p:nvSpPr>
          <p:cNvPr id="4" name="Shape 2"/>
          <p:cNvSpPr/>
          <p:nvPr/>
        </p:nvSpPr>
        <p:spPr>
          <a:xfrm>
            <a:off x="548640" y="932688"/>
            <a:ext cx="566928" cy="566928"/>
          </a:xfrm>
          <a:prstGeom prst="roundRect">
            <a:avLst>
              <a:gd name="adj" fmla="val 19355"/>
            </a:avLst>
          </a:prstGeom>
          <a:solidFill>
            <a:srgbClr val="0EA5E9"/>
          </a:solidFill>
          <a:ln/>
        </p:spPr>
      </p:sp>
      <p:sp>
        <p:nvSpPr>
          <p:cNvPr id="5" name="Text 3"/>
          <p:cNvSpPr/>
          <p:nvPr/>
        </p:nvSpPr>
        <p:spPr>
          <a:xfrm>
            <a:off x="548640" y="932688"/>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Sw</a:t>
            </a:r>
            <a:endParaRPr lang="en-US" sz="2200" dirty="0"/>
          </a:p>
        </p:txBody>
      </p:sp>
      <p:sp>
        <p:nvSpPr>
          <p:cNvPr id="6" name="Text 4"/>
          <p:cNvSpPr/>
          <p:nvPr/>
        </p:nvSpPr>
        <p:spPr>
          <a:xfrm>
            <a:off x="1298448" y="932688"/>
            <a:ext cx="5486400" cy="566928"/>
          </a:xfrm>
          <a:prstGeom prst="rect">
            <a:avLst/>
          </a:prstGeom>
          <a:noFill/>
          <a:ln/>
        </p:spPr>
        <p:txBody>
          <a:bodyPr wrap="square" lIns="0" tIns="0" rIns="0" bIns="0" rtlCol="0" anchor="ctr"/>
          <a:lstStyle/>
          <a:p>
            <a:pPr marL="0" indent="0">
              <a:buNone/>
            </a:pPr>
            <a:r>
              <a:rPr lang="en-US" sz="2900" b="1" dirty="0">
                <a:solidFill>
                  <a:srgbClr val="141B3C"/>
                </a:solidFill>
                <a:latin typeface="Calibri" pitchFamily="34" charset="0"/>
                <a:ea typeface="Calibri" pitchFamily="34" charset="-122"/>
                <a:cs typeface="Calibri" pitchFamily="34" charset="-120"/>
              </a:rPr>
              <a:t>Swish / SiLU</a:t>
            </a:r>
            <a:endParaRPr lang="en-US" sz="2900" dirty="0"/>
          </a:p>
        </p:txBody>
      </p:sp>
      <p:sp>
        <p:nvSpPr>
          <p:cNvPr id="7" name="Shape 5"/>
          <p:cNvSpPr/>
          <p:nvPr/>
        </p:nvSpPr>
        <p:spPr>
          <a:xfrm>
            <a:off x="548640" y="1783080"/>
            <a:ext cx="5029200" cy="786384"/>
          </a:xfrm>
          <a:prstGeom prst="roundRect">
            <a:avLst>
              <a:gd name="adj" fmla="val 10465"/>
            </a:avLst>
          </a:prstGeom>
          <a:solidFill>
            <a:srgbClr val="F4F6FB"/>
          </a:solidFill>
          <a:ln/>
        </p:spPr>
      </p:sp>
      <p:sp>
        <p:nvSpPr>
          <p:cNvPr id="8" name="Text 6"/>
          <p:cNvSpPr/>
          <p:nvPr/>
        </p:nvSpPr>
        <p:spPr>
          <a:xfrm>
            <a:off x="713232" y="1783080"/>
            <a:ext cx="4700016" cy="786384"/>
          </a:xfrm>
          <a:prstGeom prst="rect">
            <a:avLst/>
          </a:prstGeom>
          <a:noFill/>
          <a:ln/>
        </p:spPr>
        <p:txBody>
          <a:bodyPr wrap="square" lIns="0" tIns="0" rIns="0" bIns="0" rtlCol="0" anchor="ctr"/>
          <a:lstStyle/>
          <a:p>
            <a:pPr marL="0" indent="0" algn="l">
              <a:buNone/>
            </a:pPr>
            <a:r>
              <a:rPr lang="en-US" sz="1700" b="1" dirty="0">
                <a:solidFill>
                  <a:srgbClr val="0EA5E9"/>
                </a:solidFill>
                <a:latin typeface="Consolas" pitchFamily="34" charset="0"/>
                <a:ea typeface="Consolas" pitchFamily="34" charset="-122"/>
                <a:cs typeface="Consolas" pitchFamily="34" charset="-120"/>
              </a:rPr>
              <a:t>f(x) = x · σ(x)</a:t>
            </a:r>
            <a:endParaRPr lang="en-US" sz="1700" dirty="0"/>
          </a:p>
        </p:txBody>
      </p:sp>
      <p:sp>
        <p:nvSpPr>
          <p:cNvPr id="9" name="Text 7"/>
          <p:cNvSpPr/>
          <p:nvPr/>
        </p:nvSpPr>
        <p:spPr>
          <a:xfrm>
            <a:off x="548640" y="2697480"/>
            <a:ext cx="5029200" cy="310896"/>
          </a:xfrm>
          <a:prstGeom prst="rect">
            <a:avLst/>
          </a:prstGeom>
          <a:noFill/>
          <a:ln/>
        </p:spPr>
        <p:txBody>
          <a:bodyPr wrap="square" lIns="0" tIns="0" rIns="0" bIns="0" rtlCol="0" anchor="ctr"/>
          <a:lstStyle/>
          <a:p>
            <a:pPr marL="0" indent="0">
              <a:buNone/>
            </a:pPr>
            <a:r>
              <a:rPr lang="en-US" sz="1350" b="1" dirty="0">
                <a:solidFill>
                  <a:srgbClr val="6B7385"/>
                </a:solidFill>
                <a:latin typeface="Calibri" pitchFamily="34" charset="0"/>
                <a:ea typeface="Calibri" pitchFamily="34" charset="-122"/>
                <a:cs typeface="Calibri" pitchFamily="34" charset="-120"/>
              </a:rPr>
              <a:t>Range:  (≈ −0.28, +∞)</a:t>
            </a:r>
            <a:endParaRPr lang="en-US" sz="1350" dirty="0"/>
          </a:p>
        </p:txBody>
      </p:sp>
      <p:sp>
        <p:nvSpPr>
          <p:cNvPr id="10" name="Text 8"/>
          <p:cNvSpPr/>
          <p:nvPr/>
        </p:nvSpPr>
        <p:spPr>
          <a:xfrm>
            <a:off x="548640" y="3154680"/>
            <a:ext cx="5029200" cy="256032"/>
          </a:xfrm>
          <a:prstGeom prst="rect">
            <a:avLst/>
          </a:prstGeom>
          <a:noFill/>
          <a:ln/>
        </p:spPr>
        <p:txBody>
          <a:bodyPr wrap="square" lIns="0" tIns="0" rIns="0" bIns="0" rtlCol="0" anchor="ctr"/>
          <a:lstStyle/>
          <a:p>
            <a:pPr marL="0" indent="0">
              <a:buNone/>
            </a:pPr>
            <a:r>
              <a:rPr lang="en-US" sz="1100" b="1" kern="0" spc="100" dirty="0">
                <a:solidFill>
                  <a:srgbClr val="12B886"/>
                </a:solidFill>
                <a:latin typeface="Calibri" pitchFamily="34" charset="0"/>
                <a:ea typeface="Calibri" pitchFamily="34" charset="-122"/>
                <a:cs typeface="Calibri" pitchFamily="34" charset="-120"/>
              </a:rPr>
              <a:t>PROS</a:t>
            </a:r>
            <a:endParaRPr lang="en-US" sz="1100" dirty="0"/>
          </a:p>
        </p:txBody>
      </p:sp>
      <p:sp>
        <p:nvSpPr>
          <p:cNvPr id="11" name="Text 9"/>
          <p:cNvSpPr/>
          <p:nvPr/>
        </p:nvSpPr>
        <p:spPr>
          <a:xfrm>
            <a:off x="548640" y="3465576"/>
            <a:ext cx="274320" cy="292608"/>
          </a:xfrm>
          <a:prstGeom prst="rect">
            <a:avLst/>
          </a:prstGeom>
          <a:noFill/>
          <a:ln/>
        </p:spPr>
        <p:txBody>
          <a:bodyPr wrap="square" lIns="0" tIns="0" rIns="0" bIns="0" rtlCol="0" anchor="t"/>
          <a:lstStyle/>
          <a:p>
            <a:pPr marL="0" indent="0">
              <a:buNone/>
            </a:pPr>
            <a:r>
              <a:rPr lang="en-US" sz="1400" b="1" dirty="0">
                <a:solidFill>
                  <a:srgbClr val="12B886"/>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841248" y="3465576"/>
            <a:ext cx="4736592" cy="548640"/>
          </a:xfrm>
          <a:prstGeom prst="rect">
            <a:avLst/>
          </a:prstGeom>
          <a:noFill/>
          <a:ln/>
        </p:spPr>
        <p:txBody>
          <a:bodyPr wrap="square" lIns="0" tIns="0" rIns="0" bIns="0" rtlCol="0" anchor="t"/>
          <a:lstStyle/>
          <a:p>
            <a:pPr marL="0" indent="0">
              <a:buNone/>
            </a:pPr>
            <a:r>
              <a:rPr lang="en-US" sz="1350" dirty="0">
                <a:solidFill>
                  <a:srgbClr val="1C2333"/>
                </a:solidFill>
                <a:latin typeface="Calibri" pitchFamily="34" charset="0"/>
                <a:ea typeface="Calibri" pitchFamily="34" charset="-122"/>
                <a:cs typeface="Calibri" pitchFamily="34" charset="-120"/>
              </a:rPr>
              <a:t>Smooth &amp; non-monotonic — a small dip below 0</a:t>
            </a:r>
            <a:endParaRPr lang="en-US" sz="1350" dirty="0"/>
          </a:p>
        </p:txBody>
      </p:sp>
      <p:sp>
        <p:nvSpPr>
          <p:cNvPr id="13" name="Text 11"/>
          <p:cNvSpPr/>
          <p:nvPr/>
        </p:nvSpPr>
        <p:spPr>
          <a:xfrm>
            <a:off x="548640" y="3867912"/>
            <a:ext cx="274320" cy="292608"/>
          </a:xfrm>
          <a:prstGeom prst="rect">
            <a:avLst/>
          </a:prstGeom>
          <a:noFill/>
          <a:ln/>
        </p:spPr>
        <p:txBody>
          <a:bodyPr wrap="square" lIns="0" tIns="0" rIns="0" bIns="0" rtlCol="0" anchor="t"/>
          <a:lstStyle/>
          <a:p>
            <a:pPr marL="0" indent="0">
              <a:buNone/>
            </a:pPr>
            <a:r>
              <a:rPr lang="en-US" sz="1400" b="1" dirty="0">
                <a:solidFill>
                  <a:srgbClr val="12B886"/>
                </a:solidFill>
                <a:latin typeface="Calibri" pitchFamily="34" charset="0"/>
                <a:ea typeface="Calibri" pitchFamily="34" charset="-122"/>
                <a:cs typeface="Calibri" pitchFamily="34" charset="-120"/>
              </a:rPr>
              <a:t>✓</a:t>
            </a:r>
            <a:endParaRPr lang="en-US" sz="1400" dirty="0"/>
          </a:p>
        </p:txBody>
      </p:sp>
      <p:sp>
        <p:nvSpPr>
          <p:cNvPr id="14" name="Text 12"/>
          <p:cNvSpPr/>
          <p:nvPr/>
        </p:nvSpPr>
        <p:spPr>
          <a:xfrm>
            <a:off x="841248" y="3867912"/>
            <a:ext cx="4736592" cy="548640"/>
          </a:xfrm>
          <a:prstGeom prst="rect">
            <a:avLst/>
          </a:prstGeom>
          <a:noFill/>
          <a:ln/>
        </p:spPr>
        <p:txBody>
          <a:bodyPr wrap="square" lIns="0" tIns="0" rIns="0" bIns="0" rtlCol="0" anchor="t"/>
          <a:lstStyle/>
          <a:p>
            <a:pPr marL="0" indent="0">
              <a:buNone/>
            </a:pPr>
            <a:r>
              <a:rPr lang="en-US" sz="1350" dirty="0">
                <a:solidFill>
                  <a:srgbClr val="1C2333"/>
                </a:solidFill>
                <a:latin typeface="Calibri" pitchFamily="34" charset="0"/>
                <a:ea typeface="Calibri" pitchFamily="34" charset="-122"/>
                <a:cs typeface="Calibri" pitchFamily="34" charset="-120"/>
              </a:rPr>
              <a:t>Often beats ReLU on deep models</a:t>
            </a:r>
            <a:endParaRPr lang="en-US" sz="1350" dirty="0"/>
          </a:p>
        </p:txBody>
      </p:sp>
      <p:sp>
        <p:nvSpPr>
          <p:cNvPr id="15" name="Text 13"/>
          <p:cNvSpPr/>
          <p:nvPr/>
        </p:nvSpPr>
        <p:spPr>
          <a:xfrm>
            <a:off x="548640" y="4379976"/>
            <a:ext cx="5029200" cy="256032"/>
          </a:xfrm>
          <a:prstGeom prst="rect">
            <a:avLst/>
          </a:prstGeom>
          <a:noFill/>
          <a:ln/>
        </p:spPr>
        <p:txBody>
          <a:bodyPr wrap="square" lIns="0" tIns="0" rIns="0" bIns="0" rtlCol="0" anchor="ctr"/>
          <a:lstStyle/>
          <a:p>
            <a:pPr marL="0" indent="0">
              <a:buNone/>
            </a:pPr>
            <a:r>
              <a:rPr lang="en-US" sz="1100" b="1" kern="0" spc="100" dirty="0">
                <a:solidFill>
                  <a:srgbClr val="E5484D"/>
                </a:solidFill>
                <a:latin typeface="Calibri" pitchFamily="34" charset="0"/>
                <a:ea typeface="Calibri" pitchFamily="34" charset="-122"/>
                <a:cs typeface="Calibri" pitchFamily="34" charset="-120"/>
              </a:rPr>
              <a:t>CONS</a:t>
            </a:r>
            <a:endParaRPr lang="en-US" sz="1100" dirty="0"/>
          </a:p>
        </p:txBody>
      </p:sp>
      <p:sp>
        <p:nvSpPr>
          <p:cNvPr id="16" name="Text 14"/>
          <p:cNvSpPr/>
          <p:nvPr/>
        </p:nvSpPr>
        <p:spPr>
          <a:xfrm>
            <a:off x="548640" y="4690872"/>
            <a:ext cx="274320" cy="292608"/>
          </a:xfrm>
          <a:prstGeom prst="rect">
            <a:avLst/>
          </a:prstGeom>
          <a:noFill/>
          <a:ln/>
        </p:spPr>
        <p:txBody>
          <a:bodyPr wrap="square" lIns="0" tIns="0" rIns="0" bIns="0" rtlCol="0" anchor="t"/>
          <a:lstStyle/>
          <a:p>
            <a:pPr marL="0" indent="0">
              <a:buNone/>
            </a:pPr>
            <a:r>
              <a:rPr lang="en-US" sz="1400" b="1" dirty="0">
                <a:solidFill>
                  <a:srgbClr val="E5484D"/>
                </a:solidFill>
                <a:latin typeface="Calibri" pitchFamily="34" charset="0"/>
                <a:ea typeface="Calibri" pitchFamily="34" charset="-122"/>
                <a:cs typeface="Calibri" pitchFamily="34" charset="-120"/>
              </a:rPr>
              <a:t>✗</a:t>
            </a:r>
            <a:endParaRPr lang="en-US" sz="1400" dirty="0"/>
          </a:p>
        </p:txBody>
      </p:sp>
      <p:sp>
        <p:nvSpPr>
          <p:cNvPr id="17" name="Text 15"/>
          <p:cNvSpPr/>
          <p:nvPr/>
        </p:nvSpPr>
        <p:spPr>
          <a:xfrm>
            <a:off x="841248" y="4690872"/>
            <a:ext cx="4736592" cy="548640"/>
          </a:xfrm>
          <a:prstGeom prst="rect">
            <a:avLst/>
          </a:prstGeom>
          <a:noFill/>
          <a:ln/>
        </p:spPr>
        <p:txBody>
          <a:bodyPr wrap="square" lIns="0" tIns="0" rIns="0" bIns="0" rtlCol="0" anchor="t"/>
          <a:lstStyle/>
          <a:p>
            <a:pPr marL="0" indent="0">
              <a:buNone/>
            </a:pPr>
            <a:r>
              <a:rPr lang="en-US" sz="1350" dirty="0">
                <a:solidFill>
                  <a:srgbClr val="1C2333"/>
                </a:solidFill>
                <a:latin typeface="Calibri" pitchFamily="34" charset="0"/>
                <a:ea typeface="Calibri" pitchFamily="34" charset="-122"/>
                <a:cs typeface="Calibri" pitchFamily="34" charset="-120"/>
              </a:rPr>
              <a:t>Sigmoid inside → more compute than ReLU</a:t>
            </a:r>
            <a:endParaRPr lang="en-US" sz="1350" dirty="0"/>
          </a:p>
        </p:txBody>
      </p:sp>
      <p:sp>
        <p:nvSpPr>
          <p:cNvPr id="18" name="Text 16"/>
          <p:cNvSpPr/>
          <p:nvPr/>
        </p:nvSpPr>
        <p:spPr>
          <a:xfrm>
            <a:off x="548640" y="5093208"/>
            <a:ext cx="274320" cy="292608"/>
          </a:xfrm>
          <a:prstGeom prst="rect">
            <a:avLst/>
          </a:prstGeom>
          <a:noFill/>
          <a:ln/>
        </p:spPr>
        <p:txBody>
          <a:bodyPr wrap="square" lIns="0" tIns="0" rIns="0" bIns="0" rtlCol="0" anchor="t"/>
          <a:lstStyle/>
          <a:p>
            <a:pPr marL="0" indent="0">
              <a:buNone/>
            </a:pPr>
            <a:r>
              <a:rPr lang="en-US" sz="1400" b="1" dirty="0">
                <a:solidFill>
                  <a:srgbClr val="E5484D"/>
                </a:solidFill>
                <a:latin typeface="Calibri" pitchFamily="34" charset="0"/>
                <a:ea typeface="Calibri" pitchFamily="34" charset="-122"/>
                <a:cs typeface="Calibri" pitchFamily="34" charset="-120"/>
              </a:rPr>
              <a:t>✗</a:t>
            </a:r>
            <a:endParaRPr lang="en-US" sz="1400" dirty="0"/>
          </a:p>
        </p:txBody>
      </p:sp>
      <p:sp>
        <p:nvSpPr>
          <p:cNvPr id="19" name="Text 17"/>
          <p:cNvSpPr/>
          <p:nvPr/>
        </p:nvSpPr>
        <p:spPr>
          <a:xfrm>
            <a:off x="841248" y="5093208"/>
            <a:ext cx="4736592" cy="548640"/>
          </a:xfrm>
          <a:prstGeom prst="rect">
            <a:avLst/>
          </a:prstGeom>
          <a:noFill/>
          <a:ln/>
        </p:spPr>
        <p:txBody>
          <a:bodyPr wrap="square" lIns="0" tIns="0" rIns="0" bIns="0" rtlCol="0" anchor="t"/>
          <a:lstStyle/>
          <a:p>
            <a:pPr marL="0" indent="0">
              <a:buNone/>
            </a:pPr>
            <a:r>
              <a:rPr lang="en-US" sz="1350" dirty="0">
                <a:solidFill>
                  <a:srgbClr val="1C2333"/>
                </a:solidFill>
                <a:latin typeface="Calibri" pitchFamily="34" charset="0"/>
                <a:ea typeface="Calibri" pitchFamily="34" charset="-122"/>
                <a:cs typeface="Calibri" pitchFamily="34" charset="-120"/>
              </a:rPr>
              <a:t>Gains are model-dependent</a:t>
            </a:r>
            <a:endParaRPr lang="en-US" sz="1350" dirty="0"/>
          </a:p>
        </p:txBody>
      </p:sp>
      <p:sp>
        <p:nvSpPr>
          <p:cNvPr id="20" name="Shape 18"/>
          <p:cNvSpPr/>
          <p:nvPr/>
        </p:nvSpPr>
        <p:spPr>
          <a:xfrm>
            <a:off x="5852160" y="5806440"/>
            <a:ext cx="5788152" cy="603504"/>
          </a:xfrm>
          <a:prstGeom prst="roundRect">
            <a:avLst>
              <a:gd name="adj" fmla="val 15152"/>
            </a:avLst>
          </a:prstGeom>
          <a:solidFill>
            <a:srgbClr val="141B3C"/>
          </a:solidFill>
          <a:ln/>
        </p:spPr>
      </p:sp>
      <p:sp>
        <p:nvSpPr>
          <p:cNvPr id="21" name="Text 19"/>
          <p:cNvSpPr/>
          <p:nvPr/>
        </p:nvSpPr>
        <p:spPr>
          <a:xfrm>
            <a:off x="6035040" y="5806440"/>
            <a:ext cx="5394960" cy="603504"/>
          </a:xfrm>
          <a:prstGeom prst="rect">
            <a:avLst/>
          </a:prstGeom>
          <a:noFill/>
          <a:ln/>
        </p:spPr>
        <p:txBody>
          <a:bodyPr wrap="square" lIns="0" tIns="0" rIns="0" bIns="0" rtlCol="0" anchor="ctr"/>
          <a:lstStyle/>
          <a:p>
            <a:pPr marL="0" indent="0">
              <a:buNone/>
            </a:pPr>
            <a:r>
              <a:rPr lang="en-US" sz="1100" b="1" kern="0" spc="100" dirty="0">
                <a:solidFill>
                  <a:srgbClr val="0EA5E9"/>
                </a:solidFill>
                <a:latin typeface="Calibri" pitchFamily="34" charset="0"/>
                <a:ea typeface="Calibri" pitchFamily="34" charset="-122"/>
                <a:cs typeface="Calibri" pitchFamily="34" charset="-120"/>
              </a:rPr>
              <a:t>USE FOR   </a:t>
            </a:r>
            <a:r>
              <a:rPr lang="en-US" sz="1350" dirty="0">
                <a:solidFill>
                  <a:srgbClr val="FFFFFF"/>
                </a:solidFill>
                <a:latin typeface="Calibri" pitchFamily="34" charset="0"/>
                <a:ea typeface="Calibri" pitchFamily="34" charset="-122"/>
                <a:cs typeface="Calibri" pitchFamily="34" charset="-120"/>
              </a:rPr>
              <a:t>deep CNNs (EfficientNet) &amp; transformers</a:t>
            </a:r>
            <a:endParaRPr lang="en-US" sz="1100" dirty="0"/>
          </a:p>
        </p:txBody>
      </p:sp>
      <p:pic>
        <p:nvPicPr>
          <p:cNvPr id="22" name="Image 0" descr="/home/claude/fig/fn_swish.png"/>
          <p:cNvPicPr>
            <a:picLocks noChangeAspect="1"/>
          </p:cNvPicPr>
          <p:nvPr/>
        </p:nvPicPr>
        <p:blipFill>
          <a:blip r:embed="rId3"/>
          <a:srcRect/>
          <a:stretch/>
        </p:blipFill>
        <p:spPr>
          <a:xfrm>
            <a:off x="5852160" y="1417320"/>
            <a:ext cx="5788152" cy="4206240"/>
          </a:xfrm>
          <a:prstGeom prst="rect">
            <a:avLst/>
          </a:prstGeom>
        </p:spPr>
      </p:pic>
      <p:sp>
        <p:nvSpPr>
          <p:cNvPr id="23" name="Text 20"/>
          <p:cNvSpPr/>
          <p:nvPr/>
        </p:nvSpPr>
        <p:spPr>
          <a:xfrm>
            <a:off x="548640" y="6473952"/>
            <a:ext cx="4572000" cy="274320"/>
          </a:xfrm>
          <a:prstGeom prst="rect">
            <a:avLst/>
          </a:prstGeom>
          <a:noFill/>
          <a:ln/>
        </p:spPr>
        <p:txBody>
          <a:bodyPr wrap="square" lIns="0" tIns="0" rIns="0" bIns="0" rtlCol="0" anchor="ctr"/>
          <a:lstStyle/>
          <a:p>
            <a:pPr marL="0" indent="0" algn="l">
              <a:buNone/>
            </a:pPr>
            <a:r>
              <a:rPr lang="en-US" sz="900" dirty="0">
                <a:solidFill>
                  <a:srgbClr val="6B7385"/>
                </a:solidFill>
                <a:latin typeface="Calibri" pitchFamily="34" charset="0"/>
                <a:ea typeface="Calibri" pitchFamily="34" charset="-122"/>
                <a:cs typeface="Calibri" pitchFamily="34" charset="-120"/>
              </a:rPr>
              <a:t>Activation Functions</a:t>
            </a:r>
            <a:endParaRPr lang="en-US" sz="900" dirty="0"/>
          </a:p>
        </p:txBody>
      </p:sp>
      <p:sp>
        <p:nvSpPr>
          <p:cNvPr id="24" name="Text 21"/>
          <p:cNvSpPr/>
          <p:nvPr/>
        </p:nvSpPr>
        <p:spPr>
          <a:xfrm>
            <a:off x="11183112" y="6473952"/>
            <a:ext cx="457200" cy="274320"/>
          </a:xfrm>
          <a:prstGeom prst="rect">
            <a:avLst/>
          </a:prstGeom>
          <a:noFill/>
          <a:ln/>
        </p:spPr>
        <p:txBody>
          <a:bodyPr wrap="square" lIns="0" tIns="0" rIns="0" bIns="0" rtlCol="0" anchor="ctr"/>
          <a:lstStyle/>
          <a:p>
            <a:pPr marL="0" indent="0" algn="r">
              <a:buNone/>
            </a:pPr>
            <a:r>
              <a:rPr lang="en-US" sz="900" dirty="0">
                <a:solidFill>
                  <a:srgbClr val="6B7385"/>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48640"/>
            <a:ext cx="987552" cy="310896"/>
          </a:xfrm>
          <a:prstGeom prst="roundRect">
            <a:avLst>
              <a:gd name="adj" fmla="val 50000"/>
            </a:avLst>
          </a:prstGeom>
          <a:solidFill>
            <a:srgbClr val="1E2761"/>
          </a:solidFill>
          <a:ln/>
        </p:spPr>
      </p:sp>
      <p:sp>
        <p:nvSpPr>
          <p:cNvPr id="3" name="Text 1"/>
          <p:cNvSpPr/>
          <p:nvPr/>
        </p:nvSpPr>
        <p:spPr>
          <a:xfrm>
            <a:off x="548640" y="548640"/>
            <a:ext cx="987552" cy="310896"/>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SELF-GATED</a:t>
            </a:r>
            <a:endParaRPr lang="en-US" sz="1100" dirty="0"/>
          </a:p>
        </p:txBody>
      </p:sp>
      <p:sp>
        <p:nvSpPr>
          <p:cNvPr id="4" name="Shape 2"/>
          <p:cNvSpPr/>
          <p:nvPr/>
        </p:nvSpPr>
        <p:spPr>
          <a:xfrm>
            <a:off x="548640" y="932688"/>
            <a:ext cx="566928" cy="566928"/>
          </a:xfrm>
          <a:prstGeom prst="roundRect">
            <a:avLst>
              <a:gd name="adj" fmla="val 19355"/>
            </a:avLst>
          </a:prstGeom>
          <a:solidFill>
            <a:srgbClr val="1E2761"/>
          </a:solidFill>
          <a:ln/>
        </p:spPr>
      </p:sp>
      <p:sp>
        <p:nvSpPr>
          <p:cNvPr id="5" name="Text 3"/>
          <p:cNvSpPr/>
          <p:nvPr/>
        </p:nvSpPr>
        <p:spPr>
          <a:xfrm>
            <a:off x="548640" y="932688"/>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G</a:t>
            </a:r>
            <a:endParaRPr lang="en-US" sz="2200" dirty="0"/>
          </a:p>
        </p:txBody>
      </p:sp>
      <p:sp>
        <p:nvSpPr>
          <p:cNvPr id="6" name="Text 4"/>
          <p:cNvSpPr/>
          <p:nvPr/>
        </p:nvSpPr>
        <p:spPr>
          <a:xfrm>
            <a:off x="1298448" y="932688"/>
            <a:ext cx="5486400" cy="566928"/>
          </a:xfrm>
          <a:prstGeom prst="rect">
            <a:avLst/>
          </a:prstGeom>
          <a:noFill/>
          <a:ln/>
        </p:spPr>
        <p:txBody>
          <a:bodyPr wrap="square" lIns="0" tIns="0" rIns="0" bIns="0" rtlCol="0" anchor="ctr"/>
          <a:lstStyle/>
          <a:p>
            <a:pPr marL="0" indent="0">
              <a:buNone/>
            </a:pPr>
            <a:r>
              <a:rPr lang="en-US" sz="2900" b="1" dirty="0">
                <a:solidFill>
                  <a:srgbClr val="141B3C"/>
                </a:solidFill>
                <a:latin typeface="Calibri" pitchFamily="34" charset="0"/>
                <a:ea typeface="Calibri" pitchFamily="34" charset="-122"/>
                <a:cs typeface="Calibri" pitchFamily="34" charset="-120"/>
              </a:rPr>
              <a:t>GELU</a:t>
            </a:r>
            <a:endParaRPr lang="en-US" sz="2900" dirty="0"/>
          </a:p>
        </p:txBody>
      </p:sp>
      <p:sp>
        <p:nvSpPr>
          <p:cNvPr id="7" name="Shape 5"/>
          <p:cNvSpPr/>
          <p:nvPr/>
        </p:nvSpPr>
        <p:spPr>
          <a:xfrm>
            <a:off x="548640" y="1783080"/>
            <a:ext cx="5029200" cy="786384"/>
          </a:xfrm>
          <a:prstGeom prst="roundRect">
            <a:avLst>
              <a:gd name="adj" fmla="val 10465"/>
            </a:avLst>
          </a:prstGeom>
          <a:solidFill>
            <a:srgbClr val="F4F6FB"/>
          </a:solidFill>
          <a:ln/>
        </p:spPr>
      </p:sp>
      <p:sp>
        <p:nvSpPr>
          <p:cNvPr id="8" name="Text 6"/>
          <p:cNvSpPr/>
          <p:nvPr/>
        </p:nvSpPr>
        <p:spPr>
          <a:xfrm>
            <a:off x="713232" y="1783080"/>
            <a:ext cx="4700016" cy="786384"/>
          </a:xfrm>
          <a:prstGeom prst="rect">
            <a:avLst/>
          </a:prstGeom>
          <a:noFill/>
          <a:ln/>
        </p:spPr>
        <p:txBody>
          <a:bodyPr wrap="square" lIns="0" tIns="0" rIns="0" bIns="0" rtlCol="0" anchor="ctr"/>
          <a:lstStyle/>
          <a:p>
            <a:pPr marL="0" indent="0" algn="l">
              <a:buNone/>
            </a:pPr>
            <a:r>
              <a:rPr lang="en-US" sz="1700" b="1" dirty="0">
                <a:solidFill>
                  <a:srgbClr val="1E2761"/>
                </a:solidFill>
                <a:latin typeface="Consolas" pitchFamily="34" charset="0"/>
                <a:ea typeface="Consolas" pitchFamily="34" charset="-122"/>
                <a:cs typeface="Consolas" pitchFamily="34" charset="-120"/>
              </a:rPr>
              <a:t>f(x) = x · Φ(x)</a:t>
            </a:r>
            <a:endParaRPr lang="en-US" sz="1700" dirty="0"/>
          </a:p>
        </p:txBody>
      </p:sp>
      <p:sp>
        <p:nvSpPr>
          <p:cNvPr id="9" name="Text 7"/>
          <p:cNvSpPr/>
          <p:nvPr/>
        </p:nvSpPr>
        <p:spPr>
          <a:xfrm>
            <a:off x="548640" y="2697480"/>
            <a:ext cx="5029200" cy="310896"/>
          </a:xfrm>
          <a:prstGeom prst="rect">
            <a:avLst/>
          </a:prstGeom>
          <a:noFill/>
          <a:ln/>
        </p:spPr>
        <p:txBody>
          <a:bodyPr wrap="square" lIns="0" tIns="0" rIns="0" bIns="0" rtlCol="0" anchor="ctr"/>
          <a:lstStyle/>
          <a:p>
            <a:pPr marL="0" indent="0">
              <a:buNone/>
            </a:pPr>
            <a:r>
              <a:rPr lang="en-US" sz="1350" b="1" dirty="0">
                <a:solidFill>
                  <a:srgbClr val="6B7385"/>
                </a:solidFill>
                <a:latin typeface="Calibri" pitchFamily="34" charset="0"/>
                <a:ea typeface="Calibri" pitchFamily="34" charset="-122"/>
                <a:cs typeface="Calibri" pitchFamily="34" charset="-120"/>
              </a:rPr>
              <a:t>Range:  (≈ −0.17, +∞)</a:t>
            </a:r>
            <a:endParaRPr lang="en-US" sz="1350" dirty="0"/>
          </a:p>
        </p:txBody>
      </p:sp>
      <p:sp>
        <p:nvSpPr>
          <p:cNvPr id="10" name="Text 8"/>
          <p:cNvSpPr/>
          <p:nvPr/>
        </p:nvSpPr>
        <p:spPr>
          <a:xfrm>
            <a:off x="548640" y="3154680"/>
            <a:ext cx="5029200" cy="256032"/>
          </a:xfrm>
          <a:prstGeom prst="rect">
            <a:avLst/>
          </a:prstGeom>
          <a:noFill/>
          <a:ln/>
        </p:spPr>
        <p:txBody>
          <a:bodyPr wrap="square" lIns="0" tIns="0" rIns="0" bIns="0" rtlCol="0" anchor="ctr"/>
          <a:lstStyle/>
          <a:p>
            <a:pPr marL="0" indent="0">
              <a:buNone/>
            </a:pPr>
            <a:r>
              <a:rPr lang="en-US" sz="1100" b="1" kern="0" spc="100" dirty="0">
                <a:solidFill>
                  <a:srgbClr val="12B886"/>
                </a:solidFill>
                <a:latin typeface="Calibri" pitchFamily="34" charset="0"/>
                <a:ea typeface="Calibri" pitchFamily="34" charset="-122"/>
                <a:cs typeface="Calibri" pitchFamily="34" charset="-120"/>
              </a:rPr>
              <a:t>PROS</a:t>
            </a:r>
            <a:endParaRPr lang="en-US" sz="1100" dirty="0"/>
          </a:p>
        </p:txBody>
      </p:sp>
      <p:sp>
        <p:nvSpPr>
          <p:cNvPr id="11" name="Text 9"/>
          <p:cNvSpPr/>
          <p:nvPr/>
        </p:nvSpPr>
        <p:spPr>
          <a:xfrm>
            <a:off x="548640" y="3465576"/>
            <a:ext cx="274320" cy="292608"/>
          </a:xfrm>
          <a:prstGeom prst="rect">
            <a:avLst/>
          </a:prstGeom>
          <a:noFill/>
          <a:ln/>
        </p:spPr>
        <p:txBody>
          <a:bodyPr wrap="square" lIns="0" tIns="0" rIns="0" bIns="0" rtlCol="0" anchor="t"/>
          <a:lstStyle/>
          <a:p>
            <a:pPr marL="0" indent="0">
              <a:buNone/>
            </a:pPr>
            <a:r>
              <a:rPr lang="en-US" sz="1400" b="1" dirty="0">
                <a:solidFill>
                  <a:srgbClr val="12B886"/>
                </a:solidFill>
                <a:latin typeface="Calibri" pitchFamily="34" charset="0"/>
                <a:ea typeface="Calibri" pitchFamily="34" charset="-122"/>
                <a:cs typeface="Calibri" pitchFamily="34" charset="-120"/>
              </a:rPr>
              <a:t>✓</a:t>
            </a:r>
            <a:endParaRPr lang="en-US" sz="1400" dirty="0"/>
          </a:p>
        </p:txBody>
      </p:sp>
      <p:sp>
        <p:nvSpPr>
          <p:cNvPr id="12" name="Text 10"/>
          <p:cNvSpPr/>
          <p:nvPr/>
        </p:nvSpPr>
        <p:spPr>
          <a:xfrm>
            <a:off x="841248" y="3465576"/>
            <a:ext cx="4736592" cy="548640"/>
          </a:xfrm>
          <a:prstGeom prst="rect">
            <a:avLst/>
          </a:prstGeom>
          <a:noFill/>
          <a:ln/>
        </p:spPr>
        <p:txBody>
          <a:bodyPr wrap="square" lIns="0" tIns="0" rIns="0" bIns="0" rtlCol="0" anchor="t"/>
          <a:lstStyle/>
          <a:p>
            <a:pPr marL="0" indent="0">
              <a:buNone/>
            </a:pPr>
            <a:r>
              <a:rPr lang="en-US" sz="1350" dirty="0">
                <a:solidFill>
                  <a:srgbClr val="1C2333"/>
                </a:solidFill>
                <a:latin typeface="Calibri" pitchFamily="34" charset="0"/>
                <a:ea typeface="Calibri" pitchFamily="34" charset="-122"/>
                <a:cs typeface="Calibri" pitchFamily="34" charset="-120"/>
              </a:rPr>
              <a:t>Weights inputs by their Gaussian probability</a:t>
            </a:r>
            <a:endParaRPr lang="en-US" sz="1350" dirty="0"/>
          </a:p>
        </p:txBody>
      </p:sp>
      <p:sp>
        <p:nvSpPr>
          <p:cNvPr id="13" name="Text 11"/>
          <p:cNvSpPr/>
          <p:nvPr/>
        </p:nvSpPr>
        <p:spPr>
          <a:xfrm>
            <a:off x="548640" y="3867912"/>
            <a:ext cx="274320" cy="292608"/>
          </a:xfrm>
          <a:prstGeom prst="rect">
            <a:avLst/>
          </a:prstGeom>
          <a:noFill/>
          <a:ln/>
        </p:spPr>
        <p:txBody>
          <a:bodyPr wrap="square" lIns="0" tIns="0" rIns="0" bIns="0" rtlCol="0" anchor="t"/>
          <a:lstStyle/>
          <a:p>
            <a:pPr marL="0" indent="0">
              <a:buNone/>
            </a:pPr>
            <a:r>
              <a:rPr lang="en-US" sz="1400" b="1" dirty="0">
                <a:solidFill>
                  <a:srgbClr val="12B886"/>
                </a:solidFill>
                <a:latin typeface="Calibri" pitchFamily="34" charset="0"/>
                <a:ea typeface="Calibri" pitchFamily="34" charset="-122"/>
                <a:cs typeface="Calibri" pitchFamily="34" charset="-120"/>
              </a:rPr>
              <a:t>✓</a:t>
            </a:r>
            <a:endParaRPr lang="en-US" sz="1400" dirty="0"/>
          </a:p>
        </p:txBody>
      </p:sp>
      <p:sp>
        <p:nvSpPr>
          <p:cNvPr id="14" name="Text 12"/>
          <p:cNvSpPr/>
          <p:nvPr/>
        </p:nvSpPr>
        <p:spPr>
          <a:xfrm>
            <a:off x="841248" y="3867912"/>
            <a:ext cx="4736592" cy="548640"/>
          </a:xfrm>
          <a:prstGeom prst="rect">
            <a:avLst/>
          </a:prstGeom>
          <a:noFill/>
          <a:ln/>
        </p:spPr>
        <p:txBody>
          <a:bodyPr wrap="square" lIns="0" tIns="0" rIns="0" bIns="0" rtlCol="0" anchor="t"/>
          <a:lstStyle/>
          <a:p>
            <a:pPr marL="0" indent="0">
              <a:buNone/>
            </a:pPr>
            <a:r>
              <a:rPr lang="en-US" sz="1350" dirty="0">
                <a:solidFill>
                  <a:srgbClr val="1C2333"/>
                </a:solidFill>
                <a:latin typeface="Calibri" pitchFamily="34" charset="0"/>
                <a:ea typeface="Calibri" pitchFamily="34" charset="-122"/>
                <a:cs typeface="Calibri" pitchFamily="34" charset="-120"/>
              </a:rPr>
              <a:t>Smooth; strong empirical results</a:t>
            </a:r>
            <a:endParaRPr lang="en-US" sz="1350" dirty="0"/>
          </a:p>
        </p:txBody>
      </p:sp>
      <p:sp>
        <p:nvSpPr>
          <p:cNvPr id="15" name="Text 13"/>
          <p:cNvSpPr/>
          <p:nvPr/>
        </p:nvSpPr>
        <p:spPr>
          <a:xfrm>
            <a:off x="548640" y="4379976"/>
            <a:ext cx="5029200" cy="256032"/>
          </a:xfrm>
          <a:prstGeom prst="rect">
            <a:avLst/>
          </a:prstGeom>
          <a:noFill/>
          <a:ln/>
        </p:spPr>
        <p:txBody>
          <a:bodyPr wrap="square" lIns="0" tIns="0" rIns="0" bIns="0" rtlCol="0" anchor="ctr"/>
          <a:lstStyle/>
          <a:p>
            <a:pPr marL="0" indent="0">
              <a:buNone/>
            </a:pPr>
            <a:r>
              <a:rPr lang="en-US" sz="1100" b="1" kern="0" spc="100" dirty="0">
                <a:solidFill>
                  <a:srgbClr val="E5484D"/>
                </a:solidFill>
                <a:latin typeface="Calibri" pitchFamily="34" charset="0"/>
                <a:ea typeface="Calibri" pitchFamily="34" charset="-122"/>
                <a:cs typeface="Calibri" pitchFamily="34" charset="-120"/>
              </a:rPr>
              <a:t>CONS</a:t>
            </a:r>
            <a:endParaRPr lang="en-US" sz="1100" dirty="0"/>
          </a:p>
        </p:txBody>
      </p:sp>
      <p:sp>
        <p:nvSpPr>
          <p:cNvPr id="16" name="Text 14"/>
          <p:cNvSpPr/>
          <p:nvPr/>
        </p:nvSpPr>
        <p:spPr>
          <a:xfrm>
            <a:off x="548640" y="4690872"/>
            <a:ext cx="274320" cy="292608"/>
          </a:xfrm>
          <a:prstGeom prst="rect">
            <a:avLst/>
          </a:prstGeom>
          <a:noFill/>
          <a:ln/>
        </p:spPr>
        <p:txBody>
          <a:bodyPr wrap="square" lIns="0" tIns="0" rIns="0" bIns="0" rtlCol="0" anchor="t"/>
          <a:lstStyle/>
          <a:p>
            <a:pPr marL="0" indent="0">
              <a:buNone/>
            </a:pPr>
            <a:r>
              <a:rPr lang="en-US" sz="1400" b="1" dirty="0">
                <a:solidFill>
                  <a:srgbClr val="E5484D"/>
                </a:solidFill>
                <a:latin typeface="Calibri" pitchFamily="34" charset="0"/>
                <a:ea typeface="Calibri" pitchFamily="34" charset="-122"/>
                <a:cs typeface="Calibri" pitchFamily="34" charset="-120"/>
              </a:rPr>
              <a:t>✗</a:t>
            </a:r>
            <a:endParaRPr lang="en-US" sz="1400" dirty="0"/>
          </a:p>
        </p:txBody>
      </p:sp>
      <p:sp>
        <p:nvSpPr>
          <p:cNvPr id="17" name="Text 15"/>
          <p:cNvSpPr/>
          <p:nvPr/>
        </p:nvSpPr>
        <p:spPr>
          <a:xfrm>
            <a:off x="841248" y="4690872"/>
            <a:ext cx="4736592" cy="548640"/>
          </a:xfrm>
          <a:prstGeom prst="rect">
            <a:avLst/>
          </a:prstGeom>
          <a:noFill/>
          <a:ln/>
        </p:spPr>
        <p:txBody>
          <a:bodyPr wrap="square" lIns="0" tIns="0" rIns="0" bIns="0" rtlCol="0" anchor="t"/>
          <a:lstStyle/>
          <a:p>
            <a:pPr marL="0" indent="0">
              <a:buNone/>
            </a:pPr>
            <a:r>
              <a:rPr lang="en-US" sz="1350" dirty="0">
                <a:solidFill>
                  <a:srgbClr val="1C2333"/>
                </a:solidFill>
                <a:latin typeface="Calibri" pitchFamily="34" charset="0"/>
                <a:ea typeface="Calibri" pitchFamily="34" charset="-122"/>
                <a:cs typeface="Calibri" pitchFamily="34" charset="-120"/>
              </a:rPr>
              <a:t>More expensive; usually approximated</a:t>
            </a:r>
            <a:endParaRPr lang="en-US" sz="1350" dirty="0"/>
          </a:p>
        </p:txBody>
      </p:sp>
      <p:sp>
        <p:nvSpPr>
          <p:cNvPr id="18" name="Text 16"/>
          <p:cNvSpPr/>
          <p:nvPr/>
        </p:nvSpPr>
        <p:spPr>
          <a:xfrm>
            <a:off x="548640" y="5093208"/>
            <a:ext cx="274320" cy="292608"/>
          </a:xfrm>
          <a:prstGeom prst="rect">
            <a:avLst/>
          </a:prstGeom>
          <a:noFill/>
          <a:ln/>
        </p:spPr>
        <p:txBody>
          <a:bodyPr wrap="square" lIns="0" tIns="0" rIns="0" bIns="0" rtlCol="0" anchor="t"/>
          <a:lstStyle/>
          <a:p>
            <a:pPr marL="0" indent="0">
              <a:buNone/>
            </a:pPr>
            <a:r>
              <a:rPr lang="en-US" sz="1400" b="1" dirty="0">
                <a:solidFill>
                  <a:srgbClr val="E5484D"/>
                </a:solidFill>
                <a:latin typeface="Calibri" pitchFamily="34" charset="0"/>
                <a:ea typeface="Calibri" pitchFamily="34" charset="-122"/>
                <a:cs typeface="Calibri" pitchFamily="34" charset="-120"/>
              </a:rPr>
              <a:t>✗</a:t>
            </a:r>
            <a:endParaRPr lang="en-US" sz="1400" dirty="0"/>
          </a:p>
        </p:txBody>
      </p:sp>
      <p:sp>
        <p:nvSpPr>
          <p:cNvPr id="19" name="Text 17"/>
          <p:cNvSpPr/>
          <p:nvPr/>
        </p:nvSpPr>
        <p:spPr>
          <a:xfrm>
            <a:off x="841248" y="5093208"/>
            <a:ext cx="4736592" cy="548640"/>
          </a:xfrm>
          <a:prstGeom prst="rect">
            <a:avLst/>
          </a:prstGeom>
          <a:noFill/>
          <a:ln/>
        </p:spPr>
        <p:txBody>
          <a:bodyPr wrap="square" lIns="0" tIns="0" rIns="0" bIns="0" rtlCol="0" anchor="t"/>
          <a:lstStyle/>
          <a:p>
            <a:pPr marL="0" indent="0">
              <a:buNone/>
            </a:pPr>
            <a:r>
              <a:rPr lang="en-US" sz="1350" dirty="0">
                <a:solidFill>
                  <a:srgbClr val="1C2333"/>
                </a:solidFill>
                <a:latin typeface="Calibri" pitchFamily="34" charset="0"/>
                <a:ea typeface="Calibri" pitchFamily="34" charset="-122"/>
                <a:cs typeface="Calibri" pitchFamily="34" charset="-120"/>
              </a:rPr>
              <a:t>Behaviour less intuitive than ReLU</a:t>
            </a:r>
            <a:endParaRPr lang="en-US" sz="1350" dirty="0"/>
          </a:p>
        </p:txBody>
      </p:sp>
      <p:sp>
        <p:nvSpPr>
          <p:cNvPr id="20" name="Shape 18"/>
          <p:cNvSpPr/>
          <p:nvPr/>
        </p:nvSpPr>
        <p:spPr>
          <a:xfrm>
            <a:off x="5852160" y="5806440"/>
            <a:ext cx="5788152" cy="603504"/>
          </a:xfrm>
          <a:prstGeom prst="roundRect">
            <a:avLst>
              <a:gd name="adj" fmla="val 15152"/>
            </a:avLst>
          </a:prstGeom>
          <a:solidFill>
            <a:srgbClr val="141B3C"/>
          </a:solidFill>
          <a:ln/>
        </p:spPr>
      </p:sp>
      <p:sp>
        <p:nvSpPr>
          <p:cNvPr id="21" name="Text 19"/>
          <p:cNvSpPr/>
          <p:nvPr/>
        </p:nvSpPr>
        <p:spPr>
          <a:xfrm>
            <a:off x="6035040" y="5806440"/>
            <a:ext cx="5394960" cy="603504"/>
          </a:xfrm>
          <a:prstGeom prst="rect">
            <a:avLst/>
          </a:prstGeom>
          <a:noFill/>
          <a:ln/>
        </p:spPr>
        <p:txBody>
          <a:bodyPr wrap="square" lIns="0" tIns="0" rIns="0" bIns="0" rtlCol="0" anchor="ctr"/>
          <a:lstStyle/>
          <a:p>
            <a:pPr marL="0" indent="0">
              <a:buNone/>
            </a:pPr>
            <a:r>
              <a:rPr lang="en-US" sz="1100" b="1" kern="0" spc="100" dirty="0">
                <a:solidFill>
                  <a:srgbClr val="1E2761"/>
                </a:solidFill>
                <a:latin typeface="Calibri" pitchFamily="34" charset="0"/>
                <a:ea typeface="Calibri" pitchFamily="34" charset="-122"/>
                <a:cs typeface="Calibri" pitchFamily="34" charset="-120"/>
              </a:rPr>
              <a:t>USE FOR   </a:t>
            </a:r>
            <a:r>
              <a:rPr lang="en-US" sz="1350" dirty="0">
                <a:solidFill>
                  <a:srgbClr val="FFFFFF"/>
                </a:solidFill>
                <a:latin typeface="Calibri" pitchFamily="34" charset="0"/>
                <a:ea typeface="Calibri" pitchFamily="34" charset="-122"/>
                <a:cs typeface="Calibri" pitchFamily="34" charset="-120"/>
              </a:rPr>
              <a:t>the transformer standard (BERT, GPT)</a:t>
            </a:r>
            <a:endParaRPr lang="en-US" sz="1100" dirty="0"/>
          </a:p>
        </p:txBody>
      </p:sp>
      <p:pic>
        <p:nvPicPr>
          <p:cNvPr id="22" name="Image 0" descr="/home/claude/fig/fn_gelu.png"/>
          <p:cNvPicPr>
            <a:picLocks noChangeAspect="1"/>
          </p:cNvPicPr>
          <p:nvPr/>
        </p:nvPicPr>
        <p:blipFill>
          <a:blip r:embed="rId3"/>
          <a:srcRect/>
          <a:stretch/>
        </p:blipFill>
        <p:spPr>
          <a:xfrm>
            <a:off x="5852160" y="1417320"/>
            <a:ext cx="5788152" cy="4206240"/>
          </a:xfrm>
          <a:prstGeom prst="rect">
            <a:avLst/>
          </a:prstGeom>
        </p:spPr>
      </p:pic>
      <p:sp>
        <p:nvSpPr>
          <p:cNvPr id="23" name="Text 20"/>
          <p:cNvSpPr/>
          <p:nvPr/>
        </p:nvSpPr>
        <p:spPr>
          <a:xfrm>
            <a:off x="548640" y="6473952"/>
            <a:ext cx="4572000" cy="274320"/>
          </a:xfrm>
          <a:prstGeom prst="rect">
            <a:avLst/>
          </a:prstGeom>
          <a:noFill/>
          <a:ln/>
        </p:spPr>
        <p:txBody>
          <a:bodyPr wrap="square" lIns="0" tIns="0" rIns="0" bIns="0" rtlCol="0" anchor="ctr"/>
          <a:lstStyle/>
          <a:p>
            <a:pPr marL="0" indent="0" algn="l">
              <a:buNone/>
            </a:pPr>
            <a:r>
              <a:rPr lang="en-US" sz="900" dirty="0">
                <a:solidFill>
                  <a:srgbClr val="6B7385"/>
                </a:solidFill>
                <a:latin typeface="Calibri" pitchFamily="34" charset="0"/>
                <a:ea typeface="Calibri" pitchFamily="34" charset="-122"/>
                <a:cs typeface="Calibri" pitchFamily="34" charset="-120"/>
              </a:rPr>
              <a:t>Activation Functions</a:t>
            </a:r>
            <a:endParaRPr lang="en-US" sz="900" dirty="0"/>
          </a:p>
        </p:txBody>
      </p:sp>
      <p:sp>
        <p:nvSpPr>
          <p:cNvPr id="24" name="Text 21"/>
          <p:cNvSpPr/>
          <p:nvPr/>
        </p:nvSpPr>
        <p:spPr>
          <a:xfrm>
            <a:off x="11183112" y="6473952"/>
            <a:ext cx="457200" cy="274320"/>
          </a:xfrm>
          <a:prstGeom prst="rect">
            <a:avLst/>
          </a:prstGeom>
          <a:noFill/>
          <a:ln/>
        </p:spPr>
        <p:txBody>
          <a:bodyPr wrap="square" lIns="0" tIns="0" rIns="0" bIns="0" rtlCol="0" anchor="ctr"/>
          <a:lstStyle/>
          <a:p>
            <a:pPr marL="0" indent="0" algn="r">
              <a:buNone/>
            </a:pPr>
            <a:r>
              <a:rPr lang="en-US" sz="900" dirty="0">
                <a:solidFill>
                  <a:srgbClr val="6B7385"/>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141B3C"/>
        </a:solidFill>
        <a:effectLst/>
      </p:bgPr>
    </p:bg>
    <p:spTree>
      <p:nvGrpSpPr>
        <p:cNvPr id="1" name=""/>
        <p:cNvGrpSpPr/>
        <p:nvPr/>
      </p:nvGrpSpPr>
      <p:grpSpPr>
        <a:xfrm>
          <a:off x="0" y="0"/>
          <a:ext cx="0" cy="0"/>
          <a:chOff x="0" y="0"/>
          <a:chExt cx="0" cy="0"/>
        </a:xfrm>
      </p:grpSpPr>
      <p:sp>
        <p:nvSpPr>
          <p:cNvPr id="2" name="Text 0"/>
          <p:cNvSpPr/>
          <p:nvPr/>
        </p:nvSpPr>
        <p:spPr>
          <a:xfrm>
            <a:off x="548640" y="2011680"/>
            <a:ext cx="5486400" cy="365760"/>
          </a:xfrm>
          <a:prstGeom prst="rect">
            <a:avLst/>
          </a:prstGeom>
          <a:noFill/>
          <a:ln/>
        </p:spPr>
        <p:txBody>
          <a:bodyPr wrap="square" lIns="0" tIns="0" rIns="0" bIns="0" rtlCol="0" anchor="ctr"/>
          <a:lstStyle/>
          <a:p>
            <a:pPr marL="0" indent="0">
              <a:buNone/>
            </a:pPr>
            <a:r>
              <a:rPr lang="en-US" sz="1300" b="1" kern="0" spc="300" dirty="0">
                <a:solidFill>
                  <a:srgbClr val="EC1E79"/>
                </a:solidFill>
                <a:latin typeface="Calibri" pitchFamily="34" charset="0"/>
                <a:ea typeface="Calibri" pitchFamily="34" charset="-122"/>
                <a:cs typeface="Calibri" pitchFamily="34" charset="-120"/>
              </a:rPr>
              <a:t>PART II</a:t>
            </a:r>
            <a:endParaRPr lang="en-US" sz="1300" dirty="0"/>
          </a:p>
        </p:txBody>
      </p:sp>
      <p:sp>
        <p:nvSpPr>
          <p:cNvPr id="3" name="Text 1"/>
          <p:cNvSpPr/>
          <p:nvPr/>
        </p:nvSpPr>
        <p:spPr>
          <a:xfrm>
            <a:off x="548640" y="2395728"/>
            <a:ext cx="10058400" cy="1005840"/>
          </a:xfrm>
          <a:prstGeom prst="rect">
            <a:avLst/>
          </a:prstGeom>
          <a:noFill/>
          <a:ln/>
        </p:spPr>
        <p:txBody>
          <a:bodyPr wrap="square" lIns="0" tIns="0" rIns="0" bIns="0" rtlCol="0" anchor="ctr"/>
          <a:lstStyle/>
          <a:p>
            <a:pPr marL="0" indent="0">
              <a:buNone/>
            </a:pPr>
            <a:r>
              <a:rPr lang="en-US" sz="5400" b="1" dirty="0">
                <a:solidFill>
                  <a:srgbClr val="FFFFFF"/>
                </a:solidFill>
                <a:latin typeface="Calibri" pitchFamily="34" charset="0"/>
                <a:ea typeface="Calibri" pitchFamily="34" charset="-122"/>
                <a:cs typeface="Calibri" pitchFamily="34" charset="-120"/>
              </a:rPr>
              <a:t>The Lab</a:t>
            </a:r>
            <a:endParaRPr lang="en-US" sz="5400" dirty="0"/>
          </a:p>
        </p:txBody>
      </p:sp>
      <p:sp>
        <p:nvSpPr>
          <p:cNvPr id="4" name="Text 2"/>
          <p:cNvSpPr/>
          <p:nvPr/>
        </p:nvSpPr>
        <p:spPr>
          <a:xfrm>
            <a:off x="548640" y="3566160"/>
            <a:ext cx="8778240" cy="822960"/>
          </a:xfrm>
          <a:prstGeom prst="rect">
            <a:avLst/>
          </a:prstGeom>
          <a:noFill/>
          <a:ln/>
        </p:spPr>
        <p:txBody>
          <a:bodyPr wrap="square" lIns="0" tIns="0" rIns="0" bIns="0" rtlCol="0" anchor="ctr"/>
          <a:lstStyle/>
          <a:p>
            <a:pPr marL="0" indent="0">
              <a:buNone/>
            </a:pPr>
            <a:r>
              <a:rPr lang="en-US" sz="1800" dirty="0">
                <a:solidFill>
                  <a:srgbClr val="C7CEE6"/>
                </a:solidFill>
                <a:latin typeface="Calibri" pitchFamily="34" charset="0"/>
                <a:ea typeface="Calibri" pitchFamily="34" charset="-122"/>
                <a:cs typeface="Calibri" pitchFamily="34" charset="-120"/>
              </a:rPr>
              <a:t>Enough describing. Let's measure. One fixed network, one hard dataset — we swap only the activation and let the data pick the winner.</a:t>
            </a:r>
            <a:endParaRPr lang="en-US" sz="1800" dirty="0"/>
          </a:p>
        </p:txBody>
      </p:sp>
      <p:sp>
        <p:nvSpPr>
          <p:cNvPr id="5" name="Shape 3"/>
          <p:cNvSpPr/>
          <p:nvPr/>
        </p:nvSpPr>
        <p:spPr>
          <a:xfrm>
            <a:off x="548640" y="4617720"/>
            <a:ext cx="1417320" cy="457200"/>
          </a:xfrm>
          <a:prstGeom prst="roundRect">
            <a:avLst>
              <a:gd name="adj" fmla="val 20000"/>
            </a:avLst>
          </a:prstGeom>
          <a:solidFill>
            <a:srgbClr val="6C4CE0"/>
          </a:solidFill>
          <a:ln/>
        </p:spPr>
      </p:sp>
      <p:sp>
        <p:nvSpPr>
          <p:cNvPr id="6" name="Text 4"/>
          <p:cNvSpPr/>
          <p:nvPr/>
        </p:nvSpPr>
        <p:spPr>
          <a:xfrm>
            <a:off x="548640" y="4617720"/>
            <a:ext cx="141732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Dataset</a:t>
            </a:r>
            <a:endParaRPr lang="en-US" sz="1250" dirty="0"/>
          </a:p>
        </p:txBody>
      </p:sp>
      <p:sp>
        <p:nvSpPr>
          <p:cNvPr id="7" name="Text 5"/>
          <p:cNvSpPr/>
          <p:nvPr/>
        </p:nvSpPr>
        <p:spPr>
          <a:xfrm>
            <a:off x="2148840" y="4617720"/>
            <a:ext cx="8686800" cy="457200"/>
          </a:xfrm>
          <a:prstGeom prst="rect">
            <a:avLst/>
          </a:prstGeom>
          <a:noFill/>
          <a:ln/>
        </p:spPr>
        <p:txBody>
          <a:bodyPr wrap="square" lIns="0" tIns="0" rIns="0" bIns="0" rtlCol="0" anchor="ctr"/>
          <a:lstStyle/>
          <a:p>
            <a:pPr marL="0" indent="0">
              <a:buNone/>
            </a:pPr>
            <a:r>
              <a:rPr lang="en-US" sz="1450" dirty="0">
                <a:solidFill>
                  <a:srgbClr val="E4E8F5"/>
                </a:solidFill>
                <a:latin typeface="Calibri" pitchFamily="34" charset="0"/>
                <a:ea typeface="Calibri" pitchFamily="34" charset="-122"/>
                <a:cs typeface="Calibri" pitchFamily="34" charset="-120"/>
              </a:rPr>
              <a:t>3-class spiral · 660 points · not linearly separable</a:t>
            </a:r>
            <a:endParaRPr lang="en-US" sz="1450" dirty="0"/>
          </a:p>
        </p:txBody>
      </p:sp>
      <p:sp>
        <p:nvSpPr>
          <p:cNvPr id="8" name="Shape 6"/>
          <p:cNvSpPr/>
          <p:nvPr/>
        </p:nvSpPr>
        <p:spPr>
          <a:xfrm>
            <a:off x="548640" y="5184648"/>
            <a:ext cx="1417320" cy="457200"/>
          </a:xfrm>
          <a:prstGeom prst="roundRect">
            <a:avLst>
              <a:gd name="adj" fmla="val 20000"/>
            </a:avLst>
          </a:prstGeom>
          <a:solidFill>
            <a:srgbClr val="6C4CE0"/>
          </a:solidFill>
          <a:ln/>
        </p:spPr>
      </p:sp>
      <p:sp>
        <p:nvSpPr>
          <p:cNvPr id="9" name="Text 7"/>
          <p:cNvSpPr/>
          <p:nvPr/>
        </p:nvSpPr>
        <p:spPr>
          <a:xfrm>
            <a:off x="548640" y="5184648"/>
            <a:ext cx="141732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Network</a:t>
            </a:r>
            <a:endParaRPr lang="en-US" sz="1250" dirty="0"/>
          </a:p>
        </p:txBody>
      </p:sp>
      <p:sp>
        <p:nvSpPr>
          <p:cNvPr id="10" name="Text 8"/>
          <p:cNvSpPr/>
          <p:nvPr/>
        </p:nvSpPr>
        <p:spPr>
          <a:xfrm>
            <a:off x="2148840" y="5184648"/>
            <a:ext cx="8686800" cy="457200"/>
          </a:xfrm>
          <a:prstGeom prst="rect">
            <a:avLst/>
          </a:prstGeom>
          <a:noFill/>
          <a:ln/>
        </p:spPr>
        <p:txBody>
          <a:bodyPr wrap="square" lIns="0" tIns="0" rIns="0" bIns="0" rtlCol="0" anchor="ctr"/>
          <a:lstStyle/>
          <a:p>
            <a:pPr marL="0" indent="0">
              <a:buNone/>
            </a:pPr>
            <a:r>
              <a:rPr lang="en-US" sz="1450" dirty="0">
                <a:solidFill>
                  <a:srgbClr val="E4E8F5"/>
                </a:solidFill>
                <a:latin typeface="Calibri" pitchFamily="34" charset="0"/>
                <a:ea typeface="Calibri" pitchFamily="34" charset="-122"/>
                <a:cs typeface="Calibri" pitchFamily="34" charset="-120"/>
              </a:rPr>
              <a:t>2 → 64 → 64 → 64 → 3, same weights init every run</a:t>
            </a:r>
            <a:endParaRPr lang="en-US" sz="1450" dirty="0"/>
          </a:p>
        </p:txBody>
      </p:sp>
      <p:sp>
        <p:nvSpPr>
          <p:cNvPr id="11" name="Shape 9"/>
          <p:cNvSpPr/>
          <p:nvPr/>
        </p:nvSpPr>
        <p:spPr>
          <a:xfrm>
            <a:off x="548640" y="5751576"/>
            <a:ext cx="1417320" cy="457200"/>
          </a:xfrm>
          <a:prstGeom prst="roundRect">
            <a:avLst>
              <a:gd name="adj" fmla="val 20000"/>
            </a:avLst>
          </a:prstGeom>
          <a:solidFill>
            <a:srgbClr val="6C4CE0"/>
          </a:solidFill>
          <a:ln/>
        </p:spPr>
      </p:sp>
      <p:sp>
        <p:nvSpPr>
          <p:cNvPr id="12" name="Text 10"/>
          <p:cNvSpPr/>
          <p:nvPr/>
        </p:nvSpPr>
        <p:spPr>
          <a:xfrm>
            <a:off x="548640" y="5751576"/>
            <a:ext cx="141732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Rule</a:t>
            </a:r>
            <a:endParaRPr lang="en-US" sz="1250" dirty="0"/>
          </a:p>
        </p:txBody>
      </p:sp>
      <p:sp>
        <p:nvSpPr>
          <p:cNvPr id="13" name="Text 11"/>
          <p:cNvSpPr/>
          <p:nvPr/>
        </p:nvSpPr>
        <p:spPr>
          <a:xfrm>
            <a:off x="2148840" y="5751576"/>
            <a:ext cx="8686800" cy="457200"/>
          </a:xfrm>
          <a:prstGeom prst="rect">
            <a:avLst/>
          </a:prstGeom>
          <a:noFill/>
          <a:ln/>
        </p:spPr>
        <p:txBody>
          <a:bodyPr wrap="square" lIns="0" tIns="0" rIns="0" bIns="0" rtlCol="0" anchor="ctr"/>
          <a:lstStyle/>
          <a:p>
            <a:pPr marL="0" indent="0">
              <a:buNone/>
            </a:pPr>
            <a:r>
              <a:rPr lang="en-US" sz="1450" dirty="0">
                <a:solidFill>
                  <a:srgbClr val="E4E8F5"/>
                </a:solidFill>
                <a:latin typeface="Calibri" pitchFamily="34" charset="0"/>
                <a:ea typeface="Calibri" pitchFamily="34" charset="-122"/>
                <a:cs typeface="Calibri" pitchFamily="34" charset="-120"/>
              </a:rPr>
              <a:t>Change ONE thing: the activation function</a:t>
            </a:r>
            <a:endParaRPr lang="en-US" sz="1450" dirty="0"/>
          </a:p>
        </p:txBody>
      </p:sp>
      <p:sp>
        <p:nvSpPr>
          <p:cNvPr id="14" name="Text 12"/>
          <p:cNvSpPr/>
          <p:nvPr/>
        </p:nvSpPr>
        <p:spPr>
          <a:xfrm>
            <a:off x="548640" y="6473952"/>
            <a:ext cx="4572000" cy="274320"/>
          </a:xfrm>
          <a:prstGeom prst="rect">
            <a:avLst/>
          </a:prstGeom>
          <a:noFill/>
          <a:ln/>
        </p:spPr>
        <p:txBody>
          <a:bodyPr wrap="square" lIns="0" tIns="0" rIns="0" bIns="0" rtlCol="0" anchor="ctr"/>
          <a:lstStyle/>
          <a:p>
            <a:pPr marL="0" indent="0" algn="l">
              <a:buNone/>
            </a:pPr>
            <a:r>
              <a:rPr lang="en-US" sz="900" dirty="0">
                <a:solidFill>
                  <a:srgbClr val="9AA3BE"/>
                </a:solidFill>
                <a:latin typeface="Calibri" pitchFamily="34" charset="0"/>
                <a:ea typeface="Calibri" pitchFamily="34" charset="-122"/>
                <a:cs typeface="Calibri" pitchFamily="34" charset="-120"/>
              </a:rPr>
              <a:t>Activation Functions</a:t>
            </a:r>
            <a:endParaRPr lang="en-US" sz="900" dirty="0"/>
          </a:p>
        </p:txBody>
      </p:sp>
      <p:sp>
        <p:nvSpPr>
          <p:cNvPr id="15" name="Text 13"/>
          <p:cNvSpPr/>
          <p:nvPr/>
        </p:nvSpPr>
        <p:spPr>
          <a:xfrm>
            <a:off x="11183112" y="6473952"/>
            <a:ext cx="457200" cy="274320"/>
          </a:xfrm>
          <a:prstGeom prst="rect">
            <a:avLst/>
          </a:prstGeom>
          <a:noFill/>
          <a:ln/>
        </p:spPr>
        <p:txBody>
          <a:bodyPr wrap="square" lIns="0" tIns="0" rIns="0" bIns="0" rtlCol="0" anchor="ctr"/>
          <a:lstStyle/>
          <a:p>
            <a:pPr marL="0" indent="0" algn="r">
              <a:buNone/>
            </a:pPr>
            <a:r>
              <a:rPr lang="en-US" sz="900" dirty="0">
                <a:solidFill>
                  <a:srgbClr val="9AA3BE"/>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48640"/>
            <a:ext cx="1459382" cy="310896"/>
          </a:xfrm>
          <a:prstGeom prst="roundRect">
            <a:avLst>
              <a:gd name="adj" fmla="val 50000"/>
            </a:avLst>
          </a:prstGeom>
          <a:solidFill>
            <a:srgbClr val="EC1E79"/>
          </a:solidFill>
          <a:ln/>
        </p:spPr>
      </p:sp>
      <p:sp>
        <p:nvSpPr>
          <p:cNvPr id="3" name="Text 1"/>
          <p:cNvSpPr/>
          <p:nvPr/>
        </p:nvSpPr>
        <p:spPr>
          <a:xfrm>
            <a:off x="548640" y="548640"/>
            <a:ext cx="1459382" cy="310896"/>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YOUR TURN · VOTE</a:t>
            </a:r>
            <a:endParaRPr lang="en-US" sz="1100" dirty="0"/>
          </a:p>
        </p:txBody>
      </p:sp>
      <p:sp>
        <p:nvSpPr>
          <p:cNvPr id="4" name="Text 2"/>
          <p:cNvSpPr/>
          <p:nvPr/>
        </p:nvSpPr>
        <p:spPr>
          <a:xfrm>
            <a:off x="548640" y="932688"/>
            <a:ext cx="11091672" cy="731520"/>
          </a:xfrm>
          <a:prstGeom prst="rect">
            <a:avLst/>
          </a:prstGeom>
          <a:noFill/>
          <a:ln/>
        </p:spPr>
        <p:txBody>
          <a:bodyPr wrap="square" lIns="0" tIns="0" rIns="0" bIns="0" rtlCol="0" anchor="t"/>
          <a:lstStyle/>
          <a:p>
            <a:pPr marL="0" indent="0" algn="l">
              <a:buNone/>
            </a:pPr>
            <a:r>
              <a:rPr lang="en-US" sz="3300" b="1" dirty="0">
                <a:solidFill>
                  <a:srgbClr val="141B3C"/>
                </a:solidFill>
                <a:latin typeface="Calibri" pitchFamily="34" charset="0"/>
                <a:ea typeface="Calibri" pitchFamily="34" charset="-122"/>
                <a:cs typeface="Calibri" pitchFamily="34" charset="-120"/>
              </a:rPr>
              <a:t>Before we run it — place your bet</a:t>
            </a:r>
            <a:endParaRPr lang="en-US" sz="3300" dirty="0"/>
          </a:p>
        </p:txBody>
      </p:sp>
      <p:sp>
        <p:nvSpPr>
          <p:cNvPr id="5" name="Text 3"/>
          <p:cNvSpPr/>
          <p:nvPr/>
        </p:nvSpPr>
        <p:spPr>
          <a:xfrm>
            <a:off x="548640" y="1691640"/>
            <a:ext cx="5486400" cy="1097280"/>
          </a:xfrm>
          <a:prstGeom prst="rect">
            <a:avLst/>
          </a:prstGeom>
          <a:noFill/>
          <a:ln/>
        </p:spPr>
        <p:txBody>
          <a:bodyPr wrap="square" lIns="0" tIns="0" rIns="0" bIns="0" rtlCol="0" anchor="t"/>
          <a:lstStyle/>
          <a:p>
            <a:pPr marL="0" indent="0">
              <a:buNone/>
            </a:pPr>
            <a:r>
              <a:rPr lang="en-US" sz="1550" dirty="0">
                <a:solidFill>
                  <a:srgbClr val="1C2333"/>
                </a:solidFill>
                <a:latin typeface="Calibri" pitchFamily="34" charset="0"/>
                <a:ea typeface="Calibri" pitchFamily="34" charset="-122"/>
                <a:cs typeface="Calibri" pitchFamily="34" charset="-120"/>
              </a:rPr>
              <a:t>This is the spiral every network below must learn to separate. On the same architecture, which activation ends up most accurate? Commit to a guess now.</a:t>
            </a:r>
            <a:endParaRPr lang="en-US" sz="1550" dirty="0"/>
          </a:p>
        </p:txBody>
      </p:sp>
      <p:sp>
        <p:nvSpPr>
          <p:cNvPr id="6" name="Shape 4"/>
          <p:cNvSpPr/>
          <p:nvPr/>
        </p:nvSpPr>
        <p:spPr>
          <a:xfrm>
            <a:off x="548640" y="2880360"/>
            <a:ext cx="5486400" cy="566928"/>
          </a:xfrm>
          <a:prstGeom prst="roundRect">
            <a:avLst>
              <a:gd name="adj" fmla="val 16129"/>
            </a:avLst>
          </a:prstGeom>
          <a:solidFill>
            <a:srgbClr val="F4F6FB"/>
          </a:solidFill>
          <a:ln/>
        </p:spPr>
      </p:sp>
      <p:sp>
        <p:nvSpPr>
          <p:cNvPr id="7" name="Shape 5"/>
          <p:cNvSpPr/>
          <p:nvPr/>
        </p:nvSpPr>
        <p:spPr>
          <a:xfrm>
            <a:off x="658368" y="2980944"/>
            <a:ext cx="365760" cy="365760"/>
          </a:xfrm>
          <a:prstGeom prst="roundRect">
            <a:avLst>
              <a:gd name="adj" fmla="val 20000"/>
            </a:avLst>
          </a:prstGeom>
          <a:solidFill>
            <a:srgbClr val="2F55D4"/>
          </a:solidFill>
          <a:ln/>
        </p:spPr>
      </p:sp>
      <p:sp>
        <p:nvSpPr>
          <p:cNvPr id="8" name="Text 6"/>
          <p:cNvSpPr/>
          <p:nvPr/>
        </p:nvSpPr>
        <p:spPr>
          <a:xfrm>
            <a:off x="658368" y="2980944"/>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9" name="Text 7"/>
          <p:cNvSpPr/>
          <p:nvPr/>
        </p:nvSpPr>
        <p:spPr>
          <a:xfrm>
            <a:off x="1207008" y="2880360"/>
            <a:ext cx="4663440" cy="566928"/>
          </a:xfrm>
          <a:prstGeom prst="rect">
            <a:avLst/>
          </a:prstGeom>
          <a:noFill/>
          <a:ln/>
        </p:spPr>
        <p:txBody>
          <a:bodyPr wrap="square" lIns="0" tIns="0" rIns="0" bIns="0" rtlCol="0" anchor="ctr"/>
          <a:lstStyle/>
          <a:p>
            <a:pPr marL="0" indent="0">
              <a:buNone/>
            </a:pPr>
            <a:r>
              <a:rPr lang="en-US" sz="1550" b="1" dirty="0">
                <a:solidFill>
                  <a:srgbClr val="141B3C"/>
                </a:solidFill>
                <a:latin typeface="Calibri" pitchFamily="34" charset="0"/>
                <a:ea typeface="Calibri" pitchFamily="34" charset="-122"/>
                <a:cs typeface="Calibri" pitchFamily="34" charset="-120"/>
              </a:rPr>
              <a:t>Sigmoid</a:t>
            </a:r>
            <a:endParaRPr lang="en-US" sz="1550" dirty="0"/>
          </a:p>
        </p:txBody>
      </p:sp>
      <p:sp>
        <p:nvSpPr>
          <p:cNvPr id="10" name="Shape 8"/>
          <p:cNvSpPr/>
          <p:nvPr/>
        </p:nvSpPr>
        <p:spPr>
          <a:xfrm>
            <a:off x="548640" y="3557016"/>
            <a:ext cx="5486400" cy="566928"/>
          </a:xfrm>
          <a:prstGeom prst="roundRect">
            <a:avLst>
              <a:gd name="adj" fmla="val 16129"/>
            </a:avLst>
          </a:prstGeom>
          <a:solidFill>
            <a:srgbClr val="F4F6FB"/>
          </a:solidFill>
          <a:ln/>
        </p:spPr>
      </p:sp>
      <p:sp>
        <p:nvSpPr>
          <p:cNvPr id="11" name="Shape 9"/>
          <p:cNvSpPr/>
          <p:nvPr/>
        </p:nvSpPr>
        <p:spPr>
          <a:xfrm>
            <a:off x="658368" y="3657600"/>
            <a:ext cx="365760" cy="365760"/>
          </a:xfrm>
          <a:prstGeom prst="roundRect">
            <a:avLst>
              <a:gd name="adj" fmla="val 20000"/>
            </a:avLst>
          </a:prstGeom>
          <a:solidFill>
            <a:srgbClr val="F59E0B"/>
          </a:solidFill>
          <a:ln/>
        </p:spPr>
      </p:sp>
      <p:sp>
        <p:nvSpPr>
          <p:cNvPr id="12" name="Text 10"/>
          <p:cNvSpPr/>
          <p:nvPr/>
        </p:nvSpPr>
        <p:spPr>
          <a:xfrm>
            <a:off x="658368" y="365760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3" name="Text 11"/>
          <p:cNvSpPr/>
          <p:nvPr/>
        </p:nvSpPr>
        <p:spPr>
          <a:xfrm>
            <a:off x="1207008" y="3557016"/>
            <a:ext cx="4663440" cy="566928"/>
          </a:xfrm>
          <a:prstGeom prst="rect">
            <a:avLst/>
          </a:prstGeom>
          <a:noFill/>
          <a:ln/>
        </p:spPr>
        <p:txBody>
          <a:bodyPr wrap="square" lIns="0" tIns="0" rIns="0" bIns="0" rtlCol="0" anchor="ctr"/>
          <a:lstStyle/>
          <a:p>
            <a:pPr marL="0" indent="0">
              <a:buNone/>
            </a:pPr>
            <a:r>
              <a:rPr lang="en-US" sz="1550" b="1" dirty="0">
                <a:solidFill>
                  <a:srgbClr val="141B3C"/>
                </a:solidFill>
                <a:latin typeface="Calibri" pitchFamily="34" charset="0"/>
                <a:ea typeface="Calibri" pitchFamily="34" charset="-122"/>
                <a:cs typeface="Calibri" pitchFamily="34" charset="-120"/>
              </a:rPr>
              <a:t>Tanh</a:t>
            </a:r>
            <a:endParaRPr lang="en-US" sz="1550" dirty="0"/>
          </a:p>
        </p:txBody>
      </p:sp>
      <p:sp>
        <p:nvSpPr>
          <p:cNvPr id="14" name="Shape 12"/>
          <p:cNvSpPr/>
          <p:nvPr/>
        </p:nvSpPr>
        <p:spPr>
          <a:xfrm>
            <a:off x="548640" y="4233672"/>
            <a:ext cx="5486400" cy="566928"/>
          </a:xfrm>
          <a:prstGeom prst="roundRect">
            <a:avLst>
              <a:gd name="adj" fmla="val 16129"/>
            </a:avLst>
          </a:prstGeom>
          <a:solidFill>
            <a:srgbClr val="F4F6FB"/>
          </a:solidFill>
          <a:ln/>
        </p:spPr>
      </p:sp>
      <p:sp>
        <p:nvSpPr>
          <p:cNvPr id="15" name="Shape 13"/>
          <p:cNvSpPr/>
          <p:nvPr/>
        </p:nvSpPr>
        <p:spPr>
          <a:xfrm>
            <a:off x="658368" y="4334256"/>
            <a:ext cx="365760" cy="365760"/>
          </a:xfrm>
          <a:prstGeom prst="roundRect">
            <a:avLst>
              <a:gd name="adj" fmla="val 20000"/>
            </a:avLst>
          </a:prstGeom>
          <a:solidFill>
            <a:srgbClr val="EC1E79"/>
          </a:solidFill>
          <a:ln/>
        </p:spPr>
      </p:sp>
      <p:sp>
        <p:nvSpPr>
          <p:cNvPr id="16" name="Text 14"/>
          <p:cNvSpPr/>
          <p:nvPr/>
        </p:nvSpPr>
        <p:spPr>
          <a:xfrm>
            <a:off x="658368" y="4334256"/>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17" name="Text 15"/>
          <p:cNvSpPr/>
          <p:nvPr/>
        </p:nvSpPr>
        <p:spPr>
          <a:xfrm>
            <a:off x="1207008" y="4233672"/>
            <a:ext cx="4663440" cy="566928"/>
          </a:xfrm>
          <a:prstGeom prst="rect">
            <a:avLst/>
          </a:prstGeom>
          <a:noFill/>
          <a:ln/>
        </p:spPr>
        <p:txBody>
          <a:bodyPr wrap="square" lIns="0" tIns="0" rIns="0" bIns="0" rtlCol="0" anchor="ctr"/>
          <a:lstStyle/>
          <a:p>
            <a:pPr marL="0" indent="0">
              <a:buNone/>
            </a:pPr>
            <a:r>
              <a:rPr lang="en-US" sz="1550" b="1" dirty="0">
                <a:solidFill>
                  <a:srgbClr val="141B3C"/>
                </a:solidFill>
                <a:latin typeface="Calibri" pitchFamily="34" charset="0"/>
                <a:ea typeface="Calibri" pitchFamily="34" charset="-122"/>
                <a:cs typeface="Calibri" pitchFamily="34" charset="-120"/>
              </a:rPr>
              <a:t>ReLU</a:t>
            </a:r>
            <a:endParaRPr lang="en-US" sz="1550" dirty="0"/>
          </a:p>
        </p:txBody>
      </p:sp>
      <p:sp>
        <p:nvSpPr>
          <p:cNvPr id="18" name="Shape 16"/>
          <p:cNvSpPr/>
          <p:nvPr/>
        </p:nvSpPr>
        <p:spPr>
          <a:xfrm>
            <a:off x="548640" y="4910328"/>
            <a:ext cx="5486400" cy="566928"/>
          </a:xfrm>
          <a:prstGeom prst="roundRect">
            <a:avLst>
              <a:gd name="adj" fmla="val 16129"/>
            </a:avLst>
          </a:prstGeom>
          <a:solidFill>
            <a:srgbClr val="F4F6FB"/>
          </a:solidFill>
          <a:ln/>
        </p:spPr>
      </p:sp>
      <p:sp>
        <p:nvSpPr>
          <p:cNvPr id="19" name="Shape 17"/>
          <p:cNvSpPr/>
          <p:nvPr/>
        </p:nvSpPr>
        <p:spPr>
          <a:xfrm>
            <a:off x="658368" y="5010912"/>
            <a:ext cx="365760" cy="365760"/>
          </a:xfrm>
          <a:prstGeom prst="roundRect">
            <a:avLst>
              <a:gd name="adj" fmla="val 20000"/>
            </a:avLst>
          </a:prstGeom>
          <a:solidFill>
            <a:srgbClr val="0EA5E9"/>
          </a:solidFill>
          <a:ln/>
        </p:spPr>
      </p:sp>
      <p:sp>
        <p:nvSpPr>
          <p:cNvPr id="20" name="Text 18"/>
          <p:cNvSpPr/>
          <p:nvPr/>
        </p:nvSpPr>
        <p:spPr>
          <a:xfrm>
            <a:off x="658368" y="5010912"/>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1" name="Text 19"/>
          <p:cNvSpPr/>
          <p:nvPr/>
        </p:nvSpPr>
        <p:spPr>
          <a:xfrm>
            <a:off x="1207008" y="4910328"/>
            <a:ext cx="4663440" cy="566928"/>
          </a:xfrm>
          <a:prstGeom prst="rect">
            <a:avLst/>
          </a:prstGeom>
          <a:noFill/>
          <a:ln/>
        </p:spPr>
        <p:txBody>
          <a:bodyPr wrap="square" lIns="0" tIns="0" rIns="0" bIns="0" rtlCol="0" anchor="ctr"/>
          <a:lstStyle/>
          <a:p>
            <a:pPr marL="0" indent="0">
              <a:buNone/>
            </a:pPr>
            <a:r>
              <a:rPr lang="en-US" sz="1550" b="1" dirty="0">
                <a:solidFill>
                  <a:srgbClr val="141B3C"/>
                </a:solidFill>
                <a:latin typeface="Calibri" pitchFamily="34" charset="0"/>
                <a:ea typeface="Calibri" pitchFamily="34" charset="-122"/>
                <a:cs typeface="Calibri" pitchFamily="34" charset="-120"/>
              </a:rPr>
              <a:t>GELU / Swish</a:t>
            </a:r>
            <a:endParaRPr lang="en-US" sz="1550" dirty="0"/>
          </a:p>
        </p:txBody>
      </p:sp>
      <p:pic>
        <p:nvPicPr>
          <p:cNvPr id="23" name="Image 0" descr="/home/claude/fig/dataset.png"/>
          <p:cNvPicPr>
            <a:picLocks noChangeAspect="1"/>
          </p:cNvPicPr>
          <p:nvPr/>
        </p:nvPicPr>
        <p:blipFill>
          <a:blip r:embed="rId3"/>
          <a:srcRect/>
          <a:stretch/>
        </p:blipFill>
        <p:spPr>
          <a:xfrm>
            <a:off x="6400800" y="1554480"/>
            <a:ext cx="5212080" cy="4663440"/>
          </a:xfrm>
          <a:prstGeom prst="rect">
            <a:avLst/>
          </a:prstGeom>
        </p:spPr>
      </p:pic>
      <p:sp>
        <p:nvSpPr>
          <p:cNvPr id="24" name="Text 21"/>
          <p:cNvSpPr/>
          <p:nvPr/>
        </p:nvSpPr>
        <p:spPr>
          <a:xfrm>
            <a:off x="548640" y="6473952"/>
            <a:ext cx="4572000" cy="274320"/>
          </a:xfrm>
          <a:prstGeom prst="rect">
            <a:avLst/>
          </a:prstGeom>
          <a:noFill/>
          <a:ln/>
        </p:spPr>
        <p:txBody>
          <a:bodyPr wrap="square" lIns="0" tIns="0" rIns="0" bIns="0" rtlCol="0" anchor="ctr"/>
          <a:lstStyle/>
          <a:p>
            <a:pPr marL="0" indent="0" algn="l">
              <a:buNone/>
            </a:pPr>
            <a:r>
              <a:rPr lang="en-US" sz="900" dirty="0">
                <a:solidFill>
                  <a:srgbClr val="6B7385"/>
                </a:solidFill>
                <a:latin typeface="Calibri" pitchFamily="34" charset="0"/>
                <a:ea typeface="Calibri" pitchFamily="34" charset="-122"/>
                <a:cs typeface="Calibri" pitchFamily="34" charset="-120"/>
              </a:rPr>
              <a:t>Activation Functions</a:t>
            </a:r>
            <a:endParaRPr lang="en-US" sz="900" dirty="0"/>
          </a:p>
        </p:txBody>
      </p:sp>
      <p:sp>
        <p:nvSpPr>
          <p:cNvPr id="25" name="Text 22"/>
          <p:cNvSpPr/>
          <p:nvPr/>
        </p:nvSpPr>
        <p:spPr>
          <a:xfrm>
            <a:off x="11183112" y="6473952"/>
            <a:ext cx="457200" cy="274320"/>
          </a:xfrm>
          <a:prstGeom prst="rect">
            <a:avLst/>
          </a:prstGeom>
          <a:noFill/>
          <a:ln/>
        </p:spPr>
        <p:txBody>
          <a:bodyPr wrap="square" lIns="0" tIns="0" rIns="0" bIns="0" rtlCol="0" anchor="ctr"/>
          <a:lstStyle/>
          <a:p>
            <a:pPr marL="0" indent="0" algn="r">
              <a:buNone/>
            </a:pPr>
            <a:r>
              <a:rPr lang="en-US" sz="900" dirty="0">
                <a:solidFill>
                  <a:srgbClr val="6B7385"/>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48640"/>
            <a:ext cx="1144829" cy="310896"/>
          </a:xfrm>
          <a:prstGeom prst="roundRect">
            <a:avLst>
              <a:gd name="adj" fmla="val 50000"/>
            </a:avLst>
          </a:prstGeom>
          <a:solidFill>
            <a:srgbClr val="2F55D4"/>
          </a:solidFill>
          <a:ln/>
        </p:spPr>
      </p:sp>
      <p:sp>
        <p:nvSpPr>
          <p:cNvPr id="3" name="Text 1"/>
          <p:cNvSpPr/>
          <p:nvPr/>
        </p:nvSpPr>
        <p:spPr>
          <a:xfrm>
            <a:off x="548640" y="548640"/>
            <a:ext cx="1144829" cy="310896"/>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EXPERIMENT 1</a:t>
            </a:r>
            <a:endParaRPr lang="en-US" sz="1100" dirty="0"/>
          </a:p>
        </p:txBody>
      </p:sp>
      <p:sp>
        <p:nvSpPr>
          <p:cNvPr id="4" name="Text 2"/>
          <p:cNvSpPr/>
          <p:nvPr/>
        </p:nvSpPr>
        <p:spPr>
          <a:xfrm>
            <a:off x="548640" y="932688"/>
            <a:ext cx="11091672" cy="731520"/>
          </a:xfrm>
          <a:prstGeom prst="rect">
            <a:avLst/>
          </a:prstGeom>
          <a:noFill/>
          <a:ln/>
        </p:spPr>
        <p:txBody>
          <a:bodyPr wrap="square" lIns="0" tIns="0" rIns="0" bIns="0" rtlCol="0" anchor="t"/>
          <a:lstStyle/>
          <a:p>
            <a:pPr marL="0" indent="0" algn="l">
              <a:buNone/>
            </a:pPr>
            <a:r>
              <a:rPr lang="en-US" sz="3300" b="1" dirty="0">
                <a:solidFill>
                  <a:srgbClr val="141B3C"/>
                </a:solidFill>
                <a:latin typeface="Calibri" pitchFamily="34" charset="0"/>
                <a:ea typeface="Calibri" pitchFamily="34" charset="-122"/>
                <a:cs typeface="Calibri" pitchFamily="34" charset="-120"/>
              </a:rPr>
              <a:t>The vanishing gradient, measured</a:t>
            </a:r>
            <a:endParaRPr lang="en-US" sz="3300" dirty="0"/>
          </a:p>
        </p:txBody>
      </p:sp>
      <p:sp>
        <p:nvSpPr>
          <p:cNvPr id="5" name="Text 3"/>
          <p:cNvSpPr/>
          <p:nvPr/>
        </p:nvSpPr>
        <p:spPr>
          <a:xfrm>
            <a:off x="548640" y="1664208"/>
            <a:ext cx="5029200" cy="914400"/>
          </a:xfrm>
          <a:prstGeom prst="rect">
            <a:avLst/>
          </a:prstGeom>
          <a:noFill/>
          <a:ln/>
        </p:spPr>
        <p:txBody>
          <a:bodyPr wrap="square" lIns="0" tIns="0" rIns="0" bIns="0" rtlCol="0" anchor="t"/>
          <a:lstStyle/>
          <a:p>
            <a:pPr marL="0" indent="0">
              <a:buNone/>
            </a:pPr>
            <a:r>
              <a:rPr lang="en-US" sz="1450" dirty="0">
                <a:solidFill>
                  <a:srgbClr val="1C2333"/>
                </a:solidFill>
                <a:latin typeface="Calibri" pitchFamily="34" charset="0"/>
                <a:ea typeface="Calibri" pitchFamily="34" charset="-122"/>
                <a:cs typeface="Calibri" pitchFamily="34" charset="-120"/>
              </a:rPr>
              <a:t>A single backward pass through an 18-layer network. We plot the average gradient reaching each hidden layer.</a:t>
            </a:r>
            <a:endParaRPr lang="en-US" sz="1450" dirty="0"/>
          </a:p>
        </p:txBody>
      </p:sp>
      <p:sp>
        <p:nvSpPr>
          <p:cNvPr id="6" name="Text 4"/>
          <p:cNvSpPr/>
          <p:nvPr/>
        </p:nvSpPr>
        <p:spPr>
          <a:xfrm>
            <a:off x="548640" y="2606040"/>
            <a:ext cx="5029200" cy="3200400"/>
          </a:xfrm>
          <a:prstGeom prst="rect">
            <a:avLst/>
          </a:prstGeom>
          <a:noFill/>
          <a:ln/>
        </p:spPr>
        <p:txBody>
          <a:bodyPr wrap="square" lIns="0" tIns="0" rIns="0" bIns="0" rtlCol="0" anchor="t"/>
          <a:lstStyle/>
          <a:p>
            <a:pPr marL="177800" indent="-177800">
              <a:lnSpc>
                <a:spcPct val="102000"/>
              </a:lnSpc>
              <a:spcAft>
                <a:spcPts val="1000"/>
              </a:spcAft>
              <a:buSzPct val="100000"/>
              <a:buChar char="•"/>
            </a:pPr>
            <a:r>
              <a:rPr lang="en-US" sz="1400" dirty="0">
                <a:solidFill>
                  <a:srgbClr val="1C2333"/>
                </a:solidFill>
                <a:latin typeface="Calibri" pitchFamily="34" charset="0"/>
                <a:ea typeface="Calibri" pitchFamily="34" charset="-122"/>
                <a:cs typeface="Calibri" pitchFamily="34" charset="-120"/>
              </a:rPr>
              <a:t>Sigmoid's input layer sees a gradient ~10¹⁰× smaller than its output layer — signal gone.</a:t>
            </a:r>
            <a:endParaRPr lang="en-US" sz="1400" dirty="0"/>
          </a:p>
          <a:p>
            <a:pPr marL="177800" indent="-177800">
              <a:lnSpc>
                <a:spcPct val="102000"/>
              </a:lnSpc>
              <a:spcAft>
                <a:spcPts val="1000"/>
              </a:spcAft>
              <a:buSzPct val="100000"/>
              <a:buChar char="•"/>
            </a:pPr>
            <a:r>
              <a:rPr lang="en-US" sz="1400" dirty="0">
                <a:solidFill>
                  <a:srgbClr val="1C2333"/>
                </a:solidFill>
                <a:latin typeface="Calibri" pitchFamily="34" charset="0"/>
                <a:ea typeface="Calibri" pitchFamily="34" charset="-122"/>
                <a:cs typeface="Calibri" pitchFamily="34" charset="-120"/>
              </a:rPr>
              <a:t>ReLU decays only mildly.</a:t>
            </a:r>
            <a:endParaRPr lang="en-US" sz="1400" dirty="0"/>
          </a:p>
          <a:p>
            <a:pPr marL="177800" indent="-177800">
              <a:lnSpc>
                <a:spcPct val="102000"/>
              </a:lnSpc>
              <a:spcAft>
                <a:spcPts val="1000"/>
              </a:spcAft>
              <a:buSzPct val="100000"/>
              <a:buChar char="•"/>
            </a:pPr>
            <a:r>
              <a:rPr lang="en-US" sz="1400" dirty="0">
                <a:solidFill>
                  <a:srgbClr val="1C2333"/>
                </a:solidFill>
                <a:latin typeface="Calibri" pitchFamily="34" charset="0"/>
                <a:ea typeface="Calibri" pitchFamily="34" charset="-122"/>
                <a:cs typeface="Calibri" pitchFamily="34" charset="-120"/>
              </a:rPr>
              <a:t>Tanh holds nearly flat — zero-centering plus matched init pays off.</a:t>
            </a:r>
            <a:endParaRPr lang="en-US" sz="1400" dirty="0"/>
          </a:p>
        </p:txBody>
      </p:sp>
      <p:sp>
        <p:nvSpPr>
          <p:cNvPr id="7" name="Shape 5"/>
          <p:cNvSpPr/>
          <p:nvPr/>
        </p:nvSpPr>
        <p:spPr>
          <a:xfrm>
            <a:off x="548640" y="5257800"/>
            <a:ext cx="5029200" cy="685800"/>
          </a:xfrm>
          <a:prstGeom prst="roundRect">
            <a:avLst>
              <a:gd name="adj" fmla="val 13333"/>
            </a:avLst>
          </a:prstGeom>
          <a:solidFill>
            <a:srgbClr val="141B3C"/>
          </a:solidFill>
          <a:ln/>
        </p:spPr>
      </p:sp>
      <p:sp>
        <p:nvSpPr>
          <p:cNvPr id="8" name="Text 6"/>
          <p:cNvSpPr/>
          <p:nvPr/>
        </p:nvSpPr>
        <p:spPr>
          <a:xfrm>
            <a:off x="731520" y="5257800"/>
            <a:ext cx="4709160" cy="685800"/>
          </a:xfrm>
          <a:prstGeom prst="rect">
            <a:avLst/>
          </a:prstGeom>
          <a:noFill/>
          <a:ln/>
        </p:spPr>
        <p:txBody>
          <a:bodyPr wrap="square" lIns="0" tIns="0" rIns="0" bIns="0" rtlCol="0" anchor="ctr"/>
          <a:lstStyle/>
          <a:p>
            <a:pPr marL="0" indent="0">
              <a:buNone/>
            </a:pPr>
            <a:r>
              <a:rPr lang="en-US" sz="1400" b="1" dirty="0">
                <a:solidFill>
                  <a:srgbClr val="EC1E79"/>
                </a:solidFill>
                <a:latin typeface="Calibri" pitchFamily="34" charset="0"/>
                <a:ea typeface="Calibri" pitchFamily="34" charset="-122"/>
                <a:cs typeface="Calibri" pitchFamily="34" charset="-120"/>
              </a:rPr>
              <a:t>Verdict.  </a:t>
            </a:r>
            <a:r>
              <a:rPr lang="en-US" sz="1350" dirty="0">
                <a:solidFill>
                  <a:srgbClr val="FFFFFF"/>
                </a:solidFill>
                <a:latin typeface="Calibri" pitchFamily="34" charset="0"/>
                <a:ea typeface="Calibri" pitchFamily="34" charset="-122"/>
                <a:cs typeface="Calibri" pitchFamily="34" charset="-120"/>
              </a:rPr>
              <a:t>Slide 8's claim, confirmed on real numbers. Saturating + not-zero-centered = catastrophic.</a:t>
            </a:r>
            <a:endParaRPr lang="en-US" sz="1400" dirty="0"/>
          </a:p>
        </p:txBody>
      </p:sp>
      <p:pic>
        <p:nvPicPr>
          <p:cNvPr id="9" name="Image 0" descr="/home/claude/fig/exp_vanishing.png"/>
          <p:cNvPicPr>
            <a:picLocks noChangeAspect="1"/>
          </p:cNvPicPr>
          <p:nvPr/>
        </p:nvPicPr>
        <p:blipFill>
          <a:blip r:embed="rId3"/>
          <a:srcRect/>
          <a:stretch/>
        </p:blipFill>
        <p:spPr>
          <a:xfrm>
            <a:off x="5852160" y="1600200"/>
            <a:ext cx="5788152" cy="4297680"/>
          </a:xfrm>
          <a:prstGeom prst="rect">
            <a:avLst/>
          </a:prstGeom>
        </p:spPr>
      </p:pic>
      <p:sp>
        <p:nvSpPr>
          <p:cNvPr id="10" name="Text 7"/>
          <p:cNvSpPr/>
          <p:nvPr/>
        </p:nvSpPr>
        <p:spPr>
          <a:xfrm>
            <a:off x="548640" y="6473952"/>
            <a:ext cx="4572000" cy="274320"/>
          </a:xfrm>
          <a:prstGeom prst="rect">
            <a:avLst/>
          </a:prstGeom>
          <a:noFill/>
          <a:ln/>
        </p:spPr>
        <p:txBody>
          <a:bodyPr wrap="square" lIns="0" tIns="0" rIns="0" bIns="0" rtlCol="0" anchor="ctr"/>
          <a:lstStyle/>
          <a:p>
            <a:pPr marL="0" indent="0" algn="l">
              <a:buNone/>
            </a:pPr>
            <a:r>
              <a:rPr lang="en-US" sz="900" dirty="0">
                <a:solidFill>
                  <a:srgbClr val="6B7385"/>
                </a:solidFill>
                <a:latin typeface="Calibri" pitchFamily="34" charset="0"/>
                <a:ea typeface="Calibri" pitchFamily="34" charset="-122"/>
                <a:cs typeface="Calibri" pitchFamily="34" charset="-120"/>
              </a:rPr>
              <a:t>Activation Functions</a:t>
            </a:r>
            <a:endParaRPr lang="en-US" sz="900" dirty="0"/>
          </a:p>
        </p:txBody>
      </p:sp>
      <p:sp>
        <p:nvSpPr>
          <p:cNvPr id="11" name="Text 8"/>
          <p:cNvSpPr/>
          <p:nvPr/>
        </p:nvSpPr>
        <p:spPr>
          <a:xfrm>
            <a:off x="11183112" y="6473952"/>
            <a:ext cx="457200" cy="274320"/>
          </a:xfrm>
          <a:prstGeom prst="rect">
            <a:avLst/>
          </a:prstGeom>
          <a:noFill/>
          <a:ln/>
        </p:spPr>
        <p:txBody>
          <a:bodyPr wrap="square" lIns="0" tIns="0" rIns="0" bIns="0" rtlCol="0" anchor="ctr"/>
          <a:lstStyle/>
          <a:p>
            <a:pPr marL="0" indent="0" algn="r">
              <a:buNone/>
            </a:pPr>
            <a:r>
              <a:rPr lang="en-US" sz="900" dirty="0">
                <a:solidFill>
                  <a:srgbClr val="6B7385"/>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48640"/>
            <a:ext cx="2167128" cy="310896"/>
          </a:xfrm>
          <a:prstGeom prst="roundRect">
            <a:avLst>
              <a:gd name="adj" fmla="val 50000"/>
            </a:avLst>
          </a:prstGeom>
          <a:solidFill>
            <a:srgbClr val="EC1E79"/>
          </a:solidFill>
          <a:ln/>
        </p:spPr>
      </p:sp>
      <p:sp>
        <p:nvSpPr>
          <p:cNvPr id="3" name="Text 1"/>
          <p:cNvSpPr/>
          <p:nvPr/>
        </p:nvSpPr>
        <p:spPr>
          <a:xfrm>
            <a:off x="548640" y="548640"/>
            <a:ext cx="2167128" cy="310896"/>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EXPERIMENT 2 · THE REVEAL</a:t>
            </a:r>
            <a:endParaRPr lang="en-US" sz="1100" dirty="0"/>
          </a:p>
        </p:txBody>
      </p:sp>
      <p:sp>
        <p:nvSpPr>
          <p:cNvPr id="4" name="Text 2"/>
          <p:cNvSpPr/>
          <p:nvPr/>
        </p:nvSpPr>
        <p:spPr>
          <a:xfrm>
            <a:off x="548640" y="932688"/>
            <a:ext cx="11091672" cy="731520"/>
          </a:xfrm>
          <a:prstGeom prst="rect">
            <a:avLst/>
          </a:prstGeom>
          <a:noFill/>
          <a:ln/>
        </p:spPr>
        <p:txBody>
          <a:bodyPr wrap="square" lIns="0" tIns="0" rIns="0" bIns="0" rtlCol="0" anchor="t"/>
          <a:lstStyle/>
          <a:p>
            <a:pPr marL="0" indent="0" algn="l">
              <a:buNone/>
            </a:pPr>
            <a:r>
              <a:rPr lang="en-US" sz="3300" b="1" dirty="0">
                <a:solidFill>
                  <a:srgbClr val="141B3C"/>
                </a:solidFill>
                <a:latin typeface="Calibri" pitchFamily="34" charset="0"/>
                <a:ea typeface="Calibri" pitchFamily="34" charset="-122"/>
                <a:cs typeface="Calibri" pitchFamily="34" charset="-120"/>
              </a:rPr>
              <a:t>The great bake-off</a:t>
            </a:r>
            <a:endParaRPr lang="en-US" sz="3300" dirty="0"/>
          </a:p>
        </p:txBody>
      </p:sp>
      <p:pic>
        <p:nvPicPr>
          <p:cNvPr id="5" name="Image 0" descr="/home/claude/fig/exp_bakeoff_acc.png"/>
          <p:cNvPicPr>
            <a:picLocks noChangeAspect="1"/>
          </p:cNvPicPr>
          <p:nvPr/>
        </p:nvPicPr>
        <p:blipFill>
          <a:blip r:embed="rId3"/>
          <a:srcRect/>
          <a:stretch/>
        </p:blipFill>
        <p:spPr>
          <a:xfrm>
            <a:off x="548640" y="1600200"/>
            <a:ext cx="5806440" cy="4343400"/>
          </a:xfrm>
          <a:prstGeom prst="rect">
            <a:avLst/>
          </a:prstGeom>
        </p:spPr>
      </p:pic>
      <p:pic>
        <p:nvPicPr>
          <p:cNvPr id="6" name="Image 1" descr="/home/claude/fig/exp_bakeoff_loss.png"/>
          <p:cNvPicPr>
            <a:picLocks noChangeAspect="1"/>
          </p:cNvPicPr>
          <p:nvPr/>
        </p:nvPicPr>
        <p:blipFill>
          <a:blip r:embed="rId4"/>
          <a:srcRect/>
          <a:stretch/>
        </p:blipFill>
        <p:spPr>
          <a:xfrm>
            <a:off x="6172200" y="1600200"/>
            <a:ext cx="5486400" cy="4343400"/>
          </a:xfrm>
          <a:prstGeom prst="rect">
            <a:avLst/>
          </a:prstGeom>
        </p:spPr>
      </p:pic>
      <p:sp>
        <p:nvSpPr>
          <p:cNvPr id="7" name="Shape 3"/>
          <p:cNvSpPr/>
          <p:nvPr/>
        </p:nvSpPr>
        <p:spPr>
          <a:xfrm>
            <a:off x="548640" y="5943600"/>
            <a:ext cx="11091672" cy="502920"/>
          </a:xfrm>
          <a:prstGeom prst="roundRect">
            <a:avLst>
              <a:gd name="adj" fmla="val 16364"/>
            </a:avLst>
          </a:prstGeom>
          <a:solidFill>
            <a:srgbClr val="F4F6FB"/>
          </a:solidFill>
          <a:ln/>
        </p:spPr>
      </p:sp>
      <p:sp>
        <p:nvSpPr>
          <p:cNvPr id="8" name="Text 4"/>
          <p:cNvSpPr/>
          <p:nvPr/>
        </p:nvSpPr>
        <p:spPr>
          <a:xfrm>
            <a:off x="731520" y="5943600"/>
            <a:ext cx="10698480" cy="502920"/>
          </a:xfrm>
          <a:prstGeom prst="rect">
            <a:avLst/>
          </a:prstGeom>
          <a:noFill/>
          <a:ln/>
        </p:spPr>
        <p:txBody>
          <a:bodyPr wrap="square" lIns="0" tIns="0" rIns="0" bIns="0" rtlCol="0" anchor="ctr"/>
          <a:lstStyle/>
          <a:p>
            <a:pPr marL="0" indent="0">
              <a:buNone/>
            </a:pPr>
            <a:r>
              <a:rPr lang="en-US" sz="1350" dirty="0">
                <a:solidFill>
                  <a:srgbClr val="1C2333"/>
                </a:solidFill>
                <a:latin typeface="Calibri" pitchFamily="34" charset="0"/>
                <a:ea typeface="Calibri" pitchFamily="34" charset="-122"/>
                <a:cs typeface="Calibri" pitchFamily="34" charset="-120"/>
              </a:rPr>
              <a:t>Left: test accuracy.  Right: training loss (log).   </a:t>
            </a:r>
            <a:r>
              <a:rPr lang="en-US" sz="1350" b="1" dirty="0">
                <a:solidFill>
                  <a:srgbClr val="141B3C"/>
                </a:solidFill>
                <a:latin typeface="Calibri" pitchFamily="34" charset="0"/>
                <a:ea typeface="Calibri" pitchFamily="34" charset="-122"/>
                <a:cs typeface="Calibri" pitchFamily="34" charset="-120"/>
              </a:rPr>
              <a:t>Linear is stuck at 64%. Sigmoid thrashes and stalls near 74%. Everyone non-saturating rockets to ~99%.</a:t>
            </a:r>
            <a:endParaRPr lang="en-US" sz="1350" dirty="0"/>
          </a:p>
        </p:txBody>
      </p:sp>
      <p:sp>
        <p:nvSpPr>
          <p:cNvPr id="9" name="Text 5"/>
          <p:cNvSpPr/>
          <p:nvPr/>
        </p:nvSpPr>
        <p:spPr>
          <a:xfrm>
            <a:off x="548640" y="6473952"/>
            <a:ext cx="4572000" cy="274320"/>
          </a:xfrm>
          <a:prstGeom prst="rect">
            <a:avLst/>
          </a:prstGeom>
          <a:noFill/>
          <a:ln/>
        </p:spPr>
        <p:txBody>
          <a:bodyPr wrap="square" lIns="0" tIns="0" rIns="0" bIns="0" rtlCol="0" anchor="ctr"/>
          <a:lstStyle/>
          <a:p>
            <a:pPr marL="0" indent="0" algn="l">
              <a:buNone/>
            </a:pPr>
            <a:r>
              <a:rPr lang="en-US" sz="900" dirty="0">
                <a:solidFill>
                  <a:srgbClr val="6B7385"/>
                </a:solidFill>
                <a:latin typeface="Calibri" pitchFamily="34" charset="0"/>
                <a:ea typeface="Calibri" pitchFamily="34" charset="-122"/>
                <a:cs typeface="Calibri" pitchFamily="34" charset="-120"/>
              </a:rPr>
              <a:t>Activation Functions</a:t>
            </a:r>
            <a:endParaRPr lang="en-US" sz="900" dirty="0"/>
          </a:p>
        </p:txBody>
      </p:sp>
      <p:sp>
        <p:nvSpPr>
          <p:cNvPr id="10" name="Text 6"/>
          <p:cNvSpPr/>
          <p:nvPr/>
        </p:nvSpPr>
        <p:spPr>
          <a:xfrm>
            <a:off x="11183112" y="6473952"/>
            <a:ext cx="457200" cy="274320"/>
          </a:xfrm>
          <a:prstGeom prst="rect">
            <a:avLst/>
          </a:prstGeom>
          <a:noFill/>
          <a:ln/>
        </p:spPr>
        <p:txBody>
          <a:bodyPr wrap="square" lIns="0" tIns="0" rIns="0" bIns="0" rtlCol="0" anchor="ctr"/>
          <a:lstStyle/>
          <a:p>
            <a:pPr marL="0" indent="0" algn="r">
              <a:buNone/>
            </a:pPr>
            <a:r>
              <a:rPr lang="en-US" sz="900" dirty="0">
                <a:solidFill>
                  <a:srgbClr val="6B7385"/>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48640"/>
            <a:ext cx="2167128" cy="310896"/>
          </a:xfrm>
          <a:prstGeom prst="roundRect">
            <a:avLst>
              <a:gd name="adj" fmla="val 50000"/>
            </a:avLst>
          </a:prstGeom>
          <a:solidFill>
            <a:srgbClr val="EC1E79"/>
          </a:solidFill>
          <a:ln/>
        </p:spPr>
      </p:sp>
      <p:sp>
        <p:nvSpPr>
          <p:cNvPr id="3" name="Text 1"/>
          <p:cNvSpPr/>
          <p:nvPr/>
        </p:nvSpPr>
        <p:spPr>
          <a:xfrm>
            <a:off x="548640" y="548640"/>
            <a:ext cx="2167128" cy="310896"/>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EXPERIMENT 2 · SCOREBOARD</a:t>
            </a:r>
            <a:endParaRPr lang="en-US" sz="1100" dirty="0"/>
          </a:p>
        </p:txBody>
      </p:sp>
      <p:sp>
        <p:nvSpPr>
          <p:cNvPr id="4" name="Text 2"/>
          <p:cNvSpPr/>
          <p:nvPr/>
        </p:nvSpPr>
        <p:spPr>
          <a:xfrm>
            <a:off x="548640" y="932688"/>
            <a:ext cx="11091672" cy="731520"/>
          </a:xfrm>
          <a:prstGeom prst="rect">
            <a:avLst/>
          </a:prstGeom>
          <a:noFill/>
          <a:ln/>
        </p:spPr>
        <p:txBody>
          <a:bodyPr wrap="square" lIns="0" tIns="0" rIns="0" bIns="0" rtlCol="0" anchor="t"/>
          <a:lstStyle/>
          <a:p>
            <a:pPr marL="0" indent="0" algn="l">
              <a:buNone/>
            </a:pPr>
            <a:r>
              <a:rPr lang="en-US" sz="3300" b="1" dirty="0">
                <a:solidFill>
                  <a:srgbClr val="141B3C"/>
                </a:solidFill>
                <a:latin typeface="Calibri" pitchFamily="34" charset="0"/>
                <a:ea typeface="Calibri" pitchFamily="34" charset="-122"/>
                <a:cs typeface="Calibri" pitchFamily="34" charset="-120"/>
              </a:rPr>
              <a:t>So who actually won?</a:t>
            </a:r>
            <a:endParaRPr lang="en-US" sz="3300" dirty="0"/>
          </a:p>
        </p:txBody>
      </p:sp>
      <p:pic>
        <p:nvPicPr>
          <p:cNvPr id="5" name="Image 0" descr="/home/claude/fig/exp_final_bar.png"/>
          <p:cNvPicPr>
            <a:picLocks noChangeAspect="1"/>
          </p:cNvPicPr>
          <p:nvPr/>
        </p:nvPicPr>
        <p:blipFill>
          <a:blip r:embed="rId3"/>
          <a:srcRect/>
          <a:stretch/>
        </p:blipFill>
        <p:spPr>
          <a:xfrm>
            <a:off x="548640" y="1645920"/>
            <a:ext cx="6035040" cy="4114800"/>
          </a:xfrm>
          <a:prstGeom prst="rect">
            <a:avLst/>
          </a:prstGeom>
        </p:spPr>
      </p:pic>
      <p:sp>
        <p:nvSpPr>
          <p:cNvPr id="6" name="Text 3"/>
          <p:cNvSpPr/>
          <p:nvPr/>
        </p:nvSpPr>
        <p:spPr>
          <a:xfrm>
            <a:off x="6720840" y="1828800"/>
            <a:ext cx="4937760" cy="457200"/>
          </a:xfrm>
          <a:prstGeom prst="rect">
            <a:avLst/>
          </a:prstGeom>
          <a:noFill/>
          <a:ln/>
        </p:spPr>
        <p:txBody>
          <a:bodyPr wrap="square" lIns="0" tIns="0" rIns="0" bIns="0" rtlCol="0" anchor="ctr"/>
          <a:lstStyle/>
          <a:p>
            <a:pPr marL="0" indent="0">
              <a:buNone/>
            </a:pPr>
            <a:r>
              <a:rPr lang="en-US" sz="2000" b="1" dirty="0">
                <a:solidFill>
                  <a:srgbClr val="141B3C"/>
                </a:solidFill>
                <a:latin typeface="Calibri" pitchFamily="34" charset="0"/>
                <a:ea typeface="Calibri" pitchFamily="34" charset="-122"/>
                <a:cs typeface="Calibri" pitchFamily="34" charset="-120"/>
              </a:rPr>
              <a:t>It's a photo finish</a:t>
            </a:r>
            <a:endParaRPr lang="en-US" sz="2000" dirty="0"/>
          </a:p>
        </p:txBody>
      </p:sp>
      <p:sp>
        <p:nvSpPr>
          <p:cNvPr id="7" name="Text 4"/>
          <p:cNvSpPr/>
          <p:nvPr/>
        </p:nvSpPr>
        <p:spPr>
          <a:xfrm>
            <a:off x="6720840" y="2377440"/>
            <a:ext cx="4937760" cy="3200400"/>
          </a:xfrm>
          <a:prstGeom prst="rect">
            <a:avLst/>
          </a:prstGeom>
          <a:noFill/>
          <a:ln/>
        </p:spPr>
        <p:txBody>
          <a:bodyPr wrap="square" lIns="0" tIns="0" rIns="0" bIns="0" rtlCol="0" anchor="t"/>
          <a:lstStyle/>
          <a:p>
            <a:pPr marL="177800" indent="-177800">
              <a:lnSpc>
                <a:spcPct val="102000"/>
              </a:lnSpc>
              <a:spcAft>
                <a:spcPts val="1100"/>
              </a:spcAft>
              <a:buSzPct val="100000"/>
              <a:buChar char="•"/>
            </a:pPr>
            <a:r>
              <a:rPr lang="en-US" sz="1450" dirty="0">
                <a:solidFill>
                  <a:srgbClr val="1C2333"/>
                </a:solidFill>
                <a:latin typeface="Calibri" pitchFamily="34" charset="0"/>
                <a:ea typeface="Calibri" pitchFamily="34" charset="-122"/>
                <a:cs typeface="Calibri" pitchFamily="34" charset="-120"/>
              </a:rPr>
              <a:t>Non-linearity is decisive: linear 64% vs the rest.</a:t>
            </a:r>
            <a:endParaRPr lang="en-US" sz="1450" dirty="0"/>
          </a:p>
          <a:p>
            <a:pPr marL="177800" indent="-177800">
              <a:lnSpc>
                <a:spcPct val="102000"/>
              </a:lnSpc>
              <a:spcAft>
                <a:spcPts val="1100"/>
              </a:spcAft>
              <a:buSzPct val="100000"/>
              <a:buChar char="•"/>
            </a:pPr>
            <a:r>
              <a:rPr lang="en-US" sz="1450" dirty="0">
                <a:solidFill>
                  <a:srgbClr val="1C2333"/>
                </a:solidFill>
                <a:latin typeface="Calibri" pitchFamily="34" charset="0"/>
                <a:ea typeface="Calibri" pitchFamily="34" charset="-122"/>
                <a:cs typeface="Calibri" pitchFamily="34" charset="-120"/>
              </a:rPr>
              <a:t>Sigmoid pays for saturation — a distant 74%.</a:t>
            </a:r>
            <a:endParaRPr lang="en-US" sz="1450" dirty="0"/>
          </a:p>
          <a:p>
            <a:pPr marL="177800" indent="-177800">
              <a:lnSpc>
                <a:spcPct val="102000"/>
              </a:lnSpc>
              <a:spcAft>
                <a:spcPts val="1100"/>
              </a:spcAft>
              <a:buSzPct val="100000"/>
              <a:buChar char="•"/>
            </a:pPr>
            <a:r>
              <a:rPr lang="en-US" sz="1450" dirty="0">
                <a:solidFill>
                  <a:srgbClr val="1C2333"/>
                </a:solidFill>
                <a:latin typeface="Calibri" pitchFamily="34" charset="0"/>
                <a:ea typeface="Calibri" pitchFamily="34" charset="-122"/>
                <a:cs typeface="Calibri" pitchFamily="34" charset="-120"/>
              </a:rPr>
              <a:t>Tanh, ReLU, Leaky, ELU, Swish, GELU all land at ~99%.</a:t>
            </a:r>
            <a:endParaRPr lang="en-US" sz="1450" dirty="0"/>
          </a:p>
          <a:p>
            <a:pPr marL="177800" indent="-177800">
              <a:lnSpc>
                <a:spcPct val="102000"/>
              </a:lnSpc>
              <a:spcAft>
                <a:spcPts val="1100"/>
              </a:spcAft>
              <a:buSzPct val="100000"/>
              <a:buChar char="•"/>
            </a:pPr>
            <a:r>
              <a:rPr lang="en-US" sz="1450" dirty="0">
                <a:solidFill>
                  <a:srgbClr val="1C2333"/>
                </a:solidFill>
                <a:latin typeface="Calibri" pitchFamily="34" charset="0"/>
                <a:ea typeface="Calibri" pitchFamily="34" charset="-122"/>
                <a:cs typeface="Calibri" pitchFamily="34" charset="-120"/>
              </a:rPr>
              <a:t>On an easy problem, final accuracy does NOT separate the modern activations.</a:t>
            </a:r>
            <a:endParaRPr lang="en-US" sz="1450" dirty="0"/>
          </a:p>
        </p:txBody>
      </p:sp>
      <p:sp>
        <p:nvSpPr>
          <p:cNvPr id="8" name="Shape 5"/>
          <p:cNvSpPr/>
          <p:nvPr/>
        </p:nvSpPr>
        <p:spPr>
          <a:xfrm>
            <a:off x="6720840" y="5349240"/>
            <a:ext cx="4937760" cy="868680"/>
          </a:xfrm>
          <a:prstGeom prst="roundRect">
            <a:avLst>
              <a:gd name="adj" fmla="val 10526"/>
            </a:avLst>
          </a:prstGeom>
          <a:solidFill>
            <a:srgbClr val="FDE7F1"/>
          </a:solidFill>
          <a:ln/>
        </p:spPr>
      </p:sp>
      <p:sp>
        <p:nvSpPr>
          <p:cNvPr id="9" name="Text 6"/>
          <p:cNvSpPr/>
          <p:nvPr/>
        </p:nvSpPr>
        <p:spPr>
          <a:xfrm>
            <a:off x="6903720" y="5349240"/>
            <a:ext cx="4617720" cy="868680"/>
          </a:xfrm>
          <a:prstGeom prst="rect">
            <a:avLst/>
          </a:prstGeom>
          <a:noFill/>
          <a:ln/>
        </p:spPr>
        <p:txBody>
          <a:bodyPr wrap="square" lIns="0" tIns="0" rIns="0" bIns="0" rtlCol="0" anchor="ctr"/>
          <a:lstStyle/>
          <a:p>
            <a:pPr marL="0" indent="0">
              <a:buNone/>
            </a:pPr>
            <a:r>
              <a:rPr lang="en-US" sz="1400" b="1" dirty="0">
                <a:solidFill>
                  <a:srgbClr val="EC1E79"/>
                </a:solidFill>
                <a:latin typeface="Calibri" pitchFamily="34" charset="0"/>
                <a:ea typeface="Calibri" pitchFamily="34" charset="-122"/>
                <a:cs typeface="Calibri" pitchFamily="34" charset="-120"/>
              </a:rPr>
              <a:t>So how do we choose? </a:t>
            </a:r>
            <a:r>
              <a:rPr lang="en-US" sz="1350" dirty="0">
                <a:solidFill>
                  <a:srgbClr val="1C2333"/>
                </a:solidFill>
                <a:latin typeface="Calibri" pitchFamily="34" charset="0"/>
                <a:ea typeface="Calibri" pitchFamily="34" charset="-122"/>
                <a:cs typeface="Calibri" pitchFamily="34" charset="-120"/>
              </a:rPr>
              <a:t>If accuracy ties, the tie-breakers are stability, cost, and robustness — the next three experiments.</a:t>
            </a:r>
            <a:endParaRPr lang="en-US" sz="1400" dirty="0"/>
          </a:p>
        </p:txBody>
      </p:sp>
      <p:sp>
        <p:nvSpPr>
          <p:cNvPr id="10" name="Text 7"/>
          <p:cNvSpPr/>
          <p:nvPr/>
        </p:nvSpPr>
        <p:spPr>
          <a:xfrm>
            <a:off x="548640" y="6473952"/>
            <a:ext cx="4572000" cy="274320"/>
          </a:xfrm>
          <a:prstGeom prst="rect">
            <a:avLst/>
          </a:prstGeom>
          <a:noFill/>
          <a:ln/>
        </p:spPr>
        <p:txBody>
          <a:bodyPr wrap="square" lIns="0" tIns="0" rIns="0" bIns="0" rtlCol="0" anchor="ctr"/>
          <a:lstStyle/>
          <a:p>
            <a:pPr marL="0" indent="0" algn="l">
              <a:buNone/>
            </a:pPr>
            <a:r>
              <a:rPr lang="en-US" sz="900" dirty="0">
                <a:solidFill>
                  <a:srgbClr val="6B7385"/>
                </a:solidFill>
                <a:latin typeface="Calibri" pitchFamily="34" charset="0"/>
                <a:ea typeface="Calibri" pitchFamily="34" charset="-122"/>
                <a:cs typeface="Calibri" pitchFamily="34" charset="-120"/>
              </a:rPr>
              <a:t>Activation Functions</a:t>
            </a:r>
            <a:endParaRPr lang="en-US" sz="900" dirty="0"/>
          </a:p>
        </p:txBody>
      </p:sp>
      <p:sp>
        <p:nvSpPr>
          <p:cNvPr id="11" name="Text 8"/>
          <p:cNvSpPr/>
          <p:nvPr/>
        </p:nvSpPr>
        <p:spPr>
          <a:xfrm>
            <a:off x="11183112" y="6473952"/>
            <a:ext cx="457200" cy="274320"/>
          </a:xfrm>
          <a:prstGeom prst="rect">
            <a:avLst/>
          </a:prstGeom>
          <a:noFill/>
          <a:ln/>
        </p:spPr>
        <p:txBody>
          <a:bodyPr wrap="square" lIns="0" tIns="0" rIns="0" bIns="0" rtlCol="0" anchor="ctr"/>
          <a:lstStyle/>
          <a:p>
            <a:pPr marL="0" indent="0" algn="r">
              <a:buNone/>
            </a:pPr>
            <a:r>
              <a:rPr lang="en-US" sz="900" dirty="0">
                <a:solidFill>
                  <a:srgbClr val="6B7385"/>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48640"/>
            <a:ext cx="1144829" cy="310896"/>
          </a:xfrm>
          <a:prstGeom prst="roundRect">
            <a:avLst>
              <a:gd name="adj" fmla="val 50000"/>
            </a:avLst>
          </a:prstGeom>
          <a:solidFill>
            <a:srgbClr val="6C4CE0"/>
          </a:solidFill>
          <a:ln/>
        </p:spPr>
      </p:sp>
      <p:sp>
        <p:nvSpPr>
          <p:cNvPr id="3" name="Text 1"/>
          <p:cNvSpPr/>
          <p:nvPr/>
        </p:nvSpPr>
        <p:spPr>
          <a:xfrm>
            <a:off x="548640" y="548640"/>
            <a:ext cx="1144829" cy="310896"/>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EXPERIMENT 3</a:t>
            </a:r>
            <a:endParaRPr lang="en-US" sz="1100" dirty="0"/>
          </a:p>
        </p:txBody>
      </p:sp>
      <p:sp>
        <p:nvSpPr>
          <p:cNvPr id="4" name="Text 2"/>
          <p:cNvSpPr/>
          <p:nvPr/>
        </p:nvSpPr>
        <p:spPr>
          <a:xfrm>
            <a:off x="548640" y="932688"/>
            <a:ext cx="11091672" cy="731520"/>
          </a:xfrm>
          <a:prstGeom prst="rect">
            <a:avLst/>
          </a:prstGeom>
          <a:noFill/>
          <a:ln/>
        </p:spPr>
        <p:txBody>
          <a:bodyPr wrap="square" lIns="0" tIns="0" rIns="0" bIns="0" rtlCol="0" anchor="t"/>
          <a:lstStyle/>
          <a:p>
            <a:pPr marL="0" indent="0" algn="l">
              <a:buNone/>
            </a:pPr>
            <a:r>
              <a:rPr lang="en-US" sz="3300" b="1" dirty="0">
                <a:solidFill>
                  <a:srgbClr val="141B3C"/>
                </a:solidFill>
                <a:latin typeface="Calibri" pitchFamily="34" charset="0"/>
                <a:ea typeface="Calibri" pitchFamily="34" charset="-122"/>
                <a:cs typeface="Calibri" pitchFamily="34" charset="-120"/>
              </a:rPr>
              <a:t>What each network actually learned</a:t>
            </a:r>
            <a:endParaRPr lang="en-US" sz="3300" dirty="0"/>
          </a:p>
        </p:txBody>
      </p:sp>
      <p:pic>
        <p:nvPicPr>
          <p:cNvPr id="5" name="Image 0" descr="/home/claude/fig/exp_boundaries.png"/>
          <p:cNvPicPr>
            <a:picLocks noChangeAspect="1"/>
          </p:cNvPicPr>
          <p:nvPr/>
        </p:nvPicPr>
        <p:blipFill>
          <a:blip r:embed="rId3"/>
          <a:srcRect/>
          <a:stretch/>
        </p:blipFill>
        <p:spPr>
          <a:xfrm>
            <a:off x="548640" y="1554480"/>
            <a:ext cx="7223760" cy="4937760"/>
          </a:xfrm>
          <a:prstGeom prst="rect">
            <a:avLst/>
          </a:prstGeom>
        </p:spPr>
      </p:pic>
      <p:sp>
        <p:nvSpPr>
          <p:cNvPr id="6" name="Text 3"/>
          <p:cNvSpPr/>
          <p:nvPr/>
        </p:nvSpPr>
        <p:spPr>
          <a:xfrm>
            <a:off x="7955280" y="1783080"/>
            <a:ext cx="3749040" cy="457200"/>
          </a:xfrm>
          <a:prstGeom prst="rect">
            <a:avLst/>
          </a:prstGeom>
          <a:noFill/>
          <a:ln/>
        </p:spPr>
        <p:txBody>
          <a:bodyPr wrap="square" lIns="0" tIns="0" rIns="0" bIns="0" rtlCol="0" anchor="ctr"/>
          <a:lstStyle/>
          <a:p>
            <a:pPr marL="0" indent="0">
              <a:buNone/>
            </a:pPr>
            <a:r>
              <a:rPr lang="en-US" sz="1900" b="1" dirty="0">
                <a:solidFill>
                  <a:srgbClr val="141B3C"/>
                </a:solidFill>
                <a:latin typeface="Calibri" pitchFamily="34" charset="0"/>
                <a:ea typeface="Calibri" pitchFamily="34" charset="-122"/>
                <a:cs typeface="Calibri" pitchFamily="34" charset="-120"/>
              </a:rPr>
              <a:t>Read the shapes</a:t>
            </a:r>
            <a:endParaRPr lang="en-US" sz="1900" dirty="0"/>
          </a:p>
        </p:txBody>
      </p:sp>
      <p:sp>
        <p:nvSpPr>
          <p:cNvPr id="7" name="Text 4"/>
          <p:cNvSpPr/>
          <p:nvPr/>
        </p:nvSpPr>
        <p:spPr>
          <a:xfrm>
            <a:off x="7955280" y="2331720"/>
            <a:ext cx="3749040" cy="3200400"/>
          </a:xfrm>
          <a:prstGeom prst="rect">
            <a:avLst/>
          </a:prstGeom>
          <a:noFill/>
          <a:ln/>
        </p:spPr>
        <p:txBody>
          <a:bodyPr wrap="square" lIns="0" tIns="0" rIns="0" bIns="0" rtlCol="0" anchor="t"/>
          <a:lstStyle/>
          <a:p>
            <a:pPr marL="177800" indent="-177800">
              <a:lnSpc>
                <a:spcPct val="102000"/>
              </a:lnSpc>
              <a:spcAft>
                <a:spcPts val="1100"/>
              </a:spcAft>
              <a:buSzPct val="100000"/>
              <a:buChar char="•"/>
            </a:pPr>
            <a:r>
              <a:rPr lang="en-US" sz="1350" dirty="0">
                <a:solidFill>
                  <a:srgbClr val="1C2333"/>
                </a:solidFill>
                <a:latin typeface="Calibri" pitchFamily="34" charset="0"/>
                <a:ea typeface="Calibri" pitchFamily="34" charset="-122"/>
                <a:cs typeface="Calibri" pitchFamily="34" charset="-120"/>
              </a:rPr>
              <a:t>Linear can only cut with straight lines — the spiral defeats it.</a:t>
            </a:r>
            <a:endParaRPr lang="en-US" sz="1350" dirty="0"/>
          </a:p>
          <a:p>
            <a:pPr marL="177800" indent="-177800">
              <a:lnSpc>
                <a:spcPct val="102000"/>
              </a:lnSpc>
              <a:spcAft>
                <a:spcPts val="1100"/>
              </a:spcAft>
              <a:buSzPct val="100000"/>
              <a:buChar char="•"/>
            </a:pPr>
            <a:r>
              <a:rPr lang="en-US" sz="1350" dirty="0">
                <a:solidFill>
                  <a:srgbClr val="1C2333"/>
                </a:solidFill>
                <a:latin typeface="Calibri" pitchFamily="34" charset="0"/>
                <a:ea typeface="Calibri" pitchFamily="34" charset="-122"/>
                <a:cs typeface="Calibri" pitchFamily="34" charset="-120"/>
              </a:rPr>
              <a:t>Sigmoid bends a little but still can't wrap the arms.</a:t>
            </a:r>
            <a:endParaRPr lang="en-US" sz="1350" dirty="0"/>
          </a:p>
          <a:p>
            <a:pPr marL="177800" indent="-177800">
              <a:lnSpc>
                <a:spcPct val="102000"/>
              </a:lnSpc>
              <a:spcAft>
                <a:spcPts val="1100"/>
              </a:spcAft>
              <a:buSzPct val="100000"/>
              <a:buChar char="•"/>
            </a:pPr>
            <a:r>
              <a:rPr lang="en-US" sz="1350" dirty="0">
                <a:solidFill>
                  <a:srgbClr val="1C2333"/>
                </a:solidFill>
                <a:latin typeface="Calibri" pitchFamily="34" charset="0"/>
                <a:ea typeface="Calibri" pitchFamily="34" charset="-122"/>
                <a:cs typeface="Calibri" pitchFamily="34" charset="-120"/>
              </a:rPr>
              <a:t>ReLU carves the spiral with sharp, piecewise-linear facets.</a:t>
            </a:r>
            <a:endParaRPr lang="en-US" sz="1350" dirty="0"/>
          </a:p>
          <a:p>
            <a:pPr marL="177800" indent="-177800">
              <a:lnSpc>
                <a:spcPct val="102000"/>
              </a:lnSpc>
              <a:spcAft>
                <a:spcPts val="1100"/>
              </a:spcAft>
              <a:buSzPct val="100000"/>
              <a:buChar char="•"/>
            </a:pPr>
            <a:r>
              <a:rPr lang="en-US" sz="1350" dirty="0">
                <a:solidFill>
                  <a:srgbClr val="1C2333"/>
                </a:solidFill>
                <a:latin typeface="Calibri" pitchFamily="34" charset="0"/>
                <a:ea typeface="Calibri" pitchFamily="34" charset="-122"/>
                <a:cs typeface="Calibri" pitchFamily="34" charset="-120"/>
              </a:rPr>
              <a:t>Swish &amp; GELU trace it with smooth curves — same accuracy, different texture.</a:t>
            </a:r>
            <a:endParaRPr lang="en-US" sz="1350" dirty="0"/>
          </a:p>
        </p:txBody>
      </p:sp>
      <p:sp>
        <p:nvSpPr>
          <p:cNvPr id="8" name="Text 5"/>
          <p:cNvSpPr/>
          <p:nvPr/>
        </p:nvSpPr>
        <p:spPr>
          <a:xfrm>
            <a:off x="548640" y="6473952"/>
            <a:ext cx="4572000" cy="274320"/>
          </a:xfrm>
          <a:prstGeom prst="rect">
            <a:avLst/>
          </a:prstGeom>
          <a:noFill/>
          <a:ln/>
        </p:spPr>
        <p:txBody>
          <a:bodyPr wrap="square" lIns="0" tIns="0" rIns="0" bIns="0" rtlCol="0" anchor="ctr"/>
          <a:lstStyle/>
          <a:p>
            <a:pPr marL="0" indent="0" algn="l">
              <a:buNone/>
            </a:pPr>
            <a:r>
              <a:rPr lang="en-US" sz="900" dirty="0">
                <a:solidFill>
                  <a:srgbClr val="6B7385"/>
                </a:solidFill>
                <a:latin typeface="Calibri" pitchFamily="34" charset="0"/>
                <a:ea typeface="Calibri" pitchFamily="34" charset="-122"/>
                <a:cs typeface="Calibri" pitchFamily="34" charset="-120"/>
              </a:rPr>
              <a:t>Activation Functions</a:t>
            </a:r>
            <a:endParaRPr lang="en-US" sz="900" dirty="0"/>
          </a:p>
        </p:txBody>
      </p:sp>
      <p:sp>
        <p:nvSpPr>
          <p:cNvPr id="9" name="Text 6"/>
          <p:cNvSpPr/>
          <p:nvPr/>
        </p:nvSpPr>
        <p:spPr>
          <a:xfrm>
            <a:off x="11183112" y="6473952"/>
            <a:ext cx="457200" cy="274320"/>
          </a:xfrm>
          <a:prstGeom prst="rect">
            <a:avLst/>
          </a:prstGeom>
          <a:noFill/>
          <a:ln/>
        </p:spPr>
        <p:txBody>
          <a:bodyPr wrap="square" lIns="0" tIns="0" rIns="0" bIns="0" rtlCol="0" anchor="ctr"/>
          <a:lstStyle/>
          <a:p>
            <a:pPr marL="0" indent="0" algn="r">
              <a:buNone/>
            </a:pPr>
            <a:r>
              <a:rPr lang="en-US" sz="900" dirty="0">
                <a:solidFill>
                  <a:srgbClr val="6B7385"/>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48640"/>
            <a:ext cx="1144829" cy="310896"/>
          </a:xfrm>
          <a:prstGeom prst="roundRect">
            <a:avLst>
              <a:gd name="adj" fmla="val 50000"/>
            </a:avLst>
          </a:prstGeom>
          <a:solidFill>
            <a:srgbClr val="EC1E79"/>
          </a:solidFill>
          <a:ln/>
        </p:spPr>
      </p:sp>
      <p:sp>
        <p:nvSpPr>
          <p:cNvPr id="3" name="Text 1"/>
          <p:cNvSpPr/>
          <p:nvPr/>
        </p:nvSpPr>
        <p:spPr>
          <a:xfrm>
            <a:off x="548640" y="548640"/>
            <a:ext cx="1144829" cy="310896"/>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EXPERIMENT 4</a:t>
            </a:r>
            <a:endParaRPr lang="en-US" sz="1100" dirty="0"/>
          </a:p>
        </p:txBody>
      </p:sp>
      <p:sp>
        <p:nvSpPr>
          <p:cNvPr id="4" name="Text 2"/>
          <p:cNvSpPr/>
          <p:nvPr/>
        </p:nvSpPr>
        <p:spPr>
          <a:xfrm>
            <a:off x="548640" y="932688"/>
            <a:ext cx="11091672" cy="731520"/>
          </a:xfrm>
          <a:prstGeom prst="rect">
            <a:avLst/>
          </a:prstGeom>
          <a:noFill/>
          <a:ln/>
        </p:spPr>
        <p:txBody>
          <a:bodyPr wrap="square" lIns="0" tIns="0" rIns="0" bIns="0" rtlCol="0" anchor="t"/>
          <a:lstStyle/>
          <a:p>
            <a:pPr marL="0" indent="0" algn="l">
              <a:buNone/>
            </a:pPr>
            <a:r>
              <a:rPr lang="en-US" sz="3300" b="1" dirty="0">
                <a:solidFill>
                  <a:srgbClr val="141B3C"/>
                </a:solidFill>
                <a:latin typeface="Calibri" pitchFamily="34" charset="0"/>
                <a:ea typeface="Calibri" pitchFamily="34" charset="-122"/>
                <a:cs typeface="Calibri" pitchFamily="34" charset="-120"/>
              </a:rPr>
              <a:t>Dying ReLU, caught in the act</a:t>
            </a:r>
            <a:endParaRPr lang="en-US" sz="3300" dirty="0"/>
          </a:p>
        </p:txBody>
      </p:sp>
      <p:sp>
        <p:nvSpPr>
          <p:cNvPr id="5" name="Text 3"/>
          <p:cNvSpPr/>
          <p:nvPr/>
        </p:nvSpPr>
        <p:spPr>
          <a:xfrm>
            <a:off x="548640" y="1664208"/>
            <a:ext cx="4937760" cy="822960"/>
          </a:xfrm>
          <a:prstGeom prst="rect">
            <a:avLst/>
          </a:prstGeom>
          <a:noFill/>
          <a:ln/>
        </p:spPr>
        <p:txBody>
          <a:bodyPr wrap="square" lIns="0" tIns="0" rIns="0" bIns="0" rtlCol="0" anchor="t"/>
          <a:lstStyle/>
          <a:p>
            <a:pPr marL="0" indent="0">
              <a:buNone/>
            </a:pPr>
            <a:r>
              <a:rPr lang="en-US" sz="1450" dirty="0">
                <a:solidFill>
                  <a:srgbClr val="1C2333"/>
                </a:solidFill>
                <a:latin typeface="Calibri" pitchFamily="34" charset="0"/>
                <a:ea typeface="Calibri" pitchFamily="34" charset="-122"/>
                <a:cs typeface="Calibri" pitchFamily="34" charset="-120"/>
              </a:rPr>
              <a:t>We crank the learning rate and count neurons that output 0 for every single training point.</a:t>
            </a:r>
            <a:endParaRPr lang="en-US" sz="1450" dirty="0"/>
          </a:p>
        </p:txBody>
      </p:sp>
      <p:sp>
        <p:nvSpPr>
          <p:cNvPr id="6" name="Text 4"/>
          <p:cNvSpPr/>
          <p:nvPr/>
        </p:nvSpPr>
        <p:spPr>
          <a:xfrm>
            <a:off x="548640" y="2468880"/>
            <a:ext cx="4937760" cy="3200400"/>
          </a:xfrm>
          <a:prstGeom prst="rect">
            <a:avLst/>
          </a:prstGeom>
          <a:noFill/>
          <a:ln/>
        </p:spPr>
        <p:txBody>
          <a:bodyPr wrap="square" lIns="0" tIns="0" rIns="0" bIns="0" rtlCol="0" anchor="t"/>
          <a:lstStyle/>
          <a:p>
            <a:pPr marL="177800" indent="-177800">
              <a:lnSpc>
                <a:spcPct val="102000"/>
              </a:lnSpc>
              <a:spcAft>
                <a:spcPts val="1000"/>
              </a:spcAft>
              <a:buSzPct val="100000"/>
              <a:buChar char="•"/>
            </a:pPr>
            <a:r>
              <a:rPr lang="en-US" sz="1400" dirty="0">
                <a:solidFill>
                  <a:srgbClr val="1C2333"/>
                </a:solidFill>
                <a:latin typeface="Calibri" pitchFamily="34" charset="0"/>
                <a:ea typeface="Calibri" pitchFamily="34" charset="-122"/>
                <a:cs typeface="Calibri" pitchFamily="34" charset="-120"/>
              </a:rPr>
              <a:t>At sane rates, ~7% of ReLU units are idle — harmless.</a:t>
            </a:r>
            <a:endParaRPr lang="en-US" sz="1400" dirty="0"/>
          </a:p>
          <a:p>
            <a:pPr marL="177800" indent="-177800">
              <a:lnSpc>
                <a:spcPct val="102000"/>
              </a:lnSpc>
              <a:spcAft>
                <a:spcPts val="1000"/>
              </a:spcAft>
              <a:buSzPct val="100000"/>
              <a:buChar char="•"/>
            </a:pPr>
            <a:r>
              <a:rPr lang="en-US" sz="1400" dirty="0">
                <a:solidFill>
                  <a:srgbClr val="1C2333"/>
                </a:solidFill>
                <a:latin typeface="Calibri" pitchFamily="34" charset="0"/>
                <a:ea typeface="Calibri" pitchFamily="34" charset="-122"/>
                <a:cs typeface="Calibri" pitchFamily="34" charset="-120"/>
              </a:rPr>
              <a:t>Past LR ≈ 1.6 the death rate explodes: 59%, then 90%.</a:t>
            </a:r>
            <a:endParaRPr lang="en-US" sz="1400" dirty="0"/>
          </a:p>
          <a:p>
            <a:pPr marL="177800" indent="-177800">
              <a:lnSpc>
                <a:spcPct val="102000"/>
              </a:lnSpc>
              <a:spcAft>
                <a:spcPts val="1000"/>
              </a:spcAft>
              <a:buSzPct val="100000"/>
              <a:buChar char="•"/>
            </a:pPr>
            <a:r>
              <a:rPr lang="en-US" sz="1400" dirty="0">
                <a:solidFill>
                  <a:srgbClr val="1C2333"/>
                </a:solidFill>
                <a:latin typeface="Calibri" pitchFamily="34" charset="0"/>
                <a:ea typeface="Calibri" pitchFamily="34" charset="-122"/>
                <a:cs typeface="Calibri" pitchFamily="34" charset="-120"/>
              </a:rPr>
              <a:t>As the neurons die, ReLU's accuracy collapses to chance (33%).</a:t>
            </a:r>
            <a:endParaRPr lang="en-US" sz="1400" dirty="0"/>
          </a:p>
          <a:p>
            <a:pPr marL="177800" indent="-177800">
              <a:lnSpc>
                <a:spcPct val="102000"/>
              </a:lnSpc>
              <a:spcAft>
                <a:spcPts val="1000"/>
              </a:spcAft>
              <a:buSzPct val="100000"/>
              <a:buChar char="•"/>
            </a:pPr>
            <a:r>
              <a:rPr lang="en-US" sz="1400" dirty="0">
                <a:solidFill>
                  <a:srgbClr val="1C2333"/>
                </a:solidFill>
                <a:latin typeface="Calibri" pitchFamily="34" charset="0"/>
                <a:ea typeface="Calibri" pitchFamily="34" charset="-122"/>
                <a:cs typeface="Calibri" pitchFamily="34" charset="-120"/>
              </a:rPr>
              <a:t>Leaky ReLU keeps a trickle of negative gradient — its neurons essentially never die.</a:t>
            </a:r>
            <a:endParaRPr lang="en-US" sz="1400" dirty="0"/>
          </a:p>
        </p:txBody>
      </p:sp>
      <p:sp>
        <p:nvSpPr>
          <p:cNvPr id="7" name="Shape 5"/>
          <p:cNvSpPr/>
          <p:nvPr/>
        </p:nvSpPr>
        <p:spPr>
          <a:xfrm>
            <a:off x="548640" y="5532120"/>
            <a:ext cx="4937760" cy="658368"/>
          </a:xfrm>
          <a:prstGeom prst="roundRect">
            <a:avLst>
              <a:gd name="adj" fmla="val 13889"/>
            </a:avLst>
          </a:prstGeom>
          <a:solidFill>
            <a:srgbClr val="141B3C"/>
          </a:solidFill>
          <a:ln/>
        </p:spPr>
      </p:sp>
      <p:sp>
        <p:nvSpPr>
          <p:cNvPr id="8" name="Text 6"/>
          <p:cNvSpPr/>
          <p:nvPr/>
        </p:nvSpPr>
        <p:spPr>
          <a:xfrm>
            <a:off x="731520" y="5532120"/>
            <a:ext cx="4617720" cy="658368"/>
          </a:xfrm>
          <a:prstGeom prst="rect">
            <a:avLst/>
          </a:prstGeom>
          <a:noFill/>
          <a:ln/>
        </p:spPr>
        <p:txBody>
          <a:bodyPr wrap="square" lIns="0" tIns="0" rIns="0" bIns="0" rtlCol="0" anchor="ctr"/>
          <a:lstStyle/>
          <a:p>
            <a:pPr marL="0" indent="0">
              <a:buNone/>
            </a:pPr>
            <a:r>
              <a:rPr lang="en-US" sz="1400" b="1" dirty="0">
                <a:solidFill>
                  <a:srgbClr val="EC1E79"/>
                </a:solidFill>
                <a:latin typeface="Calibri" pitchFamily="34" charset="0"/>
                <a:ea typeface="Calibri" pitchFamily="34" charset="-122"/>
                <a:cs typeface="Calibri" pitchFamily="34" charset="-120"/>
              </a:rPr>
              <a:t>Lesson.  </a:t>
            </a:r>
            <a:r>
              <a:rPr lang="en-US" sz="1300" dirty="0">
                <a:solidFill>
                  <a:srgbClr val="FFFFFF"/>
                </a:solidFill>
                <a:latin typeface="Calibri" pitchFamily="34" charset="0"/>
                <a:ea typeface="Calibri" pitchFamily="34" charset="-122"/>
                <a:cs typeface="Calibri" pitchFamily="34" charset="-120"/>
              </a:rPr>
              <a:t>The dying ReLU is real, but it's a symptom of too-high LR. Leaky/ELU are the insurance.</a:t>
            </a:r>
            <a:endParaRPr lang="en-US" sz="1400" dirty="0"/>
          </a:p>
        </p:txBody>
      </p:sp>
      <p:pic>
        <p:nvPicPr>
          <p:cNvPr id="9" name="Image 0" descr="/home/claude/fig/exp_dead.png"/>
          <p:cNvPicPr>
            <a:picLocks noChangeAspect="1"/>
          </p:cNvPicPr>
          <p:nvPr/>
        </p:nvPicPr>
        <p:blipFill>
          <a:blip r:embed="rId3"/>
          <a:srcRect/>
          <a:stretch/>
        </p:blipFill>
        <p:spPr>
          <a:xfrm>
            <a:off x="5943600" y="1691640"/>
            <a:ext cx="5715000" cy="4206240"/>
          </a:xfrm>
          <a:prstGeom prst="rect">
            <a:avLst/>
          </a:prstGeom>
        </p:spPr>
      </p:pic>
      <p:sp>
        <p:nvSpPr>
          <p:cNvPr id="10" name="Text 7"/>
          <p:cNvSpPr/>
          <p:nvPr/>
        </p:nvSpPr>
        <p:spPr>
          <a:xfrm>
            <a:off x="548640" y="6473952"/>
            <a:ext cx="4572000" cy="274320"/>
          </a:xfrm>
          <a:prstGeom prst="rect">
            <a:avLst/>
          </a:prstGeom>
          <a:noFill/>
          <a:ln/>
        </p:spPr>
        <p:txBody>
          <a:bodyPr wrap="square" lIns="0" tIns="0" rIns="0" bIns="0" rtlCol="0" anchor="ctr"/>
          <a:lstStyle/>
          <a:p>
            <a:pPr marL="0" indent="0" algn="l">
              <a:buNone/>
            </a:pPr>
            <a:r>
              <a:rPr lang="en-US" sz="900" dirty="0">
                <a:solidFill>
                  <a:srgbClr val="6B7385"/>
                </a:solidFill>
                <a:latin typeface="Calibri" pitchFamily="34" charset="0"/>
                <a:ea typeface="Calibri" pitchFamily="34" charset="-122"/>
                <a:cs typeface="Calibri" pitchFamily="34" charset="-120"/>
              </a:rPr>
              <a:t>Activation Functions</a:t>
            </a:r>
            <a:endParaRPr lang="en-US" sz="900" dirty="0"/>
          </a:p>
        </p:txBody>
      </p:sp>
      <p:sp>
        <p:nvSpPr>
          <p:cNvPr id="11" name="Text 8"/>
          <p:cNvSpPr/>
          <p:nvPr/>
        </p:nvSpPr>
        <p:spPr>
          <a:xfrm>
            <a:off x="11183112" y="6473952"/>
            <a:ext cx="457200" cy="274320"/>
          </a:xfrm>
          <a:prstGeom prst="rect">
            <a:avLst/>
          </a:prstGeom>
          <a:noFill/>
          <a:ln/>
        </p:spPr>
        <p:txBody>
          <a:bodyPr wrap="square" lIns="0" tIns="0" rIns="0" bIns="0" rtlCol="0" anchor="ctr"/>
          <a:lstStyle/>
          <a:p>
            <a:pPr marL="0" indent="0" algn="r">
              <a:buNone/>
            </a:pPr>
            <a:r>
              <a:rPr lang="en-US" sz="900" dirty="0">
                <a:solidFill>
                  <a:srgbClr val="6B7385"/>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48640"/>
            <a:ext cx="1144829" cy="310896"/>
          </a:xfrm>
          <a:prstGeom prst="roundRect">
            <a:avLst>
              <a:gd name="adj" fmla="val 50000"/>
            </a:avLst>
          </a:prstGeom>
          <a:solidFill>
            <a:srgbClr val="12B886"/>
          </a:solidFill>
          <a:ln/>
        </p:spPr>
      </p:sp>
      <p:sp>
        <p:nvSpPr>
          <p:cNvPr id="3" name="Text 1"/>
          <p:cNvSpPr/>
          <p:nvPr/>
        </p:nvSpPr>
        <p:spPr>
          <a:xfrm>
            <a:off x="548640" y="548640"/>
            <a:ext cx="1144829" cy="310896"/>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EXPERIMENT 5</a:t>
            </a:r>
            <a:endParaRPr lang="en-US" sz="1100" dirty="0"/>
          </a:p>
        </p:txBody>
      </p:sp>
      <p:sp>
        <p:nvSpPr>
          <p:cNvPr id="4" name="Text 2"/>
          <p:cNvSpPr/>
          <p:nvPr/>
        </p:nvSpPr>
        <p:spPr>
          <a:xfrm>
            <a:off x="548640" y="932688"/>
            <a:ext cx="11091672" cy="731520"/>
          </a:xfrm>
          <a:prstGeom prst="rect">
            <a:avLst/>
          </a:prstGeom>
          <a:noFill/>
          <a:ln/>
        </p:spPr>
        <p:txBody>
          <a:bodyPr wrap="square" lIns="0" tIns="0" rIns="0" bIns="0" rtlCol="0" anchor="t"/>
          <a:lstStyle/>
          <a:p>
            <a:pPr marL="0" indent="0" algn="l">
              <a:buNone/>
            </a:pPr>
            <a:r>
              <a:rPr lang="en-US" sz="3300" b="1" dirty="0">
                <a:solidFill>
                  <a:srgbClr val="141B3C"/>
                </a:solidFill>
                <a:latin typeface="Calibri" pitchFamily="34" charset="0"/>
                <a:ea typeface="Calibri" pitchFamily="34" charset="-122"/>
                <a:cs typeface="Calibri" pitchFamily="34" charset="-120"/>
              </a:rPr>
              <a:t>“Best” has more than one axis</a:t>
            </a:r>
            <a:endParaRPr lang="en-US" sz="3300" dirty="0"/>
          </a:p>
        </p:txBody>
      </p:sp>
      <p:pic>
        <p:nvPicPr>
          <p:cNvPr id="5" name="Image 0" descr="/home/claude/fig/exp_speed_acc.png"/>
          <p:cNvPicPr>
            <a:picLocks noChangeAspect="1"/>
          </p:cNvPicPr>
          <p:nvPr/>
        </p:nvPicPr>
        <p:blipFill>
          <a:blip r:embed="rId3"/>
          <a:srcRect/>
          <a:stretch/>
        </p:blipFill>
        <p:spPr>
          <a:xfrm>
            <a:off x="548640" y="1645920"/>
            <a:ext cx="6035040" cy="4297680"/>
          </a:xfrm>
          <a:prstGeom prst="rect">
            <a:avLst/>
          </a:prstGeom>
        </p:spPr>
      </p:pic>
      <p:sp>
        <p:nvSpPr>
          <p:cNvPr id="6" name="Text 3"/>
          <p:cNvSpPr/>
          <p:nvPr/>
        </p:nvSpPr>
        <p:spPr>
          <a:xfrm>
            <a:off x="6720840" y="1828800"/>
            <a:ext cx="4937760" cy="457200"/>
          </a:xfrm>
          <a:prstGeom prst="rect">
            <a:avLst/>
          </a:prstGeom>
          <a:noFill/>
          <a:ln/>
        </p:spPr>
        <p:txBody>
          <a:bodyPr wrap="square" lIns="0" tIns="0" rIns="0" bIns="0" rtlCol="0" anchor="ctr"/>
          <a:lstStyle/>
          <a:p>
            <a:pPr marL="0" indent="0">
              <a:buNone/>
            </a:pPr>
            <a:r>
              <a:rPr lang="en-US" sz="2000" b="1" dirty="0">
                <a:solidFill>
                  <a:srgbClr val="141B3C"/>
                </a:solidFill>
                <a:latin typeface="Calibri" pitchFamily="34" charset="0"/>
                <a:ea typeface="Calibri" pitchFamily="34" charset="-122"/>
                <a:cs typeface="Calibri" pitchFamily="34" charset="-120"/>
              </a:rPr>
              <a:t>Cost is the tie-breaker</a:t>
            </a:r>
            <a:endParaRPr lang="en-US" sz="2000" dirty="0"/>
          </a:p>
        </p:txBody>
      </p:sp>
      <p:sp>
        <p:nvSpPr>
          <p:cNvPr id="7" name="Text 4"/>
          <p:cNvSpPr/>
          <p:nvPr/>
        </p:nvSpPr>
        <p:spPr>
          <a:xfrm>
            <a:off x="6720840" y="2377440"/>
            <a:ext cx="4937760" cy="3200400"/>
          </a:xfrm>
          <a:prstGeom prst="rect">
            <a:avLst/>
          </a:prstGeom>
          <a:noFill/>
          <a:ln/>
        </p:spPr>
        <p:txBody>
          <a:bodyPr wrap="square" lIns="0" tIns="0" rIns="0" bIns="0" rtlCol="0" anchor="t"/>
          <a:lstStyle/>
          <a:p>
            <a:pPr marL="177800" indent="-177800">
              <a:lnSpc>
                <a:spcPct val="102000"/>
              </a:lnSpc>
              <a:spcAft>
                <a:spcPts val="1000"/>
              </a:spcAft>
              <a:buSzPct val="100000"/>
              <a:buChar char="•"/>
            </a:pPr>
            <a:r>
              <a:rPr lang="en-US" sz="1400" dirty="0">
                <a:solidFill>
                  <a:srgbClr val="1C2333"/>
                </a:solidFill>
                <a:latin typeface="Calibri" pitchFamily="34" charset="0"/>
                <a:ea typeface="Calibri" pitchFamily="34" charset="-122"/>
                <a:cs typeface="Calibri" pitchFamily="34" charset="-120"/>
              </a:rPr>
              <a:t>Top-left is best: high accuracy, low cost. ReLU sits there alone.</a:t>
            </a:r>
            <a:endParaRPr lang="en-US" sz="1400" dirty="0"/>
          </a:p>
          <a:p>
            <a:pPr marL="177800" indent="-177800">
              <a:lnSpc>
                <a:spcPct val="102000"/>
              </a:lnSpc>
              <a:spcAft>
                <a:spcPts val="1000"/>
              </a:spcAft>
              <a:buSzPct val="100000"/>
              <a:buChar char="•"/>
            </a:pPr>
            <a:r>
              <a:rPr lang="en-US" sz="1400" dirty="0">
                <a:solidFill>
                  <a:srgbClr val="1C2333"/>
                </a:solidFill>
                <a:latin typeface="Calibri" pitchFamily="34" charset="0"/>
                <a:ea typeface="Calibri" pitchFamily="34" charset="-122"/>
                <a:cs typeface="Calibri" pitchFamily="34" charset="-120"/>
              </a:rPr>
              <a:t>Sigmoid is the worst of both worlds — costly AND inaccurate.</a:t>
            </a:r>
            <a:endParaRPr lang="en-US" sz="1400" dirty="0"/>
          </a:p>
          <a:p>
            <a:pPr marL="177800" indent="-177800">
              <a:lnSpc>
                <a:spcPct val="102000"/>
              </a:lnSpc>
              <a:spcAft>
                <a:spcPts val="1000"/>
              </a:spcAft>
              <a:buSzPct val="100000"/>
              <a:buChar char="•"/>
            </a:pPr>
            <a:r>
              <a:rPr lang="en-US" sz="1400" dirty="0">
                <a:solidFill>
                  <a:srgbClr val="1C2333"/>
                </a:solidFill>
                <a:latin typeface="Calibri" pitchFamily="34" charset="0"/>
                <a:ea typeface="Calibri" pitchFamily="34" charset="-122"/>
                <a:cs typeface="Calibri" pitchFamily="34" charset="-120"/>
              </a:rPr>
              <a:t>Moderns match ReLU's accuracy but cost several × more per call.</a:t>
            </a:r>
            <a:endParaRPr lang="en-US" sz="1400" dirty="0"/>
          </a:p>
          <a:p>
            <a:pPr marL="177800" indent="-177800">
              <a:lnSpc>
                <a:spcPct val="102000"/>
              </a:lnSpc>
              <a:spcAft>
                <a:spcPts val="1000"/>
              </a:spcAft>
              <a:buSzPct val="100000"/>
              <a:buChar char="•"/>
            </a:pPr>
            <a:r>
              <a:rPr lang="en-US" sz="1400" dirty="0">
                <a:solidFill>
                  <a:srgbClr val="1C2333"/>
                </a:solidFill>
                <a:latin typeface="Calibri" pitchFamily="34" charset="0"/>
                <a:ea typeface="Calibri" pitchFamily="34" charset="-122"/>
                <a:cs typeface="Calibri" pitchFamily="34" charset="-120"/>
              </a:rPr>
              <a:t>ReLU's real edge isn't accuracy — it's being a single comparison.</a:t>
            </a:r>
            <a:endParaRPr lang="en-US" sz="1400" dirty="0"/>
          </a:p>
        </p:txBody>
      </p:sp>
      <p:sp>
        <p:nvSpPr>
          <p:cNvPr id="10" name="Text 7"/>
          <p:cNvSpPr/>
          <p:nvPr/>
        </p:nvSpPr>
        <p:spPr>
          <a:xfrm>
            <a:off x="548640" y="6473952"/>
            <a:ext cx="4572000" cy="274320"/>
          </a:xfrm>
          <a:prstGeom prst="rect">
            <a:avLst/>
          </a:prstGeom>
          <a:noFill/>
          <a:ln/>
        </p:spPr>
        <p:txBody>
          <a:bodyPr wrap="square" lIns="0" tIns="0" rIns="0" bIns="0" rtlCol="0" anchor="ctr"/>
          <a:lstStyle/>
          <a:p>
            <a:pPr marL="0" indent="0" algn="l">
              <a:buNone/>
            </a:pPr>
            <a:r>
              <a:rPr lang="en-US" sz="900" dirty="0">
                <a:solidFill>
                  <a:srgbClr val="6B7385"/>
                </a:solidFill>
                <a:latin typeface="Calibri" pitchFamily="34" charset="0"/>
                <a:ea typeface="Calibri" pitchFamily="34" charset="-122"/>
                <a:cs typeface="Calibri" pitchFamily="34" charset="-120"/>
              </a:rPr>
              <a:t>Activation Functions</a:t>
            </a:r>
            <a:endParaRPr lang="en-US" sz="900" dirty="0"/>
          </a:p>
        </p:txBody>
      </p:sp>
      <p:sp>
        <p:nvSpPr>
          <p:cNvPr id="11" name="Text 8"/>
          <p:cNvSpPr/>
          <p:nvPr/>
        </p:nvSpPr>
        <p:spPr>
          <a:xfrm>
            <a:off x="11183112" y="6473952"/>
            <a:ext cx="457200" cy="274320"/>
          </a:xfrm>
          <a:prstGeom prst="rect">
            <a:avLst/>
          </a:prstGeom>
          <a:noFill/>
          <a:ln/>
        </p:spPr>
        <p:txBody>
          <a:bodyPr wrap="square" lIns="0" tIns="0" rIns="0" bIns="0" rtlCol="0" anchor="ctr"/>
          <a:lstStyle/>
          <a:p>
            <a:pPr marL="0" indent="0" algn="r">
              <a:buNone/>
            </a:pPr>
            <a:r>
              <a:rPr lang="en-US" sz="900" dirty="0">
                <a:solidFill>
                  <a:srgbClr val="6B7385"/>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48640"/>
            <a:ext cx="1066190" cy="310896"/>
          </a:xfrm>
          <a:prstGeom prst="roundRect">
            <a:avLst>
              <a:gd name="adj" fmla="val 50000"/>
            </a:avLst>
          </a:prstGeom>
          <a:solidFill>
            <a:srgbClr val="1E2761"/>
          </a:solidFill>
          <a:ln/>
        </p:spPr>
      </p:sp>
      <p:sp>
        <p:nvSpPr>
          <p:cNvPr id="3" name="Text 1"/>
          <p:cNvSpPr/>
          <p:nvPr/>
        </p:nvSpPr>
        <p:spPr>
          <a:xfrm>
            <a:off x="548640" y="548640"/>
            <a:ext cx="1066190" cy="310896"/>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THE VERDICT</a:t>
            </a:r>
            <a:endParaRPr lang="en-US" sz="1100" dirty="0"/>
          </a:p>
        </p:txBody>
      </p:sp>
      <p:sp>
        <p:nvSpPr>
          <p:cNvPr id="4" name="Text 2"/>
          <p:cNvSpPr/>
          <p:nvPr/>
        </p:nvSpPr>
        <p:spPr>
          <a:xfrm>
            <a:off x="548640" y="932688"/>
            <a:ext cx="11091672" cy="731520"/>
          </a:xfrm>
          <a:prstGeom prst="rect">
            <a:avLst/>
          </a:prstGeom>
          <a:noFill/>
          <a:ln/>
        </p:spPr>
        <p:txBody>
          <a:bodyPr wrap="square" lIns="0" tIns="0" rIns="0" bIns="0" rtlCol="0" anchor="t"/>
          <a:lstStyle/>
          <a:p>
            <a:pPr marL="0" indent="0" algn="l">
              <a:buNone/>
            </a:pPr>
            <a:r>
              <a:rPr lang="en-US" sz="3300" b="1" dirty="0">
                <a:solidFill>
                  <a:srgbClr val="141B3C"/>
                </a:solidFill>
                <a:latin typeface="Calibri" pitchFamily="34" charset="0"/>
                <a:ea typeface="Calibri" pitchFamily="34" charset="-122"/>
                <a:cs typeface="Calibri" pitchFamily="34" charset="-120"/>
              </a:rPr>
              <a:t>Is there a single best activation?</a:t>
            </a:r>
            <a:endParaRPr lang="en-US" sz="3300" dirty="0"/>
          </a:p>
        </p:txBody>
      </p:sp>
      <p:sp>
        <p:nvSpPr>
          <p:cNvPr id="5" name="Text 3"/>
          <p:cNvSpPr/>
          <p:nvPr/>
        </p:nvSpPr>
        <p:spPr>
          <a:xfrm>
            <a:off x="548640" y="1645920"/>
            <a:ext cx="10972800" cy="457200"/>
          </a:xfrm>
          <a:prstGeom prst="rect">
            <a:avLst/>
          </a:prstGeom>
          <a:noFill/>
          <a:ln/>
        </p:spPr>
        <p:txBody>
          <a:bodyPr wrap="square" lIns="0" tIns="0" rIns="0" bIns="0" rtlCol="0" anchor="ctr"/>
          <a:lstStyle/>
          <a:p>
            <a:pPr marL="0" indent="0">
              <a:buNone/>
            </a:pPr>
            <a:r>
              <a:rPr lang="en-US" sz="1600" dirty="0">
                <a:solidFill>
                  <a:srgbClr val="1C2333"/>
                </a:solidFill>
                <a:latin typeface="Calibri" pitchFamily="34" charset="0"/>
                <a:ea typeface="Calibri" pitchFamily="34" charset="-122"/>
                <a:cs typeface="Calibri" pitchFamily="34" charset="-120"/>
              </a:rPr>
              <a:t>No — and the experiments show why. Match the function to the job:</a:t>
            </a:r>
            <a:endParaRPr lang="en-US" sz="1600" dirty="0"/>
          </a:p>
        </p:txBody>
      </p:sp>
      <p:sp>
        <p:nvSpPr>
          <p:cNvPr id="6" name="Shape 4"/>
          <p:cNvSpPr/>
          <p:nvPr/>
        </p:nvSpPr>
        <p:spPr>
          <a:xfrm>
            <a:off x="548640" y="2286000"/>
            <a:ext cx="2688336" cy="2743200"/>
          </a:xfrm>
          <a:prstGeom prst="roundRect">
            <a:avLst>
              <a:gd name="adj" fmla="val 4082"/>
            </a:avLst>
          </a:prstGeom>
          <a:solidFill>
            <a:srgbClr val="F4F6FB"/>
          </a:solidFill>
          <a:ln/>
        </p:spPr>
      </p:sp>
      <p:sp>
        <p:nvSpPr>
          <p:cNvPr id="7" name="Shape 5"/>
          <p:cNvSpPr/>
          <p:nvPr/>
        </p:nvSpPr>
        <p:spPr>
          <a:xfrm>
            <a:off x="548640" y="2286000"/>
            <a:ext cx="2688336" cy="566928"/>
          </a:xfrm>
          <a:prstGeom prst="roundRect">
            <a:avLst>
              <a:gd name="adj" fmla="val 19355"/>
            </a:avLst>
          </a:prstGeom>
          <a:solidFill>
            <a:srgbClr val="EC1E79"/>
          </a:solidFill>
          <a:ln/>
        </p:spPr>
      </p:sp>
      <p:sp>
        <p:nvSpPr>
          <p:cNvPr id="8" name="Shape 6"/>
          <p:cNvSpPr/>
          <p:nvPr/>
        </p:nvSpPr>
        <p:spPr>
          <a:xfrm>
            <a:off x="548640" y="2569464"/>
            <a:ext cx="2688336" cy="283464"/>
          </a:xfrm>
          <a:prstGeom prst="rect">
            <a:avLst/>
          </a:prstGeom>
          <a:solidFill>
            <a:srgbClr val="EC1E79"/>
          </a:solidFill>
          <a:ln/>
        </p:spPr>
      </p:sp>
      <p:sp>
        <p:nvSpPr>
          <p:cNvPr id="9" name="Text 7"/>
          <p:cNvSpPr/>
          <p:nvPr/>
        </p:nvSpPr>
        <p:spPr>
          <a:xfrm>
            <a:off x="548640" y="2286000"/>
            <a:ext cx="2688336" cy="566928"/>
          </a:xfrm>
          <a:prstGeom prst="rect">
            <a:avLst/>
          </a:prstGeom>
          <a:noFill/>
          <a:ln/>
        </p:spPr>
        <p:txBody>
          <a:bodyPr wrap="square" lIns="0" tIns="0" rIns="0" bIns="0"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DEFAULT</a:t>
            </a:r>
            <a:endParaRPr lang="en-US" sz="1200" dirty="0"/>
          </a:p>
        </p:txBody>
      </p:sp>
      <p:sp>
        <p:nvSpPr>
          <p:cNvPr id="10" name="Text 8"/>
          <p:cNvSpPr/>
          <p:nvPr/>
        </p:nvSpPr>
        <p:spPr>
          <a:xfrm>
            <a:off x="685800" y="2999232"/>
            <a:ext cx="2414016" cy="822960"/>
          </a:xfrm>
          <a:prstGeom prst="rect">
            <a:avLst/>
          </a:prstGeom>
          <a:noFill/>
          <a:ln/>
        </p:spPr>
        <p:txBody>
          <a:bodyPr wrap="square" lIns="0" tIns="0" rIns="0" bIns="0" rtlCol="0" anchor="ctr"/>
          <a:lstStyle/>
          <a:p>
            <a:pPr marL="0" indent="0" algn="ctr">
              <a:buNone/>
            </a:pPr>
            <a:r>
              <a:rPr lang="en-US" sz="1800" b="1" dirty="0">
                <a:solidFill>
                  <a:srgbClr val="141B3C"/>
                </a:solidFill>
                <a:latin typeface="Calibri" pitchFamily="34" charset="0"/>
                <a:ea typeface="Calibri" pitchFamily="34" charset="-122"/>
                <a:cs typeface="Calibri" pitchFamily="34" charset="-120"/>
              </a:rPr>
              <a:t>ReLU</a:t>
            </a:r>
            <a:endParaRPr lang="en-US" sz="1800" dirty="0"/>
          </a:p>
        </p:txBody>
      </p:sp>
      <p:sp>
        <p:nvSpPr>
          <p:cNvPr id="11" name="Text 9"/>
          <p:cNvSpPr/>
          <p:nvPr/>
        </p:nvSpPr>
        <p:spPr>
          <a:xfrm>
            <a:off x="731520" y="3840480"/>
            <a:ext cx="2322576" cy="1097280"/>
          </a:xfrm>
          <a:prstGeom prst="rect">
            <a:avLst/>
          </a:prstGeom>
          <a:noFill/>
          <a:ln/>
        </p:spPr>
        <p:txBody>
          <a:bodyPr wrap="square" lIns="0" tIns="0" rIns="0" bIns="0" rtlCol="0" anchor="t"/>
          <a:lstStyle/>
          <a:p>
            <a:pPr marL="0" indent="0" algn="ctr">
              <a:buNone/>
            </a:pPr>
            <a:r>
              <a:rPr lang="en-US" sz="1250" dirty="0">
                <a:solidFill>
                  <a:srgbClr val="6B7385"/>
                </a:solidFill>
                <a:latin typeface="Calibri" pitchFamily="34" charset="0"/>
                <a:ea typeface="Calibri" pitchFamily="34" charset="-122"/>
                <a:cs typeface="Calibri" pitchFamily="34" charset="-120"/>
              </a:rPr>
              <a:t>Cheapest, ~99% on the spiral. Start here for CNNs &amp; MLPs.</a:t>
            </a:r>
            <a:endParaRPr lang="en-US" sz="1250" dirty="0"/>
          </a:p>
        </p:txBody>
      </p:sp>
      <p:sp>
        <p:nvSpPr>
          <p:cNvPr id="12" name="Shape 10"/>
          <p:cNvSpPr/>
          <p:nvPr/>
        </p:nvSpPr>
        <p:spPr>
          <a:xfrm>
            <a:off x="3383280" y="2286000"/>
            <a:ext cx="2688336" cy="2743200"/>
          </a:xfrm>
          <a:prstGeom prst="roundRect">
            <a:avLst>
              <a:gd name="adj" fmla="val 4082"/>
            </a:avLst>
          </a:prstGeom>
          <a:solidFill>
            <a:srgbClr val="F4F6FB"/>
          </a:solidFill>
          <a:ln/>
        </p:spPr>
      </p:sp>
      <p:sp>
        <p:nvSpPr>
          <p:cNvPr id="13" name="Shape 11"/>
          <p:cNvSpPr/>
          <p:nvPr/>
        </p:nvSpPr>
        <p:spPr>
          <a:xfrm>
            <a:off x="3383280" y="2286000"/>
            <a:ext cx="2688336" cy="566928"/>
          </a:xfrm>
          <a:prstGeom prst="roundRect">
            <a:avLst>
              <a:gd name="adj" fmla="val 19355"/>
            </a:avLst>
          </a:prstGeom>
          <a:solidFill>
            <a:srgbClr val="6C4CE0"/>
          </a:solidFill>
          <a:ln/>
        </p:spPr>
      </p:sp>
      <p:sp>
        <p:nvSpPr>
          <p:cNvPr id="14" name="Shape 12"/>
          <p:cNvSpPr/>
          <p:nvPr/>
        </p:nvSpPr>
        <p:spPr>
          <a:xfrm>
            <a:off x="3383280" y="2569464"/>
            <a:ext cx="2688336" cy="283464"/>
          </a:xfrm>
          <a:prstGeom prst="rect">
            <a:avLst/>
          </a:prstGeom>
          <a:solidFill>
            <a:srgbClr val="6C4CE0"/>
          </a:solidFill>
          <a:ln/>
        </p:spPr>
      </p:sp>
      <p:sp>
        <p:nvSpPr>
          <p:cNvPr id="15" name="Text 13"/>
          <p:cNvSpPr/>
          <p:nvPr/>
        </p:nvSpPr>
        <p:spPr>
          <a:xfrm>
            <a:off x="3383280" y="2286000"/>
            <a:ext cx="2688336" cy="566928"/>
          </a:xfrm>
          <a:prstGeom prst="rect">
            <a:avLst/>
          </a:prstGeom>
          <a:noFill/>
          <a:ln/>
        </p:spPr>
        <p:txBody>
          <a:bodyPr wrap="square" lIns="0" tIns="0" rIns="0" bIns="0"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IF IT DIES</a:t>
            </a:r>
            <a:endParaRPr lang="en-US" sz="1200" dirty="0"/>
          </a:p>
        </p:txBody>
      </p:sp>
      <p:sp>
        <p:nvSpPr>
          <p:cNvPr id="16" name="Text 14"/>
          <p:cNvSpPr/>
          <p:nvPr/>
        </p:nvSpPr>
        <p:spPr>
          <a:xfrm>
            <a:off x="3520440" y="2999232"/>
            <a:ext cx="2414016" cy="822960"/>
          </a:xfrm>
          <a:prstGeom prst="rect">
            <a:avLst/>
          </a:prstGeom>
          <a:noFill/>
          <a:ln/>
        </p:spPr>
        <p:txBody>
          <a:bodyPr wrap="square" lIns="0" tIns="0" rIns="0" bIns="0" rtlCol="0" anchor="ctr"/>
          <a:lstStyle/>
          <a:p>
            <a:pPr marL="0" indent="0" algn="ctr">
              <a:buNone/>
            </a:pPr>
            <a:r>
              <a:rPr lang="en-US" sz="1800" b="1" dirty="0">
                <a:solidFill>
                  <a:srgbClr val="141B3C"/>
                </a:solidFill>
                <a:latin typeface="Calibri" pitchFamily="34" charset="0"/>
                <a:ea typeface="Calibri" pitchFamily="34" charset="-122"/>
                <a:cs typeface="Calibri" pitchFamily="34" charset="-120"/>
              </a:rPr>
              <a:t>Leaky / ELU</a:t>
            </a:r>
            <a:endParaRPr lang="en-US" sz="1800" dirty="0"/>
          </a:p>
        </p:txBody>
      </p:sp>
      <p:sp>
        <p:nvSpPr>
          <p:cNvPr id="17" name="Text 15"/>
          <p:cNvSpPr/>
          <p:nvPr/>
        </p:nvSpPr>
        <p:spPr>
          <a:xfrm>
            <a:off x="3566160" y="3840480"/>
            <a:ext cx="2322576" cy="1097280"/>
          </a:xfrm>
          <a:prstGeom prst="rect">
            <a:avLst/>
          </a:prstGeom>
          <a:noFill/>
          <a:ln/>
        </p:spPr>
        <p:txBody>
          <a:bodyPr wrap="square" lIns="0" tIns="0" rIns="0" bIns="0" rtlCol="0" anchor="t"/>
          <a:lstStyle/>
          <a:p>
            <a:pPr marL="0" indent="0" algn="ctr">
              <a:buNone/>
            </a:pPr>
            <a:r>
              <a:rPr lang="en-US" sz="1250" dirty="0">
                <a:solidFill>
                  <a:srgbClr val="6B7385"/>
                </a:solidFill>
                <a:latin typeface="Calibri" pitchFamily="34" charset="0"/>
                <a:ea typeface="Calibri" pitchFamily="34" charset="-122"/>
                <a:cs typeface="Calibri" pitchFamily="34" charset="-120"/>
              </a:rPr>
              <a:t>Insurance against dead neurons at higher learning rates.</a:t>
            </a:r>
            <a:endParaRPr lang="en-US" sz="1250" dirty="0"/>
          </a:p>
        </p:txBody>
      </p:sp>
      <p:sp>
        <p:nvSpPr>
          <p:cNvPr id="18" name="Shape 16"/>
          <p:cNvSpPr/>
          <p:nvPr/>
        </p:nvSpPr>
        <p:spPr>
          <a:xfrm>
            <a:off x="6217920" y="2286000"/>
            <a:ext cx="2688336" cy="2743200"/>
          </a:xfrm>
          <a:prstGeom prst="roundRect">
            <a:avLst>
              <a:gd name="adj" fmla="val 4082"/>
            </a:avLst>
          </a:prstGeom>
          <a:solidFill>
            <a:srgbClr val="F4F6FB"/>
          </a:solidFill>
          <a:ln/>
        </p:spPr>
      </p:sp>
      <p:sp>
        <p:nvSpPr>
          <p:cNvPr id="19" name="Shape 17"/>
          <p:cNvSpPr/>
          <p:nvPr/>
        </p:nvSpPr>
        <p:spPr>
          <a:xfrm>
            <a:off x="6217920" y="2286000"/>
            <a:ext cx="2688336" cy="566928"/>
          </a:xfrm>
          <a:prstGeom prst="roundRect">
            <a:avLst>
              <a:gd name="adj" fmla="val 19355"/>
            </a:avLst>
          </a:prstGeom>
          <a:solidFill>
            <a:srgbClr val="0EA5E9"/>
          </a:solidFill>
          <a:ln/>
        </p:spPr>
      </p:sp>
      <p:sp>
        <p:nvSpPr>
          <p:cNvPr id="20" name="Shape 18"/>
          <p:cNvSpPr/>
          <p:nvPr/>
        </p:nvSpPr>
        <p:spPr>
          <a:xfrm>
            <a:off x="6217920" y="2569464"/>
            <a:ext cx="2688336" cy="283464"/>
          </a:xfrm>
          <a:prstGeom prst="rect">
            <a:avLst/>
          </a:prstGeom>
          <a:solidFill>
            <a:srgbClr val="0EA5E9"/>
          </a:solidFill>
          <a:ln/>
        </p:spPr>
      </p:sp>
      <p:sp>
        <p:nvSpPr>
          <p:cNvPr id="21" name="Text 19"/>
          <p:cNvSpPr/>
          <p:nvPr/>
        </p:nvSpPr>
        <p:spPr>
          <a:xfrm>
            <a:off x="6217920" y="2286000"/>
            <a:ext cx="2688336" cy="566928"/>
          </a:xfrm>
          <a:prstGeom prst="rect">
            <a:avLst/>
          </a:prstGeom>
          <a:noFill/>
          <a:ln/>
        </p:spPr>
        <p:txBody>
          <a:bodyPr wrap="square" lIns="0" tIns="0" rIns="0" bIns="0"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DEEP / NLP</a:t>
            </a:r>
            <a:endParaRPr lang="en-US" sz="1200" dirty="0"/>
          </a:p>
        </p:txBody>
      </p:sp>
      <p:sp>
        <p:nvSpPr>
          <p:cNvPr id="22" name="Text 20"/>
          <p:cNvSpPr/>
          <p:nvPr/>
        </p:nvSpPr>
        <p:spPr>
          <a:xfrm>
            <a:off x="6355080" y="2999232"/>
            <a:ext cx="2414016" cy="822960"/>
          </a:xfrm>
          <a:prstGeom prst="rect">
            <a:avLst/>
          </a:prstGeom>
          <a:noFill/>
          <a:ln/>
        </p:spPr>
        <p:txBody>
          <a:bodyPr wrap="square" lIns="0" tIns="0" rIns="0" bIns="0" rtlCol="0" anchor="ctr"/>
          <a:lstStyle/>
          <a:p>
            <a:pPr marL="0" indent="0" algn="ctr">
              <a:buNone/>
            </a:pPr>
            <a:r>
              <a:rPr lang="en-US" sz="1800" b="1" dirty="0">
                <a:solidFill>
                  <a:srgbClr val="141B3C"/>
                </a:solidFill>
                <a:latin typeface="Calibri" pitchFamily="34" charset="0"/>
                <a:ea typeface="Calibri" pitchFamily="34" charset="-122"/>
                <a:cs typeface="Calibri" pitchFamily="34" charset="-120"/>
              </a:rPr>
              <a:t>GELU · Swish</a:t>
            </a:r>
            <a:endParaRPr lang="en-US" sz="1800" dirty="0"/>
          </a:p>
        </p:txBody>
      </p:sp>
      <p:sp>
        <p:nvSpPr>
          <p:cNvPr id="23" name="Text 21"/>
          <p:cNvSpPr/>
          <p:nvPr/>
        </p:nvSpPr>
        <p:spPr>
          <a:xfrm>
            <a:off x="6400800" y="3840480"/>
            <a:ext cx="2322576" cy="1097280"/>
          </a:xfrm>
          <a:prstGeom prst="rect">
            <a:avLst/>
          </a:prstGeom>
          <a:noFill/>
          <a:ln/>
        </p:spPr>
        <p:txBody>
          <a:bodyPr wrap="square" lIns="0" tIns="0" rIns="0" bIns="0" rtlCol="0" anchor="t"/>
          <a:lstStyle/>
          <a:p>
            <a:pPr marL="0" indent="0" algn="ctr">
              <a:buNone/>
            </a:pPr>
            <a:r>
              <a:rPr lang="en-US" sz="1250" dirty="0">
                <a:solidFill>
                  <a:srgbClr val="6B7385"/>
                </a:solidFill>
                <a:latin typeface="Calibri" pitchFamily="34" charset="0"/>
                <a:ea typeface="Calibri" pitchFamily="34" charset="-122"/>
                <a:cs typeface="Calibri" pitchFamily="34" charset="-120"/>
              </a:rPr>
              <a:t>Same accuracy, smoother; the transformer standard.</a:t>
            </a:r>
            <a:endParaRPr lang="en-US" sz="1250" dirty="0"/>
          </a:p>
        </p:txBody>
      </p:sp>
      <p:sp>
        <p:nvSpPr>
          <p:cNvPr id="24" name="Shape 22"/>
          <p:cNvSpPr/>
          <p:nvPr/>
        </p:nvSpPr>
        <p:spPr>
          <a:xfrm>
            <a:off x="9052560" y="2286000"/>
            <a:ext cx="2688336" cy="2743200"/>
          </a:xfrm>
          <a:prstGeom prst="roundRect">
            <a:avLst>
              <a:gd name="adj" fmla="val 4082"/>
            </a:avLst>
          </a:prstGeom>
          <a:solidFill>
            <a:srgbClr val="F4F6FB"/>
          </a:solidFill>
          <a:ln/>
        </p:spPr>
      </p:sp>
      <p:sp>
        <p:nvSpPr>
          <p:cNvPr id="25" name="Shape 23"/>
          <p:cNvSpPr/>
          <p:nvPr/>
        </p:nvSpPr>
        <p:spPr>
          <a:xfrm>
            <a:off x="9052560" y="2286000"/>
            <a:ext cx="2688336" cy="566928"/>
          </a:xfrm>
          <a:prstGeom prst="roundRect">
            <a:avLst>
              <a:gd name="adj" fmla="val 19355"/>
            </a:avLst>
          </a:prstGeom>
          <a:solidFill>
            <a:srgbClr val="12B886"/>
          </a:solidFill>
          <a:ln/>
        </p:spPr>
      </p:sp>
      <p:sp>
        <p:nvSpPr>
          <p:cNvPr id="26" name="Shape 24"/>
          <p:cNvSpPr/>
          <p:nvPr/>
        </p:nvSpPr>
        <p:spPr>
          <a:xfrm>
            <a:off x="9052560" y="2569464"/>
            <a:ext cx="2688336" cy="283464"/>
          </a:xfrm>
          <a:prstGeom prst="rect">
            <a:avLst/>
          </a:prstGeom>
          <a:solidFill>
            <a:srgbClr val="12B886"/>
          </a:solidFill>
          <a:ln/>
        </p:spPr>
      </p:sp>
      <p:sp>
        <p:nvSpPr>
          <p:cNvPr id="27" name="Text 25"/>
          <p:cNvSpPr/>
          <p:nvPr/>
        </p:nvSpPr>
        <p:spPr>
          <a:xfrm>
            <a:off x="9052560" y="2286000"/>
            <a:ext cx="2688336" cy="566928"/>
          </a:xfrm>
          <a:prstGeom prst="rect">
            <a:avLst/>
          </a:prstGeom>
          <a:noFill/>
          <a:ln/>
        </p:spPr>
        <p:txBody>
          <a:bodyPr wrap="square" lIns="0" tIns="0" rIns="0" bIns="0"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OUTPUT</a:t>
            </a:r>
            <a:endParaRPr lang="en-US" sz="1200" dirty="0"/>
          </a:p>
        </p:txBody>
      </p:sp>
      <p:sp>
        <p:nvSpPr>
          <p:cNvPr id="28" name="Text 26"/>
          <p:cNvSpPr/>
          <p:nvPr/>
        </p:nvSpPr>
        <p:spPr>
          <a:xfrm>
            <a:off x="9189720" y="2999232"/>
            <a:ext cx="2414016" cy="822960"/>
          </a:xfrm>
          <a:prstGeom prst="rect">
            <a:avLst/>
          </a:prstGeom>
          <a:noFill/>
          <a:ln/>
        </p:spPr>
        <p:txBody>
          <a:bodyPr wrap="square" lIns="0" tIns="0" rIns="0" bIns="0" rtlCol="0" anchor="ctr"/>
          <a:lstStyle/>
          <a:p>
            <a:pPr marL="0" indent="0" algn="ctr">
              <a:buNone/>
            </a:pPr>
            <a:r>
              <a:rPr lang="en-US" sz="1800" b="1" dirty="0">
                <a:solidFill>
                  <a:srgbClr val="141B3C"/>
                </a:solidFill>
                <a:latin typeface="Calibri" pitchFamily="34" charset="0"/>
                <a:ea typeface="Calibri" pitchFamily="34" charset="-122"/>
                <a:cs typeface="Calibri" pitchFamily="34" charset="-120"/>
              </a:rPr>
              <a:t>Sigmoid · Softmax</a:t>
            </a:r>
            <a:endParaRPr lang="en-US" sz="1800" dirty="0"/>
          </a:p>
        </p:txBody>
      </p:sp>
      <p:sp>
        <p:nvSpPr>
          <p:cNvPr id="29" name="Text 27"/>
          <p:cNvSpPr/>
          <p:nvPr/>
        </p:nvSpPr>
        <p:spPr>
          <a:xfrm>
            <a:off x="9235440" y="3840480"/>
            <a:ext cx="2322576" cy="1097280"/>
          </a:xfrm>
          <a:prstGeom prst="rect">
            <a:avLst/>
          </a:prstGeom>
          <a:noFill/>
          <a:ln/>
        </p:spPr>
        <p:txBody>
          <a:bodyPr wrap="square" lIns="0" tIns="0" rIns="0" bIns="0" rtlCol="0" anchor="t"/>
          <a:lstStyle/>
          <a:p>
            <a:pPr marL="0" indent="0" algn="ctr">
              <a:buNone/>
            </a:pPr>
            <a:r>
              <a:rPr lang="en-US" sz="1250" dirty="0">
                <a:solidFill>
                  <a:srgbClr val="6B7385"/>
                </a:solidFill>
                <a:latin typeface="Calibri" pitchFamily="34" charset="0"/>
                <a:ea typeface="Calibri" pitchFamily="34" charset="-122"/>
                <a:cs typeface="Calibri" pitchFamily="34" charset="-120"/>
              </a:rPr>
              <a:t>Binary → sigmoid, multi-class → softmax. Not for hidden layers.</a:t>
            </a:r>
            <a:endParaRPr lang="en-US" sz="1250" dirty="0"/>
          </a:p>
        </p:txBody>
      </p:sp>
      <p:sp>
        <p:nvSpPr>
          <p:cNvPr id="30" name="Shape 28"/>
          <p:cNvSpPr/>
          <p:nvPr/>
        </p:nvSpPr>
        <p:spPr>
          <a:xfrm>
            <a:off x="548640" y="5394960"/>
            <a:ext cx="11091672" cy="777240"/>
          </a:xfrm>
          <a:prstGeom prst="roundRect">
            <a:avLst>
              <a:gd name="adj" fmla="val 11765"/>
            </a:avLst>
          </a:prstGeom>
          <a:solidFill>
            <a:srgbClr val="141B3C"/>
          </a:solidFill>
          <a:ln/>
        </p:spPr>
      </p:sp>
      <p:sp>
        <p:nvSpPr>
          <p:cNvPr id="31" name="Text 29"/>
          <p:cNvSpPr/>
          <p:nvPr/>
        </p:nvSpPr>
        <p:spPr>
          <a:xfrm>
            <a:off x="777240" y="5394960"/>
            <a:ext cx="10607040" cy="777240"/>
          </a:xfrm>
          <a:prstGeom prst="rect">
            <a:avLst/>
          </a:prstGeom>
          <a:noFill/>
          <a:ln/>
        </p:spPr>
        <p:txBody>
          <a:bodyPr wrap="square" lIns="0" tIns="0" rIns="0" bIns="0" rtlCol="0" anchor="ctr"/>
          <a:lstStyle/>
          <a:p>
            <a:pPr marL="0" indent="0">
              <a:buNone/>
            </a:pPr>
            <a:r>
              <a:rPr lang="en-US" sz="1500" b="1" dirty="0">
                <a:solidFill>
                  <a:srgbClr val="EC1E79"/>
                </a:solidFill>
                <a:latin typeface="Calibri" pitchFamily="34" charset="0"/>
                <a:ea typeface="Calibri" pitchFamily="34" charset="-122"/>
                <a:cs typeface="Calibri" pitchFamily="34" charset="-120"/>
              </a:rPr>
              <a:t>The evidence-based rule:  </a:t>
            </a:r>
            <a:r>
              <a:rPr lang="en-US" sz="1500" dirty="0">
                <a:solidFill>
                  <a:srgbClr val="FFFFFF"/>
                </a:solidFill>
                <a:latin typeface="Calibri" pitchFamily="34" charset="0"/>
                <a:ea typeface="Calibri" pitchFamily="34" charset="-122"/>
                <a:cs typeface="Calibri" pitchFamily="34" charset="-120"/>
              </a:rPr>
              <a:t>non-linearity is non-negotiable; among the moderns, choose on cost and stability, not a leaderboard.</a:t>
            </a:r>
            <a:endParaRPr lang="en-US" sz="1500" dirty="0"/>
          </a:p>
        </p:txBody>
      </p:sp>
      <p:sp>
        <p:nvSpPr>
          <p:cNvPr id="32" name="Text 30"/>
          <p:cNvSpPr/>
          <p:nvPr/>
        </p:nvSpPr>
        <p:spPr>
          <a:xfrm>
            <a:off x="548640" y="6473952"/>
            <a:ext cx="4572000" cy="274320"/>
          </a:xfrm>
          <a:prstGeom prst="rect">
            <a:avLst/>
          </a:prstGeom>
          <a:noFill/>
          <a:ln/>
        </p:spPr>
        <p:txBody>
          <a:bodyPr wrap="square" lIns="0" tIns="0" rIns="0" bIns="0" rtlCol="0" anchor="ctr"/>
          <a:lstStyle/>
          <a:p>
            <a:pPr marL="0" indent="0" algn="l">
              <a:buNone/>
            </a:pPr>
            <a:r>
              <a:rPr lang="en-US" sz="900" dirty="0">
                <a:solidFill>
                  <a:srgbClr val="6B7385"/>
                </a:solidFill>
                <a:latin typeface="Calibri" pitchFamily="34" charset="0"/>
                <a:ea typeface="Calibri" pitchFamily="34" charset="-122"/>
                <a:cs typeface="Calibri" pitchFamily="34" charset="-120"/>
              </a:rPr>
              <a:t>Activation Functions</a:t>
            </a:r>
            <a:endParaRPr lang="en-US" sz="900" dirty="0"/>
          </a:p>
        </p:txBody>
      </p:sp>
      <p:sp>
        <p:nvSpPr>
          <p:cNvPr id="33" name="Text 31"/>
          <p:cNvSpPr/>
          <p:nvPr/>
        </p:nvSpPr>
        <p:spPr>
          <a:xfrm>
            <a:off x="11183112" y="6473952"/>
            <a:ext cx="457200" cy="274320"/>
          </a:xfrm>
          <a:prstGeom prst="rect">
            <a:avLst/>
          </a:prstGeom>
          <a:noFill/>
          <a:ln/>
        </p:spPr>
        <p:txBody>
          <a:bodyPr wrap="square" lIns="0" tIns="0" rIns="0" bIns="0" rtlCol="0" anchor="ctr"/>
          <a:lstStyle/>
          <a:p>
            <a:pPr marL="0" indent="0" algn="r">
              <a:buNone/>
            </a:pPr>
            <a:r>
              <a:rPr lang="en-US" sz="900" dirty="0">
                <a:solidFill>
                  <a:srgbClr val="6B7385"/>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48640"/>
            <a:ext cx="1066190" cy="310896"/>
          </a:xfrm>
          <a:prstGeom prst="roundRect">
            <a:avLst>
              <a:gd name="adj" fmla="val 50000"/>
            </a:avLst>
          </a:prstGeom>
          <a:solidFill>
            <a:srgbClr val="1E2761"/>
          </a:solidFill>
          <a:ln/>
        </p:spPr>
      </p:sp>
      <p:sp>
        <p:nvSpPr>
          <p:cNvPr id="3" name="Text 1"/>
          <p:cNvSpPr/>
          <p:nvPr/>
        </p:nvSpPr>
        <p:spPr>
          <a:xfrm>
            <a:off x="548640" y="548640"/>
            <a:ext cx="1066190" cy="310896"/>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CHEAT SHEET</a:t>
            </a:r>
            <a:endParaRPr lang="en-US" sz="1100" dirty="0"/>
          </a:p>
        </p:txBody>
      </p:sp>
      <p:sp>
        <p:nvSpPr>
          <p:cNvPr id="4" name="Text 2"/>
          <p:cNvSpPr/>
          <p:nvPr/>
        </p:nvSpPr>
        <p:spPr>
          <a:xfrm>
            <a:off x="548640" y="932688"/>
            <a:ext cx="11091672" cy="731520"/>
          </a:xfrm>
          <a:prstGeom prst="rect">
            <a:avLst/>
          </a:prstGeom>
          <a:noFill/>
          <a:ln/>
        </p:spPr>
        <p:txBody>
          <a:bodyPr wrap="square" lIns="0" tIns="0" rIns="0" bIns="0" rtlCol="0" anchor="t"/>
          <a:lstStyle/>
          <a:p>
            <a:pPr marL="0" indent="0" algn="l">
              <a:buNone/>
            </a:pPr>
            <a:r>
              <a:rPr lang="en-US" sz="3300" b="1" dirty="0">
                <a:solidFill>
                  <a:srgbClr val="141B3C"/>
                </a:solidFill>
                <a:latin typeface="Calibri" pitchFamily="34" charset="0"/>
                <a:ea typeface="Calibri" pitchFamily="34" charset="-122"/>
                <a:cs typeface="Calibri" pitchFamily="34" charset="-120"/>
              </a:rPr>
              <a:t>Every function at a glance</a:t>
            </a:r>
            <a:endParaRPr lang="en-US" sz="33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4608576"/>
        </p:xfrm>
        <a:graphic>
          <a:graphicData uri="http://schemas.openxmlformats.org/drawingml/2006/table">
            <a:tbl>
              <a:tblPr/>
              <a:tblGrid>
                <a:gridCol w="201168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3593592">
                  <a:extLst>
                    <a:ext uri="{9D8B030D-6E8A-4147-A177-3AD203B41FA5}">
                      <a16:colId xmlns:a16="http://schemas.microsoft.com/office/drawing/2014/main" val="20003"/>
                    </a:ext>
                  </a:extLst>
                </a:gridCol>
              </a:tblGrid>
              <a:tr h="512064">
                <a:tc>
                  <a:txBody>
                    <a:bodyPr/>
                    <a:lstStyle/>
                    <a:p>
                      <a:pPr marL="0" indent="0" algn="l">
                        <a:buNone/>
                      </a:pPr>
                      <a:r>
                        <a:rPr lang="en-US" sz="1400" b="1" dirty="0">
                          <a:solidFill>
                            <a:srgbClr val="FFFFFF"/>
                          </a:solidFill>
                        </a:rPr>
                        <a:t>Function</a:t>
                      </a:r>
                      <a:endParaRPr lang="en-US" sz="1400" dirty="0"/>
                    </a:p>
                  </a:txBody>
                  <a:tcPr marL="76200" marR="76200" marT="38100" marB="38100" anchor="ctr">
                    <a:lnL w="12700" cap="flat" cmpd="sng" algn="ctr">
                      <a:solidFill>
                        <a:srgbClr val="E1E5EF"/>
                      </a:solidFill>
                      <a:prstDash val="solid"/>
                      <a:round/>
                      <a:headEnd type="none" w="med" len="med"/>
                      <a:tailEnd type="none" w="med" len="med"/>
                    </a:lnL>
                    <a:lnR w="12700" cap="flat" cmpd="sng" algn="ctr">
                      <a:solidFill>
                        <a:srgbClr val="E1E5EF"/>
                      </a:solidFill>
                      <a:prstDash val="solid"/>
                      <a:round/>
                      <a:headEnd type="none" w="med" len="med"/>
                      <a:tailEnd type="none" w="med" len="med"/>
                    </a:lnR>
                    <a:lnT w="12700" cap="flat" cmpd="sng" algn="ctr">
                      <a:solidFill>
                        <a:srgbClr val="E1E5EF"/>
                      </a:solidFill>
                      <a:prstDash val="solid"/>
                      <a:round/>
                      <a:headEnd type="none" w="med" len="med"/>
                      <a:tailEnd type="none" w="med" len="med"/>
                    </a:lnT>
                    <a:lnB w="12700" cap="flat" cmpd="sng" algn="ctr">
                      <a:solidFill>
                        <a:srgbClr val="E1E5EF"/>
                      </a:solidFill>
                      <a:prstDash val="solid"/>
                      <a:round/>
                      <a:headEnd type="none" w="med" len="med"/>
                      <a:tailEnd type="none" w="med" len="med"/>
                    </a:lnB>
                    <a:solidFill>
                      <a:srgbClr val="141B3C"/>
                    </a:solidFill>
                  </a:tcPr>
                </a:tc>
                <a:tc>
                  <a:txBody>
                    <a:bodyPr/>
                    <a:lstStyle/>
                    <a:p>
                      <a:pPr marL="0" indent="0" algn="l">
                        <a:buNone/>
                      </a:pPr>
                      <a:r>
                        <a:rPr lang="en-US" sz="1400" b="1" dirty="0">
                          <a:solidFill>
                            <a:srgbClr val="FFFFFF"/>
                          </a:solidFill>
                        </a:rPr>
                        <a:t>Formula</a:t>
                      </a:r>
                      <a:endParaRPr lang="en-US" sz="1400" dirty="0"/>
                    </a:p>
                  </a:txBody>
                  <a:tcPr marL="76200" marR="76200" marT="38100" marB="38100" anchor="ctr">
                    <a:lnL w="12700" cap="flat" cmpd="sng" algn="ctr">
                      <a:solidFill>
                        <a:srgbClr val="E1E5EF"/>
                      </a:solidFill>
                      <a:prstDash val="solid"/>
                      <a:round/>
                      <a:headEnd type="none" w="med" len="med"/>
                      <a:tailEnd type="none" w="med" len="med"/>
                    </a:lnL>
                    <a:lnR w="12700" cap="flat" cmpd="sng" algn="ctr">
                      <a:solidFill>
                        <a:srgbClr val="E1E5EF"/>
                      </a:solidFill>
                      <a:prstDash val="solid"/>
                      <a:round/>
                      <a:headEnd type="none" w="med" len="med"/>
                      <a:tailEnd type="none" w="med" len="med"/>
                    </a:lnR>
                    <a:lnT w="12700" cap="flat" cmpd="sng" algn="ctr">
                      <a:solidFill>
                        <a:srgbClr val="E1E5EF"/>
                      </a:solidFill>
                      <a:prstDash val="solid"/>
                      <a:round/>
                      <a:headEnd type="none" w="med" len="med"/>
                      <a:tailEnd type="none" w="med" len="med"/>
                    </a:lnT>
                    <a:lnB w="12700" cap="flat" cmpd="sng" algn="ctr">
                      <a:solidFill>
                        <a:srgbClr val="E1E5EF"/>
                      </a:solidFill>
                      <a:prstDash val="solid"/>
                      <a:round/>
                      <a:headEnd type="none" w="med" len="med"/>
                      <a:tailEnd type="none" w="med" len="med"/>
                    </a:lnB>
                    <a:solidFill>
                      <a:srgbClr val="141B3C"/>
                    </a:solidFill>
                  </a:tcPr>
                </a:tc>
                <a:tc>
                  <a:txBody>
                    <a:bodyPr/>
                    <a:lstStyle/>
                    <a:p>
                      <a:pPr marL="0" indent="0" algn="l">
                        <a:buNone/>
                      </a:pPr>
                      <a:r>
                        <a:rPr lang="en-US" sz="1400" b="1" dirty="0">
                          <a:solidFill>
                            <a:srgbClr val="FFFFFF"/>
                          </a:solidFill>
                        </a:rPr>
                        <a:t>Range</a:t>
                      </a:r>
                      <a:endParaRPr lang="en-US" sz="1400" dirty="0"/>
                    </a:p>
                  </a:txBody>
                  <a:tcPr marL="76200" marR="76200" marT="38100" marB="38100" anchor="ctr">
                    <a:lnL w="12700" cap="flat" cmpd="sng" algn="ctr">
                      <a:solidFill>
                        <a:srgbClr val="E1E5EF"/>
                      </a:solidFill>
                      <a:prstDash val="solid"/>
                      <a:round/>
                      <a:headEnd type="none" w="med" len="med"/>
                      <a:tailEnd type="none" w="med" len="med"/>
                    </a:lnL>
                    <a:lnR w="12700" cap="flat" cmpd="sng" algn="ctr">
                      <a:solidFill>
                        <a:srgbClr val="E1E5EF"/>
                      </a:solidFill>
                      <a:prstDash val="solid"/>
                      <a:round/>
                      <a:headEnd type="none" w="med" len="med"/>
                      <a:tailEnd type="none" w="med" len="med"/>
                    </a:lnR>
                    <a:lnT w="12700" cap="flat" cmpd="sng" algn="ctr">
                      <a:solidFill>
                        <a:srgbClr val="E1E5EF"/>
                      </a:solidFill>
                      <a:prstDash val="solid"/>
                      <a:round/>
                      <a:headEnd type="none" w="med" len="med"/>
                      <a:tailEnd type="none" w="med" len="med"/>
                    </a:lnT>
                    <a:lnB w="12700" cap="flat" cmpd="sng" algn="ctr">
                      <a:solidFill>
                        <a:srgbClr val="E1E5EF"/>
                      </a:solidFill>
                      <a:prstDash val="solid"/>
                      <a:round/>
                      <a:headEnd type="none" w="med" len="med"/>
                      <a:tailEnd type="none" w="med" len="med"/>
                    </a:lnB>
                    <a:solidFill>
                      <a:srgbClr val="141B3C"/>
                    </a:solidFill>
                  </a:tcPr>
                </a:tc>
                <a:tc>
                  <a:txBody>
                    <a:bodyPr/>
                    <a:lstStyle/>
                    <a:p>
                      <a:pPr marL="0" indent="0" algn="l">
                        <a:buNone/>
                      </a:pPr>
                      <a:r>
                        <a:rPr lang="en-US" sz="1400" b="1" dirty="0">
                          <a:solidFill>
                            <a:srgbClr val="FFFFFF"/>
                          </a:solidFill>
                        </a:rPr>
                        <a:t>Best used for</a:t>
                      </a:r>
                      <a:endParaRPr lang="en-US" sz="1400" dirty="0"/>
                    </a:p>
                  </a:txBody>
                  <a:tcPr marL="76200" marR="76200" marT="38100" marB="38100" anchor="ctr">
                    <a:lnL w="12700" cap="flat" cmpd="sng" algn="ctr">
                      <a:solidFill>
                        <a:srgbClr val="E1E5EF"/>
                      </a:solidFill>
                      <a:prstDash val="solid"/>
                      <a:round/>
                      <a:headEnd type="none" w="med" len="med"/>
                      <a:tailEnd type="none" w="med" len="med"/>
                    </a:lnL>
                    <a:lnR w="12700" cap="flat" cmpd="sng" algn="ctr">
                      <a:solidFill>
                        <a:srgbClr val="E1E5EF"/>
                      </a:solidFill>
                      <a:prstDash val="solid"/>
                      <a:round/>
                      <a:headEnd type="none" w="med" len="med"/>
                      <a:tailEnd type="none" w="med" len="med"/>
                    </a:lnR>
                    <a:lnT w="12700" cap="flat" cmpd="sng" algn="ctr">
                      <a:solidFill>
                        <a:srgbClr val="E1E5EF"/>
                      </a:solidFill>
                      <a:prstDash val="solid"/>
                      <a:round/>
                      <a:headEnd type="none" w="med" len="med"/>
                      <a:tailEnd type="none" w="med" len="med"/>
                    </a:lnT>
                    <a:lnB w="12700" cap="flat" cmpd="sng" algn="ctr">
                      <a:solidFill>
                        <a:srgbClr val="E1E5EF"/>
                      </a:solidFill>
                      <a:prstDash val="solid"/>
                      <a:round/>
                      <a:headEnd type="none" w="med" len="med"/>
                      <a:tailEnd type="none" w="med" len="med"/>
                    </a:lnB>
                    <a:solidFill>
                      <a:srgbClr val="141B3C"/>
                    </a:solidFill>
                  </a:tcPr>
                </a:tc>
                <a:extLst>
                  <a:ext uri="{0D108BD9-81ED-4DB2-BD59-A6C34878D82A}">
                    <a16:rowId xmlns:a16="http://schemas.microsoft.com/office/drawing/2014/main" val="10000"/>
                  </a:ext>
                </a:extLst>
              </a:tr>
              <a:tr h="512064">
                <a:tc>
                  <a:txBody>
                    <a:bodyPr/>
                    <a:lstStyle/>
                    <a:p>
                      <a:pPr marL="0" indent="0" algn="l">
                        <a:buNone/>
                      </a:pPr>
                      <a:r>
                        <a:rPr lang="en-US" sz="1300" b="1" dirty="0">
                          <a:solidFill>
                            <a:srgbClr val="141B3C"/>
                          </a:solidFill>
                          <a:latin typeface="Calibri" pitchFamily="34" charset="0"/>
                          <a:ea typeface="Calibri" pitchFamily="34" charset="-122"/>
                          <a:cs typeface="Calibri" pitchFamily="34" charset="-120"/>
                        </a:rPr>
                        <a:t>Sigmoid</a:t>
                      </a:r>
                      <a:endParaRPr lang="en-US" sz="1300" dirty="0">
                        <a:latin typeface="Calibri" charset="0"/>
                        <a:ea typeface="Calibri" charset="0"/>
                        <a:cs typeface="Calibri" charset="0"/>
                      </a:endParaRPr>
                    </a:p>
                  </a:txBody>
                  <a:tcPr marL="76200" marR="76200" marT="38100" marB="38100" anchor="ctr">
                    <a:lnL w="12700" cap="flat" cmpd="sng" algn="ctr">
                      <a:solidFill>
                        <a:srgbClr val="E1E5EF"/>
                      </a:solidFill>
                      <a:prstDash val="solid"/>
                      <a:round/>
                      <a:headEnd type="none" w="med" len="med"/>
                      <a:tailEnd type="none" w="med" len="med"/>
                    </a:lnL>
                    <a:lnR w="12700" cap="flat" cmpd="sng" algn="ctr">
                      <a:solidFill>
                        <a:srgbClr val="E1E5EF"/>
                      </a:solidFill>
                      <a:prstDash val="solid"/>
                      <a:round/>
                      <a:headEnd type="none" w="med" len="med"/>
                      <a:tailEnd type="none" w="med" len="med"/>
                    </a:lnR>
                    <a:lnT w="12700" cap="flat" cmpd="sng" algn="ctr">
                      <a:solidFill>
                        <a:srgbClr val="E1E5EF"/>
                      </a:solidFill>
                      <a:prstDash val="solid"/>
                      <a:round/>
                      <a:headEnd type="none" w="med" len="med"/>
                      <a:tailEnd type="none" w="med" len="med"/>
                    </a:lnT>
                    <a:lnB w="12700" cap="flat" cmpd="sng" algn="ctr">
                      <a:solidFill>
                        <a:srgbClr val="E1E5EF"/>
                      </a:solidFill>
                      <a:prstDash val="solid"/>
                      <a:round/>
                      <a:headEnd type="none" w="med" len="med"/>
                      <a:tailEnd type="none" w="med" len="med"/>
                    </a:lnB>
                    <a:solidFill>
                      <a:srgbClr val="F4F6FB"/>
                    </a:solidFill>
                  </a:tcPr>
                </a:tc>
                <a:tc>
                  <a:txBody>
                    <a:bodyPr/>
                    <a:lstStyle/>
                    <a:p>
                      <a:pPr marL="0" indent="0" algn="l">
                        <a:buNone/>
                      </a:pPr>
                      <a:r>
                        <a:rPr lang="en-US" sz="1300" dirty="0">
                          <a:solidFill>
                            <a:srgbClr val="1C2333"/>
                          </a:solidFill>
                          <a:latin typeface="Consolas" pitchFamily="34" charset="0"/>
                          <a:ea typeface="Consolas" pitchFamily="34" charset="-122"/>
                          <a:cs typeface="Consolas" pitchFamily="34" charset="-120"/>
                        </a:rPr>
                        <a:t>1/(1+e⁻ˣ)</a:t>
                      </a:r>
                      <a:endParaRPr lang="en-US" sz="1300" dirty="0">
                        <a:latin typeface="Consolas" charset="0"/>
                        <a:ea typeface="Consolas" charset="0"/>
                        <a:cs typeface="Consolas" charset="0"/>
                      </a:endParaRPr>
                    </a:p>
                  </a:txBody>
                  <a:tcPr marL="76200" marR="76200" marT="38100" marB="38100" anchor="ctr">
                    <a:lnL w="12700" cap="flat" cmpd="sng" algn="ctr">
                      <a:solidFill>
                        <a:srgbClr val="E1E5EF"/>
                      </a:solidFill>
                      <a:prstDash val="solid"/>
                      <a:round/>
                      <a:headEnd type="none" w="med" len="med"/>
                      <a:tailEnd type="none" w="med" len="med"/>
                    </a:lnL>
                    <a:lnR w="12700" cap="flat" cmpd="sng" algn="ctr">
                      <a:solidFill>
                        <a:srgbClr val="E1E5EF"/>
                      </a:solidFill>
                      <a:prstDash val="solid"/>
                      <a:round/>
                      <a:headEnd type="none" w="med" len="med"/>
                      <a:tailEnd type="none" w="med" len="med"/>
                    </a:lnR>
                    <a:lnT w="12700" cap="flat" cmpd="sng" algn="ctr">
                      <a:solidFill>
                        <a:srgbClr val="E1E5EF"/>
                      </a:solidFill>
                      <a:prstDash val="solid"/>
                      <a:round/>
                      <a:headEnd type="none" w="med" len="med"/>
                      <a:tailEnd type="none" w="med" len="med"/>
                    </a:lnT>
                    <a:lnB w="12700" cap="flat" cmpd="sng" algn="ctr">
                      <a:solidFill>
                        <a:srgbClr val="E1E5EF"/>
                      </a:solidFill>
                      <a:prstDash val="solid"/>
                      <a:round/>
                      <a:headEnd type="none" w="med" len="med"/>
                      <a:tailEnd type="none" w="med" len="med"/>
                    </a:lnB>
                    <a:solidFill>
                      <a:srgbClr val="F4F6FB"/>
                    </a:solidFill>
                  </a:tcPr>
                </a:tc>
                <a:tc>
                  <a:txBody>
                    <a:bodyPr/>
                    <a:lstStyle/>
                    <a:p>
                      <a:pPr marL="0" indent="0" algn="l">
                        <a:buNone/>
                      </a:pPr>
                      <a:r>
                        <a:rPr lang="en-US" sz="1300" dirty="0">
                          <a:solidFill>
                            <a:srgbClr val="1C2333"/>
                          </a:solidFill>
                          <a:latin typeface="Calibri" pitchFamily="34" charset="0"/>
                          <a:ea typeface="Calibri" pitchFamily="34" charset="-122"/>
                          <a:cs typeface="Calibri" pitchFamily="34" charset="-120"/>
                        </a:rPr>
                        <a:t>(0, 1)</a:t>
                      </a:r>
                      <a:endParaRPr lang="en-US" sz="1300" dirty="0">
                        <a:latin typeface="Calibri" charset="0"/>
                        <a:ea typeface="Calibri" charset="0"/>
                        <a:cs typeface="Calibri" charset="0"/>
                      </a:endParaRPr>
                    </a:p>
                  </a:txBody>
                  <a:tcPr marL="76200" marR="76200" marT="38100" marB="38100" anchor="ctr">
                    <a:lnL w="12700" cap="flat" cmpd="sng" algn="ctr">
                      <a:solidFill>
                        <a:srgbClr val="E1E5EF"/>
                      </a:solidFill>
                      <a:prstDash val="solid"/>
                      <a:round/>
                      <a:headEnd type="none" w="med" len="med"/>
                      <a:tailEnd type="none" w="med" len="med"/>
                    </a:lnL>
                    <a:lnR w="12700" cap="flat" cmpd="sng" algn="ctr">
                      <a:solidFill>
                        <a:srgbClr val="E1E5EF"/>
                      </a:solidFill>
                      <a:prstDash val="solid"/>
                      <a:round/>
                      <a:headEnd type="none" w="med" len="med"/>
                      <a:tailEnd type="none" w="med" len="med"/>
                    </a:lnR>
                    <a:lnT w="12700" cap="flat" cmpd="sng" algn="ctr">
                      <a:solidFill>
                        <a:srgbClr val="E1E5EF"/>
                      </a:solidFill>
                      <a:prstDash val="solid"/>
                      <a:round/>
                      <a:headEnd type="none" w="med" len="med"/>
                      <a:tailEnd type="none" w="med" len="med"/>
                    </a:lnT>
                    <a:lnB w="12700" cap="flat" cmpd="sng" algn="ctr">
                      <a:solidFill>
                        <a:srgbClr val="E1E5EF"/>
                      </a:solidFill>
                      <a:prstDash val="solid"/>
                      <a:round/>
                      <a:headEnd type="none" w="med" len="med"/>
                      <a:tailEnd type="none" w="med" len="med"/>
                    </a:lnB>
                    <a:solidFill>
                      <a:srgbClr val="F4F6FB"/>
                    </a:solidFill>
                  </a:tcPr>
                </a:tc>
                <a:tc>
                  <a:txBody>
                    <a:bodyPr/>
                    <a:lstStyle/>
                    <a:p>
                      <a:pPr marL="0" indent="0" algn="l">
                        <a:buNone/>
                      </a:pPr>
                      <a:r>
                        <a:rPr lang="en-US" sz="1300" dirty="0">
                          <a:solidFill>
                            <a:srgbClr val="1C2333"/>
                          </a:solidFill>
                          <a:latin typeface="Calibri" pitchFamily="34" charset="0"/>
                          <a:ea typeface="Calibri" pitchFamily="34" charset="-122"/>
                          <a:cs typeface="Calibri" pitchFamily="34" charset="-120"/>
                        </a:rPr>
                        <a:t>Binary output</a:t>
                      </a:r>
                      <a:endParaRPr lang="en-US" sz="1300" dirty="0">
                        <a:latin typeface="Calibri" charset="0"/>
                        <a:ea typeface="Calibri" charset="0"/>
                        <a:cs typeface="Calibri" charset="0"/>
                      </a:endParaRPr>
                    </a:p>
                  </a:txBody>
                  <a:tcPr marL="76200" marR="76200" marT="38100" marB="38100" anchor="ctr">
                    <a:lnL w="12700" cap="flat" cmpd="sng" algn="ctr">
                      <a:solidFill>
                        <a:srgbClr val="E1E5EF"/>
                      </a:solidFill>
                      <a:prstDash val="solid"/>
                      <a:round/>
                      <a:headEnd type="none" w="med" len="med"/>
                      <a:tailEnd type="none" w="med" len="med"/>
                    </a:lnL>
                    <a:lnR w="12700" cap="flat" cmpd="sng" algn="ctr">
                      <a:solidFill>
                        <a:srgbClr val="E1E5EF"/>
                      </a:solidFill>
                      <a:prstDash val="solid"/>
                      <a:round/>
                      <a:headEnd type="none" w="med" len="med"/>
                      <a:tailEnd type="none" w="med" len="med"/>
                    </a:lnR>
                    <a:lnT w="12700" cap="flat" cmpd="sng" algn="ctr">
                      <a:solidFill>
                        <a:srgbClr val="E1E5EF"/>
                      </a:solidFill>
                      <a:prstDash val="solid"/>
                      <a:round/>
                      <a:headEnd type="none" w="med" len="med"/>
                      <a:tailEnd type="none" w="med" len="med"/>
                    </a:lnT>
                    <a:lnB w="12700" cap="flat" cmpd="sng" algn="ctr">
                      <a:solidFill>
                        <a:srgbClr val="E1E5EF"/>
                      </a:solidFill>
                      <a:prstDash val="solid"/>
                      <a:round/>
                      <a:headEnd type="none" w="med" len="med"/>
                      <a:tailEnd type="none" w="med" len="med"/>
                    </a:lnB>
                    <a:solidFill>
                      <a:srgbClr val="F4F6FB"/>
                    </a:solidFill>
                  </a:tcPr>
                </a:tc>
                <a:extLst>
                  <a:ext uri="{0D108BD9-81ED-4DB2-BD59-A6C34878D82A}">
                    <a16:rowId xmlns:a16="http://schemas.microsoft.com/office/drawing/2014/main" val="10001"/>
                  </a:ext>
                </a:extLst>
              </a:tr>
              <a:tr h="512064">
                <a:tc>
                  <a:txBody>
                    <a:bodyPr/>
                    <a:lstStyle/>
                    <a:p>
                      <a:pPr marL="0" indent="0" algn="l">
                        <a:buNone/>
                      </a:pPr>
                      <a:r>
                        <a:rPr lang="en-US" sz="1300" b="1" dirty="0">
                          <a:solidFill>
                            <a:srgbClr val="141B3C"/>
                          </a:solidFill>
                          <a:latin typeface="Calibri" pitchFamily="34" charset="0"/>
                          <a:ea typeface="Calibri" pitchFamily="34" charset="-122"/>
                          <a:cs typeface="Calibri" pitchFamily="34" charset="-120"/>
                        </a:rPr>
                        <a:t>Tanh</a:t>
                      </a:r>
                      <a:endParaRPr lang="en-US" sz="1300" dirty="0">
                        <a:latin typeface="Calibri" charset="0"/>
                        <a:ea typeface="Calibri" charset="0"/>
                        <a:cs typeface="Calibri" charset="0"/>
                      </a:endParaRPr>
                    </a:p>
                  </a:txBody>
                  <a:tcPr marL="76200" marR="76200" marT="38100" marB="38100" anchor="ctr">
                    <a:lnL w="12700" cap="flat" cmpd="sng" algn="ctr">
                      <a:solidFill>
                        <a:srgbClr val="E1E5EF"/>
                      </a:solidFill>
                      <a:prstDash val="solid"/>
                      <a:round/>
                      <a:headEnd type="none" w="med" len="med"/>
                      <a:tailEnd type="none" w="med" len="med"/>
                    </a:lnL>
                    <a:lnR w="12700" cap="flat" cmpd="sng" algn="ctr">
                      <a:solidFill>
                        <a:srgbClr val="E1E5EF"/>
                      </a:solidFill>
                      <a:prstDash val="solid"/>
                      <a:round/>
                      <a:headEnd type="none" w="med" len="med"/>
                      <a:tailEnd type="none" w="med" len="med"/>
                    </a:lnR>
                    <a:lnT w="12700" cap="flat" cmpd="sng" algn="ctr">
                      <a:solidFill>
                        <a:srgbClr val="E1E5EF"/>
                      </a:solidFill>
                      <a:prstDash val="solid"/>
                      <a:round/>
                      <a:headEnd type="none" w="med" len="med"/>
                      <a:tailEnd type="none" w="med" len="med"/>
                    </a:lnT>
                    <a:lnB w="12700" cap="flat" cmpd="sng" algn="ctr">
                      <a:solidFill>
                        <a:srgbClr val="E1E5EF"/>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C2333"/>
                          </a:solidFill>
                          <a:latin typeface="Consolas" pitchFamily="34" charset="0"/>
                          <a:ea typeface="Consolas" pitchFamily="34" charset="-122"/>
                          <a:cs typeface="Consolas" pitchFamily="34" charset="-120"/>
                        </a:rPr>
                        <a:t>(eˣ−e⁻ˣ)/(eˣ+e⁻ˣ)</a:t>
                      </a:r>
                      <a:endParaRPr lang="en-US" sz="1300" dirty="0">
                        <a:latin typeface="Consolas" charset="0"/>
                        <a:ea typeface="Consolas" charset="0"/>
                        <a:cs typeface="Consolas" charset="0"/>
                      </a:endParaRPr>
                    </a:p>
                  </a:txBody>
                  <a:tcPr marL="76200" marR="76200" marT="38100" marB="38100" anchor="ctr">
                    <a:lnL w="12700" cap="flat" cmpd="sng" algn="ctr">
                      <a:solidFill>
                        <a:srgbClr val="E1E5EF"/>
                      </a:solidFill>
                      <a:prstDash val="solid"/>
                      <a:round/>
                      <a:headEnd type="none" w="med" len="med"/>
                      <a:tailEnd type="none" w="med" len="med"/>
                    </a:lnL>
                    <a:lnR w="12700" cap="flat" cmpd="sng" algn="ctr">
                      <a:solidFill>
                        <a:srgbClr val="E1E5EF"/>
                      </a:solidFill>
                      <a:prstDash val="solid"/>
                      <a:round/>
                      <a:headEnd type="none" w="med" len="med"/>
                      <a:tailEnd type="none" w="med" len="med"/>
                    </a:lnR>
                    <a:lnT w="12700" cap="flat" cmpd="sng" algn="ctr">
                      <a:solidFill>
                        <a:srgbClr val="E1E5EF"/>
                      </a:solidFill>
                      <a:prstDash val="solid"/>
                      <a:round/>
                      <a:headEnd type="none" w="med" len="med"/>
                      <a:tailEnd type="none" w="med" len="med"/>
                    </a:lnT>
                    <a:lnB w="12700" cap="flat" cmpd="sng" algn="ctr">
                      <a:solidFill>
                        <a:srgbClr val="E1E5EF"/>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C2333"/>
                          </a:solidFill>
                          <a:latin typeface="Calibri" pitchFamily="34" charset="0"/>
                          <a:ea typeface="Calibri" pitchFamily="34" charset="-122"/>
                          <a:cs typeface="Calibri" pitchFamily="34" charset="-120"/>
                        </a:rPr>
                        <a:t>(−1, 1)</a:t>
                      </a:r>
                      <a:endParaRPr lang="en-US" sz="1300" dirty="0">
                        <a:latin typeface="Calibri" charset="0"/>
                        <a:ea typeface="Calibri" charset="0"/>
                        <a:cs typeface="Calibri" charset="0"/>
                      </a:endParaRPr>
                    </a:p>
                  </a:txBody>
                  <a:tcPr marL="76200" marR="76200" marT="38100" marB="38100" anchor="ctr">
                    <a:lnL w="12700" cap="flat" cmpd="sng" algn="ctr">
                      <a:solidFill>
                        <a:srgbClr val="E1E5EF"/>
                      </a:solidFill>
                      <a:prstDash val="solid"/>
                      <a:round/>
                      <a:headEnd type="none" w="med" len="med"/>
                      <a:tailEnd type="none" w="med" len="med"/>
                    </a:lnL>
                    <a:lnR w="12700" cap="flat" cmpd="sng" algn="ctr">
                      <a:solidFill>
                        <a:srgbClr val="E1E5EF"/>
                      </a:solidFill>
                      <a:prstDash val="solid"/>
                      <a:round/>
                      <a:headEnd type="none" w="med" len="med"/>
                      <a:tailEnd type="none" w="med" len="med"/>
                    </a:lnR>
                    <a:lnT w="12700" cap="flat" cmpd="sng" algn="ctr">
                      <a:solidFill>
                        <a:srgbClr val="E1E5EF"/>
                      </a:solidFill>
                      <a:prstDash val="solid"/>
                      <a:round/>
                      <a:headEnd type="none" w="med" len="med"/>
                      <a:tailEnd type="none" w="med" len="med"/>
                    </a:lnT>
                    <a:lnB w="12700" cap="flat" cmpd="sng" algn="ctr">
                      <a:solidFill>
                        <a:srgbClr val="E1E5EF"/>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C2333"/>
                          </a:solidFill>
                          <a:latin typeface="Calibri" pitchFamily="34" charset="0"/>
                          <a:ea typeface="Calibri" pitchFamily="34" charset="-122"/>
                          <a:cs typeface="Calibri" pitchFamily="34" charset="-120"/>
                        </a:rPr>
                        <a:t>RNN hidden layers</a:t>
                      </a:r>
                      <a:endParaRPr lang="en-US" sz="1300" dirty="0">
                        <a:latin typeface="Calibri" charset="0"/>
                        <a:ea typeface="Calibri" charset="0"/>
                        <a:cs typeface="Calibri" charset="0"/>
                      </a:endParaRPr>
                    </a:p>
                  </a:txBody>
                  <a:tcPr marL="76200" marR="76200" marT="38100" marB="38100" anchor="ctr">
                    <a:lnL w="12700" cap="flat" cmpd="sng" algn="ctr">
                      <a:solidFill>
                        <a:srgbClr val="E1E5EF"/>
                      </a:solidFill>
                      <a:prstDash val="solid"/>
                      <a:round/>
                      <a:headEnd type="none" w="med" len="med"/>
                      <a:tailEnd type="none" w="med" len="med"/>
                    </a:lnL>
                    <a:lnR w="12700" cap="flat" cmpd="sng" algn="ctr">
                      <a:solidFill>
                        <a:srgbClr val="E1E5EF"/>
                      </a:solidFill>
                      <a:prstDash val="solid"/>
                      <a:round/>
                      <a:headEnd type="none" w="med" len="med"/>
                      <a:tailEnd type="none" w="med" len="med"/>
                    </a:lnR>
                    <a:lnT w="12700" cap="flat" cmpd="sng" algn="ctr">
                      <a:solidFill>
                        <a:srgbClr val="E1E5EF"/>
                      </a:solidFill>
                      <a:prstDash val="solid"/>
                      <a:round/>
                      <a:headEnd type="none" w="med" len="med"/>
                      <a:tailEnd type="none" w="med" len="med"/>
                    </a:lnT>
                    <a:lnB w="12700" cap="flat" cmpd="sng" algn="ctr">
                      <a:solidFill>
                        <a:srgbClr val="E1E5E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12064">
                <a:tc>
                  <a:txBody>
                    <a:bodyPr/>
                    <a:lstStyle/>
                    <a:p>
                      <a:pPr marL="0" indent="0" algn="l">
                        <a:buNone/>
                      </a:pPr>
                      <a:r>
                        <a:rPr lang="en-US" sz="1300" b="1" dirty="0">
                          <a:solidFill>
                            <a:srgbClr val="141B3C"/>
                          </a:solidFill>
                          <a:latin typeface="Calibri" pitchFamily="34" charset="0"/>
                          <a:ea typeface="Calibri" pitchFamily="34" charset="-122"/>
                          <a:cs typeface="Calibri" pitchFamily="34" charset="-120"/>
                        </a:rPr>
                        <a:t>ReLU</a:t>
                      </a:r>
                      <a:endParaRPr lang="en-US" sz="1300" dirty="0">
                        <a:latin typeface="Calibri" charset="0"/>
                        <a:ea typeface="Calibri" charset="0"/>
                        <a:cs typeface="Calibri" charset="0"/>
                      </a:endParaRPr>
                    </a:p>
                  </a:txBody>
                  <a:tcPr marL="76200" marR="76200" marT="38100" marB="38100" anchor="ctr">
                    <a:lnL w="12700" cap="flat" cmpd="sng" algn="ctr">
                      <a:solidFill>
                        <a:srgbClr val="E1E5EF"/>
                      </a:solidFill>
                      <a:prstDash val="solid"/>
                      <a:round/>
                      <a:headEnd type="none" w="med" len="med"/>
                      <a:tailEnd type="none" w="med" len="med"/>
                    </a:lnL>
                    <a:lnR w="12700" cap="flat" cmpd="sng" algn="ctr">
                      <a:solidFill>
                        <a:srgbClr val="E1E5EF"/>
                      </a:solidFill>
                      <a:prstDash val="solid"/>
                      <a:round/>
                      <a:headEnd type="none" w="med" len="med"/>
                      <a:tailEnd type="none" w="med" len="med"/>
                    </a:lnR>
                    <a:lnT w="12700" cap="flat" cmpd="sng" algn="ctr">
                      <a:solidFill>
                        <a:srgbClr val="E1E5EF"/>
                      </a:solidFill>
                      <a:prstDash val="solid"/>
                      <a:round/>
                      <a:headEnd type="none" w="med" len="med"/>
                      <a:tailEnd type="none" w="med" len="med"/>
                    </a:lnT>
                    <a:lnB w="12700" cap="flat" cmpd="sng" algn="ctr">
                      <a:solidFill>
                        <a:srgbClr val="E1E5EF"/>
                      </a:solidFill>
                      <a:prstDash val="solid"/>
                      <a:round/>
                      <a:headEnd type="none" w="med" len="med"/>
                      <a:tailEnd type="none" w="med" len="med"/>
                    </a:lnB>
                    <a:solidFill>
                      <a:srgbClr val="F4F6FB"/>
                    </a:solidFill>
                  </a:tcPr>
                </a:tc>
                <a:tc>
                  <a:txBody>
                    <a:bodyPr/>
                    <a:lstStyle/>
                    <a:p>
                      <a:pPr marL="0" indent="0" algn="l">
                        <a:buNone/>
                      </a:pPr>
                      <a:r>
                        <a:rPr lang="en-US" sz="1300" dirty="0">
                          <a:solidFill>
                            <a:srgbClr val="1C2333"/>
                          </a:solidFill>
                          <a:latin typeface="Consolas" pitchFamily="34" charset="0"/>
                          <a:ea typeface="Consolas" pitchFamily="34" charset="-122"/>
                          <a:cs typeface="Consolas" pitchFamily="34" charset="-120"/>
                        </a:rPr>
                        <a:t>max(0, x)</a:t>
                      </a:r>
                      <a:endParaRPr lang="en-US" sz="1300" dirty="0">
                        <a:latin typeface="Consolas" charset="0"/>
                        <a:ea typeface="Consolas" charset="0"/>
                        <a:cs typeface="Consolas" charset="0"/>
                      </a:endParaRPr>
                    </a:p>
                  </a:txBody>
                  <a:tcPr marL="76200" marR="76200" marT="38100" marB="38100" anchor="ctr">
                    <a:lnL w="12700" cap="flat" cmpd="sng" algn="ctr">
                      <a:solidFill>
                        <a:srgbClr val="E1E5EF"/>
                      </a:solidFill>
                      <a:prstDash val="solid"/>
                      <a:round/>
                      <a:headEnd type="none" w="med" len="med"/>
                      <a:tailEnd type="none" w="med" len="med"/>
                    </a:lnL>
                    <a:lnR w="12700" cap="flat" cmpd="sng" algn="ctr">
                      <a:solidFill>
                        <a:srgbClr val="E1E5EF"/>
                      </a:solidFill>
                      <a:prstDash val="solid"/>
                      <a:round/>
                      <a:headEnd type="none" w="med" len="med"/>
                      <a:tailEnd type="none" w="med" len="med"/>
                    </a:lnR>
                    <a:lnT w="12700" cap="flat" cmpd="sng" algn="ctr">
                      <a:solidFill>
                        <a:srgbClr val="E1E5EF"/>
                      </a:solidFill>
                      <a:prstDash val="solid"/>
                      <a:round/>
                      <a:headEnd type="none" w="med" len="med"/>
                      <a:tailEnd type="none" w="med" len="med"/>
                    </a:lnT>
                    <a:lnB w="12700" cap="flat" cmpd="sng" algn="ctr">
                      <a:solidFill>
                        <a:srgbClr val="E1E5EF"/>
                      </a:solidFill>
                      <a:prstDash val="solid"/>
                      <a:round/>
                      <a:headEnd type="none" w="med" len="med"/>
                      <a:tailEnd type="none" w="med" len="med"/>
                    </a:lnB>
                    <a:solidFill>
                      <a:srgbClr val="F4F6FB"/>
                    </a:solidFill>
                  </a:tcPr>
                </a:tc>
                <a:tc>
                  <a:txBody>
                    <a:bodyPr/>
                    <a:lstStyle/>
                    <a:p>
                      <a:pPr marL="0" indent="0" algn="l">
                        <a:buNone/>
                      </a:pPr>
                      <a:r>
                        <a:rPr lang="en-US" sz="1300" dirty="0">
                          <a:solidFill>
                            <a:srgbClr val="1C2333"/>
                          </a:solidFill>
                          <a:latin typeface="Calibri" pitchFamily="34" charset="0"/>
                          <a:ea typeface="Calibri" pitchFamily="34" charset="-122"/>
                          <a:cs typeface="Calibri" pitchFamily="34" charset="-120"/>
                        </a:rPr>
                        <a:t>[0, ∞)</a:t>
                      </a:r>
                      <a:endParaRPr lang="en-US" sz="1300" dirty="0">
                        <a:latin typeface="Calibri" charset="0"/>
                        <a:ea typeface="Calibri" charset="0"/>
                        <a:cs typeface="Calibri" charset="0"/>
                      </a:endParaRPr>
                    </a:p>
                  </a:txBody>
                  <a:tcPr marL="76200" marR="76200" marT="38100" marB="38100" anchor="ctr">
                    <a:lnL w="12700" cap="flat" cmpd="sng" algn="ctr">
                      <a:solidFill>
                        <a:srgbClr val="E1E5EF"/>
                      </a:solidFill>
                      <a:prstDash val="solid"/>
                      <a:round/>
                      <a:headEnd type="none" w="med" len="med"/>
                      <a:tailEnd type="none" w="med" len="med"/>
                    </a:lnL>
                    <a:lnR w="12700" cap="flat" cmpd="sng" algn="ctr">
                      <a:solidFill>
                        <a:srgbClr val="E1E5EF"/>
                      </a:solidFill>
                      <a:prstDash val="solid"/>
                      <a:round/>
                      <a:headEnd type="none" w="med" len="med"/>
                      <a:tailEnd type="none" w="med" len="med"/>
                    </a:lnR>
                    <a:lnT w="12700" cap="flat" cmpd="sng" algn="ctr">
                      <a:solidFill>
                        <a:srgbClr val="E1E5EF"/>
                      </a:solidFill>
                      <a:prstDash val="solid"/>
                      <a:round/>
                      <a:headEnd type="none" w="med" len="med"/>
                      <a:tailEnd type="none" w="med" len="med"/>
                    </a:lnT>
                    <a:lnB w="12700" cap="flat" cmpd="sng" algn="ctr">
                      <a:solidFill>
                        <a:srgbClr val="E1E5EF"/>
                      </a:solidFill>
                      <a:prstDash val="solid"/>
                      <a:round/>
                      <a:headEnd type="none" w="med" len="med"/>
                      <a:tailEnd type="none" w="med" len="med"/>
                    </a:lnB>
                    <a:solidFill>
                      <a:srgbClr val="F4F6FB"/>
                    </a:solidFill>
                  </a:tcPr>
                </a:tc>
                <a:tc>
                  <a:txBody>
                    <a:bodyPr/>
                    <a:lstStyle/>
                    <a:p>
                      <a:pPr marL="0" indent="0" algn="l">
                        <a:buNone/>
                      </a:pPr>
                      <a:r>
                        <a:rPr lang="en-US" sz="1300" dirty="0">
                          <a:solidFill>
                            <a:srgbClr val="1C2333"/>
                          </a:solidFill>
                          <a:latin typeface="Calibri" pitchFamily="34" charset="0"/>
                          <a:ea typeface="Calibri" pitchFamily="34" charset="-122"/>
                          <a:cs typeface="Calibri" pitchFamily="34" charset="-120"/>
                        </a:rPr>
                        <a:t>Default hidden layers</a:t>
                      </a:r>
                      <a:endParaRPr lang="en-US" sz="1300" dirty="0">
                        <a:latin typeface="Calibri" charset="0"/>
                        <a:ea typeface="Calibri" charset="0"/>
                        <a:cs typeface="Calibri" charset="0"/>
                      </a:endParaRPr>
                    </a:p>
                  </a:txBody>
                  <a:tcPr marL="76200" marR="76200" marT="38100" marB="38100" anchor="ctr">
                    <a:lnL w="12700" cap="flat" cmpd="sng" algn="ctr">
                      <a:solidFill>
                        <a:srgbClr val="E1E5EF"/>
                      </a:solidFill>
                      <a:prstDash val="solid"/>
                      <a:round/>
                      <a:headEnd type="none" w="med" len="med"/>
                      <a:tailEnd type="none" w="med" len="med"/>
                    </a:lnL>
                    <a:lnR w="12700" cap="flat" cmpd="sng" algn="ctr">
                      <a:solidFill>
                        <a:srgbClr val="E1E5EF"/>
                      </a:solidFill>
                      <a:prstDash val="solid"/>
                      <a:round/>
                      <a:headEnd type="none" w="med" len="med"/>
                      <a:tailEnd type="none" w="med" len="med"/>
                    </a:lnR>
                    <a:lnT w="12700" cap="flat" cmpd="sng" algn="ctr">
                      <a:solidFill>
                        <a:srgbClr val="E1E5EF"/>
                      </a:solidFill>
                      <a:prstDash val="solid"/>
                      <a:round/>
                      <a:headEnd type="none" w="med" len="med"/>
                      <a:tailEnd type="none" w="med" len="med"/>
                    </a:lnT>
                    <a:lnB w="12700" cap="flat" cmpd="sng" algn="ctr">
                      <a:solidFill>
                        <a:srgbClr val="E1E5EF"/>
                      </a:solidFill>
                      <a:prstDash val="solid"/>
                      <a:round/>
                      <a:headEnd type="none" w="med" len="med"/>
                      <a:tailEnd type="none" w="med" len="med"/>
                    </a:lnB>
                    <a:solidFill>
                      <a:srgbClr val="F4F6FB"/>
                    </a:solidFill>
                  </a:tcPr>
                </a:tc>
                <a:extLst>
                  <a:ext uri="{0D108BD9-81ED-4DB2-BD59-A6C34878D82A}">
                    <a16:rowId xmlns:a16="http://schemas.microsoft.com/office/drawing/2014/main" val="10003"/>
                  </a:ext>
                </a:extLst>
              </a:tr>
              <a:tr h="512064">
                <a:tc>
                  <a:txBody>
                    <a:bodyPr/>
                    <a:lstStyle/>
                    <a:p>
                      <a:pPr marL="0" indent="0" algn="l">
                        <a:buNone/>
                      </a:pPr>
                      <a:r>
                        <a:rPr lang="en-US" sz="1300" b="1" dirty="0">
                          <a:solidFill>
                            <a:srgbClr val="141B3C"/>
                          </a:solidFill>
                          <a:latin typeface="Calibri" pitchFamily="34" charset="0"/>
                          <a:ea typeface="Calibri" pitchFamily="34" charset="-122"/>
                          <a:cs typeface="Calibri" pitchFamily="34" charset="-120"/>
                        </a:rPr>
                        <a:t>Leaky ReLU</a:t>
                      </a:r>
                      <a:endParaRPr lang="en-US" sz="1300" dirty="0">
                        <a:latin typeface="Calibri" charset="0"/>
                        <a:ea typeface="Calibri" charset="0"/>
                        <a:cs typeface="Calibri" charset="0"/>
                      </a:endParaRPr>
                    </a:p>
                  </a:txBody>
                  <a:tcPr marL="76200" marR="76200" marT="38100" marB="38100" anchor="ctr">
                    <a:lnL w="12700" cap="flat" cmpd="sng" algn="ctr">
                      <a:solidFill>
                        <a:srgbClr val="E1E5EF"/>
                      </a:solidFill>
                      <a:prstDash val="solid"/>
                      <a:round/>
                      <a:headEnd type="none" w="med" len="med"/>
                      <a:tailEnd type="none" w="med" len="med"/>
                    </a:lnL>
                    <a:lnR w="12700" cap="flat" cmpd="sng" algn="ctr">
                      <a:solidFill>
                        <a:srgbClr val="E1E5EF"/>
                      </a:solidFill>
                      <a:prstDash val="solid"/>
                      <a:round/>
                      <a:headEnd type="none" w="med" len="med"/>
                      <a:tailEnd type="none" w="med" len="med"/>
                    </a:lnR>
                    <a:lnT w="12700" cap="flat" cmpd="sng" algn="ctr">
                      <a:solidFill>
                        <a:srgbClr val="E1E5EF"/>
                      </a:solidFill>
                      <a:prstDash val="solid"/>
                      <a:round/>
                      <a:headEnd type="none" w="med" len="med"/>
                      <a:tailEnd type="none" w="med" len="med"/>
                    </a:lnT>
                    <a:lnB w="12700" cap="flat" cmpd="sng" algn="ctr">
                      <a:solidFill>
                        <a:srgbClr val="E1E5EF"/>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C2333"/>
                          </a:solidFill>
                          <a:latin typeface="Consolas" pitchFamily="34" charset="0"/>
                          <a:ea typeface="Consolas" pitchFamily="34" charset="-122"/>
                          <a:cs typeface="Consolas" pitchFamily="34" charset="-120"/>
                        </a:rPr>
                        <a:t>x if x&gt;0 else αx</a:t>
                      </a:r>
                      <a:endParaRPr lang="en-US" sz="1300" dirty="0">
                        <a:latin typeface="Consolas" charset="0"/>
                        <a:ea typeface="Consolas" charset="0"/>
                        <a:cs typeface="Consolas" charset="0"/>
                      </a:endParaRPr>
                    </a:p>
                  </a:txBody>
                  <a:tcPr marL="76200" marR="76200" marT="38100" marB="38100" anchor="ctr">
                    <a:lnL w="12700" cap="flat" cmpd="sng" algn="ctr">
                      <a:solidFill>
                        <a:srgbClr val="E1E5EF"/>
                      </a:solidFill>
                      <a:prstDash val="solid"/>
                      <a:round/>
                      <a:headEnd type="none" w="med" len="med"/>
                      <a:tailEnd type="none" w="med" len="med"/>
                    </a:lnL>
                    <a:lnR w="12700" cap="flat" cmpd="sng" algn="ctr">
                      <a:solidFill>
                        <a:srgbClr val="E1E5EF"/>
                      </a:solidFill>
                      <a:prstDash val="solid"/>
                      <a:round/>
                      <a:headEnd type="none" w="med" len="med"/>
                      <a:tailEnd type="none" w="med" len="med"/>
                    </a:lnR>
                    <a:lnT w="12700" cap="flat" cmpd="sng" algn="ctr">
                      <a:solidFill>
                        <a:srgbClr val="E1E5EF"/>
                      </a:solidFill>
                      <a:prstDash val="solid"/>
                      <a:round/>
                      <a:headEnd type="none" w="med" len="med"/>
                      <a:tailEnd type="none" w="med" len="med"/>
                    </a:lnT>
                    <a:lnB w="12700" cap="flat" cmpd="sng" algn="ctr">
                      <a:solidFill>
                        <a:srgbClr val="E1E5EF"/>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C2333"/>
                          </a:solidFill>
                          <a:latin typeface="Calibri" pitchFamily="34" charset="0"/>
                          <a:ea typeface="Calibri" pitchFamily="34" charset="-122"/>
                          <a:cs typeface="Calibri" pitchFamily="34" charset="-120"/>
                        </a:rPr>
                        <a:t>(−∞, ∞)</a:t>
                      </a:r>
                      <a:endParaRPr lang="en-US" sz="1300" dirty="0">
                        <a:latin typeface="Calibri" charset="0"/>
                        <a:ea typeface="Calibri" charset="0"/>
                        <a:cs typeface="Calibri" charset="0"/>
                      </a:endParaRPr>
                    </a:p>
                  </a:txBody>
                  <a:tcPr marL="76200" marR="76200" marT="38100" marB="38100" anchor="ctr">
                    <a:lnL w="12700" cap="flat" cmpd="sng" algn="ctr">
                      <a:solidFill>
                        <a:srgbClr val="E1E5EF"/>
                      </a:solidFill>
                      <a:prstDash val="solid"/>
                      <a:round/>
                      <a:headEnd type="none" w="med" len="med"/>
                      <a:tailEnd type="none" w="med" len="med"/>
                    </a:lnL>
                    <a:lnR w="12700" cap="flat" cmpd="sng" algn="ctr">
                      <a:solidFill>
                        <a:srgbClr val="E1E5EF"/>
                      </a:solidFill>
                      <a:prstDash val="solid"/>
                      <a:round/>
                      <a:headEnd type="none" w="med" len="med"/>
                      <a:tailEnd type="none" w="med" len="med"/>
                    </a:lnR>
                    <a:lnT w="12700" cap="flat" cmpd="sng" algn="ctr">
                      <a:solidFill>
                        <a:srgbClr val="E1E5EF"/>
                      </a:solidFill>
                      <a:prstDash val="solid"/>
                      <a:round/>
                      <a:headEnd type="none" w="med" len="med"/>
                      <a:tailEnd type="none" w="med" len="med"/>
                    </a:lnT>
                    <a:lnB w="12700" cap="flat" cmpd="sng" algn="ctr">
                      <a:solidFill>
                        <a:srgbClr val="E1E5EF"/>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C2333"/>
                          </a:solidFill>
                          <a:latin typeface="Calibri" pitchFamily="34" charset="0"/>
                          <a:ea typeface="Calibri" pitchFamily="34" charset="-122"/>
                          <a:cs typeface="Calibri" pitchFamily="34" charset="-120"/>
                        </a:rPr>
                        <a:t>Dying-ReLU fix</a:t>
                      </a:r>
                      <a:endParaRPr lang="en-US" sz="1300" dirty="0">
                        <a:latin typeface="Calibri" charset="0"/>
                        <a:ea typeface="Calibri" charset="0"/>
                        <a:cs typeface="Calibri" charset="0"/>
                      </a:endParaRPr>
                    </a:p>
                  </a:txBody>
                  <a:tcPr marL="76200" marR="76200" marT="38100" marB="38100" anchor="ctr">
                    <a:lnL w="12700" cap="flat" cmpd="sng" algn="ctr">
                      <a:solidFill>
                        <a:srgbClr val="E1E5EF"/>
                      </a:solidFill>
                      <a:prstDash val="solid"/>
                      <a:round/>
                      <a:headEnd type="none" w="med" len="med"/>
                      <a:tailEnd type="none" w="med" len="med"/>
                    </a:lnL>
                    <a:lnR w="12700" cap="flat" cmpd="sng" algn="ctr">
                      <a:solidFill>
                        <a:srgbClr val="E1E5EF"/>
                      </a:solidFill>
                      <a:prstDash val="solid"/>
                      <a:round/>
                      <a:headEnd type="none" w="med" len="med"/>
                      <a:tailEnd type="none" w="med" len="med"/>
                    </a:lnR>
                    <a:lnT w="12700" cap="flat" cmpd="sng" algn="ctr">
                      <a:solidFill>
                        <a:srgbClr val="E1E5EF"/>
                      </a:solidFill>
                      <a:prstDash val="solid"/>
                      <a:round/>
                      <a:headEnd type="none" w="med" len="med"/>
                      <a:tailEnd type="none" w="med" len="med"/>
                    </a:lnT>
                    <a:lnB w="12700" cap="flat" cmpd="sng" algn="ctr">
                      <a:solidFill>
                        <a:srgbClr val="E1E5E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12064">
                <a:tc>
                  <a:txBody>
                    <a:bodyPr/>
                    <a:lstStyle/>
                    <a:p>
                      <a:pPr marL="0" indent="0" algn="l">
                        <a:buNone/>
                      </a:pPr>
                      <a:r>
                        <a:rPr lang="en-US" sz="1300" b="1" dirty="0">
                          <a:solidFill>
                            <a:srgbClr val="141B3C"/>
                          </a:solidFill>
                          <a:latin typeface="Calibri" pitchFamily="34" charset="0"/>
                          <a:ea typeface="Calibri" pitchFamily="34" charset="-122"/>
                          <a:cs typeface="Calibri" pitchFamily="34" charset="-120"/>
                        </a:rPr>
                        <a:t>ELU</a:t>
                      </a:r>
                      <a:endParaRPr lang="en-US" sz="1300" dirty="0">
                        <a:latin typeface="Calibri" charset="0"/>
                        <a:ea typeface="Calibri" charset="0"/>
                        <a:cs typeface="Calibri" charset="0"/>
                      </a:endParaRPr>
                    </a:p>
                  </a:txBody>
                  <a:tcPr marL="76200" marR="76200" marT="38100" marB="38100" anchor="ctr">
                    <a:lnL w="12700" cap="flat" cmpd="sng" algn="ctr">
                      <a:solidFill>
                        <a:srgbClr val="E1E5EF"/>
                      </a:solidFill>
                      <a:prstDash val="solid"/>
                      <a:round/>
                      <a:headEnd type="none" w="med" len="med"/>
                      <a:tailEnd type="none" w="med" len="med"/>
                    </a:lnL>
                    <a:lnR w="12700" cap="flat" cmpd="sng" algn="ctr">
                      <a:solidFill>
                        <a:srgbClr val="E1E5EF"/>
                      </a:solidFill>
                      <a:prstDash val="solid"/>
                      <a:round/>
                      <a:headEnd type="none" w="med" len="med"/>
                      <a:tailEnd type="none" w="med" len="med"/>
                    </a:lnR>
                    <a:lnT w="12700" cap="flat" cmpd="sng" algn="ctr">
                      <a:solidFill>
                        <a:srgbClr val="E1E5EF"/>
                      </a:solidFill>
                      <a:prstDash val="solid"/>
                      <a:round/>
                      <a:headEnd type="none" w="med" len="med"/>
                      <a:tailEnd type="none" w="med" len="med"/>
                    </a:lnT>
                    <a:lnB w="12700" cap="flat" cmpd="sng" algn="ctr">
                      <a:solidFill>
                        <a:srgbClr val="E1E5EF"/>
                      </a:solidFill>
                      <a:prstDash val="solid"/>
                      <a:round/>
                      <a:headEnd type="none" w="med" len="med"/>
                      <a:tailEnd type="none" w="med" len="med"/>
                    </a:lnB>
                    <a:solidFill>
                      <a:srgbClr val="F4F6FB"/>
                    </a:solidFill>
                  </a:tcPr>
                </a:tc>
                <a:tc>
                  <a:txBody>
                    <a:bodyPr/>
                    <a:lstStyle/>
                    <a:p>
                      <a:pPr marL="0" indent="0" algn="l">
                        <a:buNone/>
                      </a:pPr>
                      <a:r>
                        <a:rPr lang="en-US" sz="1300" dirty="0">
                          <a:solidFill>
                            <a:srgbClr val="1C2333"/>
                          </a:solidFill>
                          <a:latin typeface="Consolas" pitchFamily="34" charset="0"/>
                          <a:ea typeface="Consolas" pitchFamily="34" charset="-122"/>
                          <a:cs typeface="Consolas" pitchFamily="34" charset="-120"/>
                        </a:rPr>
                        <a:t>x if x&gt;0 else α(eˣ−1)</a:t>
                      </a:r>
                      <a:endParaRPr lang="en-US" sz="1300" dirty="0">
                        <a:latin typeface="Consolas" charset="0"/>
                        <a:ea typeface="Consolas" charset="0"/>
                        <a:cs typeface="Consolas" charset="0"/>
                      </a:endParaRPr>
                    </a:p>
                  </a:txBody>
                  <a:tcPr marL="76200" marR="76200" marT="38100" marB="38100" anchor="ctr">
                    <a:lnL w="12700" cap="flat" cmpd="sng" algn="ctr">
                      <a:solidFill>
                        <a:srgbClr val="E1E5EF"/>
                      </a:solidFill>
                      <a:prstDash val="solid"/>
                      <a:round/>
                      <a:headEnd type="none" w="med" len="med"/>
                      <a:tailEnd type="none" w="med" len="med"/>
                    </a:lnL>
                    <a:lnR w="12700" cap="flat" cmpd="sng" algn="ctr">
                      <a:solidFill>
                        <a:srgbClr val="E1E5EF"/>
                      </a:solidFill>
                      <a:prstDash val="solid"/>
                      <a:round/>
                      <a:headEnd type="none" w="med" len="med"/>
                      <a:tailEnd type="none" w="med" len="med"/>
                    </a:lnR>
                    <a:lnT w="12700" cap="flat" cmpd="sng" algn="ctr">
                      <a:solidFill>
                        <a:srgbClr val="E1E5EF"/>
                      </a:solidFill>
                      <a:prstDash val="solid"/>
                      <a:round/>
                      <a:headEnd type="none" w="med" len="med"/>
                      <a:tailEnd type="none" w="med" len="med"/>
                    </a:lnT>
                    <a:lnB w="12700" cap="flat" cmpd="sng" algn="ctr">
                      <a:solidFill>
                        <a:srgbClr val="E1E5EF"/>
                      </a:solidFill>
                      <a:prstDash val="solid"/>
                      <a:round/>
                      <a:headEnd type="none" w="med" len="med"/>
                      <a:tailEnd type="none" w="med" len="med"/>
                    </a:lnB>
                    <a:solidFill>
                      <a:srgbClr val="F4F6FB"/>
                    </a:solidFill>
                  </a:tcPr>
                </a:tc>
                <a:tc>
                  <a:txBody>
                    <a:bodyPr/>
                    <a:lstStyle/>
                    <a:p>
                      <a:pPr marL="0" indent="0" algn="l">
                        <a:buNone/>
                      </a:pPr>
                      <a:r>
                        <a:rPr lang="en-US" sz="1300" dirty="0">
                          <a:solidFill>
                            <a:srgbClr val="1C2333"/>
                          </a:solidFill>
                          <a:latin typeface="Calibri" pitchFamily="34" charset="0"/>
                          <a:ea typeface="Calibri" pitchFamily="34" charset="-122"/>
                          <a:cs typeface="Calibri" pitchFamily="34" charset="-120"/>
                        </a:rPr>
                        <a:t>(−α, ∞)</a:t>
                      </a:r>
                      <a:endParaRPr lang="en-US" sz="1300" dirty="0">
                        <a:latin typeface="Calibri" charset="0"/>
                        <a:ea typeface="Calibri" charset="0"/>
                        <a:cs typeface="Calibri" charset="0"/>
                      </a:endParaRPr>
                    </a:p>
                  </a:txBody>
                  <a:tcPr marL="76200" marR="76200" marT="38100" marB="38100" anchor="ctr">
                    <a:lnL w="12700" cap="flat" cmpd="sng" algn="ctr">
                      <a:solidFill>
                        <a:srgbClr val="E1E5EF"/>
                      </a:solidFill>
                      <a:prstDash val="solid"/>
                      <a:round/>
                      <a:headEnd type="none" w="med" len="med"/>
                      <a:tailEnd type="none" w="med" len="med"/>
                    </a:lnL>
                    <a:lnR w="12700" cap="flat" cmpd="sng" algn="ctr">
                      <a:solidFill>
                        <a:srgbClr val="E1E5EF"/>
                      </a:solidFill>
                      <a:prstDash val="solid"/>
                      <a:round/>
                      <a:headEnd type="none" w="med" len="med"/>
                      <a:tailEnd type="none" w="med" len="med"/>
                    </a:lnR>
                    <a:lnT w="12700" cap="flat" cmpd="sng" algn="ctr">
                      <a:solidFill>
                        <a:srgbClr val="E1E5EF"/>
                      </a:solidFill>
                      <a:prstDash val="solid"/>
                      <a:round/>
                      <a:headEnd type="none" w="med" len="med"/>
                      <a:tailEnd type="none" w="med" len="med"/>
                    </a:lnT>
                    <a:lnB w="12700" cap="flat" cmpd="sng" algn="ctr">
                      <a:solidFill>
                        <a:srgbClr val="E1E5EF"/>
                      </a:solidFill>
                      <a:prstDash val="solid"/>
                      <a:round/>
                      <a:headEnd type="none" w="med" len="med"/>
                      <a:tailEnd type="none" w="med" len="med"/>
                    </a:lnB>
                    <a:solidFill>
                      <a:srgbClr val="F4F6FB"/>
                    </a:solidFill>
                  </a:tcPr>
                </a:tc>
                <a:tc>
                  <a:txBody>
                    <a:bodyPr/>
                    <a:lstStyle/>
                    <a:p>
                      <a:pPr marL="0" indent="0" algn="l">
                        <a:buNone/>
                      </a:pPr>
                      <a:r>
                        <a:rPr lang="en-US" sz="1300" dirty="0">
                          <a:solidFill>
                            <a:srgbClr val="1C2333"/>
                          </a:solidFill>
                          <a:latin typeface="Calibri" pitchFamily="34" charset="0"/>
                          <a:ea typeface="Calibri" pitchFamily="34" charset="-122"/>
                          <a:cs typeface="Calibri" pitchFamily="34" charset="-120"/>
                        </a:rPr>
                        <a:t>Robust deep nets</a:t>
                      </a:r>
                      <a:endParaRPr lang="en-US" sz="1300" dirty="0">
                        <a:latin typeface="Calibri" charset="0"/>
                        <a:ea typeface="Calibri" charset="0"/>
                        <a:cs typeface="Calibri" charset="0"/>
                      </a:endParaRPr>
                    </a:p>
                  </a:txBody>
                  <a:tcPr marL="76200" marR="76200" marT="38100" marB="38100" anchor="ctr">
                    <a:lnL w="12700" cap="flat" cmpd="sng" algn="ctr">
                      <a:solidFill>
                        <a:srgbClr val="E1E5EF"/>
                      </a:solidFill>
                      <a:prstDash val="solid"/>
                      <a:round/>
                      <a:headEnd type="none" w="med" len="med"/>
                      <a:tailEnd type="none" w="med" len="med"/>
                    </a:lnL>
                    <a:lnR w="12700" cap="flat" cmpd="sng" algn="ctr">
                      <a:solidFill>
                        <a:srgbClr val="E1E5EF"/>
                      </a:solidFill>
                      <a:prstDash val="solid"/>
                      <a:round/>
                      <a:headEnd type="none" w="med" len="med"/>
                      <a:tailEnd type="none" w="med" len="med"/>
                    </a:lnR>
                    <a:lnT w="12700" cap="flat" cmpd="sng" algn="ctr">
                      <a:solidFill>
                        <a:srgbClr val="E1E5EF"/>
                      </a:solidFill>
                      <a:prstDash val="solid"/>
                      <a:round/>
                      <a:headEnd type="none" w="med" len="med"/>
                      <a:tailEnd type="none" w="med" len="med"/>
                    </a:lnT>
                    <a:lnB w="12700" cap="flat" cmpd="sng" algn="ctr">
                      <a:solidFill>
                        <a:srgbClr val="E1E5EF"/>
                      </a:solidFill>
                      <a:prstDash val="solid"/>
                      <a:round/>
                      <a:headEnd type="none" w="med" len="med"/>
                      <a:tailEnd type="none" w="med" len="med"/>
                    </a:lnB>
                    <a:solidFill>
                      <a:srgbClr val="F4F6FB"/>
                    </a:solidFill>
                  </a:tcPr>
                </a:tc>
                <a:extLst>
                  <a:ext uri="{0D108BD9-81ED-4DB2-BD59-A6C34878D82A}">
                    <a16:rowId xmlns:a16="http://schemas.microsoft.com/office/drawing/2014/main" val="10005"/>
                  </a:ext>
                </a:extLst>
              </a:tr>
              <a:tr h="512064">
                <a:tc>
                  <a:txBody>
                    <a:bodyPr/>
                    <a:lstStyle/>
                    <a:p>
                      <a:pPr marL="0" indent="0" algn="l">
                        <a:buNone/>
                      </a:pPr>
                      <a:r>
                        <a:rPr lang="en-US" sz="1300" b="1" dirty="0">
                          <a:solidFill>
                            <a:srgbClr val="141B3C"/>
                          </a:solidFill>
                          <a:latin typeface="Calibri" pitchFamily="34" charset="0"/>
                          <a:ea typeface="Calibri" pitchFamily="34" charset="-122"/>
                          <a:cs typeface="Calibri" pitchFamily="34" charset="-120"/>
                        </a:rPr>
                        <a:t>Swish</a:t>
                      </a:r>
                      <a:endParaRPr lang="en-US" sz="1300" dirty="0">
                        <a:latin typeface="Calibri" charset="0"/>
                        <a:ea typeface="Calibri" charset="0"/>
                        <a:cs typeface="Calibri" charset="0"/>
                      </a:endParaRPr>
                    </a:p>
                  </a:txBody>
                  <a:tcPr marL="76200" marR="76200" marT="38100" marB="38100" anchor="ctr">
                    <a:lnL w="12700" cap="flat" cmpd="sng" algn="ctr">
                      <a:solidFill>
                        <a:srgbClr val="E1E5EF"/>
                      </a:solidFill>
                      <a:prstDash val="solid"/>
                      <a:round/>
                      <a:headEnd type="none" w="med" len="med"/>
                      <a:tailEnd type="none" w="med" len="med"/>
                    </a:lnL>
                    <a:lnR w="12700" cap="flat" cmpd="sng" algn="ctr">
                      <a:solidFill>
                        <a:srgbClr val="E1E5EF"/>
                      </a:solidFill>
                      <a:prstDash val="solid"/>
                      <a:round/>
                      <a:headEnd type="none" w="med" len="med"/>
                      <a:tailEnd type="none" w="med" len="med"/>
                    </a:lnR>
                    <a:lnT w="12700" cap="flat" cmpd="sng" algn="ctr">
                      <a:solidFill>
                        <a:srgbClr val="E1E5EF"/>
                      </a:solidFill>
                      <a:prstDash val="solid"/>
                      <a:round/>
                      <a:headEnd type="none" w="med" len="med"/>
                      <a:tailEnd type="none" w="med" len="med"/>
                    </a:lnT>
                    <a:lnB w="12700" cap="flat" cmpd="sng" algn="ctr">
                      <a:solidFill>
                        <a:srgbClr val="E1E5EF"/>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C2333"/>
                          </a:solidFill>
                          <a:latin typeface="Consolas" pitchFamily="34" charset="0"/>
                          <a:ea typeface="Consolas" pitchFamily="34" charset="-122"/>
                          <a:cs typeface="Consolas" pitchFamily="34" charset="-120"/>
                        </a:rPr>
                        <a:t>x·σ(x)</a:t>
                      </a:r>
                      <a:endParaRPr lang="en-US" sz="1300" dirty="0">
                        <a:latin typeface="Consolas" charset="0"/>
                        <a:ea typeface="Consolas" charset="0"/>
                        <a:cs typeface="Consolas" charset="0"/>
                      </a:endParaRPr>
                    </a:p>
                  </a:txBody>
                  <a:tcPr marL="76200" marR="76200" marT="38100" marB="38100" anchor="ctr">
                    <a:lnL w="12700" cap="flat" cmpd="sng" algn="ctr">
                      <a:solidFill>
                        <a:srgbClr val="E1E5EF"/>
                      </a:solidFill>
                      <a:prstDash val="solid"/>
                      <a:round/>
                      <a:headEnd type="none" w="med" len="med"/>
                      <a:tailEnd type="none" w="med" len="med"/>
                    </a:lnL>
                    <a:lnR w="12700" cap="flat" cmpd="sng" algn="ctr">
                      <a:solidFill>
                        <a:srgbClr val="E1E5EF"/>
                      </a:solidFill>
                      <a:prstDash val="solid"/>
                      <a:round/>
                      <a:headEnd type="none" w="med" len="med"/>
                      <a:tailEnd type="none" w="med" len="med"/>
                    </a:lnR>
                    <a:lnT w="12700" cap="flat" cmpd="sng" algn="ctr">
                      <a:solidFill>
                        <a:srgbClr val="E1E5EF"/>
                      </a:solidFill>
                      <a:prstDash val="solid"/>
                      <a:round/>
                      <a:headEnd type="none" w="med" len="med"/>
                      <a:tailEnd type="none" w="med" len="med"/>
                    </a:lnT>
                    <a:lnB w="12700" cap="flat" cmpd="sng" algn="ctr">
                      <a:solidFill>
                        <a:srgbClr val="E1E5EF"/>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C2333"/>
                          </a:solidFill>
                          <a:latin typeface="Calibri" pitchFamily="34" charset="0"/>
                          <a:ea typeface="Calibri" pitchFamily="34" charset="-122"/>
                          <a:cs typeface="Calibri" pitchFamily="34" charset="-120"/>
                        </a:rPr>
                        <a:t>(≈−0.28, ∞)</a:t>
                      </a:r>
                      <a:endParaRPr lang="en-US" sz="1300" dirty="0">
                        <a:latin typeface="Calibri" charset="0"/>
                        <a:ea typeface="Calibri" charset="0"/>
                        <a:cs typeface="Calibri" charset="0"/>
                      </a:endParaRPr>
                    </a:p>
                  </a:txBody>
                  <a:tcPr marL="76200" marR="76200" marT="38100" marB="38100" anchor="ctr">
                    <a:lnL w="12700" cap="flat" cmpd="sng" algn="ctr">
                      <a:solidFill>
                        <a:srgbClr val="E1E5EF"/>
                      </a:solidFill>
                      <a:prstDash val="solid"/>
                      <a:round/>
                      <a:headEnd type="none" w="med" len="med"/>
                      <a:tailEnd type="none" w="med" len="med"/>
                    </a:lnL>
                    <a:lnR w="12700" cap="flat" cmpd="sng" algn="ctr">
                      <a:solidFill>
                        <a:srgbClr val="E1E5EF"/>
                      </a:solidFill>
                      <a:prstDash val="solid"/>
                      <a:round/>
                      <a:headEnd type="none" w="med" len="med"/>
                      <a:tailEnd type="none" w="med" len="med"/>
                    </a:lnR>
                    <a:lnT w="12700" cap="flat" cmpd="sng" algn="ctr">
                      <a:solidFill>
                        <a:srgbClr val="E1E5EF"/>
                      </a:solidFill>
                      <a:prstDash val="solid"/>
                      <a:round/>
                      <a:headEnd type="none" w="med" len="med"/>
                      <a:tailEnd type="none" w="med" len="med"/>
                    </a:lnT>
                    <a:lnB w="12700" cap="flat" cmpd="sng" algn="ctr">
                      <a:solidFill>
                        <a:srgbClr val="E1E5EF"/>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C2333"/>
                          </a:solidFill>
                          <a:latin typeface="Calibri" pitchFamily="34" charset="0"/>
                          <a:ea typeface="Calibri" pitchFamily="34" charset="-122"/>
                          <a:cs typeface="Calibri" pitchFamily="34" charset="-120"/>
                        </a:rPr>
                        <a:t>Deep CNNs</a:t>
                      </a:r>
                      <a:endParaRPr lang="en-US" sz="1300" dirty="0">
                        <a:latin typeface="Calibri" charset="0"/>
                        <a:ea typeface="Calibri" charset="0"/>
                        <a:cs typeface="Calibri" charset="0"/>
                      </a:endParaRPr>
                    </a:p>
                  </a:txBody>
                  <a:tcPr marL="76200" marR="76200" marT="38100" marB="38100" anchor="ctr">
                    <a:lnL w="12700" cap="flat" cmpd="sng" algn="ctr">
                      <a:solidFill>
                        <a:srgbClr val="E1E5EF"/>
                      </a:solidFill>
                      <a:prstDash val="solid"/>
                      <a:round/>
                      <a:headEnd type="none" w="med" len="med"/>
                      <a:tailEnd type="none" w="med" len="med"/>
                    </a:lnL>
                    <a:lnR w="12700" cap="flat" cmpd="sng" algn="ctr">
                      <a:solidFill>
                        <a:srgbClr val="E1E5EF"/>
                      </a:solidFill>
                      <a:prstDash val="solid"/>
                      <a:round/>
                      <a:headEnd type="none" w="med" len="med"/>
                      <a:tailEnd type="none" w="med" len="med"/>
                    </a:lnR>
                    <a:lnT w="12700" cap="flat" cmpd="sng" algn="ctr">
                      <a:solidFill>
                        <a:srgbClr val="E1E5EF"/>
                      </a:solidFill>
                      <a:prstDash val="solid"/>
                      <a:round/>
                      <a:headEnd type="none" w="med" len="med"/>
                      <a:tailEnd type="none" w="med" len="med"/>
                    </a:lnT>
                    <a:lnB w="12700" cap="flat" cmpd="sng" algn="ctr">
                      <a:solidFill>
                        <a:srgbClr val="E1E5EF"/>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12064">
                <a:tc>
                  <a:txBody>
                    <a:bodyPr/>
                    <a:lstStyle/>
                    <a:p>
                      <a:pPr marL="0" indent="0" algn="l">
                        <a:buNone/>
                      </a:pPr>
                      <a:r>
                        <a:rPr lang="en-US" sz="1300" b="1" dirty="0">
                          <a:solidFill>
                            <a:srgbClr val="141B3C"/>
                          </a:solidFill>
                          <a:latin typeface="Calibri" pitchFamily="34" charset="0"/>
                          <a:ea typeface="Calibri" pitchFamily="34" charset="-122"/>
                          <a:cs typeface="Calibri" pitchFamily="34" charset="-120"/>
                        </a:rPr>
                        <a:t>GELU</a:t>
                      </a:r>
                      <a:endParaRPr lang="en-US" sz="1300" dirty="0">
                        <a:latin typeface="Calibri" charset="0"/>
                        <a:ea typeface="Calibri" charset="0"/>
                        <a:cs typeface="Calibri" charset="0"/>
                      </a:endParaRPr>
                    </a:p>
                  </a:txBody>
                  <a:tcPr marL="76200" marR="76200" marT="38100" marB="38100" anchor="ctr">
                    <a:lnL w="12700" cap="flat" cmpd="sng" algn="ctr">
                      <a:solidFill>
                        <a:srgbClr val="E1E5EF"/>
                      </a:solidFill>
                      <a:prstDash val="solid"/>
                      <a:round/>
                      <a:headEnd type="none" w="med" len="med"/>
                      <a:tailEnd type="none" w="med" len="med"/>
                    </a:lnL>
                    <a:lnR w="12700" cap="flat" cmpd="sng" algn="ctr">
                      <a:solidFill>
                        <a:srgbClr val="E1E5EF"/>
                      </a:solidFill>
                      <a:prstDash val="solid"/>
                      <a:round/>
                      <a:headEnd type="none" w="med" len="med"/>
                      <a:tailEnd type="none" w="med" len="med"/>
                    </a:lnR>
                    <a:lnT w="12700" cap="flat" cmpd="sng" algn="ctr">
                      <a:solidFill>
                        <a:srgbClr val="E1E5EF"/>
                      </a:solidFill>
                      <a:prstDash val="solid"/>
                      <a:round/>
                      <a:headEnd type="none" w="med" len="med"/>
                      <a:tailEnd type="none" w="med" len="med"/>
                    </a:lnT>
                    <a:lnB w="12700" cap="flat" cmpd="sng" algn="ctr">
                      <a:solidFill>
                        <a:srgbClr val="E1E5EF"/>
                      </a:solidFill>
                      <a:prstDash val="solid"/>
                      <a:round/>
                      <a:headEnd type="none" w="med" len="med"/>
                      <a:tailEnd type="none" w="med" len="med"/>
                    </a:lnB>
                    <a:solidFill>
                      <a:srgbClr val="F4F6FB"/>
                    </a:solidFill>
                  </a:tcPr>
                </a:tc>
                <a:tc>
                  <a:txBody>
                    <a:bodyPr/>
                    <a:lstStyle/>
                    <a:p>
                      <a:pPr marL="0" indent="0" algn="l">
                        <a:buNone/>
                      </a:pPr>
                      <a:r>
                        <a:rPr lang="en-US" sz="1300" dirty="0">
                          <a:solidFill>
                            <a:srgbClr val="1C2333"/>
                          </a:solidFill>
                          <a:latin typeface="Consolas" pitchFamily="34" charset="0"/>
                          <a:ea typeface="Consolas" pitchFamily="34" charset="-122"/>
                          <a:cs typeface="Consolas" pitchFamily="34" charset="-120"/>
                        </a:rPr>
                        <a:t>x·Φ(x)</a:t>
                      </a:r>
                      <a:endParaRPr lang="en-US" sz="1300" dirty="0">
                        <a:latin typeface="Consolas" charset="0"/>
                        <a:ea typeface="Consolas" charset="0"/>
                        <a:cs typeface="Consolas" charset="0"/>
                      </a:endParaRPr>
                    </a:p>
                  </a:txBody>
                  <a:tcPr marL="76200" marR="76200" marT="38100" marB="38100" anchor="ctr">
                    <a:lnL w="12700" cap="flat" cmpd="sng" algn="ctr">
                      <a:solidFill>
                        <a:srgbClr val="E1E5EF"/>
                      </a:solidFill>
                      <a:prstDash val="solid"/>
                      <a:round/>
                      <a:headEnd type="none" w="med" len="med"/>
                      <a:tailEnd type="none" w="med" len="med"/>
                    </a:lnL>
                    <a:lnR w="12700" cap="flat" cmpd="sng" algn="ctr">
                      <a:solidFill>
                        <a:srgbClr val="E1E5EF"/>
                      </a:solidFill>
                      <a:prstDash val="solid"/>
                      <a:round/>
                      <a:headEnd type="none" w="med" len="med"/>
                      <a:tailEnd type="none" w="med" len="med"/>
                    </a:lnR>
                    <a:lnT w="12700" cap="flat" cmpd="sng" algn="ctr">
                      <a:solidFill>
                        <a:srgbClr val="E1E5EF"/>
                      </a:solidFill>
                      <a:prstDash val="solid"/>
                      <a:round/>
                      <a:headEnd type="none" w="med" len="med"/>
                      <a:tailEnd type="none" w="med" len="med"/>
                    </a:lnT>
                    <a:lnB w="12700" cap="flat" cmpd="sng" algn="ctr">
                      <a:solidFill>
                        <a:srgbClr val="E1E5EF"/>
                      </a:solidFill>
                      <a:prstDash val="solid"/>
                      <a:round/>
                      <a:headEnd type="none" w="med" len="med"/>
                      <a:tailEnd type="none" w="med" len="med"/>
                    </a:lnB>
                    <a:solidFill>
                      <a:srgbClr val="F4F6FB"/>
                    </a:solidFill>
                  </a:tcPr>
                </a:tc>
                <a:tc>
                  <a:txBody>
                    <a:bodyPr/>
                    <a:lstStyle/>
                    <a:p>
                      <a:pPr marL="0" indent="0" algn="l">
                        <a:buNone/>
                      </a:pPr>
                      <a:r>
                        <a:rPr lang="en-US" sz="1300" dirty="0">
                          <a:solidFill>
                            <a:srgbClr val="1C2333"/>
                          </a:solidFill>
                          <a:latin typeface="Calibri" pitchFamily="34" charset="0"/>
                          <a:ea typeface="Calibri" pitchFamily="34" charset="-122"/>
                          <a:cs typeface="Calibri" pitchFamily="34" charset="-120"/>
                        </a:rPr>
                        <a:t>(≈−0.17, ∞)</a:t>
                      </a:r>
                      <a:endParaRPr lang="en-US" sz="1300" dirty="0">
                        <a:latin typeface="Calibri" charset="0"/>
                        <a:ea typeface="Calibri" charset="0"/>
                        <a:cs typeface="Calibri" charset="0"/>
                      </a:endParaRPr>
                    </a:p>
                  </a:txBody>
                  <a:tcPr marL="76200" marR="76200" marT="38100" marB="38100" anchor="ctr">
                    <a:lnL w="12700" cap="flat" cmpd="sng" algn="ctr">
                      <a:solidFill>
                        <a:srgbClr val="E1E5EF"/>
                      </a:solidFill>
                      <a:prstDash val="solid"/>
                      <a:round/>
                      <a:headEnd type="none" w="med" len="med"/>
                      <a:tailEnd type="none" w="med" len="med"/>
                    </a:lnL>
                    <a:lnR w="12700" cap="flat" cmpd="sng" algn="ctr">
                      <a:solidFill>
                        <a:srgbClr val="E1E5EF"/>
                      </a:solidFill>
                      <a:prstDash val="solid"/>
                      <a:round/>
                      <a:headEnd type="none" w="med" len="med"/>
                      <a:tailEnd type="none" w="med" len="med"/>
                    </a:lnR>
                    <a:lnT w="12700" cap="flat" cmpd="sng" algn="ctr">
                      <a:solidFill>
                        <a:srgbClr val="E1E5EF"/>
                      </a:solidFill>
                      <a:prstDash val="solid"/>
                      <a:round/>
                      <a:headEnd type="none" w="med" len="med"/>
                      <a:tailEnd type="none" w="med" len="med"/>
                    </a:lnT>
                    <a:lnB w="12700" cap="flat" cmpd="sng" algn="ctr">
                      <a:solidFill>
                        <a:srgbClr val="E1E5EF"/>
                      </a:solidFill>
                      <a:prstDash val="solid"/>
                      <a:round/>
                      <a:headEnd type="none" w="med" len="med"/>
                      <a:tailEnd type="none" w="med" len="med"/>
                    </a:lnB>
                    <a:solidFill>
                      <a:srgbClr val="F4F6FB"/>
                    </a:solidFill>
                  </a:tcPr>
                </a:tc>
                <a:tc>
                  <a:txBody>
                    <a:bodyPr/>
                    <a:lstStyle/>
                    <a:p>
                      <a:pPr marL="0" indent="0" algn="l">
                        <a:buNone/>
                      </a:pPr>
                      <a:r>
                        <a:rPr lang="en-US" sz="1300" dirty="0">
                          <a:solidFill>
                            <a:srgbClr val="1C2333"/>
                          </a:solidFill>
                          <a:latin typeface="Calibri" pitchFamily="34" charset="0"/>
                          <a:ea typeface="Calibri" pitchFamily="34" charset="-122"/>
                          <a:cs typeface="Calibri" pitchFamily="34" charset="-120"/>
                        </a:rPr>
                        <a:t>Transformers</a:t>
                      </a:r>
                      <a:endParaRPr lang="en-US" sz="1300" dirty="0">
                        <a:latin typeface="Calibri" charset="0"/>
                        <a:ea typeface="Calibri" charset="0"/>
                        <a:cs typeface="Calibri" charset="0"/>
                      </a:endParaRPr>
                    </a:p>
                  </a:txBody>
                  <a:tcPr marL="76200" marR="76200" marT="38100" marB="38100" anchor="ctr">
                    <a:lnL w="12700" cap="flat" cmpd="sng" algn="ctr">
                      <a:solidFill>
                        <a:srgbClr val="E1E5EF"/>
                      </a:solidFill>
                      <a:prstDash val="solid"/>
                      <a:round/>
                      <a:headEnd type="none" w="med" len="med"/>
                      <a:tailEnd type="none" w="med" len="med"/>
                    </a:lnL>
                    <a:lnR w="12700" cap="flat" cmpd="sng" algn="ctr">
                      <a:solidFill>
                        <a:srgbClr val="E1E5EF"/>
                      </a:solidFill>
                      <a:prstDash val="solid"/>
                      <a:round/>
                      <a:headEnd type="none" w="med" len="med"/>
                      <a:tailEnd type="none" w="med" len="med"/>
                    </a:lnR>
                    <a:lnT w="12700" cap="flat" cmpd="sng" algn="ctr">
                      <a:solidFill>
                        <a:srgbClr val="E1E5EF"/>
                      </a:solidFill>
                      <a:prstDash val="solid"/>
                      <a:round/>
                      <a:headEnd type="none" w="med" len="med"/>
                      <a:tailEnd type="none" w="med" len="med"/>
                    </a:lnT>
                    <a:lnB w="12700" cap="flat" cmpd="sng" algn="ctr">
                      <a:solidFill>
                        <a:srgbClr val="E1E5EF"/>
                      </a:solidFill>
                      <a:prstDash val="solid"/>
                      <a:round/>
                      <a:headEnd type="none" w="med" len="med"/>
                      <a:tailEnd type="none" w="med" len="med"/>
                    </a:lnB>
                    <a:solidFill>
                      <a:srgbClr val="F4F6FB"/>
                    </a:solidFill>
                  </a:tcPr>
                </a:tc>
                <a:extLst>
                  <a:ext uri="{0D108BD9-81ED-4DB2-BD59-A6C34878D82A}">
                    <a16:rowId xmlns:a16="http://schemas.microsoft.com/office/drawing/2014/main" val="10007"/>
                  </a:ext>
                </a:extLst>
              </a:tr>
              <a:tr h="512064">
                <a:tc>
                  <a:txBody>
                    <a:bodyPr/>
                    <a:lstStyle/>
                    <a:p>
                      <a:pPr marL="0" indent="0" algn="l">
                        <a:buNone/>
                      </a:pPr>
                      <a:r>
                        <a:rPr lang="en-US" sz="1300" b="1" dirty="0">
                          <a:solidFill>
                            <a:srgbClr val="141B3C"/>
                          </a:solidFill>
                          <a:latin typeface="Calibri" pitchFamily="34" charset="0"/>
                          <a:ea typeface="Calibri" pitchFamily="34" charset="-122"/>
                          <a:cs typeface="Calibri" pitchFamily="34" charset="-120"/>
                        </a:rPr>
                        <a:t>Softmax</a:t>
                      </a:r>
                      <a:endParaRPr lang="en-US" sz="1300" dirty="0">
                        <a:latin typeface="Calibri" charset="0"/>
                        <a:ea typeface="Calibri" charset="0"/>
                        <a:cs typeface="Calibri" charset="0"/>
                      </a:endParaRPr>
                    </a:p>
                  </a:txBody>
                  <a:tcPr marL="76200" marR="76200" marT="38100" marB="38100" anchor="ctr">
                    <a:lnL w="12700" cap="flat" cmpd="sng" algn="ctr">
                      <a:solidFill>
                        <a:srgbClr val="E1E5EF"/>
                      </a:solidFill>
                      <a:prstDash val="solid"/>
                      <a:round/>
                      <a:headEnd type="none" w="med" len="med"/>
                      <a:tailEnd type="none" w="med" len="med"/>
                    </a:lnL>
                    <a:lnR w="12700" cap="flat" cmpd="sng" algn="ctr">
                      <a:solidFill>
                        <a:srgbClr val="E1E5EF"/>
                      </a:solidFill>
                      <a:prstDash val="solid"/>
                      <a:round/>
                      <a:headEnd type="none" w="med" len="med"/>
                      <a:tailEnd type="none" w="med" len="med"/>
                    </a:lnR>
                    <a:lnT w="12700" cap="flat" cmpd="sng" algn="ctr">
                      <a:solidFill>
                        <a:srgbClr val="E1E5EF"/>
                      </a:solidFill>
                      <a:prstDash val="solid"/>
                      <a:round/>
                      <a:headEnd type="none" w="med" len="med"/>
                      <a:tailEnd type="none" w="med" len="med"/>
                    </a:lnT>
                    <a:lnB w="12700" cap="flat" cmpd="sng" algn="ctr">
                      <a:solidFill>
                        <a:srgbClr val="E1E5EF"/>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C2333"/>
                          </a:solidFill>
                          <a:latin typeface="Consolas" pitchFamily="34" charset="0"/>
                          <a:ea typeface="Consolas" pitchFamily="34" charset="-122"/>
                          <a:cs typeface="Consolas" pitchFamily="34" charset="-120"/>
                        </a:rPr>
                        <a:t>eˣⁱ / Σ eˣʲ</a:t>
                      </a:r>
                      <a:endParaRPr lang="en-US" sz="1300" dirty="0">
                        <a:latin typeface="Consolas" charset="0"/>
                        <a:ea typeface="Consolas" charset="0"/>
                        <a:cs typeface="Consolas" charset="0"/>
                      </a:endParaRPr>
                    </a:p>
                  </a:txBody>
                  <a:tcPr marL="76200" marR="76200" marT="38100" marB="38100" anchor="ctr">
                    <a:lnL w="12700" cap="flat" cmpd="sng" algn="ctr">
                      <a:solidFill>
                        <a:srgbClr val="E1E5EF"/>
                      </a:solidFill>
                      <a:prstDash val="solid"/>
                      <a:round/>
                      <a:headEnd type="none" w="med" len="med"/>
                      <a:tailEnd type="none" w="med" len="med"/>
                    </a:lnL>
                    <a:lnR w="12700" cap="flat" cmpd="sng" algn="ctr">
                      <a:solidFill>
                        <a:srgbClr val="E1E5EF"/>
                      </a:solidFill>
                      <a:prstDash val="solid"/>
                      <a:round/>
                      <a:headEnd type="none" w="med" len="med"/>
                      <a:tailEnd type="none" w="med" len="med"/>
                    </a:lnR>
                    <a:lnT w="12700" cap="flat" cmpd="sng" algn="ctr">
                      <a:solidFill>
                        <a:srgbClr val="E1E5EF"/>
                      </a:solidFill>
                      <a:prstDash val="solid"/>
                      <a:round/>
                      <a:headEnd type="none" w="med" len="med"/>
                      <a:tailEnd type="none" w="med" len="med"/>
                    </a:lnT>
                    <a:lnB w="12700" cap="flat" cmpd="sng" algn="ctr">
                      <a:solidFill>
                        <a:srgbClr val="E1E5EF"/>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C2333"/>
                          </a:solidFill>
                          <a:latin typeface="Calibri" pitchFamily="34" charset="0"/>
                          <a:ea typeface="Calibri" pitchFamily="34" charset="-122"/>
                          <a:cs typeface="Calibri" pitchFamily="34" charset="-120"/>
                        </a:rPr>
                        <a:t>(0,1), Σ=1</a:t>
                      </a:r>
                      <a:endParaRPr lang="en-US" sz="1300" dirty="0">
                        <a:latin typeface="Calibri" charset="0"/>
                        <a:ea typeface="Calibri" charset="0"/>
                        <a:cs typeface="Calibri" charset="0"/>
                      </a:endParaRPr>
                    </a:p>
                  </a:txBody>
                  <a:tcPr marL="76200" marR="76200" marT="38100" marB="38100" anchor="ctr">
                    <a:lnL w="12700" cap="flat" cmpd="sng" algn="ctr">
                      <a:solidFill>
                        <a:srgbClr val="E1E5EF"/>
                      </a:solidFill>
                      <a:prstDash val="solid"/>
                      <a:round/>
                      <a:headEnd type="none" w="med" len="med"/>
                      <a:tailEnd type="none" w="med" len="med"/>
                    </a:lnL>
                    <a:lnR w="12700" cap="flat" cmpd="sng" algn="ctr">
                      <a:solidFill>
                        <a:srgbClr val="E1E5EF"/>
                      </a:solidFill>
                      <a:prstDash val="solid"/>
                      <a:round/>
                      <a:headEnd type="none" w="med" len="med"/>
                      <a:tailEnd type="none" w="med" len="med"/>
                    </a:lnR>
                    <a:lnT w="12700" cap="flat" cmpd="sng" algn="ctr">
                      <a:solidFill>
                        <a:srgbClr val="E1E5EF"/>
                      </a:solidFill>
                      <a:prstDash val="solid"/>
                      <a:round/>
                      <a:headEnd type="none" w="med" len="med"/>
                      <a:tailEnd type="none" w="med" len="med"/>
                    </a:lnT>
                    <a:lnB w="12700" cap="flat" cmpd="sng" algn="ctr">
                      <a:solidFill>
                        <a:srgbClr val="E1E5EF"/>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C2333"/>
                          </a:solidFill>
                          <a:latin typeface="Calibri" pitchFamily="34" charset="0"/>
                          <a:ea typeface="Calibri" pitchFamily="34" charset="-122"/>
                          <a:cs typeface="Calibri" pitchFamily="34" charset="-120"/>
                        </a:rPr>
                        <a:t>Multi-class output</a:t>
                      </a:r>
                      <a:endParaRPr lang="en-US" sz="1300" dirty="0">
                        <a:latin typeface="Calibri" charset="0"/>
                        <a:ea typeface="Calibri" charset="0"/>
                        <a:cs typeface="Calibri" charset="0"/>
                      </a:endParaRPr>
                    </a:p>
                  </a:txBody>
                  <a:tcPr marL="76200" marR="76200" marT="38100" marB="38100" anchor="ctr">
                    <a:lnL w="12700" cap="flat" cmpd="sng" algn="ctr">
                      <a:solidFill>
                        <a:srgbClr val="E1E5EF"/>
                      </a:solidFill>
                      <a:prstDash val="solid"/>
                      <a:round/>
                      <a:headEnd type="none" w="med" len="med"/>
                      <a:tailEnd type="none" w="med" len="med"/>
                    </a:lnL>
                    <a:lnR w="12700" cap="flat" cmpd="sng" algn="ctr">
                      <a:solidFill>
                        <a:srgbClr val="E1E5EF"/>
                      </a:solidFill>
                      <a:prstDash val="solid"/>
                      <a:round/>
                      <a:headEnd type="none" w="med" len="med"/>
                      <a:tailEnd type="none" w="med" len="med"/>
                    </a:lnR>
                    <a:lnT w="12700" cap="flat" cmpd="sng" algn="ctr">
                      <a:solidFill>
                        <a:srgbClr val="E1E5EF"/>
                      </a:solidFill>
                      <a:prstDash val="solid"/>
                      <a:round/>
                      <a:headEnd type="none" w="med" len="med"/>
                      <a:tailEnd type="none" w="med" len="med"/>
                    </a:lnT>
                    <a:lnB w="12700" cap="flat" cmpd="sng" algn="ctr">
                      <a:solidFill>
                        <a:srgbClr val="E1E5EF"/>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Text 3"/>
          <p:cNvSpPr/>
          <p:nvPr/>
        </p:nvSpPr>
        <p:spPr>
          <a:xfrm>
            <a:off x="548640" y="6473952"/>
            <a:ext cx="4572000" cy="274320"/>
          </a:xfrm>
          <a:prstGeom prst="rect">
            <a:avLst/>
          </a:prstGeom>
          <a:noFill/>
          <a:ln/>
        </p:spPr>
        <p:txBody>
          <a:bodyPr wrap="square" lIns="0" tIns="0" rIns="0" bIns="0" rtlCol="0" anchor="ctr"/>
          <a:lstStyle/>
          <a:p>
            <a:pPr marL="0" indent="0" algn="l">
              <a:buNone/>
            </a:pPr>
            <a:r>
              <a:rPr lang="en-US" sz="900" dirty="0">
                <a:solidFill>
                  <a:srgbClr val="6B7385"/>
                </a:solidFill>
                <a:latin typeface="Calibri" pitchFamily="34" charset="0"/>
                <a:ea typeface="Calibri" pitchFamily="34" charset="-122"/>
                <a:cs typeface="Calibri" pitchFamily="34" charset="-120"/>
              </a:rPr>
              <a:t>Activation Functions</a:t>
            </a:r>
            <a:endParaRPr lang="en-US" sz="900" dirty="0"/>
          </a:p>
        </p:txBody>
      </p:sp>
      <p:sp>
        <p:nvSpPr>
          <p:cNvPr id="7" name="Text 4"/>
          <p:cNvSpPr/>
          <p:nvPr/>
        </p:nvSpPr>
        <p:spPr>
          <a:xfrm>
            <a:off x="11183112" y="6473952"/>
            <a:ext cx="457200" cy="274320"/>
          </a:xfrm>
          <a:prstGeom prst="rect">
            <a:avLst/>
          </a:prstGeom>
          <a:noFill/>
          <a:ln/>
        </p:spPr>
        <p:txBody>
          <a:bodyPr wrap="square" lIns="0" tIns="0" rIns="0" bIns="0" rtlCol="0" anchor="ctr"/>
          <a:lstStyle/>
          <a:p>
            <a:pPr marL="0" indent="0" algn="r">
              <a:buNone/>
            </a:pPr>
            <a:r>
              <a:rPr lang="en-US" sz="900" dirty="0">
                <a:solidFill>
                  <a:srgbClr val="6B7385"/>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9">
    <p:bg>
      <p:bgPr>
        <a:solidFill>
          <a:srgbClr val="141B3C"/>
        </a:solidFill>
        <a:effectLst/>
      </p:bgPr>
    </p:bg>
    <p:spTree>
      <p:nvGrpSpPr>
        <p:cNvPr id="1" name=""/>
        <p:cNvGrpSpPr/>
        <p:nvPr/>
      </p:nvGrpSpPr>
      <p:grpSpPr>
        <a:xfrm>
          <a:off x="0" y="0"/>
          <a:ext cx="0" cy="0"/>
          <a:chOff x="0" y="0"/>
          <a:chExt cx="0" cy="0"/>
        </a:xfrm>
      </p:grpSpPr>
      <p:sp>
        <p:nvSpPr>
          <p:cNvPr id="2" name="Text 0"/>
          <p:cNvSpPr/>
          <p:nvPr/>
        </p:nvSpPr>
        <p:spPr>
          <a:xfrm>
            <a:off x="548640" y="822960"/>
            <a:ext cx="5486400" cy="365760"/>
          </a:xfrm>
          <a:prstGeom prst="rect">
            <a:avLst/>
          </a:prstGeom>
          <a:noFill/>
          <a:ln/>
        </p:spPr>
        <p:txBody>
          <a:bodyPr wrap="square" lIns="0" tIns="0" rIns="0" bIns="0" rtlCol="0" anchor="ctr"/>
          <a:lstStyle/>
          <a:p>
            <a:pPr marL="0" indent="0">
              <a:buNone/>
            </a:pPr>
            <a:r>
              <a:rPr lang="en-US" sz="1300" b="1" kern="0" spc="300" dirty="0">
                <a:solidFill>
                  <a:srgbClr val="EC1E79"/>
                </a:solidFill>
                <a:latin typeface="Calibri" pitchFamily="34" charset="0"/>
                <a:ea typeface="Calibri" pitchFamily="34" charset="-122"/>
                <a:cs typeface="Calibri" pitchFamily="34" charset="-120"/>
              </a:rPr>
              <a:t>TAKEAWAYS</a:t>
            </a:r>
            <a:endParaRPr lang="en-US" sz="1300" dirty="0"/>
          </a:p>
        </p:txBody>
      </p:sp>
      <p:sp>
        <p:nvSpPr>
          <p:cNvPr id="3" name="Text 1"/>
          <p:cNvSpPr/>
          <p:nvPr/>
        </p:nvSpPr>
        <p:spPr>
          <a:xfrm>
            <a:off x="548640" y="1188720"/>
            <a:ext cx="10058400" cy="73152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Five things to remember</a:t>
            </a:r>
            <a:endParaRPr lang="en-US" sz="3400" dirty="0"/>
          </a:p>
        </p:txBody>
      </p:sp>
      <p:sp>
        <p:nvSpPr>
          <p:cNvPr id="4" name="Shape 2"/>
          <p:cNvSpPr/>
          <p:nvPr/>
        </p:nvSpPr>
        <p:spPr>
          <a:xfrm>
            <a:off x="548640" y="2286000"/>
            <a:ext cx="502920" cy="502920"/>
          </a:xfrm>
          <a:prstGeom prst="roundRect">
            <a:avLst>
              <a:gd name="adj" fmla="val 18182"/>
            </a:avLst>
          </a:prstGeom>
          <a:solidFill>
            <a:srgbClr val="EC1E79"/>
          </a:solidFill>
          <a:ln/>
        </p:spPr>
      </p:sp>
      <p:sp>
        <p:nvSpPr>
          <p:cNvPr id="5" name="Text 3"/>
          <p:cNvSpPr/>
          <p:nvPr/>
        </p:nvSpPr>
        <p:spPr>
          <a:xfrm>
            <a:off x="548640" y="22860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Text 4"/>
          <p:cNvSpPr/>
          <p:nvPr/>
        </p:nvSpPr>
        <p:spPr>
          <a:xfrm>
            <a:off x="1207008" y="2267712"/>
            <a:ext cx="4828032" cy="457200"/>
          </a:xfrm>
          <a:prstGeom prst="rect">
            <a:avLst/>
          </a:prstGeom>
          <a:noFill/>
          <a:ln/>
        </p:spPr>
        <p:txBody>
          <a:bodyPr wrap="square" lIns="0" tIns="0" rIns="0" bIns="0" rtlCol="0" anchor="ctr"/>
          <a:lstStyle/>
          <a:p>
            <a:pPr marL="0" indent="0">
              <a:buNone/>
            </a:pPr>
            <a:r>
              <a:rPr lang="en-US" sz="1650" b="1" dirty="0">
                <a:solidFill>
                  <a:srgbClr val="FFFFFF"/>
                </a:solidFill>
                <a:latin typeface="Calibri" pitchFamily="34" charset="0"/>
                <a:ea typeface="Calibri" pitchFamily="34" charset="-122"/>
                <a:cs typeface="Calibri" pitchFamily="34" charset="-120"/>
              </a:rPr>
              <a:t>Non-linearity is the whole point</a:t>
            </a:r>
            <a:endParaRPr lang="en-US" sz="1650" dirty="0"/>
          </a:p>
        </p:txBody>
      </p:sp>
      <p:sp>
        <p:nvSpPr>
          <p:cNvPr id="7" name="Text 5"/>
          <p:cNvSpPr/>
          <p:nvPr/>
        </p:nvSpPr>
        <p:spPr>
          <a:xfrm>
            <a:off x="1207008" y="2724912"/>
            <a:ext cx="4828032" cy="777240"/>
          </a:xfrm>
          <a:prstGeom prst="rect">
            <a:avLst/>
          </a:prstGeom>
          <a:noFill/>
          <a:ln/>
        </p:spPr>
        <p:txBody>
          <a:bodyPr wrap="square" lIns="0" tIns="0" rIns="0" bIns="0" rtlCol="0" anchor="t"/>
          <a:lstStyle/>
          <a:p>
            <a:pPr marL="0" indent="0">
              <a:buNone/>
            </a:pPr>
            <a:r>
              <a:rPr lang="en-US" sz="1250" dirty="0">
                <a:solidFill>
                  <a:srgbClr val="B9C1DC"/>
                </a:solidFill>
                <a:latin typeface="Calibri" pitchFamily="34" charset="0"/>
                <a:ea typeface="Calibri" pitchFamily="34" charset="-122"/>
                <a:cs typeface="Calibri" pitchFamily="34" charset="-120"/>
              </a:rPr>
              <a:t>Without it, a deep net collapses to one line — 64% vs 99% on the same data.</a:t>
            </a:r>
            <a:endParaRPr lang="en-US" sz="1250" dirty="0"/>
          </a:p>
        </p:txBody>
      </p:sp>
      <p:sp>
        <p:nvSpPr>
          <p:cNvPr id="8" name="Shape 6"/>
          <p:cNvSpPr/>
          <p:nvPr/>
        </p:nvSpPr>
        <p:spPr>
          <a:xfrm>
            <a:off x="548640" y="3611880"/>
            <a:ext cx="502920" cy="502920"/>
          </a:xfrm>
          <a:prstGeom prst="roundRect">
            <a:avLst>
              <a:gd name="adj" fmla="val 18182"/>
            </a:avLst>
          </a:prstGeom>
          <a:solidFill>
            <a:srgbClr val="2F55D4"/>
          </a:solidFill>
          <a:ln/>
        </p:spPr>
      </p:sp>
      <p:sp>
        <p:nvSpPr>
          <p:cNvPr id="9" name="Text 7"/>
          <p:cNvSpPr/>
          <p:nvPr/>
        </p:nvSpPr>
        <p:spPr>
          <a:xfrm>
            <a:off x="548640" y="361188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0" name="Text 8"/>
          <p:cNvSpPr/>
          <p:nvPr/>
        </p:nvSpPr>
        <p:spPr>
          <a:xfrm>
            <a:off x="1207008" y="3593592"/>
            <a:ext cx="4828032" cy="457200"/>
          </a:xfrm>
          <a:prstGeom prst="rect">
            <a:avLst/>
          </a:prstGeom>
          <a:noFill/>
          <a:ln/>
        </p:spPr>
        <p:txBody>
          <a:bodyPr wrap="square" lIns="0" tIns="0" rIns="0" bIns="0" rtlCol="0" anchor="ctr"/>
          <a:lstStyle/>
          <a:p>
            <a:pPr marL="0" indent="0">
              <a:buNone/>
            </a:pPr>
            <a:r>
              <a:rPr lang="en-US" sz="1650" b="1" dirty="0">
                <a:solidFill>
                  <a:srgbClr val="FFFFFF"/>
                </a:solidFill>
                <a:latin typeface="Calibri" pitchFamily="34" charset="0"/>
                <a:ea typeface="Calibri" pitchFamily="34" charset="-122"/>
                <a:cs typeface="Calibri" pitchFamily="34" charset="-120"/>
              </a:rPr>
              <a:t>ReLU is the default</a:t>
            </a:r>
            <a:endParaRPr lang="en-US" sz="1650" dirty="0"/>
          </a:p>
        </p:txBody>
      </p:sp>
      <p:sp>
        <p:nvSpPr>
          <p:cNvPr id="11" name="Text 9"/>
          <p:cNvSpPr/>
          <p:nvPr/>
        </p:nvSpPr>
        <p:spPr>
          <a:xfrm>
            <a:off x="1207008" y="4050792"/>
            <a:ext cx="4828032" cy="777240"/>
          </a:xfrm>
          <a:prstGeom prst="rect">
            <a:avLst/>
          </a:prstGeom>
          <a:noFill/>
          <a:ln/>
        </p:spPr>
        <p:txBody>
          <a:bodyPr wrap="square" lIns="0" tIns="0" rIns="0" bIns="0" rtlCol="0" anchor="t"/>
          <a:lstStyle/>
          <a:p>
            <a:pPr marL="0" indent="0">
              <a:buNone/>
            </a:pPr>
            <a:r>
              <a:rPr lang="en-US" sz="1250" dirty="0">
                <a:solidFill>
                  <a:srgbClr val="B9C1DC"/>
                </a:solidFill>
                <a:latin typeface="Calibri" pitchFamily="34" charset="0"/>
                <a:ea typeface="Calibri" pitchFamily="34" charset="-122"/>
                <a:cs typeface="Calibri" pitchFamily="34" charset="-120"/>
              </a:rPr>
              <a:t>One comparison, no exponentials, ~99% accuracy. Start here, then tune.</a:t>
            </a:r>
            <a:endParaRPr lang="en-US" sz="1250" dirty="0"/>
          </a:p>
        </p:txBody>
      </p:sp>
      <p:sp>
        <p:nvSpPr>
          <p:cNvPr id="12" name="Shape 10"/>
          <p:cNvSpPr/>
          <p:nvPr/>
        </p:nvSpPr>
        <p:spPr>
          <a:xfrm>
            <a:off x="548640" y="4937760"/>
            <a:ext cx="502920" cy="502920"/>
          </a:xfrm>
          <a:prstGeom prst="roundRect">
            <a:avLst>
              <a:gd name="adj" fmla="val 18182"/>
            </a:avLst>
          </a:prstGeom>
          <a:solidFill>
            <a:srgbClr val="6C4CE0"/>
          </a:solidFill>
          <a:ln/>
        </p:spPr>
      </p:sp>
      <p:sp>
        <p:nvSpPr>
          <p:cNvPr id="13" name="Text 11"/>
          <p:cNvSpPr/>
          <p:nvPr/>
        </p:nvSpPr>
        <p:spPr>
          <a:xfrm>
            <a:off x="548640" y="493776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4" name="Text 12"/>
          <p:cNvSpPr/>
          <p:nvPr/>
        </p:nvSpPr>
        <p:spPr>
          <a:xfrm>
            <a:off x="1207008" y="4919472"/>
            <a:ext cx="4828032" cy="457200"/>
          </a:xfrm>
          <a:prstGeom prst="rect">
            <a:avLst/>
          </a:prstGeom>
          <a:noFill/>
          <a:ln/>
        </p:spPr>
        <p:txBody>
          <a:bodyPr wrap="square" lIns="0" tIns="0" rIns="0" bIns="0" rtlCol="0" anchor="ctr"/>
          <a:lstStyle/>
          <a:p>
            <a:pPr marL="0" indent="0">
              <a:buNone/>
            </a:pPr>
            <a:r>
              <a:rPr lang="en-US" sz="1650" b="1" dirty="0">
                <a:solidFill>
                  <a:srgbClr val="FFFFFF"/>
                </a:solidFill>
                <a:latin typeface="Calibri" pitchFamily="34" charset="0"/>
                <a:ea typeface="Calibri" pitchFamily="34" charset="-122"/>
                <a:cs typeface="Calibri" pitchFamily="34" charset="-120"/>
              </a:rPr>
              <a:t>Mind the gradients</a:t>
            </a:r>
            <a:endParaRPr lang="en-US" sz="1650" dirty="0"/>
          </a:p>
        </p:txBody>
      </p:sp>
      <p:sp>
        <p:nvSpPr>
          <p:cNvPr id="15" name="Text 13"/>
          <p:cNvSpPr/>
          <p:nvPr/>
        </p:nvSpPr>
        <p:spPr>
          <a:xfrm>
            <a:off x="1207008" y="5376672"/>
            <a:ext cx="4828032" cy="777240"/>
          </a:xfrm>
          <a:prstGeom prst="rect">
            <a:avLst/>
          </a:prstGeom>
          <a:noFill/>
          <a:ln/>
        </p:spPr>
        <p:txBody>
          <a:bodyPr wrap="square" lIns="0" tIns="0" rIns="0" bIns="0" rtlCol="0" anchor="t"/>
          <a:lstStyle/>
          <a:p>
            <a:pPr marL="0" indent="0">
              <a:buNone/>
            </a:pPr>
            <a:r>
              <a:rPr lang="en-US" sz="1250" dirty="0">
                <a:solidFill>
                  <a:srgbClr val="B9C1DC"/>
                </a:solidFill>
                <a:latin typeface="Calibri" pitchFamily="34" charset="0"/>
                <a:ea typeface="Calibri" pitchFamily="34" charset="-122"/>
                <a:cs typeface="Calibri" pitchFamily="34" charset="-120"/>
              </a:rPr>
              <a:t>Sigmoid's signal vanishes 10¹⁰× by the input layer. Zero-centered, non-saturating flows.</a:t>
            </a:r>
            <a:endParaRPr lang="en-US" sz="1250" dirty="0"/>
          </a:p>
        </p:txBody>
      </p:sp>
      <p:sp>
        <p:nvSpPr>
          <p:cNvPr id="16" name="Shape 14"/>
          <p:cNvSpPr/>
          <p:nvPr/>
        </p:nvSpPr>
        <p:spPr>
          <a:xfrm>
            <a:off x="6309360" y="2286000"/>
            <a:ext cx="502920" cy="502920"/>
          </a:xfrm>
          <a:prstGeom prst="roundRect">
            <a:avLst>
              <a:gd name="adj" fmla="val 18182"/>
            </a:avLst>
          </a:prstGeom>
          <a:solidFill>
            <a:srgbClr val="12B886"/>
          </a:solidFill>
          <a:ln/>
        </p:spPr>
      </p:sp>
      <p:sp>
        <p:nvSpPr>
          <p:cNvPr id="17" name="Text 15"/>
          <p:cNvSpPr/>
          <p:nvPr/>
        </p:nvSpPr>
        <p:spPr>
          <a:xfrm>
            <a:off x="6309360" y="22860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8" name="Text 16"/>
          <p:cNvSpPr/>
          <p:nvPr/>
        </p:nvSpPr>
        <p:spPr>
          <a:xfrm>
            <a:off x="6967728" y="2267712"/>
            <a:ext cx="4645152" cy="457200"/>
          </a:xfrm>
          <a:prstGeom prst="rect">
            <a:avLst/>
          </a:prstGeom>
          <a:noFill/>
          <a:ln/>
        </p:spPr>
        <p:txBody>
          <a:bodyPr wrap="square" lIns="0" tIns="0" rIns="0" bIns="0" rtlCol="0" anchor="ctr"/>
          <a:lstStyle/>
          <a:p>
            <a:pPr marL="0" indent="0">
              <a:buNone/>
            </a:pPr>
            <a:r>
              <a:rPr lang="en-US" sz="1650" b="1" dirty="0">
                <a:solidFill>
                  <a:srgbClr val="FFFFFF"/>
                </a:solidFill>
                <a:latin typeface="Calibri" pitchFamily="34" charset="0"/>
                <a:ea typeface="Calibri" pitchFamily="34" charset="-122"/>
                <a:cs typeface="Calibri" pitchFamily="34" charset="-120"/>
              </a:rPr>
              <a:t>“Best” is multi-dimensional</a:t>
            </a:r>
            <a:endParaRPr lang="en-US" sz="1650" dirty="0"/>
          </a:p>
        </p:txBody>
      </p:sp>
      <p:sp>
        <p:nvSpPr>
          <p:cNvPr id="19" name="Text 17"/>
          <p:cNvSpPr/>
          <p:nvPr/>
        </p:nvSpPr>
        <p:spPr>
          <a:xfrm>
            <a:off x="6967728" y="2724912"/>
            <a:ext cx="4645152" cy="777240"/>
          </a:xfrm>
          <a:prstGeom prst="rect">
            <a:avLst/>
          </a:prstGeom>
          <a:noFill/>
          <a:ln/>
        </p:spPr>
        <p:txBody>
          <a:bodyPr wrap="square" lIns="0" tIns="0" rIns="0" bIns="0" rtlCol="0" anchor="t"/>
          <a:lstStyle/>
          <a:p>
            <a:pPr marL="0" indent="0">
              <a:buNone/>
            </a:pPr>
            <a:r>
              <a:rPr lang="en-US" sz="1250" dirty="0">
                <a:solidFill>
                  <a:srgbClr val="B9C1DC"/>
                </a:solidFill>
                <a:latin typeface="Calibri" pitchFamily="34" charset="0"/>
                <a:ea typeface="Calibri" pitchFamily="34" charset="-122"/>
                <a:cs typeface="Calibri" pitchFamily="34" charset="-120"/>
              </a:rPr>
              <a:t>On easy tasks the moderns tie on accuracy — choose on cost and stability.</a:t>
            </a:r>
            <a:endParaRPr lang="en-US" sz="1250" dirty="0"/>
          </a:p>
        </p:txBody>
      </p:sp>
      <p:sp>
        <p:nvSpPr>
          <p:cNvPr id="20" name="Shape 18"/>
          <p:cNvSpPr/>
          <p:nvPr/>
        </p:nvSpPr>
        <p:spPr>
          <a:xfrm>
            <a:off x="6309360" y="3611880"/>
            <a:ext cx="502920" cy="502920"/>
          </a:xfrm>
          <a:prstGeom prst="roundRect">
            <a:avLst>
              <a:gd name="adj" fmla="val 18182"/>
            </a:avLst>
          </a:prstGeom>
          <a:solidFill>
            <a:srgbClr val="F59E0B"/>
          </a:solidFill>
          <a:ln/>
        </p:spPr>
      </p:sp>
      <p:sp>
        <p:nvSpPr>
          <p:cNvPr id="21" name="Text 19"/>
          <p:cNvSpPr/>
          <p:nvPr/>
        </p:nvSpPr>
        <p:spPr>
          <a:xfrm>
            <a:off x="6309360" y="361188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22" name="Text 20"/>
          <p:cNvSpPr/>
          <p:nvPr/>
        </p:nvSpPr>
        <p:spPr>
          <a:xfrm>
            <a:off x="6967728" y="3593592"/>
            <a:ext cx="4645152" cy="457200"/>
          </a:xfrm>
          <a:prstGeom prst="rect">
            <a:avLst/>
          </a:prstGeom>
          <a:noFill/>
          <a:ln/>
        </p:spPr>
        <p:txBody>
          <a:bodyPr wrap="square" lIns="0" tIns="0" rIns="0" bIns="0" rtlCol="0" anchor="ctr"/>
          <a:lstStyle/>
          <a:p>
            <a:pPr marL="0" indent="0">
              <a:buNone/>
            </a:pPr>
            <a:r>
              <a:rPr lang="en-US" sz="1650" b="1" dirty="0">
                <a:solidFill>
                  <a:srgbClr val="FFFFFF"/>
                </a:solidFill>
                <a:latin typeface="Calibri" pitchFamily="34" charset="0"/>
                <a:ea typeface="Calibri" pitchFamily="34" charset="-122"/>
                <a:cs typeface="Calibri" pitchFamily="34" charset="-120"/>
              </a:rPr>
              <a:t>Match the output to the task</a:t>
            </a:r>
            <a:endParaRPr lang="en-US" sz="1650" dirty="0"/>
          </a:p>
        </p:txBody>
      </p:sp>
      <p:sp>
        <p:nvSpPr>
          <p:cNvPr id="23" name="Text 21"/>
          <p:cNvSpPr/>
          <p:nvPr/>
        </p:nvSpPr>
        <p:spPr>
          <a:xfrm>
            <a:off x="6967728" y="4050792"/>
            <a:ext cx="4645152" cy="777240"/>
          </a:xfrm>
          <a:prstGeom prst="rect">
            <a:avLst/>
          </a:prstGeom>
          <a:noFill/>
          <a:ln/>
        </p:spPr>
        <p:txBody>
          <a:bodyPr wrap="square" lIns="0" tIns="0" rIns="0" bIns="0" rtlCol="0" anchor="t"/>
          <a:lstStyle/>
          <a:p>
            <a:pPr marL="0" indent="0">
              <a:buNone/>
            </a:pPr>
            <a:r>
              <a:rPr lang="en-US" sz="1250" dirty="0">
                <a:solidFill>
                  <a:srgbClr val="B9C1DC"/>
                </a:solidFill>
                <a:latin typeface="Calibri" pitchFamily="34" charset="0"/>
                <a:ea typeface="Calibri" pitchFamily="34" charset="-122"/>
                <a:cs typeface="Calibri" pitchFamily="34" charset="-120"/>
              </a:rPr>
              <a:t>Sigmoid for binary, Softmax for multi-class, Linear for regression.</a:t>
            </a:r>
            <a:endParaRPr lang="en-US" sz="1250" dirty="0"/>
          </a:p>
        </p:txBody>
      </p:sp>
      <p:sp>
        <p:nvSpPr>
          <p:cNvPr id="24" name="Shape 22"/>
          <p:cNvSpPr/>
          <p:nvPr/>
        </p:nvSpPr>
        <p:spPr>
          <a:xfrm>
            <a:off x="6309360" y="4937760"/>
            <a:ext cx="5330952" cy="1051560"/>
          </a:xfrm>
          <a:prstGeom prst="roundRect">
            <a:avLst>
              <a:gd name="adj" fmla="val 10435"/>
            </a:avLst>
          </a:prstGeom>
          <a:solidFill>
            <a:srgbClr val="1E2761"/>
          </a:solidFill>
          <a:ln/>
        </p:spPr>
      </p:sp>
      <p:sp>
        <p:nvSpPr>
          <p:cNvPr id="25" name="Text 23"/>
          <p:cNvSpPr/>
          <p:nvPr/>
        </p:nvSpPr>
        <p:spPr>
          <a:xfrm>
            <a:off x="6492240" y="4937760"/>
            <a:ext cx="4983480" cy="1051560"/>
          </a:xfrm>
          <a:prstGeom prst="rect">
            <a:avLst/>
          </a:prstGeom>
          <a:noFill/>
          <a:ln/>
        </p:spPr>
        <p:txBody>
          <a:bodyPr wrap="square" lIns="0" tIns="0" rIns="0" bIns="0" rtlCol="0" anchor="ctr"/>
          <a:lstStyle/>
          <a:p>
            <a:pPr marL="0" indent="0">
              <a:buNone/>
            </a:pPr>
            <a:r>
              <a:rPr lang="en-US" sz="1500" b="1" i="1" dirty="0">
                <a:solidFill>
                  <a:srgbClr val="FFFFFF"/>
                </a:solidFill>
                <a:latin typeface="Calibri" pitchFamily="34" charset="0"/>
                <a:ea typeface="Calibri" pitchFamily="34" charset="-122"/>
                <a:cs typeface="Calibri" pitchFamily="34" charset="-120"/>
              </a:rPr>
              <a:t>Small formulas, huge impact on what a network can learn.</a:t>
            </a:r>
            <a:endParaRPr lang="en-US" sz="1500" dirty="0"/>
          </a:p>
        </p:txBody>
      </p:sp>
      <p:sp>
        <p:nvSpPr>
          <p:cNvPr id="26" name="Text 24"/>
          <p:cNvSpPr/>
          <p:nvPr/>
        </p:nvSpPr>
        <p:spPr>
          <a:xfrm>
            <a:off x="548640" y="6473952"/>
            <a:ext cx="4572000" cy="274320"/>
          </a:xfrm>
          <a:prstGeom prst="rect">
            <a:avLst/>
          </a:prstGeom>
          <a:noFill/>
          <a:ln/>
        </p:spPr>
        <p:txBody>
          <a:bodyPr wrap="square" lIns="0" tIns="0" rIns="0" bIns="0" rtlCol="0" anchor="ctr"/>
          <a:lstStyle/>
          <a:p>
            <a:pPr marL="0" indent="0" algn="l">
              <a:buNone/>
            </a:pPr>
            <a:r>
              <a:rPr lang="en-US" sz="900" dirty="0">
                <a:solidFill>
                  <a:srgbClr val="9AA3BE"/>
                </a:solidFill>
                <a:latin typeface="Calibri" pitchFamily="34" charset="0"/>
                <a:ea typeface="Calibri" pitchFamily="34" charset="-122"/>
                <a:cs typeface="Calibri" pitchFamily="34" charset="-120"/>
              </a:rPr>
              <a:t>Activation Functions</a:t>
            </a:r>
            <a:endParaRPr lang="en-US" sz="900" dirty="0"/>
          </a:p>
        </p:txBody>
      </p:sp>
      <p:sp>
        <p:nvSpPr>
          <p:cNvPr id="27" name="Text 25"/>
          <p:cNvSpPr/>
          <p:nvPr/>
        </p:nvSpPr>
        <p:spPr>
          <a:xfrm>
            <a:off x="11183112" y="6473952"/>
            <a:ext cx="457200" cy="274320"/>
          </a:xfrm>
          <a:prstGeom prst="rect">
            <a:avLst/>
          </a:prstGeom>
          <a:noFill/>
          <a:ln/>
        </p:spPr>
        <p:txBody>
          <a:bodyPr wrap="square" lIns="0" tIns="0" rIns="0" bIns="0" rtlCol="0" anchor="ctr"/>
          <a:lstStyle/>
          <a:p>
            <a:pPr marL="0" indent="0" algn="r">
              <a:buNone/>
            </a:pPr>
            <a:r>
              <a:rPr lang="en-US" sz="900" dirty="0">
                <a:solidFill>
                  <a:srgbClr val="9AA3BE"/>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TotalTime>
  <Words>2967</Words>
  <Application>Microsoft Office PowerPoint</Application>
  <PresentationFormat>Widescreen</PresentationFormat>
  <Paragraphs>439</Paragraphs>
  <Slides>26</Slides>
  <Notes>26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Activation Functions lecture</dc:creator>
  <cp:lastModifiedBy>Tanveer Ahmed</cp:lastModifiedBy>
  <cp:revision>2</cp:revision>
  <dcterms:created xsi:type="dcterms:W3CDTF">2026-08-12T04:27:21Z</dcterms:created>
  <dcterms:modified xsi:type="dcterms:W3CDTF">2026-08-13T02:59:34Z</dcterms:modified>
</cp:coreProperties>
</file>