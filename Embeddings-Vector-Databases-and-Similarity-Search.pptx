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exandria ExtraBold"/>
      <p:regular r:id="rId201314"/>
    </p:embeddedFont>
    <p:embeddedFont>
      <p:font typeface="Alexandria Thin"/>
      <p:regular r:id="rId201315"/>
    </p:embeddedFont>
    <p:embeddedFont>
      <p:font typeface="Alexandria ExtraLight"/>
      <p:regular r:id="rId201316"/>
    </p:embeddedFont>
    <p:embeddedFont>
      <p:font typeface="Alexandria Light"/>
      <p:regular r:id="rId201317"/>
    </p:embeddedFont>
    <p:embeddedFont>
      <p:font typeface="Alexandria"/>
      <p:regular r:id="rId201318"/>
    </p:embeddedFont>
    <p:embeddedFont>
      <p:font typeface="Alexandria Medium"/>
      <p:regular r:id="rId201319"/>
    </p:embeddedFont>
    <p:embeddedFont>
      <p:font typeface="Alexandria SemiBold"/>
      <p:regular r:id="rId201320"/>
    </p:embeddedFont>
    <p:embeddedFont>
      <p:font typeface="Alexandria Bold"/>
      <p:regular r:id="rId201321"/>
    </p:embeddedFont>
    <p:embeddedFont>
      <p:font typeface="Alexandria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324719"/>
            <a:ext cx="935906" cy="215354"/>
          </a:xfrm>
          <a:prstGeom prst="roundRect">
            <a:avLst>
              <a:gd name="adj" fmla="val 78996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367210"/>
            <a:ext cx="122299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UNIT 2 · PART 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596777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Embeddings, Vector Databases &amp; Similarity Search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13833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AI transforms human language into numbers — and uses those numbers to understand meaning. The foundation of semantic search, RAG, and modern AI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5734"/>
            <a:ext cx="612874" cy="144735"/>
          </a:xfrm>
          <a:prstGeom prst="roundRect">
            <a:avLst>
              <a:gd name="adj" fmla="val 78972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3269" y="424309"/>
            <a:ext cx="955774" cy="87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6068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Do We Need Embeddings?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31677"/>
            <a:ext cx="5217319" cy="3644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0521" y="2116336"/>
            <a:ext cx="27020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Computers Don't Understand Words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50521" y="2329160"/>
            <a:ext cx="2702049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After processing documents, AI still cannot grasp meaning. Computers work with numbers — not human language. Every sentence must be converted into a mathematical representation called an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embedding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950521" y="2910706"/>
            <a:ext cx="2702049" cy="672405"/>
          </a:xfrm>
          <a:prstGeom prst="roundRect">
            <a:avLst>
              <a:gd name="adj" fmla="val 21248"/>
            </a:avLst>
          </a:prstGeom>
          <a:solidFill>
            <a:srgbClr val="CDEFF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71" y="3041675"/>
            <a:ext cx="119062" cy="95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60083" y="2992115"/>
            <a:ext cx="2297237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Real Example: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student asks </a:t>
            </a:r>
            <a:pPr algn="l" indent="0" marL="0">
              <a:lnSpc>
                <a:spcPct val="111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"How do agents remember?"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Your notes say </a:t>
            </a:r>
            <a:pPr algn="l" indent="0" marL="0">
              <a:lnSpc>
                <a:spcPct val="111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"Long-term memory stores interactions."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Different words, same meaning — keyword search fails, but embeddings find it.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04131"/>
            <a:ext cx="1014338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946621"/>
            <a:ext cx="130142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761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Is an Embedding?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3177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embedding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a dense numerical vector that captures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semantic meaning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text. Similar meanings produce similar vectors — enabling AI to compare ideas, not just words.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444874"/>
            <a:ext cx="4004965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259139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Numerical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2897907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 becomes arrays of floating-point numbers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2444874"/>
            <a:ext cx="4005039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9363" y="2591395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Semantic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89363" y="2897907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Captures meaning, not just keywords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413001"/>
            <a:ext cx="4004965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559522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High-Dimensional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86603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Typically 384–1536 dimensions per vector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413001"/>
            <a:ext cx="4005039" cy="826368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3559522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Comparable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9363" y="386603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Similar sentences → nearby vectors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79301" cy="107603"/>
          </a:xfrm>
          <a:prstGeom prst="roundRect">
            <a:avLst>
              <a:gd name="adj" fmla="val 7905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851520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IT WORKS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Embeddings Are Generated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786185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61129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Embedding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804286"/>
            <a:ext cx="1934468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Transformer Encoder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00543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Tokenizer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19842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Raw Text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31222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stage progressively transforms raw text into a rich numerical representation that encodes meaning.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96119" y="447250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Popular Models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96119" y="4618658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OpenAI 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text-embedding-3-small/large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Sentence Transformers (MiniLM, E5)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BERT-based encoders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663232" y="447250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Industry Uses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663232" y="4618658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Search &amp; RAG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Recommendation Systems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Chatbots &amp; Document Retrieval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2374"/>
            <a:ext cx="401985" cy="198462"/>
          </a:xfrm>
          <a:prstGeom prst="roundRect">
            <a:avLst>
              <a:gd name="adj" fmla="val 79023"/>
            </a:avLst>
          </a:prstGeom>
          <a:solidFill>
            <a:srgbClr val="CDEFFE"/>
          </a:solidFill>
          <a:ln/>
        </p:spPr>
      </p:sp>
      <p:sp>
        <p:nvSpPr>
          <p:cNvPr id="3" name="Text 1"/>
          <p:cNvSpPr/>
          <p:nvPr/>
        </p:nvSpPr>
        <p:spPr>
          <a:xfrm>
            <a:off x="574477" y="461516"/>
            <a:ext cx="702469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LAB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68982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Practical: Creating Embeddings in Python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37852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Setup &amp; Code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6119" y="1718146"/>
            <a:ext cx="3916487" cy="462186"/>
          </a:xfrm>
          <a:prstGeom prst="roundRect">
            <a:avLst>
              <a:gd name="adj" fmla="val 4241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645" y="1718146"/>
            <a:ext cx="3929435" cy="462186"/>
          </a:xfrm>
          <a:prstGeom prst="roundRect">
            <a:avLst>
              <a:gd name="adj" fmla="val 4242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2983" y="1848817"/>
            <a:ext cx="405995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sentence-transformers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6119" y="2315840"/>
            <a:ext cx="3916487" cy="2269778"/>
          </a:xfrm>
          <a:prstGeom prst="roundRect">
            <a:avLst>
              <a:gd name="adj" fmla="val 863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89645" y="2315840"/>
            <a:ext cx="3929435" cy="2269778"/>
          </a:xfrm>
          <a:prstGeom prst="roundRect">
            <a:avLst>
              <a:gd name="adj" fmla="val 864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52983" y="2446511"/>
            <a:ext cx="3602757" cy="2008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sentence_transformers import SentenceTransformer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SentenceTransformer("all-MiniLM-L6-v2")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 = [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"Artificial Intelligence is amazing",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"AI is fascinating",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 love cricket"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model.encode(sentences)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print(embeddings.shape)  # (3, 384)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36157" y="1378521"/>
            <a:ext cx="391648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What's Happening</a:t>
            </a:r>
            <a:endParaRPr lang="en-US" sz="12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6157" y="1718146"/>
            <a:ext cx="3916487" cy="81535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38266" y="1863105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 Sentences In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38266" y="2187699"/>
            <a:ext cx="356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text inputs provided to the model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157" y="2653978"/>
            <a:ext cx="3916487" cy="81535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38266" y="2798936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384 Dimensions Out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38266" y="3123530"/>
            <a:ext cx="356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sentence becomes a 384-number vector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6157" y="3589809"/>
            <a:ext cx="3916487" cy="8153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38266" y="3734767"/>
            <a:ext cx="356941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Text → Numbers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938266" y="4059362"/>
            <a:ext cx="356941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Meaning is now encoded mathematically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4710"/>
            <a:ext cx="1099170" cy="178371"/>
          </a:xfrm>
          <a:prstGeom prst="roundRect">
            <a:avLst>
              <a:gd name="adj" fmla="val 78982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514" y="449907"/>
            <a:ext cx="1415579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SIMILARITY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1924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Measuring Meaning with Cosine Similarity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241747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Which Two Are Most Similar?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6119" y="1522363"/>
            <a:ext cx="393270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and B are closest — same meaning, different words. Cosine similarity quantifies this.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19935" y="1241747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Code: Compare Vectors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19935" y="1534492"/>
            <a:ext cx="3932709" cy="1608088"/>
          </a:xfrm>
          <a:prstGeom prst="roundRect">
            <a:avLst>
              <a:gd name="adj" fmla="val 10951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4714131" y="1534492"/>
            <a:ext cx="3944317" cy="1608088"/>
          </a:xfrm>
          <a:prstGeom prst="roundRect">
            <a:avLst>
              <a:gd name="adj" fmla="val 1095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4860875" y="1651843"/>
            <a:ext cx="3650828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sklearn.metrics.pairwise import cosine_similarity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= cosine_similarity(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[embeddings[0]],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embeddings[1:]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print(similarity)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Higher score = more related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9935" y="3251895"/>
            <a:ext cx="3932709" cy="576858"/>
          </a:xfrm>
          <a:prstGeom prst="roundRect">
            <a:avLst>
              <a:gd name="adj" fmla="val 30528"/>
            </a:avLst>
          </a:prstGeom>
          <a:solidFill>
            <a:srgbClr val="CDEFF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286" y="3424461"/>
            <a:ext cx="146745" cy="11735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101382" y="3368650"/>
            <a:ext cx="3433911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Try it: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Compare AI, Machine Learning, and Cricket — observe how domain proximity affects scores.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6119" y="4047381"/>
            <a:ext cx="2652415" cy="681410"/>
          </a:xfrm>
          <a:prstGeom prst="roundRect">
            <a:avLst>
              <a:gd name="adj" fmla="val 25844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7757" y="4179019"/>
            <a:ext cx="23891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Sentence A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7757" y="4420716"/>
            <a:ext cx="238913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"I enjoy AI."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45718" y="4047381"/>
            <a:ext cx="2652489" cy="681410"/>
          </a:xfrm>
          <a:prstGeom prst="roundRect">
            <a:avLst>
              <a:gd name="adj" fmla="val 25844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77357" y="4179019"/>
            <a:ext cx="2389212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Sentence B 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377357" y="4425479"/>
            <a:ext cx="238921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"I love Artificial Intelligence."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95392" y="4047381"/>
            <a:ext cx="2652415" cy="681410"/>
          </a:xfrm>
          <a:prstGeom prst="roundRect">
            <a:avLst>
              <a:gd name="adj" fmla="val 25844"/>
            </a:avLst>
          </a:prstGeom>
          <a:solidFill>
            <a:srgbClr val="FFFFFF"/>
          </a:solidFill>
          <a:ln w="14288">
            <a:solidFill>
              <a:srgbClr val="B3D5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7031" y="4179019"/>
            <a:ext cx="238913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Sentence C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27031" y="4420716"/>
            <a:ext cx="238913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"I like Pizza."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51693"/>
            <a:ext cx="1241450" cy="215354"/>
          </a:xfrm>
          <a:prstGeom prst="roundRect">
            <a:avLst>
              <a:gd name="adj" fmla="val 78996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010174" y="494184"/>
            <a:ext cx="15285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VECTOR DATABASES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72375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Is a Vector Database?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182232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vector database stores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embeddings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instead of traditional rows and columns — optimized for nearest-neighbor search across millions of high-dimensional vectors.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5119" y="2662238"/>
            <a:ext cx="4722763" cy="1643211"/>
          </a:xfrm>
          <a:prstGeom prst="roundRect">
            <a:avLst>
              <a:gd name="adj" fmla="val 1294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9881" y="2667000"/>
            <a:ext cx="4713238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9" name="Text 6"/>
          <p:cNvSpPr/>
          <p:nvPr/>
        </p:nvSpPr>
        <p:spPr>
          <a:xfrm>
            <a:off x="4071640" y="2808759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Traditional DB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71640" y="3115270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 · Exact Match · Structured Data · WHERE clauses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9881" y="3483843"/>
            <a:ext cx="4713238" cy="816843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12" name="Shape 9"/>
          <p:cNvSpPr/>
          <p:nvPr/>
        </p:nvSpPr>
        <p:spPr>
          <a:xfrm>
            <a:off x="3929881" y="3483843"/>
            <a:ext cx="4713238" cy="19050"/>
          </a:xfrm>
          <a:prstGeom prst="roundRect">
            <a:avLst>
              <a:gd name="adj" fmla="val 1116279"/>
            </a:avLst>
          </a:prstGeom>
          <a:solidFill>
            <a:srgbClr val="B3D5E4"/>
          </a:solidFill>
          <a:ln/>
        </p:spPr>
      </p:sp>
      <p:sp>
        <p:nvSpPr>
          <p:cNvPr id="13" name="Text 10"/>
          <p:cNvSpPr/>
          <p:nvPr/>
        </p:nvSpPr>
        <p:spPr>
          <a:xfrm>
            <a:off x="4071640" y="3625602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Vector DB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071640" y="393211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Semantic Match · Embeddings · Nearest Neighbor · AI-native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25119" y="446491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Popular tools: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FAISS · Pinecone · ChromaDB · Weaviate · Milvus · Qdrant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54025"/>
            <a:ext cx="638398" cy="215354"/>
          </a:xfrm>
          <a:prstGeom prst="roundRect">
            <a:avLst>
              <a:gd name="adj" fmla="val 78996"/>
            </a:avLst>
          </a:prstGeom>
          <a:solidFill>
            <a:srgbClr val="CDEFFE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96516"/>
            <a:ext cx="92548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LAB 2 &amp;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2608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Building &amp; Searching a FAISS Index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2343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Build the Index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96119" y="2104355"/>
            <a:ext cx="3902943" cy="1871216"/>
          </a:xfrm>
          <a:prstGeom prst="roundRect">
            <a:avLst>
              <a:gd name="adj" fmla="val 1136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489049" y="2104355"/>
            <a:ext cx="3917082" cy="1871216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66229" y="2246114"/>
            <a:ext cx="356272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faiss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dim = embeddings.shape[1]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faiss.IndexFlatL2(dim)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index.add(np.array(embeddings))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print(index.ntotal)  #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72343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Search for Answers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49701" y="2104355"/>
            <a:ext cx="3902943" cy="1417588"/>
          </a:xfrm>
          <a:prstGeom prst="roundRect">
            <a:avLst>
              <a:gd name="adj" fmla="val 15001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742631" y="2104355"/>
            <a:ext cx="3917082" cy="1417588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811" y="2246114"/>
            <a:ext cx="35627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model.encode(["Artificial Intelligence"])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distances, ids = index.search(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np.array(query), k=2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49701" y="368141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FAISS works like Google Search — but searches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vectors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instead of web pages. The closest vectors = the most relevant documents.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580802" cy="107603"/>
          </a:xfrm>
          <a:prstGeom prst="roundRect">
            <a:avLst>
              <a:gd name="adj" fmla="val 79050"/>
            </a:avLst>
          </a:prstGeom>
          <a:noFill/>
          <a:ln w="4763">
            <a:solidFill>
              <a:srgbClr val="AAE4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953021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FLOW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Similarity Search in Production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679" y="786185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61129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LLM Context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804286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Vector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00543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Embedding Model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19842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312221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modern AI system — from ChatGPT with PDFs to enterprise chatbots — follows this pattern. The vector database retrieves relevant context; the LLM generates the answer.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96119" y="447250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Distance Metrics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96119" y="4618658"/>
            <a:ext cx="3989412" cy="27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Cosine Similarity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angle between vectors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Euclidean Distance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straight-line distance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Dot Product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magnitude-aware similarity</a:t>
            </a:r>
            <a:endParaRPr lang="en-US" sz="550" dirty="0"/>
          </a:p>
        </p:txBody>
      </p:sp>
      <p:sp>
        <p:nvSpPr>
          <p:cNvPr id="13" name="Text 10"/>
          <p:cNvSpPr/>
          <p:nvPr/>
        </p:nvSpPr>
        <p:spPr>
          <a:xfrm>
            <a:off x="4663232" y="4472508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Case Study: HR Chatbot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663232" y="461865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Employee asks </a:t>
            </a:r>
            <a:pPr algn="l" indent="0" marL="0">
              <a:lnSpc>
                <a:spcPct val="100000"/>
              </a:lnSpc>
              <a:buNone/>
            </a:pPr>
            <a:r>
              <a:rPr lang="en-US" sz="5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"How many casual leaves can I take?"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Embedding → Vector DB retrieves Leave Policy → LLM answers accurately.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6198"/>
            <a:ext cx="523280" cy="164902"/>
          </a:xfrm>
          <a:prstGeom prst="roundRect">
            <a:avLst>
              <a:gd name="adj" fmla="val 78986"/>
            </a:avLst>
          </a:prstGeom>
          <a:solidFill>
            <a:srgbClr val="CDEFFE"/>
          </a:solidFill>
          <a:ln/>
        </p:spPr>
      </p:sp>
      <p:sp>
        <p:nvSpPr>
          <p:cNvPr id="3" name="Text 1"/>
          <p:cNvSpPr/>
          <p:nvPr/>
        </p:nvSpPr>
        <p:spPr>
          <a:xfrm>
            <a:off x="561231" y="448717"/>
            <a:ext cx="850255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WRAP-UP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14288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Summary &amp; Mini Project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96119" y="1161157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We Covered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96119" y="1424136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6119" y="1594247"/>
            <a:ext cx="3943499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8" name="Text 6"/>
          <p:cNvSpPr/>
          <p:nvPr/>
        </p:nvSpPr>
        <p:spPr>
          <a:xfrm>
            <a:off x="496119" y="1677070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1929631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 → numerical vectors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6119" y="224730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6119" y="2406625"/>
            <a:ext cx="3943499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2500238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Semantic Similarity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6119" y="2752799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Cosine similarity &amp; meaning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6119" y="3070473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6119" y="3218929"/>
            <a:ext cx="3943499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323406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Vector Databases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6119" y="3575968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FAISS, Pinecone, ChromaDB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6119" y="3893641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6119" y="4031307"/>
            <a:ext cx="3943499" cy="14288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4146575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Similarity Search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6119" y="4399136"/>
            <a:ext cx="39434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RAG pipeline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45" y="1161157"/>
            <a:ext cx="3943499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🧑‍💻</a:t>
            </a:r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Mini Project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45" y="1418481"/>
            <a:ext cx="4400699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your first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Semantic Search Engine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09145" y="1646560"/>
            <a:ext cx="3943499" cy="882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 5 PDF documents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 embeddings per paragraph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Store in a FAISS index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 and retrieve relevant text</a:t>
            </a:r>
            <a:endParaRPr lang="en-US" sz="850" dirty="0"/>
          </a:p>
          <a:p>
            <a:pPr algn="l" marL="172720" indent="-172720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Display results to the user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45" y="2665884"/>
            <a:ext cx="3943499" cy="510332"/>
          </a:xfrm>
          <a:prstGeom prst="roundRect">
            <a:avLst>
              <a:gd name="adj" fmla="val 31903"/>
            </a:avLst>
          </a:prstGeom>
          <a:solidFill>
            <a:srgbClr val="CDEFFE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641" y="2820814"/>
            <a:ext cx="135657" cy="10849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61793" y="2724448"/>
            <a:ext cx="34823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Lab Notebook: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Document your experiments — try your own sentences and discuss why some are closer than others.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2026-07-27T21:01:47Z</dcterms:created>
  <dcterms:modified xsi:type="dcterms:W3CDTF">2026-07-27T21:01:47Z</dcterms:modified>
</cp:coreProperties>
</file>