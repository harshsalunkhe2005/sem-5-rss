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Light"/>
      <p:regular r:id="rId201317"/>
    </p:embeddedFont>
    <p:embeddedFont>
      <p:font typeface="IBM Plex Sans Thin"/>
      <p:regular r:id="rId201318"/>
    </p:embeddedFont>
    <p:embeddedFont>
      <p:font typeface="IBM Plex Sans ExtraLight"/>
      <p:regular r:id="rId201319"/>
    </p:embeddedFont>
    <p:embeddedFont>
      <p:font typeface="IBM Plex Sans Medium"/>
      <p:regular r:id="rId201320"/>
    </p:embeddedFont>
    <p:embeddedFont>
      <p:font typeface="Roboto Light"/>
      <p:regular r:id="rId201321"/>
    </p:embeddedFont>
    <p:embeddedFont>
      <p:font typeface="Roboto"/>
      <p:regular r:id="rId201322"/>
    </p:embeddedFont>
    <p:embeddedFont>
      <p:font typeface="Roboto Thin"/>
      <p:regular r:id="rId201323"/>
    </p:embeddedFont>
    <p:embeddedFont>
      <p:font typeface="Roboto ExtraLight"/>
      <p:regular r:id="rId201324"/>
    </p:embeddedFont>
    <p:embeddedFont>
      <p:font typeface="Roboto Medium"/>
      <p:regular r:id="rId201325"/>
    </p:embeddedFont>
    <p:embeddedFont>
      <p:font typeface="Roboto SemiBold"/>
      <p:regular r:id="rId201326"/>
    </p:embeddedFont>
    <p:embeddedFont>
      <p:font typeface="Roboto Bold"/>
      <p:regular r:id="rId201327"/>
    </p:embeddedFont>
    <p:embeddedFont>
      <p:font typeface="Roboto ExtraBold"/>
      <p:regular r:id="rId201328"/>
    </p:embeddedFont>
    <p:embeddedFont>
      <p:font typeface="Roboto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6.png"/><Relationship Id="rId9" Type="http://schemas.openxmlformats.org/officeDocument/2006/relationships/image" Target="../media/image-10-7.svg"/><Relationship Id="rId10" Type="http://schemas.openxmlformats.org/officeDocument/2006/relationships/image" Target="../media/image-5-2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772989"/>
            <a:ext cx="957188" cy="215354"/>
          </a:xfrm>
          <a:prstGeom prst="roundRect">
            <a:avLst>
              <a:gd name="adj" fmla="val 7900"/>
            </a:avLst>
          </a:prstGeom>
          <a:solidFill>
            <a:srgbClr val="4D1F00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815480"/>
            <a:ext cx="124427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1 · PART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04504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Agent–Environment Interaction Model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314362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PEAS Framework · Perception–Reasoning–Action Cycle · Intelligent Agents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4475"/>
            <a:ext cx="862385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86966"/>
            <a:ext cx="114947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1653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From Human Thinking to AI Thinking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7212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humans and AI follow a similar decision loop — observe, process, decide, act.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4022" y="1758404"/>
            <a:ext cx="4107135" cy="2940546"/>
          </a:xfrm>
          <a:prstGeom prst="roundRect">
            <a:avLst>
              <a:gd name="adj" fmla="val 723"/>
            </a:avLst>
          </a:prstGeom>
          <a:solidFill>
            <a:srgbClr val="FFBC8F"/>
          </a:solidFill>
          <a:ln/>
        </p:spPr>
      </p:sp>
      <p:sp>
        <p:nvSpPr>
          <p:cNvPr id="7" name="Text 5"/>
          <p:cNvSpPr/>
          <p:nvPr/>
        </p:nvSpPr>
        <p:spPr>
          <a:xfrm>
            <a:off x="535781" y="1900163"/>
            <a:ext cx="382361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Human Decision Making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5781" y="2268141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Eyes observe surroundings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Brain understands the situation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 reasoning applied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made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 performed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900163"/>
            <a:ext cx="39029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AI Decision Making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268141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Sensors detect the environment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model processes information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Reasoning engine analyzes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action selected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Actuators execute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9701" y="3759919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80330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974976"/>
            <a:ext cx="177180" cy="1417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0398" y="3922886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 traffic light → Camera detects → AI decides "Stop" → Brakes applied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57684"/>
            <a:ext cx="994097" cy="215354"/>
          </a:xfrm>
          <a:prstGeom prst="roundRect">
            <a:avLst>
              <a:gd name="adj" fmla="val 7900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00174"/>
            <a:ext cx="128118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297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an Agent?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8533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any entity that perceives its environment, processes information, takes actions, and works toward achieving goals.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071613"/>
            <a:ext cx="2622724" cy="1355527"/>
          </a:xfrm>
          <a:prstGeom prst="roundRect">
            <a:avLst>
              <a:gd name="adj" fmla="val 1569"/>
            </a:avLst>
          </a:prstGeom>
          <a:solidFill>
            <a:srgbClr val="484B51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213372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Mathematical Form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519883"/>
            <a:ext cx="2339206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 = f(Percepts) → Actions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action is a function of what the agent has perceived.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071613"/>
            <a:ext cx="2622724" cy="1355527"/>
          </a:xfrm>
          <a:prstGeom prst="roundRect">
            <a:avLst>
              <a:gd name="adj" fmla="val 1569"/>
            </a:avLst>
          </a:prstGeom>
          <a:solidFill>
            <a:srgbClr val="484B51"/>
          </a:solidFill>
          <a:ln/>
        </p:spPr>
      </p:sp>
      <p:sp>
        <p:nvSpPr>
          <p:cNvPr id="10" name="Text 8"/>
          <p:cNvSpPr/>
          <p:nvPr/>
        </p:nvSpPr>
        <p:spPr>
          <a:xfrm>
            <a:off x="3402360" y="2213372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Human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2360" y="2519883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Environment: Physical World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71613"/>
            <a:ext cx="2622724" cy="1355527"/>
          </a:xfrm>
          <a:prstGeom prst="roundRect">
            <a:avLst>
              <a:gd name="adj" fmla="val 1569"/>
            </a:avLst>
          </a:prstGeom>
          <a:solidFill>
            <a:srgbClr val="484B51"/>
          </a:solidFill>
          <a:ln/>
        </p:spPr>
      </p:sp>
      <p:sp>
        <p:nvSpPr>
          <p:cNvPr id="13" name="Text 11"/>
          <p:cNvSpPr/>
          <p:nvPr/>
        </p:nvSpPr>
        <p:spPr>
          <a:xfrm>
            <a:off x="6166842" y="2213372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ChatGPT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6842" y="2519883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Environment: User Prompt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568898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</p:sp>
      <p:sp>
        <p:nvSpPr>
          <p:cNvPr id="16" name="Text 14"/>
          <p:cNvSpPr/>
          <p:nvPr/>
        </p:nvSpPr>
        <p:spPr>
          <a:xfrm>
            <a:off x="637877" y="3710657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Robot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7877" y="4017169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Environment: Factory Floor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568898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</p:sp>
      <p:sp>
        <p:nvSpPr>
          <p:cNvPr id="19" name="Text 17"/>
          <p:cNvSpPr/>
          <p:nvPr/>
        </p:nvSpPr>
        <p:spPr>
          <a:xfrm>
            <a:off x="4784601" y="3710657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Alexa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4601" y="4017169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Environment: Voice Commands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96714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868933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CONCEPT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an Environment?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35610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Environment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everything surrounding an agent with which it interacts. Without an environment, there is no agent — the two are inseparable.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895031"/>
            <a:ext cx="2011338" cy="3777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586" y="4975399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Robot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614586" y="5107335"/>
            <a:ext cx="18125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Factory Floor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2877" y="4895031"/>
            <a:ext cx="2011412" cy="3777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61345" y="4975399"/>
            <a:ext cx="1812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Self-Driving Car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2661345" y="5107335"/>
            <a:ext cx="1812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Road Network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9711" y="4895031"/>
            <a:ext cx="2011338" cy="3777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08178" y="4975399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ChatGPT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4708178" y="5107335"/>
            <a:ext cx="18125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User Prompts</a:t>
            </a:r>
            <a:endParaRPr lang="en-US" sz="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6469" y="4895031"/>
            <a:ext cx="2011412" cy="3777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54937" y="4975399"/>
            <a:ext cx="1812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Drone</a:t>
            </a:r>
            <a:endParaRPr lang="en-US" sz="650" dirty="0"/>
          </a:p>
        </p:txBody>
      </p:sp>
      <p:sp>
        <p:nvSpPr>
          <p:cNvPr id="18" name="Text 11"/>
          <p:cNvSpPr/>
          <p:nvPr/>
        </p:nvSpPr>
        <p:spPr>
          <a:xfrm>
            <a:off x="6754937" y="5107335"/>
            <a:ext cx="1812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Sky / Airspace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88305" cy="107603"/>
          </a:xfrm>
          <a:prstGeom prst="roundRect">
            <a:avLst>
              <a:gd name="adj" fmla="val 7905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60524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Agent–Environment Interaction Model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618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core architecture of every intelligent agent — a continuous loop of sensing, thinking, and acting.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11051"/>
            <a:ext cx="8084567" cy="3486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3714" y="373615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92915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213029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Sensors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73714" y="132329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437087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never acts in isolation — every action changes the environment, which generates new percepts, restarting the cycle.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496119" y="4561954"/>
            <a:ext cx="8151763" cy="196155"/>
          </a:xfrm>
          <a:prstGeom prst="roundRect">
            <a:avLst>
              <a:gd name="adj" fmla="val 5421"/>
            </a:avLst>
          </a:prstGeom>
          <a:solidFill>
            <a:srgbClr val="8033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4650507"/>
            <a:ext cx="88553" cy="70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356" y="4615086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 — Smart Door Lock: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Environment (door) → Fingerprint Sensor → AI verifies identity → Decision (unlock) → Actuator (motor) → Environment changes (door opens)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34057"/>
            <a:ext cx="754335" cy="174947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94175" y="468585"/>
            <a:ext cx="1073423" cy="1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25119" y="646435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Components of an Intelligent Agent</a:t>
            </a:r>
            <a:endParaRPr lang="en-US" sz="2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146721"/>
            <a:ext cx="230312" cy="230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5119" y="149401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925119" y="1730053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surrounding the agent — roads, rooms, networks, user inputs.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084189"/>
            <a:ext cx="230312" cy="2303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25119" y="2431479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Sensors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925119" y="2667521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raw data: Camera, Microphone, GPS, LiDAR, Radar, Temperature Sensor.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21657"/>
            <a:ext cx="230312" cy="2303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25119" y="3368948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Perception &amp; Reasoning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925119" y="3604989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data and analyze it using rules, ML, or LLMs.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59126"/>
            <a:ext cx="230312" cy="2303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925119" y="4306416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Actuators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3925119" y="4542458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output actions: Motor, Speaker, Display, Robot Arm, Steering.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71537"/>
            <a:ext cx="1083097" cy="215354"/>
          </a:xfrm>
          <a:prstGeom prst="roundRect">
            <a:avLst>
              <a:gd name="adj" fmla="val 7900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14028"/>
            <a:ext cx="137018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DISTINCTION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4359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Sensors vs. Actuators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1799183"/>
            <a:ext cx="4107135" cy="2472779"/>
          </a:xfrm>
          <a:prstGeom prst="roundRect">
            <a:avLst>
              <a:gd name="adj" fmla="val 860"/>
            </a:avLst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1940942"/>
            <a:ext cx="382361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Sensors — Receive 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308920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Sensors are the agent's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 channels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they collect raw data from the environment.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781" y="2890093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 → visual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Microphone → audio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GPS → location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LiDAR / Radar → distance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Sensor → thermal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940942"/>
            <a:ext cx="39029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Actuators — Perform Output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30892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Actuators are the agent's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output channels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they act on the environment.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2890093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Motor → movement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→ direction control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Brake → stopping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→ audio output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→ visual feedback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8231"/>
            <a:ext cx="1010096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30721"/>
            <a:ext cx="129718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CORE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02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Perception → Reasoning → Action Cycle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1587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repeating cycle is the heartbeat of every intelligent agent. It never stops while the agent is active.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082180"/>
            <a:ext cx="24366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Perception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388691"/>
            <a:ext cx="2436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and interpret raw sensor data into meaningful information.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408" y="1802160"/>
            <a:ext cx="2853110" cy="285311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1707" y="2305571"/>
            <a:ext cx="212080" cy="212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1119" y="2082180"/>
            <a:ext cx="2436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Reasoning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211119" y="2388691"/>
            <a:ext cx="2436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information using rules, ML, or LLMs to evaluate options.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408" y="1802160"/>
            <a:ext cx="2853110" cy="285311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2878" y="2548384"/>
            <a:ext cx="212080" cy="212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1119" y="3615035"/>
            <a:ext cx="2436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Decision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211119" y="3921547"/>
            <a:ext cx="2436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the best action based on goals, constraints, and utility.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408" y="1802160"/>
            <a:ext cx="2853110" cy="285311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40064" y="3939555"/>
            <a:ext cx="212080" cy="2120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6119" y="3615035"/>
            <a:ext cx="24366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Action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496119" y="3921547"/>
            <a:ext cx="2436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via actuators, changing the environment and restarting the cycle.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5408" y="1802160"/>
            <a:ext cx="2853110" cy="2853110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48894" y="3696742"/>
            <a:ext cx="212080" cy="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1060"/>
            <a:ext cx="1656457" cy="215354"/>
          </a:xfrm>
          <a:prstGeom prst="roundRect">
            <a:avLst>
              <a:gd name="adj" fmla="val 7900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63550"/>
            <a:ext cx="19435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APPLICATIONS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9311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Agents in Action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48705"/>
            <a:ext cx="2312566" cy="14292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155156"/>
            <a:ext cx="39872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🚗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Self-Driving Car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466430"/>
            <a:ext cx="3987254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Perception: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Camera detects road &amp; pedestrians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Reasoning: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predicts collision risk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Apply brakes immediately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Car stops safely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1548705"/>
            <a:ext cx="2312640" cy="14292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3155156"/>
            <a:ext cx="398732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Smart Home (Alexa / Thermostat)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3466430"/>
            <a:ext cx="3987329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Perception: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Temperature sensor reads room heat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Reasoning: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compares to target comfort level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Turn ON the AC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Room reaches comfortable temperature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40779" cy="107603"/>
          </a:xfrm>
          <a:prstGeom prst="roundRect">
            <a:avLst>
              <a:gd name="adj" fmla="val 7905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01299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FRAMEWORK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PEAS Framework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618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PEAS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standard framework for designing and specifying intelligent agents before building them.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50863"/>
            <a:ext cx="3989412" cy="398941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232" y="2161654"/>
            <a:ext cx="1976958" cy="6541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43599" y="2419201"/>
            <a:ext cx="18162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 — Performance Measure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743599" y="2565350"/>
            <a:ext cx="1816224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defines success? e.g., Safe driving, maximum cleaning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5611" y="2161654"/>
            <a:ext cx="1977033" cy="6541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55978" y="2419201"/>
            <a:ext cx="18162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 — Environment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6755978" y="2565350"/>
            <a:ext cx="18162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does it operate? e.g., Roads, House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3232" y="2851249"/>
            <a:ext cx="1976958" cy="5691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43599" y="3108796"/>
            <a:ext cx="18162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 — Actuators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4743599" y="3254946"/>
            <a:ext cx="18162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does it act? e.g., Brake, Motor</a:t>
            </a:r>
            <a:endParaRPr lang="en-US" sz="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5611" y="2851249"/>
            <a:ext cx="1977033" cy="5691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55978" y="3108796"/>
            <a:ext cx="18162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 — Sensors</a:t>
            </a:r>
            <a:endParaRPr lang="en-US" sz="650" dirty="0"/>
          </a:p>
        </p:txBody>
      </p:sp>
      <p:sp>
        <p:nvSpPr>
          <p:cNvPr id="18" name="Text 11"/>
          <p:cNvSpPr/>
          <p:nvPr/>
        </p:nvSpPr>
        <p:spPr>
          <a:xfrm>
            <a:off x="6755978" y="3254946"/>
            <a:ext cx="18162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does it perceive? e.g., Camera, GPS, LiDAR</a:t>
            </a:r>
            <a:endParaRPr lang="en-US" sz="550" dirty="0"/>
          </a:p>
        </p:txBody>
      </p:sp>
      <p:sp>
        <p:nvSpPr>
          <p:cNvPr id="19" name="Shape 12"/>
          <p:cNvSpPr/>
          <p:nvPr/>
        </p:nvSpPr>
        <p:spPr>
          <a:xfrm>
            <a:off x="4663232" y="3460179"/>
            <a:ext cx="3989412" cy="269230"/>
          </a:xfrm>
          <a:prstGeom prst="roundRect">
            <a:avLst>
              <a:gd name="adj" fmla="val 3949"/>
            </a:avLst>
          </a:prstGeom>
          <a:solidFill>
            <a:srgbClr val="80330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4074" y="3548732"/>
            <a:ext cx="88553" cy="7084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93469" y="3509739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Up Next — Part 3: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Environment Types (Observable, Deterministic, Static…) · Agent Classifications (Reflex, Model-Based, Goal-Based, Utility-Based) · Architecture diagrams &amp; exam prep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2026-07-13T01:54:15Z</dcterms:created>
  <dcterms:modified xsi:type="dcterms:W3CDTF">2026-07-13T01:54:15Z</dcterms:modified>
</cp:coreProperties>
</file>