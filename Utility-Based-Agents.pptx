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Saira Thin"/>
      <p:regular r:id="rId201323"/>
    </p:embeddedFont>
    <p:embeddedFont>
      <p:font typeface="Saira ExtraLight"/>
      <p:regular r:id="rId201324"/>
    </p:embeddedFont>
    <p:embeddedFont>
      <p:font typeface="Saira Light"/>
      <p:regular r:id="rId201325"/>
    </p:embeddedFont>
    <p:embeddedFont>
      <p:font typeface="Saira"/>
      <p:regular r:id="rId201326"/>
    </p:embeddedFont>
    <p:embeddedFont>
      <p:font typeface="Saira Medium"/>
      <p:regular r:id="rId201327"/>
    </p:embeddedFont>
    <p:embeddedFont>
      <p:font typeface="Saira SemiBold"/>
      <p:regular r:id="rId201328"/>
    </p:embeddedFont>
    <p:embeddedFont>
      <p:font typeface="Saira Bold"/>
      <p:regular r:id="rId201329"/>
    </p:embeddedFont>
    <p:embeddedFont>
      <p:font typeface="Saira ExtraBold"/>
      <p:regular r:id="rId201330"/>
    </p:embeddedFont>
    <p:embeddedFont>
      <p:font typeface="Sair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767706"/>
            <a:ext cx="1606600" cy="215354"/>
          </a:xfrm>
          <a:prstGeom prst="roundRect">
            <a:avLst>
              <a:gd name="adj" fmla="val 47398"/>
            </a:avLst>
          </a:prstGeom>
          <a:solidFill>
            <a:srgbClr val="4B1E01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810196"/>
            <a:ext cx="189368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1 · PART 6 · SECTION D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03976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Utility-Based Agents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69535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agents that don't just reach a goal — they find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best possible path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evaluating and comparing all available alternatives using a utility function.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711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Is a Utility-Based Agent?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88380"/>
            <a:ext cx="5190753" cy="2666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9708" y="2039838"/>
            <a:ext cx="265286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Utility-Based Agent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selects the action that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maximizes overall utility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best balance of benefit, safety, cost, and efficiency — among all feasible alternatives.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4008090"/>
            <a:ext cx="8151763" cy="736625"/>
          </a:xfrm>
          <a:prstGeom prst="roundRect">
            <a:avLst>
              <a:gd name="adj" fmla="val 1542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0406" y="4022378"/>
            <a:ext cx="4061594" cy="708050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7" name="Text 4"/>
          <p:cNvSpPr/>
          <p:nvPr/>
        </p:nvSpPr>
        <p:spPr>
          <a:xfrm>
            <a:off x="636612" y="4148584"/>
            <a:ext cx="380918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Goal-Based Agent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6612" y="4413275"/>
            <a:ext cx="380918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"Did I reach the destination?"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0" y="4022378"/>
            <a:ext cx="4061594" cy="708050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4022378"/>
            <a:ext cx="14288" cy="708050"/>
          </a:xfrm>
          <a:prstGeom prst="roundRect">
            <a:avLst>
              <a:gd name="adj" fmla="val 795320"/>
            </a:avLst>
          </a:prstGeom>
          <a:solidFill>
            <a:srgbClr val="E2691D"/>
          </a:solidFill>
          <a:ln/>
        </p:spPr>
      </p:sp>
      <p:sp>
        <p:nvSpPr>
          <p:cNvPr id="11" name="Text 8"/>
          <p:cNvSpPr/>
          <p:nvPr/>
        </p:nvSpPr>
        <p:spPr>
          <a:xfrm>
            <a:off x="4698206" y="4148584"/>
            <a:ext cx="380918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Utility-Based Agent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98206" y="4413275"/>
            <a:ext cx="380918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"Which route is safest, fastest, and most efficient?"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6925"/>
            <a:ext cx="4722763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Why Do We Need Utility-Based Agents?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496119" y="1181026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many real-world problems,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multiple paths lead to the same goal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Utility-Based Agent identifies the 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option — not merely </a:t>
            </a:r>
            <a:pPr algn="l" indent="0" marL="0">
              <a:lnSpc>
                <a:spcPct val="117000"/>
              </a:lnSpc>
              <a:buNone/>
            </a:pPr>
            <a:r>
              <a:rPr lang="en-US" sz="8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working option.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68351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1880592"/>
            <a:ext cx="4722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Navigation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96119" y="2094458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Several routes to a destination — which is fastest, safest, and most fuel-efficient?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02756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2714997"/>
            <a:ext cx="4722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Finance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96119" y="2928863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investment opportunities — which balances risk and return optimally?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237161"/>
            <a:ext cx="212601" cy="212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6119" y="3549402"/>
            <a:ext cx="4722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496119" y="3763268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treatment options — which maximizes patient outcomes with minimal side effects?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4071565"/>
            <a:ext cx="212601" cy="21260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6119" y="4383807"/>
            <a:ext cx="4722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Supply Chain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496119" y="4597673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Various suppliers for the same product — which offers the best cost, quality, and reliability?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546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Utility Function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8600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Utility Function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assigns a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numerical score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each possible outcome. The agent selects the option with the highest score, balancing competing factors such as time, cost, safety, and quality.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365325"/>
            <a:ext cx="3902943" cy="1006376"/>
          </a:xfrm>
          <a:prstGeom prst="roundRect">
            <a:avLst>
              <a:gd name="adj" fmla="val 12678"/>
            </a:avLst>
          </a:prstGeom>
          <a:solidFill>
            <a:srgbClr val="7E320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2580382"/>
            <a:ext cx="177180" cy="14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2528292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Higher utility = Better choice.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function encodes the agent's preferences across all relevant dimensions.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49701" y="1330523"/>
            <a:ext cx="3902943" cy="2556867"/>
          </a:xfrm>
          <a:prstGeom prst="roundRect">
            <a:avLst>
              <a:gd name="adj" fmla="val 499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49701" y="1970931"/>
            <a:ext cx="390294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749701" y="2608957"/>
            <a:ext cx="390294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749701" y="3246983"/>
            <a:ext cx="390294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533206" y="1330523"/>
            <a:ext cx="8860" cy="255686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311875" y="1330523"/>
            <a:ext cx="8860" cy="255686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090544" y="1330523"/>
            <a:ext cx="8860" cy="255686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869213" y="1330523"/>
            <a:ext cx="8860" cy="255686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896296" y="1425104"/>
            <a:ext cx="9499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Route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77346" y="1425104"/>
            <a:ext cx="9475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56015" y="1425104"/>
            <a:ext cx="9475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Cost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234684" y="1425104"/>
            <a:ext cx="9475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Traffic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13353" y="1425104"/>
            <a:ext cx="49277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Utility Score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96296" y="2063130"/>
            <a:ext cx="49277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77346" y="2063130"/>
            <a:ext cx="9475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min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56015" y="2063130"/>
            <a:ext cx="9475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₹80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34684" y="2063130"/>
            <a:ext cx="9475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13353" y="2063130"/>
            <a:ext cx="9499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6296" y="2701156"/>
            <a:ext cx="49277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Route B ✓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77346" y="2701156"/>
            <a:ext cx="9475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min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56015" y="2701156"/>
            <a:ext cx="9475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₹40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234684" y="2701156"/>
            <a:ext cx="4903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13353" y="2701156"/>
            <a:ext cx="9499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82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96296" y="3339182"/>
            <a:ext cx="49277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C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77346" y="3339182"/>
            <a:ext cx="9475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min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56015" y="3339182"/>
            <a:ext cx="9475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₹120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234684" y="3339182"/>
            <a:ext cx="9475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013353" y="3339182"/>
            <a:ext cx="9499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749701" y="4046860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? wins — best balance of cost and time, despite not being the fastest.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37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How a Utility-Based Agent Works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2185"/>
            <a:ext cx="2622724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11112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Observe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Gather environment data via sensors (GPS, camera, LiDAR).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02185"/>
            <a:ext cx="2622724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11112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Generate Alternatives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all feasible actions (e.g., Route A, B, C).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02185"/>
            <a:ext cx="2622724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11112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Evaluate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 each action using the utility function (time, cost, safety).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341191"/>
            <a:ext cx="4004965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450134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Select &amp; Execute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the highest-utility action and perform it.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341191"/>
            <a:ext cx="4004965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450134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Monitor &amp; Recalculate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Re-evaluate if conditions change; adapt dynamically.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Example: Food Delivery App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14" y="704255"/>
            <a:ext cx="4341614" cy="4341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11900" y="2464296"/>
            <a:ext cx="319787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app must assign the best rider by balancing 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ETA, rating, and cost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simultaneously.</a:t>
            </a:r>
            <a:endParaRPr lang="en-US" sz="550" dirty="0"/>
          </a:p>
        </p:txBody>
      </p:sp>
      <p:sp>
        <p:nvSpPr>
          <p:cNvPr id="5" name="Shape 2"/>
          <p:cNvSpPr/>
          <p:nvPr/>
        </p:nvSpPr>
        <p:spPr>
          <a:xfrm>
            <a:off x="5911900" y="2589163"/>
            <a:ext cx="2740670" cy="571798"/>
          </a:xfrm>
          <a:prstGeom prst="roundRect">
            <a:avLst>
              <a:gd name="adj" fmla="val 1115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11900" y="2733303"/>
            <a:ext cx="2740670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911900" y="2875062"/>
            <a:ext cx="2740670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911900" y="3016821"/>
            <a:ext cx="2740670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987653" y="2619896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Rider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6670402" y="2619896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ETA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7353151" y="2619896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Rating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8035900" y="2619896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Cost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5987653" y="2761655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Rider A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6670402" y="2761655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min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7353151" y="2761655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4.2 ★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8035900" y="2761655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₹50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5987653" y="2903413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Rider B ✓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6670402" y="2903413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min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7353151" y="2903413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4.9 ★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8035900" y="2903413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₹35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5987653" y="3045172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Rider C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6670402" y="3045172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 min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7353151" y="3045172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 ★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8035900" y="3045172"/>
            <a:ext cx="99826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₹70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5911900" y="3200772"/>
            <a:ext cx="319787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Rider B is selected — the best overall balance of speed, quality, and affordability.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9850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Advantages &amp; Limitations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154088"/>
            <a:ext cx="4722763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81165" y="1310134"/>
            <a:ext cx="44106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Advantages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81165" y="1616646"/>
            <a:ext cx="4410670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Produces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optimal decisions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just acceptable ones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multiple objectives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simultaneously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well in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uncertain, dynamic environments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Balances competing constraints (time, cost, safety)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970386"/>
            <a:ext cx="4722763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81165" y="3126432"/>
            <a:ext cx="44106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Limitations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81165" y="3432944"/>
            <a:ext cx="4410670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Designing an accurate utility function is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challenging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greater computational resources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Utility values can be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subjective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biased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Incorrect calculations lead to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poor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498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Real-World Applications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11487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71490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Transportation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78001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Tesla Autopilot, Uber route optimization, smart traffic management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011487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87149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Finance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178001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Portfolio optimization, fraud detection, algorithmic risk assessment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011487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87149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E-Commerce &amp; Media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178001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recommendations, Netflix engine, Google Ads optimization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011487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87149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178001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Treatment recommendations, clinical decision support, resource allocation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Case Study: Self-Driving Car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30199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an intersection, the car evaluates three routes across 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time, safety, fuel, and traffic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Route B wins with the highest utility score (92), despite not being the fastest.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2521446"/>
            <a:ext cx="3986733" cy="596503"/>
          </a:xfrm>
          <a:prstGeom prst="roundRect">
            <a:avLst>
              <a:gd name="adj" fmla="val 1102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671762"/>
            <a:ext cx="3986733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819698"/>
            <a:ext cx="3986733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967633"/>
            <a:ext cx="3986733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64059" y="2521446"/>
            <a:ext cx="4763" cy="59650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7014" y="2521446"/>
            <a:ext cx="4763" cy="59650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489969" y="2521446"/>
            <a:ext cx="4763" cy="59650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152924" y="2521446"/>
            <a:ext cx="4763" cy="59650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815879" y="2521446"/>
            <a:ext cx="4763" cy="59650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4179" y="2553519"/>
            <a:ext cx="97162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Route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239515" y="2553519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1902470" y="2553519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Safety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2565425" y="2553519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Fuel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3228380" y="2553519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Traffic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891335" y="2553519"/>
            <a:ext cx="97162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Utility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574179" y="2701454"/>
            <a:ext cx="97162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A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1239515" y="2701454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1902470" y="2701454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2565425" y="2701454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3228380" y="2701454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Heavy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3891335" y="2701454"/>
            <a:ext cx="97162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574179" y="2849389"/>
            <a:ext cx="97162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Route B ✓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1239515" y="2849389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1902470" y="2849389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550" dirty="0"/>
          </a:p>
        </p:txBody>
      </p:sp>
      <p:sp>
        <p:nvSpPr>
          <p:cNvPr id="28" name="Text 26"/>
          <p:cNvSpPr/>
          <p:nvPr/>
        </p:nvSpPr>
        <p:spPr>
          <a:xfrm>
            <a:off x="2565425" y="2849389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3228380" y="2849389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891335" y="2849389"/>
            <a:ext cx="97162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92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574179" y="2997324"/>
            <a:ext cx="97162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C</a:t>
            </a:r>
            <a:endParaRPr lang="en-US" sz="550" dirty="0"/>
          </a:p>
        </p:txBody>
      </p:sp>
      <p:sp>
        <p:nvSpPr>
          <p:cNvPr id="32" name="Text 30"/>
          <p:cNvSpPr/>
          <p:nvPr/>
        </p:nvSpPr>
        <p:spPr>
          <a:xfrm>
            <a:off x="1239515" y="2997324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902470" y="2997324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2565425" y="2997324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3228380" y="2997324"/>
            <a:ext cx="9692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3891335" y="2997324"/>
            <a:ext cx="97162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</a:t>
            </a:r>
            <a:endParaRPr lang="en-US" sz="55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2151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Takeaways</a:t>
            </a:r>
            <a:endParaRPr lang="en-US" sz="2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47291"/>
            <a:ext cx="4722763" cy="8678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7139" y="1081162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Best Solution, Not Just Any Solution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87139" y="1328514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Utility-Based Agent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optimizes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alternatives — it doesn't stop at the first working option.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16013"/>
            <a:ext cx="4722763" cy="8678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7139" y="2049884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Utility Function Is the Core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87139" y="2297237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encodes preferences numerically, enabling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objective comparison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complex, multi-factor decisions.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884736"/>
            <a:ext cx="4722763" cy="8678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7139" y="3018606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Adaptive by Design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87139" y="3265959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continuously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monitor and recalculate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if the environment changes, a better action may be chosen.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853458"/>
            <a:ext cx="4722763" cy="8678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7139" y="3987329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Think &amp; Discuss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687139" y="4234681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Should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speed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always dominate? Classify: Uber matching, airline pricing, Netflix recommendations — are they Utility-Based Agents?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2026-07-14T02:21:35Z</dcterms:created>
  <dcterms:modified xsi:type="dcterms:W3CDTF">2026-07-14T02:21:35Z</dcterms:modified>
</cp:coreProperties>
</file>