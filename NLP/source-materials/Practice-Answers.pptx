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65kaJazT3RMA8uP6DzToVr8WG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a0285b84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a0285b84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fa0285b84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a0285b84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fa0285b84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" name="Google Shape;22;g3fa0285b842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a0285b842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fa0285b842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" name="Google Shape;33;g3fa0285b842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a0285b842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fa0285b842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g3fa0285b842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0285b842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a0285b842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" name="Google Shape;55;g3fa0285b842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a0285b842_0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a0285b842_0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fa0285b842_0_1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0285b842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a0285b842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3fa0285b842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0285b842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fa0285b842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fa0285b842_0_2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0285b842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fa0285b842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fa0285b842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a0285b842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a0285b842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g3fa0285b842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0285b842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a0285b842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fa0285b842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0285b842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a0285b842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fa0285b842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a0285b842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fa0285b842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fa0285b842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0285b842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fa0285b842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3fa0285b842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0285b842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a0285b842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fa0285b842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0285b842_0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a0285b842_0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fa0285b842_0_2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a0285b842_0_2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a0285b842_0_2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fa0285b842_0_2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a0285b842_0_2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a0285b842_0_2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fa0285b842_0_2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a0285b842_0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fa0285b842_0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fa0285b842_0_3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a0285b842_0_3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fa0285b842_0_3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fa0285b842_0_3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a0285b842_0_3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fa0285b842_0_3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fa0285b842_0_3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a0285b842_0_3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fa0285b842_0_3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fa0285b842_0_3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a0285b842_0_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fa0285b842_0_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fa0285b842_0_3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0285b842_0_3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a0285b842_0_3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g3fa0285b842_0_3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a0285b842_0_4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fa0285b842_0_4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fa0285b842_0_4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a0285b842_0_4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fa0285b842_0_4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g3fa0285b842_0_4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a0285b842_0_4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fa0285b842_0_4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g3fa0285b842_0_4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a0285b842_0_4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fa0285b842_0_4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fa0285b842_0_4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a0285b842_0_4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fa0285b842_0_4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fa0285b842_0_4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0285b842_0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fa0285b842_0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fa0285b842_0_4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a0285b842_0_5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fa0285b842_0_5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g3fa0285b842_0_5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a0285b842_0_0"/>
          <p:cNvSpPr/>
          <p:nvPr/>
        </p:nvSpPr>
        <p:spPr>
          <a:xfrm>
            <a:off x="502920" y="22128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fa0285b842_0_0"/>
          <p:cNvSpPr txBox="1"/>
          <p:nvPr/>
        </p:nvSpPr>
        <p:spPr>
          <a:xfrm>
            <a:off x="758952" y="26700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encoding represents every unique word in a vocabulary as a binary vector in which exactly one position (corresponding to that word) is 1 and all other positions are 0.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fa0285b842_0_0"/>
          <p:cNvSpPr txBox="1"/>
          <p:nvPr/>
        </p:nvSpPr>
        <p:spPr>
          <a:xfrm>
            <a:off x="391602" y="79489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ANSWER 1: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a0285b842_0_13"/>
          <p:cNvSpPr/>
          <p:nvPr/>
        </p:nvSpPr>
        <p:spPr>
          <a:xfrm>
            <a:off x="589545" y="8989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g3fa0285b842_0_13"/>
          <p:cNvSpPr txBox="1"/>
          <p:nvPr/>
        </p:nvSpPr>
        <p:spPr>
          <a:xfrm>
            <a:off x="845577" y="13561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BoW represents a document as an unordered collection (multiset) of its words, typically stored as a vector of word counts or frequencies over a fixed vocabulary.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fa0285b842_0_13"/>
          <p:cNvSpPr/>
          <p:nvPr/>
        </p:nvSpPr>
        <p:spPr>
          <a:xfrm>
            <a:off x="589545" y="28649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g3fa0285b842_0_13"/>
          <p:cNvSpPr txBox="1"/>
          <p:nvPr/>
        </p:nvSpPr>
        <p:spPr>
          <a:xfrm>
            <a:off x="845577" y="29838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fa0285b842_0_13"/>
          <p:cNvSpPr txBox="1"/>
          <p:nvPr/>
        </p:nvSpPr>
        <p:spPr>
          <a:xfrm>
            <a:off x="845577" y="33221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BoW only records how many times each word occurs and completely discards positional/sequential information, two sentences with identical words but different order ('dog bites man' vs 'man bites dog') produce the same BoW vector.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fa0285b842_0_13"/>
          <p:cNvSpPr txBox="1"/>
          <p:nvPr/>
        </p:nvSpPr>
        <p:spPr>
          <a:xfrm>
            <a:off x="507102" y="30487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ANSWER 2: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a0285b842_0_30"/>
          <p:cNvSpPr/>
          <p:nvPr/>
        </p:nvSpPr>
        <p:spPr>
          <a:xfrm>
            <a:off x="503095" y="10866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g3fa0285b842_0_30"/>
          <p:cNvSpPr txBox="1"/>
          <p:nvPr/>
        </p:nvSpPr>
        <p:spPr>
          <a:xfrm>
            <a:off x="759127" y="15438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skip-gram is a generalization of an n-gram in which the constituent words need not be contiguous — some words in the context window may be 'skipped', allowing the model to capture longer-range or non-adjacent word associations.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a0285b842_0_30"/>
          <p:cNvSpPr/>
          <p:nvPr/>
        </p:nvSpPr>
        <p:spPr>
          <a:xfrm>
            <a:off x="503095" y="30526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a0285b842_0_30"/>
          <p:cNvSpPr txBox="1"/>
          <p:nvPr/>
        </p:nvSpPr>
        <p:spPr>
          <a:xfrm>
            <a:off x="759127" y="31715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a0285b842_0_30"/>
          <p:cNvSpPr txBox="1"/>
          <p:nvPr/>
        </p:nvSpPr>
        <p:spPr>
          <a:xfrm>
            <a:off x="686777" y="38571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standard n-gram always uses n consecutive words, while a k-skip-n-gram allows up to k gaps between the chosen words, so it can capture relationships like 'not ... good' even when words appear between them.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g3fa0285b842_0_30"/>
          <p:cNvSpPr txBox="1"/>
          <p:nvPr/>
        </p:nvSpPr>
        <p:spPr>
          <a:xfrm>
            <a:off x="503102" y="37619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ANSWER 3: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a0285b842_0_44"/>
          <p:cNvSpPr/>
          <p:nvPr/>
        </p:nvSpPr>
        <p:spPr>
          <a:xfrm>
            <a:off x="300770" y="95677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fa0285b842_0_44"/>
          <p:cNvSpPr txBox="1"/>
          <p:nvPr/>
        </p:nvSpPr>
        <p:spPr>
          <a:xfrm>
            <a:off x="556802" y="141397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TF-IDF (Term Frequency–Inverse Document Frequency) weighs a word by how frequently it appears in a document (TF) multiplied by how rare it is across the whole corpus (IDF), giving higher weight to distinctive words.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fa0285b842_0_44"/>
          <p:cNvSpPr/>
          <p:nvPr/>
        </p:nvSpPr>
        <p:spPr>
          <a:xfrm>
            <a:off x="300770" y="292273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a0285b842_0_44"/>
          <p:cNvSpPr txBox="1"/>
          <p:nvPr/>
        </p:nvSpPr>
        <p:spPr>
          <a:xfrm>
            <a:off x="556802" y="304160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fa0285b842_0_44"/>
          <p:cNvSpPr txBox="1"/>
          <p:nvPr/>
        </p:nvSpPr>
        <p:spPr>
          <a:xfrm>
            <a:off x="556802" y="337993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Raw counts overweight common words like 'the' or 'is' that appear everywhere but carry little discriminative meaning. IDF down-weights such words while boosting words that are frequent in a specific document but rare elsewhere, making them more useful for distinguishing documents.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3fa0285b842_0_44"/>
          <p:cNvSpPr txBox="1"/>
          <p:nvPr/>
        </p:nvSpPr>
        <p:spPr>
          <a:xfrm>
            <a:off x="556802" y="28957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ANSWER 4: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0285b842_0_171"/>
          <p:cNvSpPr/>
          <p:nvPr/>
        </p:nvSpPr>
        <p:spPr>
          <a:xfrm>
            <a:off x="503095" y="100007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fa0285b842_0_171"/>
          <p:cNvSpPr txBox="1"/>
          <p:nvPr/>
        </p:nvSpPr>
        <p:spPr>
          <a:xfrm>
            <a:off x="759127" y="145727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n-gram is a contiguous sequence of n items (usually words or characters) from a given text.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a0285b842_0_171"/>
          <p:cNvSpPr/>
          <p:nvPr/>
        </p:nvSpPr>
        <p:spPr>
          <a:xfrm>
            <a:off x="503095" y="296603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fa0285b842_0_171"/>
          <p:cNvSpPr txBox="1"/>
          <p:nvPr/>
        </p:nvSpPr>
        <p:spPr>
          <a:xfrm>
            <a:off x="759127" y="308490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g3fa0285b842_0_171"/>
          <p:cNvSpPr txBox="1"/>
          <p:nvPr/>
        </p:nvSpPr>
        <p:spPr>
          <a:xfrm>
            <a:off x="759127" y="342323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Bigrams (n=2) from the sentence: ('I','love'), ('love','natural'), ('natural','language'). Trigrams (n=3): ('I','love','natural'), ('love','natural','language').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a0285b842_0_171"/>
          <p:cNvSpPr txBox="1"/>
          <p:nvPr/>
        </p:nvSpPr>
        <p:spPr>
          <a:xfrm>
            <a:off x="503102" y="34732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ANSWER 5: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0285b842_0_189"/>
          <p:cNvSpPr/>
          <p:nvPr/>
        </p:nvSpPr>
        <p:spPr>
          <a:xfrm>
            <a:off x="503095" y="98562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g3fa0285b842_0_189"/>
          <p:cNvSpPr txBox="1"/>
          <p:nvPr/>
        </p:nvSpPr>
        <p:spPr>
          <a:xfrm>
            <a:off x="759127" y="144282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2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Smoothing is necessary because with maximum likelihood estimation, any n-gram that never appears in the training corpus gets a probability of exactly zero, which is unrealistic and problematic.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a0285b842_0_189"/>
          <p:cNvSpPr/>
          <p:nvPr/>
        </p:nvSpPr>
        <p:spPr>
          <a:xfrm>
            <a:off x="503095" y="295158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fa0285b842_0_189"/>
          <p:cNvSpPr txBox="1"/>
          <p:nvPr/>
        </p:nvSpPr>
        <p:spPr>
          <a:xfrm>
            <a:off x="759127" y="307045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a0285b842_0_189"/>
          <p:cNvSpPr txBox="1"/>
          <p:nvPr/>
        </p:nvSpPr>
        <p:spPr>
          <a:xfrm>
            <a:off x="759127" y="340878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single zero-probability n-gram makes the probability of an entire sentence zero (since probabilities are multiplied), so smoothing techniques (Laplace/add-one, Good-Turing, Kneser-Ney, etc.) redistribute some probability mass to unseen events so the model can generalize to novel word sequences.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a0285b842_0_189"/>
          <p:cNvSpPr txBox="1"/>
          <p:nvPr/>
        </p:nvSpPr>
        <p:spPr>
          <a:xfrm>
            <a:off x="503102" y="51037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30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ANSWER 6: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a0285b842_0_207"/>
          <p:cNvSpPr/>
          <p:nvPr/>
        </p:nvSpPr>
        <p:spPr>
          <a:xfrm>
            <a:off x="445170" y="10289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a0285b842_0_207"/>
          <p:cNvSpPr txBox="1"/>
          <p:nvPr/>
        </p:nvSpPr>
        <p:spPr>
          <a:xfrm>
            <a:off x="701202" y="55369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a0285b842_0_207"/>
          <p:cNvSpPr txBox="1"/>
          <p:nvPr/>
        </p:nvSpPr>
        <p:spPr>
          <a:xfrm>
            <a:off x="701202" y="14861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2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Word2Vec is a neural network-based technique that learns dense, low-dimensional vector representations (word embeddings) of words such that semantically similar words end up close together in the vector space.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a0285b842_0_207"/>
          <p:cNvSpPr/>
          <p:nvPr/>
        </p:nvSpPr>
        <p:spPr>
          <a:xfrm>
            <a:off x="445170" y="29949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fa0285b842_0_207"/>
          <p:cNvSpPr txBox="1"/>
          <p:nvPr/>
        </p:nvSpPr>
        <p:spPr>
          <a:xfrm>
            <a:off x="701202" y="31137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a0285b842_0_207"/>
          <p:cNvSpPr txBox="1"/>
          <p:nvPr/>
        </p:nvSpPr>
        <p:spPr>
          <a:xfrm>
            <a:off x="701202" y="34521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two architectures are CBOW (Continuous Bag-of-Words), which predicts a target word from its surrounding context words, and Skip-gram, which predicts the surrounding context words given a target word.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a0285b842_0_225"/>
          <p:cNvSpPr/>
          <p:nvPr/>
        </p:nvSpPr>
        <p:spPr>
          <a:xfrm>
            <a:off x="503095" y="7690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a0285b842_0_225"/>
          <p:cNvSpPr txBox="1"/>
          <p:nvPr/>
        </p:nvSpPr>
        <p:spPr>
          <a:xfrm>
            <a:off x="759127" y="3681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8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a0285b842_0_225"/>
          <p:cNvSpPr txBox="1"/>
          <p:nvPr/>
        </p:nvSpPr>
        <p:spPr>
          <a:xfrm>
            <a:off x="759127" y="12262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GloVe (Global Vectors for Word Representation) learns word embeddings by factorizing a global word-word co-occurrence matrix built from statistics across the entire corpus.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a0285b842_0_225"/>
          <p:cNvSpPr/>
          <p:nvPr/>
        </p:nvSpPr>
        <p:spPr>
          <a:xfrm>
            <a:off x="503095" y="27350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a0285b842_0_225"/>
          <p:cNvSpPr txBox="1"/>
          <p:nvPr/>
        </p:nvSpPr>
        <p:spPr>
          <a:xfrm>
            <a:off x="759127" y="28538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a0285b842_0_225"/>
          <p:cNvSpPr txBox="1"/>
          <p:nvPr/>
        </p:nvSpPr>
        <p:spPr>
          <a:xfrm>
            <a:off x="759127" y="31922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Word2Vec learns embeddings using local context windows in a predictive (neural, online) manner, GloVe explicitly uses global co-occurrence counts and a count-based, matrix-factorization-style objective, aiming to combine the benefits of global matrix factorization and local context window methods.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0285b842_0_63"/>
          <p:cNvSpPr/>
          <p:nvPr/>
        </p:nvSpPr>
        <p:spPr>
          <a:xfrm>
            <a:off x="502920" y="22128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a0285b842_0_63"/>
          <p:cNvSpPr txBox="1"/>
          <p:nvPr/>
        </p:nvSpPr>
        <p:spPr>
          <a:xfrm>
            <a:off x="758952" y="11333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69E"/>
              </a:buClr>
              <a:buSzPts val="12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a0285b842_0_63"/>
          <p:cNvSpPr txBox="1"/>
          <p:nvPr/>
        </p:nvSpPr>
        <p:spPr>
          <a:xfrm>
            <a:off x="758952" y="26700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Vocabulary (alphabetical): [cat, dog, log, mat, on, sat, the]. D1 vector: [1, 0, 0, 1, 1, 1, 2].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a0285b842_0_63"/>
          <p:cNvSpPr/>
          <p:nvPr/>
        </p:nvSpPr>
        <p:spPr>
          <a:xfrm>
            <a:off x="502920" y="41788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a0285b842_0_63"/>
          <p:cNvSpPr txBox="1"/>
          <p:nvPr/>
        </p:nvSpPr>
        <p:spPr>
          <a:xfrm>
            <a:off x="758952" y="42976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fa0285b842_0_63"/>
          <p:cNvSpPr txBox="1"/>
          <p:nvPr/>
        </p:nvSpPr>
        <p:spPr>
          <a:xfrm>
            <a:off x="758952" y="46360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'cat' appears once, 'dog' 0 times, 'log' 0 times, 'mat' once, 'on' once, 'sat' once, and 'the' appears twice in D1 ('the cat sat on the mat'), giving the count vector [1,0,0,1,1,1,2].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0285b842_0_81"/>
          <p:cNvSpPr/>
          <p:nvPr/>
        </p:nvSpPr>
        <p:spPr>
          <a:xfrm>
            <a:off x="503095" y="94232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a0285b842_0_81"/>
          <p:cNvSpPr txBox="1"/>
          <p:nvPr/>
        </p:nvSpPr>
        <p:spPr>
          <a:xfrm>
            <a:off x="759127" y="71389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69E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fa0285b842_0_81"/>
          <p:cNvSpPr txBox="1"/>
          <p:nvPr/>
        </p:nvSpPr>
        <p:spPr>
          <a:xfrm>
            <a:off x="759127" y="139952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IDF = log(3/1) = log(3) ≈ 1.0986 (natural log).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fa0285b842_0_81"/>
          <p:cNvSpPr/>
          <p:nvPr/>
        </p:nvSpPr>
        <p:spPr>
          <a:xfrm>
            <a:off x="503095" y="290828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a0285b842_0_81"/>
          <p:cNvSpPr txBox="1"/>
          <p:nvPr/>
        </p:nvSpPr>
        <p:spPr>
          <a:xfrm>
            <a:off x="759127" y="302715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a0285b842_0_81"/>
          <p:cNvSpPr txBox="1"/>
          <p:nvPr/>
        </p:nvSpPr>
        <p:spPr>
          <a:xfrm>
            <a:off x="759127" y="336548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'python' appears in only 1 of the 3 documents, it is rare across the corpus, giving it a relatively high IDF value, meaning it will be weighted more heavily in documents that do contain it because it is discriminative.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a0285b842_0_99"/>
          <p:cNvSpPr/>
          <p:nvPr/>
        </p:nvSpPr>
        <p:spPr>
          <a:xfrm>
            <a:off x="358545" y="7834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a0285b842_0_99"/>
          <p:cNvSpPr txBox="1"/>
          <p:nvPr/>
        </p:nvSpPr>
        <p:spPr>
          <a:xfrm>
            <a:off x="715627" y="67394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69E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a0285b842_0_99"/>
          <p:cNvSpPr txBox="1"/>
          <p:nvPr/>
        </p:nvSpPr>
        <p:spPr>
          <a:xfrm>
            <a:off x="614577" y="12406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IDF = log(5/5) = log(1) = 0.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a0285b842_0_99"/>
          <p:cNvSpPr/>
          <p:nvPr/>
        </p:nvSpPr>
        <p:spPr>
          <a:xfrm>
            <a:off x="358545" y="27494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a0285b842_0_99"/>
          <p:cNvSpPr txBox="1"/>
          <p:nvPr/>
        </p:nvSpPr>
        <p:spPr>
          <a:xfrm>
            <a:off x="614577" y="28683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a0285b842_0_99"/>
          <p:cNvSpPr txBox="1"/>
          <p:nvPr/>
        </p:nvSpPr>
        <p:spPr>
          <a:xfrm>
            <a:off x="614577" y="32066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IDF is 0, the TF-IDF score for 'the' will be 0 regardless of how frequently it occurs within any document (TF × 0 = 0). This correctly reflects that a word appearing in every document carries no discriminative power for distinguishing between documents.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0285b842_0_116"/>
          <p:cNvSpPr/>
          <p:nvPr/>
        </p:nvSpPr>
        <p:spPr>
          <a:xfrm>
            <a:off x="503095" y="9134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a0285b842_0_116"/>
          <p:cNvSpPr txBox="1"/>
          <p:nvPr/>
        </p:nvSpPr>
        <p:spPr>
          <a:xfrm>
            <a:off x="759127" y="43819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69E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a0285b842_0_116"/>
          <p:cNvSpPr txBox="1"/>
          <p:nvPr/>
        </p:nvSpPr>
        <p:spPr>
          <a:xfrm>
            <a:off x="759127" y="13706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2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unnormalized scores: Score(spam) = P(spam) × P('free'|spam) = 0.4 × 0.6 = 0.24. Score(not spam) = 0.6 × 0.1 = 0.06. Since 0.24 &gt; 0.06, classify as SPAM.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a0285b842_0_116"/>
          <p:cNvSpPr/>
          <p:nvPr/>
        </p:nvSpPr>
        <p:spPr>
          <a:xfrm>
            <a:off x="503095" y="28794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a0285b842_0_116"/>
          <p:cNvSpPr txBox="1"/>
          <p:nvPr/>
        </p:nvSpPr>
        <p:spPr>
          <a:xfrm>
            <a:off x="759127" y="29982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a0285b842_0_116"/>
          <p:cNvSpPr txBox="1"/>
          <p:nvPr/>
        </p:nvSpPr>
        <p:spPr>
          <a:xfrm>
            <a:off x="759127" y="33366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Naive Bayes picks the class that maximizes P(class) × P(features|class). Here spam has a much higher combined score than not-spam, so the email is classified as spam — this matches intuition since 'free' is a classic spam-indicating word.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a0285b842_0_131"/>
          <p:cNvSpPr/>
          <p:nvPr/>
        </p:nvSpPr>
        <p:spPr>
          <a:xfrm>
            <a:off x="503095" y="79792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a0285b842_0_131"/>
          <p:cNvSpPr txBox="1"/>
          <p:nvPr/>
        </p:nvSpPr>
        <p:spPr>
          <a:xfrm>
            <a:off x="759127" y="56949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69E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:13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a0285b842_0_131"/>
          <p:cNvSpPr txBox="1"/>
          <p:nvPr/>
        </p:nvSpPr>
        <p:spPr>
          <a:xfrm>
            <a:off x="759127" y="125512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P(ball | the red) = (count('the red ball') + 1) / (count('the red') + V) = (2+1) / (10+100) = 3/110 ≈ 0.0273.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fa0285b842_0_131"/>
          <p:cNvSpPr/>
          <p:nvPr/>
        </p:nvSpPr>
        <p:spPr>
          <a:xfrm>
            <a:off x="503095" y="276388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a0285b842_0_131"/>
          <p:cNvSpPr txBox="1"/>
          <p:nvPr/>
        </p:nvSpPr>
        <p:spPr>
          <a:xfrm>
            <a:off x="759127" y="288275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a0285b842_0_131"/>
          <p:cNvSpPr txBox="1"/>
          <p:nvPr/>
        </p:nvSpPr>
        <p:spPr>
          <a:xfrm>
            <a:off x="759127" y="322108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Add-one smoothing adds 1 to every numerator count and adds V (vocabulary size) to the denominator, ensuring no probability is ever exactly zero even for unseen trigrams, at the cost of slightly reducing probability mass from seen events.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a0285b842_0_149"/>
          <p:cNvSpPr/>
          <p:nvPr/>
        </p:nvSpPr>
        <p:spPr>
          <a:xfrm>
            <a:off x="430745" y="11444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a0285b842_0_149"/>
          <p:cNvSpPr txBox="1"/>
          <p:nvPr/>
        </p:nvSpPr>
        <p:spPr>
          <a:xfrm>
            <a:off x="686777" y="91602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469E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14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a0285b842_0_149"/>
          <p:cNvSpPr txBox="1"/>
          <p:nvPr/>
        </p:nvSpPr>
        <p:spPr>
          <a:xfrm>
            <a:off x="686777" y="16016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words within window 2 of 'fox': 'quick', 'brown' (left) and 'jumps', 'over' (right). Pairs: (fox, quick), (fox, brown), (fox, jumps), (fox, over).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a0285b842_0_149"/>
          <p:cNvSpPr/>
          <p:nvPr/>
        </p:nvSpPr>
        <p:spPr>
          <a:xfrm>
            <a:off x="430745" y="31104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a0285b842_0_149"/>
          <p:cNvSpPr txBox="1"/>
          <p:nvPr/>
        </p:nvSpPr>
        <p:spPr>
          <a:xfrm>
            <a:off x="686777" y="32292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a0285b842_0_149"/>
          <p:cNvSpPr txBox="1"/>
          <p:nvPr/>
        </p:nvSpPr>
        <p:spPr>
          <a:xfrm>
            <a:off x="686777" y="35676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Skip-gram generates one training pair for each context word within the window on both sides of the target word; here 'fox' is at index 3 (0-indexed), so with window=2 it looks two positions left ('brown', 'quick') and two positions right ('jumps', 'over').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0285b842_0_240"/>
          <p:cNvSpPr/>
          <p:nvPr/>
        </p:nvSpPr>
        <p:spPr>
          <a:xfrm>
            <a:off x="503095" y="8412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a0285b842_0_240"/>
          <p:cNvSpPr txBox="1"/>
          <p:nvPr/>
        </p:nvSpPr>
        <p:spPr>
          <a:xfrm>
            <a:off x="759127" y="96012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15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a0285b842_0_240"/>
          <p:cNvSpPr txBox="1"/>
          <p:nvPr/>
        </p:nvSpPr>
        <p:spPr>
          <a:xfrm>
            <a:off x="759127" y="12984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a0285b842_0_240"/>
          <p:cNvSpPr/>
          <p:nvPr/>
        </p:nvSpPr>
        <p:spPr>
          <a:xfrm>
            <a:off x="503095" y="28072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fa0285b842_0_240"/>
          <p:cNvSpPr txBox="1"/>
          <p:nvPr/>
        </p:nvSpPr>
        <p:spPr>
          <a:xfrm>
            <a:off x="759127" y="29260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fa0285b842_0_240"/>
          <p:cNvSpPr txBox="1"/>
          <p:nvPr/>
        </p:nvSpPr>
        <p:spPr>
          <a:xfrm>
            <a:off x="759127" y="32644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vectors are all mutually orthogonal (equal Euclidean/cosine distance), so they encode no similarity information at all; embeddings like Word2Vec/GloVe are needed for that.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a0285b842_0_258"/>
          <p:cNvSpPr/>
          <p:nvPr/>
        </p:nvSpPr>
        <p:spPr>
          <a:xfrm>
            <a:off x="503095" y="100007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a0285b842_0_258"/>
          <p:cNvSpPr txBox="1"/>
          <p:nvPr/>
        </p:nvSpPr>
        <p:spPr>
          <a:xfrm>
            <a:off x="860202" y="7075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16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a0285b842_0_258"/>
          <p:cNvSpPr txBox="1"/>
          <p:nvPr/>
        </p:nvSpPr>
        <p:spPr>
          <a:xfrm>
            <a:off x="759127" y="145727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a0285b842_0_258"/>
          <p:cNvSpPr/>
          <p:nvPr/>
        </p:nvSpPr>
        <p:spPr>
          <a:xfrm>
            <a:off x="503095" y="296603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fa0285b842_0_258"/>
          <p:cNvSpPr txBox="1"/>
          <p:nvPr/>
        </p:nvSpPr>
        <p:spPr>
          <a:xfrm>
            <a:off x="759127" y="308490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a0285b842_0_258"/>
          <p:cNvSpPr txBox="1"/>
          <p:nvPr/>
        </p:nvSpPr>
        <p:spPr>
          <a:xfrm>
            <a:off x="759127" y="342323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2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BoW only counts word occurrences and discards sequence/order information entirely.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a0285b842_0_276"/>
          <p:cNvSpPr/>
          <p:nvPr/>
        </p:nvSpPr>
        <p:spPr>
          <a:xfrm>
            <a:off x="445170" y="8556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a0285b842_0_276"/>
          <p:cNvSpPr txBox="1"/>
          <p:nvPr/>
        </p:nvSpPr>
        <p:spPr>
          <a:xfrm>
            <a:off x="701202" y="9745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17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a0285b842_0_276"/>
          <p:cNvSpPr txBox="1"/>
          <p:nvPr/>
        </p:nvSpPr>
        <p:spPr>
          <a:xfrm>
            <a:off x="701202" y="13128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a0285b842_0_276"/>
          <p:cNvSpPr/>
          <p:nvPr/>
        </p:nvSpPr>
        <p:spPr>
          <a:xfrm>
            <a:off x="445170" y="28216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fa0285b842_0_276"/>
          <p:cNvSpPr txBox="1"/>
          <p:nvPr/>
        </p:nvSpPr>
        <p:spPr>
          <a:xfrm>
            <a:off x="701202" y="29405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a0285b842_0_276"/>
          <p:cNvSpPr txBox="1"/>
          <p:nvPr/>
        </p:nvSpPr>
        <p:spPr>
          <a:xfrm>
            <a:off x="701202" y="32788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precisely the goal of TF-IDF: term frequency rewards local frequency while inverse document frequency penalizes words that are common corpus-wide.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a0285b842_0_294"/>
          <p:cNvSpPr/>
          <p:nvPr/>
        </p:nvSpPr>
        <p:spPr>
          <a:xfrm>
            <a:off x="503095" y="81237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a0285b842_0_294"/>
          <p:cNvSpPr txBox="1"/>
          <p:nvPr/>
        </p:nvSpPr>
        <p:spPr>
          <a:xfrm>
            <a:off x="759127" y="93124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a0285b842_0_294"/>
          <p:cNvSpPr txBox="1"/>
          <p:nvPr/>
        </p:nvSpPr>
        <p:spPr>
          <a:xfrm>
            <a:off x="759127" y="126957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a0285b842_0_294"/>
          <p:cNvSpPr/>
          <p:nvPr/>
        </p:nvSpPr>
        <p:spPr>
          <a:xfrm>
            <a:off x="503095" y="277833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a0285b842_0_294"/>
          <p:cNvSpPr txBox="1"/>
          <p:nvPr/>
        </p:nvSpPr>
        <p:spPr>
          <a:xfrm>
            <a:off x="759127" y="289720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a0285b842_0_294"/>
          <p:cNvSpPr txBox="1"/>
          <p:nvPr/>
        </p:nvSpPr>
        <p:spPr>
          <a:xfrm>
            <a:off x="759127" y="323553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CountVectorizer produces a sparse matrix by default (most entries are zero since most documents contain only a small fraction of the vocabulary), which is memory-efficient for large vocabularies.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a0285b842_0_307"/>
          <p:cNvSpPr/>
          <p:nvPr/>
        </p:nvSpPr>
        <p:spPr>
          <a:xfrm>
            <a:off x="632870" y="9567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a0285b842_0_307"/>
          <p:cNvSpPr txBox="1"/>
          <p:nvPr/>
        </p:nvSpPr>
        <p:spPr>
          <a:xfrm>
            <a:off x="888902" y="107562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19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a0285b842_0_307"/>
          <p:cNvSpPr txBox="1"/>
          <p:nvPr/>
        </p:nvSpPr>
        <p:spPr>
          <a:xfrm>
            <a:off x="888902" y="14139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a0285b842_0_307"/>
          <p:cNvSpPr/>
          <p:nvPr/>
        </p:nvSpPr>
        <p:spPr>
          <a:xfrm>
            <a:off x="632870" y="29227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a0285b842_0_307"/>
          <p:cNvSpPr txBox="1"/>
          <p:nvPr/>
        </p:nvSpPr>
        <p:spPr>
          <a:xfrm>
            <a:off x="888902" y="30415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a0285b842_0_307"/>
          <p:cNvSpPr txBox="1"/>
          <p:nvPr/>
        </p:nvSpPr>
        <p:spPr>
          <a:xfrm>
            <a:off x="888902" y="33799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first-order Markov model assumes the next state depends only on the current (most recent) state, not the full history — that is the defining Markov property.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a0285b842_0_325"/>
          <p:cNvSpPr/>
          <p:nvPr/>
        </p:nvSpPr>
        <p:spPr>
          <a:xfrm>
            <a:off x="430745" y="8989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fa0285b842_0_325"/>
          <p:cNvSpPr txBox="1"/>
          <p:nvPr/>
        </p:nvSpPr>
        <p:spPr>
          <a:xfrm>
            <a:off x="686777" y="10178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20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a0285b842_0_325"/>
          <p:cNvSpPr txBox="1"/>
          <p:nvPr/>
        </p:nvSpPr>
        <p:spPr>
          <a:xfrm>
            <a:off x="686777" y="13561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a0285b842_0_325"/>
          <p:cNvSpPr/>
          <p:nvPr/>
        </p:nvSpPr>
        <p:spPr>
          <a:xfrm>
            <a:off x="430745" y="28649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a0285b842_0_325"/>
          <p:cNvSpPr txBox="1"/>
          <p:nvPr/>
        </p:nvSpPr>
        <p:spPr>
          <a:xfrm>
            <a:off x="686777" y="29838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a0285b842_0_325"/>
          <p:cNvSpPr txBox="1"/>
          <p:nvPr/>
        </p:nvSpPr>
        <p:spPr>
          <a:xfrm>
            <a:off x="686777" y="33221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opposite is true: higher-order n-grams have exponentially more possible combinations, so most of them are rarely or never seen in training data, making sparsity worse, not better.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a0285b842_0_343"/>
          <p:cNvSpPr/>
          <p:nvPr/>
        </p:nvSpPr>
        <p:spPr>
          <a:xfrm>
            <a:off x="603995" y="88457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a0285b842_0_343"/>
          <p:cNvSpPr txBox="1"/>
          <p:nvPr/>
        </p:nvSpPr>
        <p:spPr>
          <a:xfrm>
            <a:off x="860027" y="100344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21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a0285b842_0_343"/>
          <p:cNvSpPr txBox="1"/>
          <p:nvPr/>
        </p:nvSpPr>
        <p:spPr>
          <a:xfrm>
            <a:off x="860027" y="134177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a0285b842_0_343"/>
          <p:cNvSpPr/>
          <p:nvPr/>
        </p:nvSpPr>
        <p:spPr>
          <a:xfrm>
            <a:off x="603995" y="285053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a0285b842_0_343"/>
          <p:cNvSpPr txBox="1"/>
          <p:nvPr/>
        </p:nvSpPr>
        <p:spPr>
          <a:xfrm>
            <a:off x="860027" y="296940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fa0285b842_0_343"/>
          <p:cNvSpPr txBox="1"/>
          <p:nvPr/>
        </p:nvSpPr>
        <p:spPr>
          <a:xfrm>
            <a:off x="860027" y="330773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Smoothing (Laplace, Good-Turing, Kneser-Ney, etc.) reallocates probability mass so unseen n-grams get a small non-zero probability instead of zero, preventing the whole sentence probability from collapsing to zero.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a0285b842_0_361"/>
          <p:cNvSpPr/>
          <p:nvPr/>
        </p:nvSpPr>
        <p:spPr>
          <a:xfrm>
            <a:off x="748370" y="12021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fa0285b842_0_361"/>
          <p:cNvSpPr txBox="1"/>
          <p:nvPr/>
        </p:nvSpPr>
        <p:spPr>
          <a:xfrm>
            <a:off x="1004402" y="13210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22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a0285b842_0_361"/>
          <p:cNvSpPr txBox="1"/>
          <p:nvPr/>
        </p:nvSpPr>
        <p:spPr>
          <a:xfrm>
            <a:off x="1004402" y="16593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a0285b842_0_361"/>
          <p:cNvSpPr/>
          <p:nvPr/>
        </p:nvSpPr>
        <p:spPr>
          <a:xfrm>
            <a:off x="748370" y="31681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fa0285b842_0_361"/>
          <p:cNvSpPr txBox="1"/>
          <p:nvPr/>
        </p:nvSpPr>
        <p:spPr>
          <a:xfrm>
            <a:off x="1004402" y="32870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a0285b842_0_361"/>
          <p:cNvSpPr txBox="1"/>
          <p:nvPr/>
        </p:nvSpPr>
        <p:spPr>
          <a:xfrm>
            <a:off x="1004402" y="36253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are static (non-contextual) embedding methods — each word type gets exactly one vector, unlike contextual models such as BERT which generate different vectors depending on surrounding context.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0285b842_0_376"/>
          <p:cNvSpPr/>
          <p:nvPr/>
        </p:nvSpPr>
        <p:spPr>
          <a:xfrm>
            <a:off x="647295" y="5813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a0285b842_0_376"/>
          <p:cNvSpPr txBox="1"/>
          <p:nvPr/>
        </p:nvSpPr>
        <p:spPr>
          <a:xfrm>
            <a:off x="903327" y="70022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FA3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23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a0285b842_0_376"/>
          <p:cNvSpPr txBox="1"/>
          <p:nvPr/>
        </p:nvSpPr>
        <p:spPr>
          <a:xfrm>
            <a:off x="903327" y="10385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a0285b842_0_376"/>
          <p:cNvSpPr/>
          <p:nvPr/>
        </p:nvSpPr>
        <p:spPr>
          <a:xfrm>
            <a:off x="647295" y="25473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a0285b842_0_376"/>
          <p:cNvSpPr txBox="1"/>
          <p:nvPr/>
        </p:nvSpPr>
        <p:spPr>
          <a:xfrm>
            <a:off x="903327" y="26661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a0285b842_0_376"/>
          <p:cNvSpPr txBox="1"/>
          <p:nvPr/>
        </p:nvSpPr>
        <p:spPr>
          <a:xfrm>
            <a:off x="903327" y="30045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describes CBOW (Continuous Bag-of-Words). Skip-gram does the reverse: it predicts the surrounding context words given the target (center) word.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a0285b842_0_394"/>
          <p:cNvSpPr/>
          <p:nvPr/>
        </p:nvSpPr>
        <p:spPr>
          <a:xfrm>
            <a:off x="719495" y="117332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a0285b842_0_394"/>
          <p:cNvSpPr txBox="1"/>
          <p:nvPr/>
        </p:nvSpPr>
        <p:spPr>
          <a:xfrm>
            <a:off x="975527" y="129219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24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a0285b842_0_394"/>
          <p:cNvSpPr txBox="1"/>
          <p:nvPr/>
        </p:nvSpPr>
        <p:spPr>
          <a:xfrm>
            <a:off x="975527" y="163052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a0285b842_0_394"/>
          <p:cNvSpPr/>
          <p:nvPr/>
        </p:nvSpPr>
        <p:spPr>
          <a:xfrm>
            <a:off x="719495" y="313928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fa0285b842_0_394"/>
          <p:cNvSpPr txBox="1"/>
          <p:nvPr/>
        </p:nvSpPr>
        <p:spPr>
          <a:xfrm>
            <a:off x="975527" y="325815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a0285b842_0_394"/>
          <p:cNvSpPr txBox="1"/>
          <p:nvPr/>
        </p:nvSpPr>
        <p:spPr>
          <a:xfrm>
            <a:off x="975527" y="359648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encoding creates a sparse vector of vocabulary length where only the index of the given word is set to 1.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a0285b842_0_427"/>
          <p:cNvSpPr/>
          <p:nvPr/>
        </p:nvSpPr>
        <p:spPr>
          <a:xfrm>
            <a:off x="589545" y="8267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fa0285b842_0_427"/>
          <p:cNvSpPr txBox="1"/>
          <p:nvPr/>
        </p:nvSpPr>
        <p:spPr>
          <a:xfrm>
            <a:off x="845577" y="9456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25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a0285b842_0_427"/>
          <p:cNvSpPr txBox="1"/>
          <p:nvPr/>
        </p:nvSpPr>
        <p:spPr>
          <a:xfrm>
            <a:off x="845577" y="12839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Bag-of-Words (BoW)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a0285b842_0_427"/>
          <p:cNvSpPr/>
          <p:nvPr/>
        </p:nvSpPr>
        <p:spPr>
          <a:xfrm>
            <a:off x="589545" y="27927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fa0285b842_0_427"/>
          <p:cNvSpPr txBox="1"/>
          <p:nvPr/>
        </p:nvSpPr>
        <p:spPr>
          <a:xfrm>
            <a:off x="845577" y="29116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a0285b842_0_427"/>
          <p:cNvSpPr txBox="1"/>
          <p:nvPr/>
        </p:nvSpPr>
        <p:spPr>
          <a:xfrm>
            <a:off x="845577" y="32499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2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BoW is defined precisely by treating a document as a 'bag' (multiset) of its words.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a0285b842_0_440"/>
          <p:cNvSpPr/>
          <p:nvPr/>
        </p:nvSpPr>
        <p:spPr>
          <a:xfrm>
            <a:off x="503095" y="10144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a0285b842_0_440"/>
          <p:cNvSpPr txBox="1"/>
          <p:nvPr/>
        </p:nvSpPr>
        <p:spPr>
          <a:xfrm>
            <a:off x="759127" y="11333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26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a0285b842_0_440"/>
          <p:cNvSpPr txBox="1"/>
          <p:nvPr/>
        </p:nvSpPr>
        <p:spPr>
          <a:xfrm>
            <a:off x="759127" y="14716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 Frequency; Inverse Document Frequency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a0285b842_0_440"/>
          <p:cNvSpPr/>
          <p:nvPr/>
        </p:nvSpPr>
        <p:spPr>
          <a:xfrm>
            <a:off x="503095" y="29804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a0285b842_0_440"/>
          <p:cNvSpPr txBox="1"/>
          <p:nvPr/>
        </p:nvSpPr>
        <p:spPr>
          <a:xfrm>
            <a:off x="759127" y="309933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a0285b842_0_440"/>
          <p:cNvSpPr txBox="1"/>
          <p:nvPr/>
        </p:nvSpPr>
        <p:spPr>
          <a:xfrm>
            <a:off x="759127" y="34376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 measures how often a term occurs in a document; IDF measures how rare/informative that term is across the whole document collection.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0285b842_0_453"/>
          <p:cNvSpPr/>
          <p:nvPr/>
        </p:nvSpPr>
        <p:spPr>
          <a:xfrm>
            <a:off x="503095" y="124552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fa0285b842_0_453"/>
          <p:cNvSpPr txBox="1"/>
          <p:nvPr/>
        </p:nvSpPr>
        <p:spPr>
          <a:xfrm>
            <a:off x="759127" y="136439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27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a0285b842_0_453"/>
          <p:cNvSpPr txBox="1"/>
          <p:nvPr/>
        </p:nvSpPr>
        <p:spPr>
          <a:xfrm>
            <a:off x="759127" y="170272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CountVectorizer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a0285b842_0_453"/>
          <p:cNvSpPr txBox="1"/>
          <p:nvPr/>
        </p:nvSpPr>
        <p:spPr>
          <a:xfrm>
            <a:off x="759127" y="333035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a0285b842_0_453"/>
          <p:cNvSpPr txBox="1"/>
          <p:nvPr/>
        </p:nvSpPr>
        <p:spPr>
          <a:xfrm>
            <a:off x="759127" y="366868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CountVectorizer tokenizes text and builds a sparse document-term count matrix, implementing the BoW approach programmatically.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a0285b842_0_466"/>
          <p:cNvSpPr/>
          <p:nvPr/>
        </p:nvSpPr>
        <p:spPr>
          <a:xfrm>
            <a:off x="503095" y="84124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fa0285b842_0_466"/>
          <p:cNvSpPr txBox="1"/>
          <p:nvPr/>
        </p:nvSpPr>
        <p:spPr>
          <a:xfrm>
            <a:off x="759127" y="96012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28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a0285b842_0_466"/>
          <p:cNvSpPr txBox="1"/>
          <p:nvPr/>
        </p:nvSpPr>
        <p:spPr>
          <a:xfrm>
            <a:off x="759127" y="129844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Laplace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a0285b842_0_466"/>
          <p:cNvSpPr/>
          <p:nvPr/>
        </p:nvSpPr>
        <p:spPr>
          <a:xfrm>
            <a:off x="503095" y="28072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fa0285b842_0_466"/>
          <p:cNvSpPr txBox="1"/>
          <p:nvPr/>
        </p:nvSpPr>
        <p:spPr>
          <a:xfrm>
            <a:off x="759127" y="29260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a0285b842_0_466"/>
          <p:cNvSpPr txBox="1"/>
          <p:nvPr/>
        </p:nvSpPr>
        <p:spPr>
          <a:xfrm>
            <a:off x="759127" y="32644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2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Laplace smoothing is the most basic smoothing method, adding a constant (1) to all counts to eliminate zero probabilities.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a0285b842_0_479"/>
          <p:cNvSpPr/>
          <p:nvPr/>
        </p:nvSpPr>
        <p:spPr>
          <a:xfrm>
            <a:off x="690595" y="1216623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a0285b842_0_479"/>
          <p:cNvSpPr txBox="1"/>
          <p:nvPr/>
        </p:nvSpPr>
        <p:spPr>
          <a:xfrm>
            <a:off x="946627" y="133549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29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a0285b842_0_479"/>
          <p:cNvSpPr txBox="1"/>
          <p:nvPr/>
        </p:nvSpPr>
        <p:spPr>
          <a:xfrm>
            <a:off x="946627" y="1673823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CBOW (Continuous Bag-of-Words); Skip-gram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a0285b842_0_479"/>
          <p:cNvSpPr/>
          <p:nvPr/>
        </p:nvSpPr>
        <p:spPr>
          <a:xfrm>
            <a:off x="690595" y="3182583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fa0285b842_0_479"/>
          <p:cNvSpPr txBox="1"/>
          <p:nvPr/>
        </p:nvSpPr>
        <p:spPr>
          <a:xfrm>
            <a:off x="946627" y="330145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a0285b842_0_479"/>
          <p:cNvSpPr txBox="1"/>
          <p:nvPr/>
        </p:nvSpPr>
        <p:spPr>
          <a:xfrm>
            <a:off x="946627" y="3639783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450"/>
              <a:buFont typeface="Calibri"/>
              <a:buNone/>
            </a:pPr>
            <a:r>
              <a:rPr b="0" i="0" lang="en-US" sz="2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are the two complementary training architectures of Word2Vec, differing in prediction direction.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a0285b842_0_492"/>
          <p:cNvSpPr/>
          <p:nvPr/>
        </p:nvSpPr>
        <p:spPr>
          <a:xfrm>
            <a:off x="1167045" y="13898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a0285b842_0_492"/>
          <p:cNvSpPr txBox="1"/>
          <p:nvPr/>
        </p:nvSpPr>
        <p:spPr>
          <a:xfrm>
            <a:off x="758952" y="1280345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30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fa0285b842_0_492"/>
          <p:cNvSpPr txBox="1"/>
          <p:nvPr/>
        </p:nvSpPr>
        <p:spPr>
          <a:xfrm>
            <a:off x="1423077" y="18470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should switch to TF-IDF vectorization.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a0285b842_0_492"/>
          <p:cNvSpPr/>
          <p:nvPr/>
        </p:nvSpPr>
        <p:spPr>
          <a:xfrm>
            <a:off x="1167045" y="335585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a0285b842_0_492"/>
          <p:cNvSpPr txBox="1"/>
          <p:nvPr/>
        </p:nvSpPr>
        <p:spPr>
          <a:xfrm>
            <a:off x="614577" y="3081605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a0285b842_0_492"/>
          <p:cNvSpPr txBox="1"/>
          <p:nvPr/>
        </p:nvSpPr>
        <p:spPr>
          <a:xfrm>
            <a:off x="1423077" y="381305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TF-IDF automatically down-weights words that appear in almost every document (like stopwords 'the', 'is', 'a') via the inverse document frequency term, while up-weighting words that are frequent in specific documents but rare corpus-wide, such as 'lottery' or 'winner', making the discriminative words stand out.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a0285b842_0_505"/>
          <p:cNvSpPr/>
          <p:nvPr/>
        </p:nvSpPr>
        <p:spPr>
          <a:xfrm>
            <a:off x="503095" y="971198"/>
            <a:ext cx="11185800" cy="1783200"/>
          </a:xfrm>
          <a:prstGeom prst="roundRect">
            <a:avLst>
              <a:gd fmla="val 410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fa0285b842_0_505"/>
          <p:cNvSpPr txBox="1"/>
          <p:nvPr/>
        </p:nvSpPr>
        <p:spPr>
          <a:xfrm>
            <a:off x="759127" y="1090070"/>
            <a:ext cx="27432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: 31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3fa0285b842_0_505"/>
          <p:cNvSpPr txBox="1"/>
          <p:nvPr/>
        </p:nvSpPr>
        <p:spPr>
          <a:xfrm>
            <a:off x="759127" y="1428398"/>
            <a:ext cx="10637100" cy="12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is suffering from data sparsity — an unseen bigram has a maximum-likelihood probability of 0, and since sentence probability is the product of bigram probabilities, one zero collapses the entire product to zero. The researcher should apply a smoothing technique (e.g., Laplace, Kneser-Ney, or Good-Turing smoothing).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fa0285b842_0_505"/>
          <p:cNvSpPr/>
          <p:nvPr/>
        </p:nvSpPr>
        <p:spPr>
          <a:xfrm>
            <a:off x="373145" y="3716808"/>
            <a:ext cx="11185800" cy="2313300"/>
          </a:xfrm>
          <a:prstGeom prst="roundRect">
            <a:avLst>
              <a:gd fmla="val 316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a0285b842_0_505"/>
          <p:cNvSpPr txBox="1"/>
          <p:nvPr/>
        </p:nvSpPr>
        <p:spPr>
          <a:xfrm>
            <a:off x="629177" y="3835680"/>
            <a:ext cx="36576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6D00"/>
              </a:buClr>
              <a:buSzPts val="12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a0285b842_0_505"/>
          <p:cNvSpPr txBox="1"/>
          <p:nvPr/>
        </p:nvSpPr>
        <p:spPr>
          <a:xfrm>
            <a:off x="629177" y="4174008"/>
            <a:ext cx="10637100" cy="176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Smoothing reserves a small amount of probability mass for unseen n-grams so that a single novel word pair doesn't make the whole sequence impossible under the model, which is essential for generalizing beyond exactly the training data.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2026-09-03T14:38:28Z</dcterms:created>
  <dc:creator>PptxGenJS</dc:creator>
</cp:coreProperties>
</file>