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IBM Plex Sans"/>
      <p:regular r:id="rId201314"/>
    </p:embeddedFont>
    <p:embeddedFont>
      <p:font typeface="IBM Plex Sans SemiBold"/>
      <p:regular r:id="rId201315"/>
    </p:embeddedFont>
    <p:embeddedFont>
      <p:font typeface="IBM Plex Sans Bold"/>
      <p:regular r:id="rId201316"/>
    </p:embeddedFont>
    <p:embeddedFont>
      <p:font typeface="IBM Plex Sans Light"/>
      <p:regular r:id="rId201317"/>
    </p:embeddedFont>
    <p:embeddedFont>
      <p:font typeface="IBM Plex Sans Thin"/>
      <p:regular r:id="rId201318"/>
    </p:embeddedFont>
    <p:embeddedFont>
      <p:font typeface="IBM Plex Sans ExtraLight"/>
      <p:regular r:id="rId201319"/>
    </p:embeddedFont>
    <p:embeddedFont>
      <p:font typeface="IBM Plex Sans Medium"/>
      <p:regular r:id="rId201320"/>
    </p:embeddedFont>
    <p:embeddedFont>
      <p:font typeface="Roboto Light"/>
      <p:regular r:id="rId201321"/>
    </p:embeddedFont>
    <p:embeddedFont>
      <p:font typeface="Roboto"/>
      <p:regular r:id="rId201322"/>
    </p:embeddedFont>
    <p:embeddedFont>
      <p:font typeface="Roboto Thin"/>
      <p:regular r:id="rId201323"/>
    </p:embeddedFont>
    <p:embeddedFont>
      <p:font typeface="Roboto ExtraLight"/>
      <p:regular r:id="rId201324"/>
    </p:embeddedFont>
    <p:embeddedFont>
      <p:font typeface="Roboto Medium"/>
      <p:regular r:id="rId201325"/>
    </p:embeddedFont>
    <p:embeddedFont>
      <p:font typeface="Roboto SemiBold"/>
      <p:regular r:id="rId201326"/>
    </p:embeddedFont>
    <p:embeddedFont>
      <p:font typeface="Roboto Bold"/>
      <p:regular r:id="rId201327"/>
    </p:embeddedFont>
    <p:embeddedFont>
      <p:font typeface="Roboto ExtraBold"/>
      <p:regular r:id="rId201328"/>
    </p:embeddedFont>
    <p:embeddedFont>
      <p:font typeface="Roboto Black"/>
      <p:regular r:id="rId20132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Relationship Id="rId201331" Target="fonts/201331.fntdata" Type="http://schemas.openxmlformats.org/officeDocument/2006/relationships/font"/><Relationship Id="rId201332" Target="fonts/201332.fntdata" Type="http://schemas.openxmlformats.org/officeDocument/2006/relationships/font"/><Relationship Id="rId201333" Target="fonts/201333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jpeg"/><Relationship Id="rId3" Type="http://schemas.openxmlformats.org/officeDocument/2006/relationships/image" Target="../media/image-6-3.jpeg"/><Relationship Id="rId4" Type="http://schemas.openxmlformats.org/officeDocument/2006/relationships/image" Target="../media/image-6-4.jpe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4.png"/><Relationship Id="rId5" Type="http://schemas.openxmlformats.org/officeDocument/2006/relationships/image" Target="../media/image-10-5.svg"/><Relationship Id="rId6" Type="http://schemas.openxmlformats.org/officeDocument/2006/relationships/image" Target="../media/image-10-4.png"/><Relationship Id="rId7" Type="http://schemas.openxmlformats.org/officeDocument/2006/relationships/image" Target="../media/image-10-5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925119" y="1432768"/>
            <a:ext cx="1765474" cy="215354"/>
          </a:xfrm>
          <a:prstGeom prst="roundRect">
            <a:avLst>
              <a:gd name="adj" fmla="val 7900"/>
            </a:avLst>
          </a:prstGeom>
          <a:solidFill>
            <a:srgbClr val="4D1F00"/>
          </a:solidFill>
          <a:ln/>
        </p:spPr>
      </p:sp>
      <p:sp>
        <p:nvSpPr>
          <p:cNvPr id="4" name="Text 1"/>
          <p:cNvSpPr/>
          <p:nvPr/>
        </p:nvSpPr>
        <p:spPr>
          <a:xfrm>
            <a:off x="4010174" y="1475259"/>
            <a:ext cx="2052563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UNIT 1 · PART 4 · SLIDES 42–45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3925119" y="1704826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Model-Based Intelligent Agents</a:t>
            </a:r>
            <a:endParaRPr lang="en-US" sz="2750" dirty="0"/>
          </a:p>
        </p:txBody>
      </p:sp>
      <p:sp>
        <p:nvSpPr>
          <p:cNvPr id="6" name="Text 3"/>
          <p:cNvSpPr/>
          <p:nvPr/>
        </p:nvSpPr>
        <p:spPr>
          <a:xfrm>
            <a:off x="3925119" y="2803401"/>
            <a:ext cx="47227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When the world can't be fully observed, agents need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D4D4D1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memory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A Model-Based Agent maintains an internal representation of its environment — combining current percepts with past observations to make smarter, context-aware decisions.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74241"/>
            <a:ext cx="769739" cy="215354"/>
          </a:xfrm>
          <a:prstGeom prst="roundRect">
            <a:avLst>
              <a:gd name="adj" fmla="val 7900"/>
            </a:avLst>
          </a:prstGeom>
          <a:noFill/>
          <a:ln w="4763">
            <a:solidFill>
              <a:srgbClr val="FFBC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1174" y="516731"/>
            <a:ext cx="1056829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FFBC8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DEFINITION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746299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What Is a Model-Based Agent?</a:t>
            </a:r>
            <a:endParaRPr lang="en-US" sz="27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604367"/>
            <a:ext cx="5177582" cy="286233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24339" y="1529432"/>
            <a:ext cx="2628230" cy="1360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D4D4D1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Model-Based Agent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maintains an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D4D4D1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internal state (memory)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of the environment. It combines the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D4D4D1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current percept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with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D4D4D1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past observations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to make informed decisions — even when the environment is only partially observable.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024339" y="3049786"/>
            <a:ext cx="2628230" cy="1460004"/>
          </a:xfrm>
          <a:prstGeom prst="roundRect">
            <a:avLst>
              <a:gd name="adj" fmla="val 1457"/>
            </a:avLst>
          </a:prstGeom>
          <a:solidFill>
            <a:srgbClr val="803300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6098" y="3264843"/>
            <a:ext cx="177180" cy="14175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85037" y="3212753"/>
            <a:ext cx="2025774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Unlike a Simple Reflex Agent, it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remembers previous states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and uses that history to understand incomplete or changing situations.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925119" y="492472"/>
            <a:ext cx="679028" cy="174947"/>
          </a:xfrm>
          <a:prstGeom prst="roundRect">
            <a:avLst>
              <a:gd name="adj" fmla="val 7901"/>
            </a:avLst>
          </a:prstGeom>
          <a:noFill/>
          <a:ln w="4763">
            <a:solidFill>
              <a:srgbClr val="FFBC8F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994175" y="527000"/>
            <a:ext cx="998116" cy="105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00" dirty="0">
                <a:solidFill>
                  <a:srgbClr val="FFBC8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MOTIVATION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3925119" y="704850"/>
            <a:ext cx="4722763" cy="7198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Why Do We Need Model-Based Agents?</a:t>
            </a: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3925119" y="1565077"/>
            <a:ext cx="5179963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Simple Reflex Agents fail when information is incomplete. Model-Based Agents fill that gap.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925119" y="1837283"/>
            <a:ext cx="4722763" cy="633264"/>
          </a:xfrm>
          <a:prstGeom prst="roundRect">
            <a:avLst>
              <a:gd name="adj" fmla="val 2728"/>
            </a:avLst>
          </a:prstGeom>
          <a:solidFill>
            <a:srgbClr val="484B51"/>
          </a:solidFill>
          <a:ln/>
        </p:spPr>
      </p:sp>
      <p:sp>
        <p:nvSpPr>
          <p:cNvPr id="8" name="Text 5"/>
          <p:cNvSpPr/>
          <p:nvPr/>
        </p:nvSpPr>
        <p:spPr>
          <a:xfrm>
            <a:off x="4040237" y="1952402"/>
            <a:ext cx="4492526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Dynamic Environments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040237" y="2188443"/>
            <a:ext cx="4492526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Adapts when the world changes over time.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925119" y="2564085"/>
            <a:ext cx="4722763" cy="633264"/>
          </a:xfrm>
          <a:prstGeom prst="roundRect">
            <a:avLst>
              <a:gd name="adj" fmla="val 2728"/>
            </a:avLst>
          </a:prstGeom>
          <a:solidFill>
            <a:srgbClr val="484B51"/>
          </a:solidFill>
          <a:ln/>
        </p:spPr>
      </p:sp>
      <p:sp>
        <p:nvSpPr>
          <p:cNvPr id="11" name="Text 8"/>
          <p:cNvSpPr/>
          <p:nvPr/>
        </p:nvSpPr>
        <p:spPr>
          <a:xfrm>
            <a:off x="4040237" y="2679204"/>
            <a:ext cx="4492526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Partial Observability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040237" y="2915245"/>
            <a:ext cx="4492526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Infers missing information from past experience.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925119" y="3290888"/>
            <a:ext cx="4722763" cy="633264"/>
          </a:xfrm>
          <a:prstGeom prst="roundRect">
            <a:avLst>
              <a:gd name="adj" fmla="val 2728"/>
            </a:avLst>
          </a:prstGeom>
          <a:solidFill>
            <a:srgbClr val="484B51"/>
          </a:solidFill>
          <a:ln/>
        </p:spPr>
      </p:sp>
      <p:sp>
        <p:nvSpPr>
          <p:cNvPr id="14" name="Text 11"/>
          <p:cNvSpPr/>
          <p:nvPr/>
        </p:nvSpPr>
        <p:spPr>
          <a:xfrm>
            <a:off x="4040237" y="3406006"/>
            <a:ext cx="4492526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Context-Aware Decisions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040237" y="3642047"/>
            <a:ext cx="4492526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Past events shape smarter future actions.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3925119" y="4017690"/>
            <a:ext cx="4722763" cy="633264"/>
          </a:xfrm>
          <a:prstGeom prst="roundRect">
            <a:avLst>
              <a:gd name="adj" fmla="val 2728"/>
            </a:avLst>
          </a:prstGeom>
          <a:solidFill>
            <a:srgbClr val="484B51"/>
          </a:solidFill>
          <a:ln/>
        </p:spPr>
      </p:sp>
      <p:sp>
        <p:nvSpPr>
          <p:cNvPr id="17" name="Text 14"/>
          <p:cNvSpPr/>
          <p:nvPr/>
        </p:nvSpPr>
        <p:spPr>
          <a:xfrm>
            <a:off x="4040237" y="4132808"/>
            <a:ext cx="4492526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Continuous Learning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040237" y="4368850"/>
            <a:ext cx="4492526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Updates its internal model as new data arrives.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89855"/>
            <a:ext cx="488305" cy="107603"/>
          </a:xfrm>
          <a:prstGeom prst="roundRect">
            <a:avLst>
              <a:gd name="adj" fmla="val 7905"/>
            </a:avLst>
          </a:prstGeom>
          <a:noFill/>
          <a:ln w="4763">
            <a:solidFill>
              <a:srgbClr val="FFBC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8609" y="411063"/>
            <a:ext cx="860524" cy="65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400" dirty="0">
                <a:solidFill>
                  <a:srgbClr val="FFBC8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ARCHITECTURE</a:t>
            </a:r>
            <a:endParaRPr lang="en-US" sz="400" dirty="0"/>
          </a:p>
        </p:txBody>
      </p:sp>
      <p:sp>
        <p:nvSpPr>
          <p:cNvPr id="4" name="Text 2"/>
          <p:cNvSpPr/>
          <p:nvPr/>
        </p:nvSpPr>
        <p:spPr>
          <a:xfrm>
            <a:off x="496119" y="511597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Core Components</a:t>
            </a:r>
            <a:endParaRPr lang="en-US" sz="13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825996"/>
            <a:ext cx="3989412" cy="39894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663232" y="2521818"/>
            <a:ext cx="3989412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Key Characteristics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4663232" y="2667967"/>
            <a:ext cx="3989412" cy="474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Maintains an </a:t>
            </a:r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b="1" dirty="0">
                <a:solidFill>
                  <a:srgbClr val="D4D4D1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internal state</a:t>
            </a:r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(memory) across time steps</a:t>
            </a:r>
            <a:endParaRPr lang="en-US" sz="550" dirty="0"/>
          </a:p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Handles </a:t>
            </a:r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b="1" dirty="0">
                <a:solidFill>
                  <a:srgbClr val="D4D4D1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partially observable</a:t>
            </a:r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environments</a:t>
            </a:r>
            <a:endParaRPr lang="en-US" sz="550" dirty="0"/>
          </a:p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Infers missing information from </a:t>
            </a:r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b="1" dirty="0">
                <a:solidFill>
                  <a:srgbClr val="D4D4D1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previous experiences</a:t>
            </a:r>
            <a:endParaRPr lang="en-US" sz="550" dirty="0"/>
          </a:p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Continuously </a:t>
            </a:r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b="1" dirty="0">
                <a:solidFill>
                  <a:srgbClr val="D4D4D1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updates its knowledge</a:t>
            </a:r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as the world changes</a:t>
            </a:r>
            <a:endParaRPr lang="en-US" sz="550" dirty="0"/>
          </a:p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Produces </a:t>
            </a:r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b="1" dirty="0">
                <a:solidFill>
                  <a:srgbClr val="D4D4D1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more intelligent decisions</a:t>
            </a:r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than reflex agents</a:t>
            </a:r>
            <a:endParaRPr lang="en-US" sz="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726356"/>
            <a:ext cx="788194" cy="215354"/>
          </a:xfrm>
          <a:prstGeom prst="roundRect">
            <a:avLst>
              <a:gd name="adj" fmla="val 7900"/>
            </a:avLst>
          </a:prstGeom>
          <a:noFill/>
          <a:ln w="4763">
            <a:solidFill>
              <a:srgbClr val="FFBC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1174" y="768846"/>
            <a:ext cx="1075283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FFBC8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WORKFLOW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998413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How a Model-Based Agent Works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496119" y="1654001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IBM Plex Sans Light" pitchFamily="34" charset="0"/>
                <a:ea typeface="IBM Plex Sans Light" pitchFamily="34" charset="-122"/>
                <a:cs typeface="IBM Plex Sans Light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96119" y="1875904"/>
            <a:ext cx="2622724" cy="19050"/>
          </a:xfrm>
          <a:prstGeom prst="rect">
            <a:avLst/>
          </a:prstGeom>
          <a:solidFill>
            <a:srgbClr val="FFBC8F"/>
          </a:solidFill>
          <a:ln/>
        </p:spPr>
      </p:sp>
      <p:sp>
        <p:nvSpPr>
          <p:cNvPr id="7" name="Text 5"/>
          <p:cNvSpPr/>
          <p:nvPr/>
        </p:nvSpPr>
        <p:spPr>
          <a:xfrm>
            <a:off x="496119" y="1984846"/>
            <a:ext cx="262272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Perceive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96119" y="2291358"/>
            <a:ext cx="262272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Sensors collect current data — camera, LiDAR, GPS, temperature.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60601" y="1654001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IBM Plex Sans Light" pitchFamily="34" charset="0"/>
                <a:ea typeface="IBM Plex Sans Light" pitchFamily="34" charset="-122"/>
                <a:cs typeface="IBM Plex Sans Light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60601" y="1875904"/>
            <a:ext cx="2622724" cy="19050"/>
          </a:xfrm>
          <a:prstGeom prst="rect">
            <a:avLst/>
          </a:prstGeom>
          <a:solidFill>
            <a:srgbClr val="FFBC8F"/>
          </a:solidFill>
          <a:ln/>
        </p:spPr>
      </p:sp>
      <p:sp>
        <p:nvSpPr>
          <p:cNvPr id="11" name="Text 9"/>
          <p:cNvSpPr/>
          <p:nvPr/>
        </p:nvSpPr>
        <p:spPr>
          <a:xfrm>
            <a:off x="3260601" y="1984846"/>
            <a:ext cx="262272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Update Internal Model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260601" y="2291358"/>
            <a:ext cx="262272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New information merges with stored history; internal state refreshes.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025083" y="1654001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IBM Plex Sans Light" pitchFamily="34" charset="0"/>
                <a:ea typeface="IBM Plex Sans Light" pitchFamily="34" charset="-122"/>
                <a:cs typeface="IBM Plex Sans Light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25083" y="1875904"/>
            <a:ext cx="2622724" cy="19050"/>
          </a:xfrm>
          <a:prstGeom prst="rect">
            <a:avLst/>
          </a:prstGeom>
          <a:solidFill>
            <a:srgbClr val="FFBC8F"/>
          </a:solidFill>
          <a:ln/>
        </p:spPr>
      </p:sp>
      <p:sp>
        <p:nvSpPr>
          <p:cNvPr id="15" name="Text 13"/>
          <p:cNvSpPr/>
          <p:nvPr/>
        </p:nvSpPr>
        <p:spPr>
          <a:xfrm>
            <a:off x="6025083" y="1984846"/>
            <a:ext cx="262272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Analyze Situation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025083" y="2291358"/>
            <a:ext cx="262272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Reasoning engine evaluates current observation, past data, and environment model.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6119" y="3219822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IBM Plex Sans Light" pitchFamily="34" charset="0"/>
                <a:ea typeface="IBM Plex Sans Light" pitchFamily="34" charset="-122"/>
                <a:cs typeface="IBM Plex Sans Light" pitchFamily="34" charset="-120"/>
              </a:rPr>
              <a:t>04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96119" y="3441725"/>
            <a:ext cx="4004965" cy="19050"/>
          </a:xfrm>
          <a:prstGeom prst="rect">
            <a:avLst/>
          </a:prstGeom>
          <a:solidFill>
            <a:srgbClr val="FFBC8F"/>
          </a:solidFill>
          <a:ln/>
        </p:spPr>
      </p:sp>
      <p:sp>
        <p:nvSpPr>
          <p:cNvPr id="19" name="Text 17"/>
          <p:cNvSpPr/>
          <p:nvPr/>
        </p:nvSpPr>
        <p:spPr>
          <a:xfrm>
            <a:off x="496119" y="3550667"/>
            <a:ext cx="40049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Select Best Action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96119" y="3857179"/>
            <a:ext cx="400496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Agent determines the most appropriate action based on its understanding.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42842" y="3219822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IBM Plex Sans Light" pitchFamily="34" charset="0"/>
                <a:ea typeface="IBM Plex Sans Light" pitchFamily="34" charset="-122"/>
                <a:cs typeface="IBM Plex Sans Light" pitchFamily="34" charset="-120"/>
              </a:rPr>
              <a:t>05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42842" y="3441725"/>
            <a:ext cx="4004965" cy="19050"/>
          </a:xfrm>
          <a:prstGeom prst="rect">
            <a:avLst/>
          </a:prstGeom>
          <a:solidFill>
            <a:srgbClr val="FFBC8F"/>
          </a:solidFill>
          <a:ln/>
        </p:spPr>
      </p:sp>
      <p:sp>
        <p:nvSpPr>
          <p:cNvPr id="23" name="Text 21"/>
          <p:cNvSpPr/>
          <p:nvPr/>
        </p:nvSpPr>
        <p:spPr>
          <a:xfrm>
            <a:off x="4642842" y="3550667"/>
            <a:ext cx="40049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Execute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642842" y="3857179"/>
            <a:ext cx="40049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Actuators perform the selected action on the environment.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1071042"/>
            <a:ext cx="742727" cy="215354"/>
          </a:xfrm>
          <a:prstGeom prst="roundRect">
            <a:avLst>
              <a:gd name="adj" fmla="val 7900"/>
            </a:avLst>
          </a:prstGeom>
          <a:noFill/>
          <a:ln w="4763">
            <a:solidFill>
              <a:srgbClr val="FFBC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1174" y="1113532"/>
            <a:ext cx="1029816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FFBC8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EXAMPLES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343099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Real-World Examples in Action</a:t>
            </a:r>
            <a:endParaRPr lang="en-US" sz="27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998687"/>
            <a:ext cx="1104900" cy="68282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96119" y="2858691"/>
            <a:ext cx="190500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Robot Vacuum Cleaner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96119" y="3165202"/>
            <a:ext cx="1905000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Maps the room, stores obstacle locations, and avoids repeated collisions.</a:t>
            </a:r>
            <a:endParaRPr lang="en-US" sz="11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8298" y="1998687"/>
            <a:ext cx="1104900" cy="68282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578298" y="2858691"/>
            <a:ext cx="190507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GPS Navigation System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2578298" y="3165202"/>
            <a:ext cx="190507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Remembers your position, updates traffic data, and recalculates routes dynamically.</a:t>
            </a:r>
            <a:endParaRPr lang="en-US" sz="11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0553" y="1998687"/>
            <a:ext cx="1104900" cy="68282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660553" y="2858691"/>
            <a:ext cx="190507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Warehouse Robots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4660553" y="3165202"/>
            <a:ext cx="190507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Track inventory locations, plan optimal paths, and coordinate with other robots.</a:t>
            </a:r>
            <a:endParaRPr lang="en-US" sz="11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2807" y="1998687"/>
            <a:ext cx="1104900" cy="682823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742807" y="2858691"/>
            <a:ext cx="190507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Smart Home Systems</a:t>
            </a:r>
            <a:endParaRPr lang="en-US" sz="1350" dirty="0"/>
          </a:p>
        </p:txBody>
      </p:sp>
      <p:sp>
        <p:nvSpPr>
          <p:cNvPr id="16" name="Text 10"/>
          <p:cNvSpPr/>
          <p:nvPr/>
        </p:nvSpPr>
        <p:spPr>
          <a:xfrm>
            <a:off x="6742807" y="3165202"/>
            <a:ext cx="190507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Learns user behavior patterns and adjusts lighting, temperature, and security automatically.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89855"/>
            <a:ext cx="412775" cy="107603"/>
          </a:xfrm>
          <a:prstGeom prst="roundRect">
            <a:avLst>
              <a:gd name="adj" fmla="val 7905"/>
            </a:avLst>
          </a:prstGeom>
          <a:noFill/>
          <a:ln w="4763">
            <a:solidFill>
              <a:srgbClr val="FFBC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8609" y="411063"/>
            <a:ext cx="784994" cy="65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400" dirty="0">
                <a:solidFill>
                  <a:srgbClr val="FFBC8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CASE STUDY</a:t>
            </a:r>
            <a:endParaRPr lang="en-US" sz="400" dirty="0"/>
          </a:p>
        </p:txBody>
      </p:sp>
      <p:sp>
        <p:nvSpPr>
          <p:cNvPr id="4" name="Text 2"/>
          <p:cNvSpPr/>
          <p:nvPr/>
        </p:nvSpPr>
        <p:spPr>
          <a:xfrm>
            <a:off x="496119" y="511597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Robot Vacuum: A Model-Based Agent in Your Home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96119" y="2437209"/>
            <a:ext cx="3989412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The Problem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496119" y="2583359"/>
            <a:ext cx="4446612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How does a robot vacuum clean an entire room without repeatedly hitting the same obstacles?</a:t>
            </a:r>
            <a:endParaRPr lang="en-US" sz="550" dirty="0"/>
          </a:p>
        </p:txBody>
      </p:sp>
      <p:sp>
        <p:nvSpPr>
          <p:cNvPr id="7" name="Text 5"/>
          <p:cNvSpPr/>
          <p:nvPr/>
        </p:nvSpPr>
        <p:spPr>
          <a:xfrm>
            <a:off x="496119" y="2703835"/>
            <a:ext cx="3989412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Its Internal Model Stores: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496119" y="2849984"/>
            <a:ext cx="3989412" cy="3772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Room map and layout</a:t>
            </a:r>
            <a:endParaRPr lang="en-US" sz="550" dirty="0"/>
          </a:p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Obstacle locations (chairs, walls)</a:t>
            </a:r>
            <a:endParaRPr lang="en-US" sz="550" dirty="0"/>
          </a:p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Already-cleaned areas</a:t>
            </a:r>
            <a:endParaRPr lang="en-US" sz="550" dirty="0"/>
          </a:p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Battery status</a:t>
            </a:r>
            <a:endParaRPr lang="en-US" sz="5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232" y="825996"/>
            <a:ext cx="3989412" cy="398941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20960"/>
            <a:ext cx="830089" cy="201885"/>
          </a:xfrm>
          <a:prstGeom prst="roundRect">
            <a:avLst>
              <a:gd name="adj" fmla="val 7900"/>
            </a:avLst>
          </a:prstGeom>
          <a:noFill/>
          <a:ln w="4763">
            <a:solidFill>
              <a:srgbClr val="FFBC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5816" y="460772"/>
            <a:ext cx="1127894" cy="1222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FFBC8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COMPARISON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96119" y="672629"/>
            <a:ext cx="8151763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Simple Reflex vs. Model-Based Agent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96119" y="1274787"/>
            <a:ext cx="8151763" cy="2592586"/>
          </a:xfrm>
          <a:prstGeom prst="roundRect">
            <a:avLst>
              <a:gd name="adj" fmla="val 769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96119" y="1646858"/>
            <a:ext cx="8151763" cy="8307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96119" y="2016547"/>
            <a:ext cx="8151763" cy="8307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96119" y="2386236"/>
            <a:ext cx="8151763" cy="8307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96119" y="2755925"/>
            <a:ext cx="8151763" cy="8307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496119" y="3125614"/>
            <a:ext cx="8151763" cy="8307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96119" y="3495303"/>
            <a:ext cx="8151763" cy="8307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0" y="1274787"/>
            <a:ext cx="8307" cy="2592586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500881" y="1279550"/>
            <a:ext cx="4071119" cy="367308"/>
          </a:xfrm>
          <a:prstGeom prst="rect">
            <a:avLst/>
          </a:prstGeom>
          <a:solidFill>
            <a:srgbClr val="FFBC8F"/>
          </a:solidFill>
          <a:ln/>
        </p:spPr>
      </p:sp>
      <p:sp>
        <p:nvSpPr>
          <p:cNvPr id="14" name="Text 12"/>
          <p:cNvSpPr/>
          <p:nvPr/>
        </p:nvSpPr>
        <p:spPr>
          <a:xfrm>
            <a:off x="633785" y="1359024"/>
            <a:ext cx="4260131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Simple Reflex Agent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0" y="1279550"/>
            <a:ext cx="4071119" cy="367308"/>
          </a:xfrm>
          <a:prstGeom prst="rect">
            <a:avLst/>
          </a:prstGeom>
          <a:solidFill>
            <a:srgbClr val="FFBC8F"/>
          </a:solidFill>
          <a:ln/>
        </p:spPr>
      </p:sp>
      <p:sp>
        <p:nvSpPr>
          <p:cNvPr id="16" name="Text 14"/>
          <p:cNvSpPr/>
          <p:nvPr/>
        </p:nvSpPr>
        <p:spPr>
          <a:xfrm>
            <a:off x="4707285" y="1359024"/>
            <a:ext cx="4260131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Model-Based Agent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33785" y="1728713"/>
            <a:ext cx="4260131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memory of past states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07285" y="1728713"/>
            <a:ext cx="4260131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Maintains internal state (memory)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33785" y="2098402"/>
            <a:ext cx="4260131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Reacts only to current percept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07285" y="2098402"/>
            <a:ext cx="4260131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Reasons using past + present data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33785" y="2468091"/>
            <a:ext cx="4260131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Same mistakes repeated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07285" y="2468091"/>
            <a:ext cx="4260131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Learns and avoids past errors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33785" y="2837780"/>
            <a:ext cx="4260131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Fails in partial observability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07285" y="2837780"/>
            <a:ext cx="4260131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Infers missing information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33785" y="3207469"/>
            <a:ext cx="4260131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Suitable for simple, static tasks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07285" y="3207469"/>
            <a:ext cx="4260131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Suitable for complex, dynamic tasks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3785" y="3577158"/>
            <a:ext cx="4260131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Low computational cost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707285" y="3577158"/>
            <a:ext cx="4260131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Higher memory and processing needs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96119" y="4007495"/>
            <a:ext cx="8151763" cy="714970"/>
          </a:xfrm>
          <a:prstGeom prst="roundRect">
            <a:avLst>
              <a:gd name="adj" fmla="val 2788"/>
            </a:avLst>
          </a:prstGeom>
          <a:solidFill>
            <a:srgbClr val="803300"/>
          </a:solidFill>
          <a:ln/>
        </p:spPr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9022" y="4195390"/>
            <a:ext cx="166092" cy="132904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928018" y="4165253"/>
            <a:ext cx="7586960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Key insight:</a:t>
            </a:r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The Model-Based Agent's ability to </a:t>
            </a:r>
            <a:pPr algn="l" indent="0" marL="0">
              <a:lnSpc>
                <a:spcPct val="129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remember and reason</a:t>
            </a:r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is what separates reactive behavior from intelligent behavior.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655662"/>
            <a:ext cx="830907" cy="215354"/>
          </a:xfrm>
          <a:prstGeom prst="roundRect">
            <a:avLst>
              <a:gd name="adj" fmla="val 7900"/>
            </a:avLst>
          </a:prstGeom>
          <a:noFill/>
          <a:ln w="4763">
            <a:solidFill>
              <a:srgbClr val="FFBC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1174" y="698153"/>
            <a:ext cx="1117997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FFBC8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EVALUATION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927720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Advantages, Limitations &amp; Applications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496119" y="1725067"/>
            <a:ext cx="3902943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 Advantages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96119" y="2093044"/>
            <a:ext cx="3902943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Remembers previous events and context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Handles incomplete or partial information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Adapts to changing, dynamic environments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Reduces repeated mistakes over time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96119" y="3290739"/>
            <a:ext cx="3902943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⚠️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 Limitations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96119" y="3658716"/>
            <a:ext cx="3902943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More complex architecture to design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Requires additional memory and compute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Incorrect internal models lead to poor decisions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49701" y="1725067"/>
            <a:ext cx="3902943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🏭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 Industry Applications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749701" y="2093044"/>
            <a:ext cx="3902943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D4D4D1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Robotics: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Amazon Kiva, iRobot Roomba, delivery drones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D4D4D1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Transportation: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Tesla Parking Assist, GPS systems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D4D4D1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Manufacturing: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Assembly line and inventory robots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D4D4D1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Smart Systems: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Home automation, security systems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925119" y="415305"/>
            <a:ext cx="880467" cy="185142"/>
          </a:xfrm>
          <a:prstGeom prst="roundRect">
            <a:avLst>
              <a:gd name="adj" fmla="val 7897"/>
            </a:avLst>
          </a:prstGeom>
          <a:solidFill>
            <a:srgbClr val="4D1F00"/>
          </a:solidFill>
          <a:ln/>
        </p:spPr>
      </p:sp>
      <p:sp>
        <p:nvSpPr>
          <p:cNvPr id="4" name="Text 1"/>
          <p:cNvSpPr/>
          <p:nvPr/>
        </p:nvSpPr>
        <p:spPr>
          <a:xfrm>
            <a:off x="3998193" y="451842"/>
            <a:ext cx="1191518" cy="1120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CLASS ACTIVITY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3925119" y="642268"/>
            <a:ext cx="4722763" cy="380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Think &amp; Discuss</a:t>
            </a:r>
            <a:endParaRPr lang="en-US" sz="2350" dirty="0"/>
          </a:p>
        </p:txBody>
      </p:sp>
      <p:sp>
        <p:nvSpPr>
          <p:cNvPr id="6" name="Text 3"/>
          <p:cNvSpPr/>
          <p:nvPr/>
        </p:nvSpPr>
        <p:spPr>
          <a:xfrm>
            <a:off x="3925119" y="1179984"/>
            <a:ext cx="5179963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Test your understanding with these discussion prompts:</a:t>
            </a:r>
            <a:endParaRPr lang="en-US" sz="9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25119" y="1478905"/>
            <a:ext cx="4722763" cy="89252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8372" y="1615008"/>
            <a:ext cx="4393406" cy="195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🤔</a:t>
            </a:r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 Scenario Question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4118372" y="1872928"/>
            <a:ext cx="4393406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robot vacuum encounters a chair. Will it remember the location? How does this improve future cleaning? What if its memory were erased?</a:t>
            </a:r>
            <a:endParaRPr lang="en-US" sz="9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25119" y="2476054"/>
            <a:ext cx="4722763" cy="107372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118372" y="2612157"/>
            <a:ext cx="4393406" cy="195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🔍</a:t>
            </a:r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 Classification Activity</a:t>
            </a:r>
            <a:endParaRPr lang="en-US" sz="1150" dirty="0"/>
          </a:p>
        </p:txBody>
      </p:sp>
      <p:sp>
        <p:nvSpPr>
          <p:cNvPr id="12" name="Text 7"/>
          <p:cNvSpPr/>
          <p:nvPr/>
        </p:nvSpPr>
        <p:spPr>
          <a:xfrm>
            <a:off x="4118372" y="2870076"/>
            <a:ext cx="4393406" cy="543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Identify which systems use Model-Based Agents: Robot Vacuum, GPS Navigation, Warehouse Robot, Smart Home Hub, Autonomous Lawn Mower. </a:t>
            </a:r>
            <a:pPr algn="l" indent="0" marL="0">
              <a:lnSpc>
                <a:spcPct val="124000"/>
              </a:lnSpc>
              <a:buNone/>
            </a:pPr>
            <a:r>
              <a:rPr lang="en-US" sz="950" b="1" dirty="0">
                <a:solidFill>
                  <a:srgbClr val="D4D4D1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Explain why each requires memory.</a:t>
            </a:r>
            <a:endParaRPr lang="en-US" sz="9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25119" y="3654400"/>
            <a:ext cx="4722763" cy="107372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118372" y="3790504"/>
            <a:ext cx="4393406" cy="195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💡</a:t>
            </a:r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 Key Takeaway</a:t>
            </a:r>
            <a:endParaRPr lang="en-US" sz="1150" dirty="0"/>
          </a:p>
        </p:txBody>
      </p:sp>
      <p:sp>
        <p:nvSpPr>
          <p:cNvPr id="15" name="Text 9"/>
          <p:cNvSpPr/>
          <p:nvPr/>
        </p:nvSpPr>
        <p:spPr>
          <a:xfrm>
            <a:off x="4118372" y="4048423"/>
            <a:ext cx="4393406" cy="543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Model-Based Agent combines </a:t>
            </a:r>
            <a:pPr algn="l" indent="0" marL="0">
              <a:lnSpc>
                <a:spcPct val="124000"/>
              </a:lnSpc>
              <a:buNone/>
            </a:pPr>
            <a:r>
              <a:rPr lang="en-US" sz="950" b="1" dirty="0">
                <a:solidFill>
                  <a:srgbClr val="D4D4D1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current perception</a:t>
            </a:r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with </a:t>
            </a:r>
            <a:pPr algn="l" indent="0" marL="0">
              <a:lnSpc>
                <a:spcPct val="124000"/>
              </a:lnSpc>
              <a:buNone/>
            </a:pPr>
            <a:r>
              <a:rPr lang="en-US" sz="950" b="1" dirty="0">
                <a:solidFill>
                  <a:srgbClr val="D4D4D1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stored knowledge</a:t>
            </a:r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making it far more capable than a Simple Reflex Agent in real-world environments.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2026-07-14T01:38:23Z</dcterms:created>
  <dcterms:modified xsi:type="dcterms:W3CDTF">2026-07-14T01:38:23Z</dcterms:modified>
</cp:coreProperties>
</file>