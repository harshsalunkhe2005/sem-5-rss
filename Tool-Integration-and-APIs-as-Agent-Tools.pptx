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59582"/>
            <a:ext cx="982638" cy="215354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702073"/>
            <a:ext cx="126972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2 · PART 7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78598" y="1659582"/>
            <a:ext cx="88895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63654" y="1702073"/>
            <a:ext cx="117604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SLIDES 76–90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19316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 Integration &amp; APIs as Agent Tools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3925119" y="303021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AI agents extend beyond their training data to interact with the real world — through APIs, databases, search engines, and code execution.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8356"/>
            <a:ext cx="4722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6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Tool Integration?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25119" y="930994"/>
            <a:ext cx="4722763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 Integration</a:t>
            </a:r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enables an AI agent to interact with external systems — APIs, databases, search engines, and code environments — to accomplish tasks beyond its built-in knowledge. Unlike chatbots, agentic AI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thinks, decides, and invokes tools</a:t>
            </a:r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needed.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727002"/>
            <a:ext cx="4722763" cy="6766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3907" y="1858640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Knowledge Cutoff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113907" y="2100337"/>
            <a:ext cx="44023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can't access live or real-time data by default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500833"/>
            <a:ext cx="4722763" cy="6766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3907" y="2632472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External Access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113907" y="2874169"/>
            <a:ext cx="44023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interact with software, hardware, or private databases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274665"/>
            <a:ext cx="4722763" cy="6766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13907" y="3406304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Unreliable Math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113907" y="3648001"/>
            <a:ext cx="44023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cannot perform precise calculations without a tool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48497"/>
            <a:ext cx="4722763" cy="67664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113907" y="4180136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Autonomous Action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4113907" y="4421832"/>
            <a:ext cx="44023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send emails, update records, or browse the web independently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08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LLMs Without Tools vs. AI Agents With Tools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9819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LLM Alone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61406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conceptual questions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code and explain algorithms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 and translate 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6851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Cannot: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fetch live weather, check flight prices, access databases, execute code, or send emails.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59819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AI Agent With Tools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96140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Google or Tavily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Python programs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SQL and vector databases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REST APIs, send emails, book tickets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3176811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DADBF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391867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0398" y="3339778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"Find the cheapest flight from Pune to Delhi tomorrow" → Agent calls Flight API, compares prices, recommends best option.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348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Types of Tools Used by AI Agents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80195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dynamically select from a toolbox of external capabilities based on the user's request.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36191"/>
            <a:ext cx="270197" cy="270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867346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Engine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6119" y="2155701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Search, Tavily — retrieve latest web information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2442" y="1436191"/>
            <a:ext cx="270197" cy="270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2442" y="1867346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652442" y="2155701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Weather, Maps, Flight — access external services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24361"/>
            <a:ext cx="270197" cy="2701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055516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96119" y="3343870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MySQL, PostgreSQL — retrieve stored records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2442" y="2624361"/>
            <a:ext cx="270197" cy="2701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52442" y="3055516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652442" y="3343870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FAISS, ChromaDB — semantic document search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812530"/>
            <a:ext cx="270197" cy="27019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243685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Interpreter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96119" y="4532040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Runtime — execute and evaluate code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52442" y="3812530"/>
            <a:ext cx="270197" cy="27019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52442" y="4243685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Productivity Tools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652442" y="4532040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Gmail API, Google Calendar — send emails, manage events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701"/>
            <a:ext cx="815176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Tool Selection Process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711994"/>
            <a:ext cx="860896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invoking any tool, the AI agent performs a structured reasoning loop — understanding intent, matching capability, and executing with precision.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9139"/>
            <a:ext cx="8151763" cy="36682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4067" y="932664"/>
            <a:ext cx="1426538" cy="44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 Intent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724067" y="1436263"/>
            <a:ext cx="1426538" cy="269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10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 user goal and constraints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134929" y="3683845"/>
            <a:ext cx="1434376" cy="44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Capability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34929" y="4187444"/>
            <a:ext cx="1434376" cy="269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10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required tool function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30115" y="1015454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Match Tool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30115" y="1298606"/>
            <a:ext cx="1426538" cy="269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10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best-fit available tool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0977" y="3794068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Execute &amp; Return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940977" y="4077221"/>
            <a:ext cx="1426539" cy="269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10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tool, receive results, respond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562326"/>
            <a:ext cx="8151763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does </a:t>
            </a:r>
            <a:pPr algn="l" indent="0" marL="0">
              <a:lnSpc>
                <a:spcPct val="102000"/>
              </a:lnSpc>
              <a:buNone/>
            </a:pPr>
            <a:r>
              <a:rPr lang="en-US" sz="550" b="1" spc="-1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pPr algn="l" indent="0" marL="0">
              <a:lnSpc>
                <a:spcPct val="102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randomly choose a tool. It reasons through the user's query and selects the most appropriate tool dynamically — for example, a weather query triggers the Weather API, while a math problem routes to the Python interpreter.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4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 Selection Decision Tree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28741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agent evaluates each query against a decision hierarchy before committing to a tool. This structured reasoning ensures the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spc="-1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right tool is called at the right time</a:t>
            </a:r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2498378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live data? → 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spc="-1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Weather API, Search Engine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calculation? → 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spc="-1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Interpreter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stored records? → 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spc="-1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Database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document reading? → 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spc="-1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PDF Reader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496119" y="2934444"/>
            <a:ext cx="3986733" cy="198090"/>
          </a:xfrm>
          <a:prstGeom prst="roundRect">
            <a:avLst>
              <a:gd name="adj" fmla="val 15499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93" y="3028429"/>
            <a:ext cx="91306" cy="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3574" y="2986534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reasons </a:t>
            </a:r>
            <a:pPr algn="l" indent="0" marL="0">
              <a:lnSpc>
                <a:spcPct val="101000"/>
              </a:lnSpc>
              <a:buNone/>
            </a:pPr>
            <a:r>
              <a:rPr lang="en-US" sz="550" i="1" spc="-1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pPr algn="l" indent="0" marL="0">
              <a:lnSpc>
                <a:spcPct val="101000"/>
              </a:lnSpc>
              <a:buNone/>
            </a:pPr>
            <a:r>
              <a:rPr lang="en-US" sz="550" spc="-1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acting — not after a failed attempt.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983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Hands-On: Building a Tool Router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718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1 — Rule-Based Router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28105"/>
            <a:ext cx="3902943" cy="2324844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66229" y="1769864"/>
            <a:ext cx="3562722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input("Enter query: ").lower()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"weather" in query: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print("Tool: Weather API")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"calculate" in query: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print("Tool: Python Calculator")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"pdf" in query: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print("Tool: PDF Reader")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print("Tool: General LLM")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24718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2 — Keyword Mapping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49701" y="1628105"/>
            <a:ext cx="3902943" cy="2324844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919811" y="1769864"/>
            <a:ext cx="3562722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"weather": "Weather API",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"news": "News API",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"Gmail API",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"flight": "Flight Booking API"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keyword, tool in tools.items():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keyword in query: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print(f"Using {tool}")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4112419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exercises simulate how an AI agent maps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intent → tool selection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generating a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4178"/>
            <a:ext cx="4722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Applications &amp; Advantages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496119" y="837828"/>
            <a:ext cx="4722763" cy="514648"/>
          </a:xfrm>
          <a:prstGeom prst="roundRect">
            <a:avLst>
              <a:gd name="adj" fmla="val 77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6131" y="937840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ChatGPT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6131" y="1125066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Browsing, Code Interpreter, File Analysis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96119" y="1416472"/>
            <a:ext cx="4722763" cy="514648"/>
          </a:xfrm>
          <a:prstGeom prst="roundRect">
            <a:avLst>
              <a:gd name="adj" fmla="val 77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6131" y="1516484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Microsoft Copilot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6131" y="1703710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Office, Outlook, Teams integration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96119" y="1995115"/>
            <a:ext cx="4722763" cy="514648"/>
          </a:xfrm>
          <a:prstGeom prst="roundRect">
            <a:avLst>
              <a:gd name="adj" fmla="val 77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6131" y="2095128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Perplexity AI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6131" y="2282354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Search + LLM reasoning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96119" y="2573759"/>
            <a:ext cx="4722763" cy="514648"/>
          </a:xfrm>
          <a:prstGeom prst="roundRect">
            <a:avLst>
              <a:gd name="adj" fmla="val 77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6131" y="2673772"/>
            <a:ext cx="4522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Gemini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6131" y="2860997"/>
            <a:ext cx="4522738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Workspace integration</a:t>
            </a:r>
            <a:endParaRPr lang="en-US" sz="7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837" y="3163342"/>
            <a:ext cx="142875" cy="1428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5681" y="3160365"/>
            <a:ext cx="441320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information access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837" y="3580061"/>
            <a:ext cx="142875" cy="1428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5681" y="3577084"/>
            <a:ext cx="441320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factual accuracy &amp; reduced hallucinations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837" y="3996779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5681" y="3993803"/>
            <a:ext cx="441320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execution &amp; task automation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837" y="4413498"/>
            <a:ext cx="142875" cy="1428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5681" y="4410521"/>
            <a:ext cx="441320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Enterprise system interaction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28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Limitations, Challenges &amp; Review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022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2344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Incorrect tool selection by the agent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failures, rate limiting, network latency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and security risks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privacy and operational costs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074268"/>
            <a:ext cx="3902943" cy="19050"/>
          </a:xfrm>
          <a:prstGeom prst="roundRect">
            <a:avLst>
              <a:gd name="adj" fmla="val 5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328820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Viva Questions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651424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Tool Integration?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 AI Agents need external tools?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Tool Integration reduce hallucinations?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46022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Interview Questions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182344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Tool Calling?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the difference between an LLM and an AI Agent.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AI agents decide which tool to use?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challenges arise when integrating external tools?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49701" y="3038847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DADBF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253904"/>
            <a:ext cx="177180" cy="1417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10398" y="3201814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Classroom Activity: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Match each user request to its appropriate tool — weather → Weather API, PDF → PDF Reader, graph → Python Interpreter.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0496"/>
            <a:ext cx="4722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 &amp; Practical Assignment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96119" y="852339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-2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96119" y="1018729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100435"/>
            <a:ext cx="4722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 Integration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6119" y="1314301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Extends AI capabilities beyond training data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96119" y="1622524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-2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96119" y="1788914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1870621"/>
            <a:ext cx="4722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 Types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6119" y="2084487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APIs, databases, search engines, code interpreters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6119" y="2392710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-2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6119" y="2559100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2640806"/>
            <a:ext cx="4722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 Selection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6119" y="2854672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Reasoning-driven, intent-based routing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96119" y="3162895"/>
            <a:ext cx="212601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-25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96119" y="3329285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496119" y="3410992"/>
            <a:ext cx="4722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 &amp; Limits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6119" y="3624858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access vs. API risks and costs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96119" y="3943052"/>
            <a:ext cx="4722763" cy="799877"/>
          </a:xfrm>
          <a:prstGeom prst="roundRect">
            <a:avLst>
              <a:gd name="adj" fmla="val 5583"/>
            </a:avLst>
          </a:prstGeom>
          <a:solidFill>
            <a:srgbClr val="DADBF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82" y="4087639"/>
            <a:ext cx="132904" cy="10626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41549" y="4049316"/>
            <a:ext cx="427107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Assignment — Build an AI Tool Router:</a:t>
            </a:r>
            <a:pPr algn="l" indent="0" marL="0">
              <a:lnSpc>
                <a:spcPct val="117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Accept a user query, identify intent, select the appropriate tool (Weather API, Calculator, Search Engine, PDF Reader, Email Tool, etc.), display the selection, and explain the reasoning.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Bonus:</a:t>
            </a:r>
            <a:pPr algn="l" indent="0" marL="0">
              <a:lnSpc>
                <a:spcPct val="117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 10+ tools and handle unknown queries gracefully.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2026-08-06T19:41:34Z</dcterms:created>
  <dcterms:modified xsi:type="dcterms:W3CDTF">2026-08-06T19:41:34Z</dcterms:modified>
</cp:coreProperties>
</file>