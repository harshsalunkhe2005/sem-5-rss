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Saira Thin"/>
      <p:regular r:id="rId201323"/>
    </p:embeddedFont>
    <p:embeddedFont>
      <p:font typeface="Saira ExtraLight"/>
      <p:regular r:id="rId201324"/>
    </p:embeddedFont>
    <p:embeddedFont>
      <p:font typeface="Saira Light"/>
      <p:regular r:id="rId201325"/>
    </p:embeddedFont>
    <p:embeddedFont>
      <p:font typeface="Saira"/>
      <p:regular r:id="rId201326"/>
    </p:embeddedFont>
    <p:embeddedFont>
      <p:font typeface="Saira Medium"/>
      <p:regular r:id="rId201327"/>
    </p:embeddedFont>
    <p:embeddedFont>
      <p:font typeface="Saira SemiBold"/>
      <p:regular r:id="rId201328"/>
    </p:embeddedFont>
    <p:embeddedFont>
      <p:font typeface="Saira Bold"/>
      <p:regular r:id="rId201329"/>
    </p:embeddedFont>
    <p:embeddedFont>
      <p:font typeface="Saira ExtraBold"/>
      <p:regular r:id="rId201330"/>
    </p:embeddedFont>
    <p:embeddedFont>
      <p:font typeface="Sair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2.png"/><Relationship Id="rId11" Type="http://schemas.openxmlformats.org/officeDocument/2006/relationships/image" Target="../media/image-5-3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546175"/>
            <a:ext cx="957188" cy="215354"/>
          </a:xfrm>
          <a:prstGeom prst="roundRect">
            <a:avLst>
              <a:gd name="adj" fmla="val 47398"/>
            </a:avLst>
          </a:prstGeom>
          <a:solidFill>
            <a:srgbClr val="4B1E0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588666"/>
            <a:ext cx="124427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1 · PART 8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8182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LLM-Powered Agents, Architectures &amp; Applications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16808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large language models evolve from passive chatbots into autonomous, goal-driven agents capable of reasoning, planning, and acting in the real world.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1899"/>
            <a:ext cx="555278" cy="191839"/>
          </a:xfrm>
          <a:prstGeom prst="roundRect">
            <a:avLst>
              <a:gd name="adj" fmla="val 47388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872" y="469776"/>
            <a:ext cx="86097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68685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an LLM-Powered Agent?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96119" y="1231850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intelligent system using an LLM as its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reasoning engine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combined with memory, planning, and tools to complete tasks autonomously.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549301"/>
            <a:ext cx="2642295" cy="1227832"/>
          </a:xfrm>
          <a:prstGeom prst="roundRect">
            <a:avLst>
              <a:gd name="adj" fmla="val 925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6612" y="1689795"/>
            <a:ext cx="378768" cy="378768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792" y="1793900"/>
            <a:ext cx="170408" cy="1704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6612" y="2181002"/>
            <a:ext cx="23613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LLM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6612" y="2445693"/>
            <a:ext cx="236130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Understands and generates language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50853" y="1549301"/>
            <a:ext cx="2642295" cy="1227832"/>
          </a:xfrm>
          <a:prstGeom prst="roundRect">
            <a:avLst>
              <a:gd name="adj" fmla="val 925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91346" y="1689795"/>
            <a:ext cx="378768" cy="378768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5526" y="1793900"/>
            <a:ext cx="170408" cy="1704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91346" y="2181002"/>
            <a:ext cx="23613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Reasoning Engine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91346" y="2445693"/>
            <a:ext cx="236130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Determines next steps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05587" y="1549301"/>
            <a:ext cx="2642295" cy="1227832"/>
          </a:xfrm>
          <a:prstGeom prst="roundRect">
            <a:avLst>
              <a:gd name="adj" fmla="val 925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46081" y="1689795"/>
            <a:ext cx="378768" cy="378768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0260" y="1793900"/>
            <a:ext cx="170408" cy="1704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6081" y="2181002"/>
            <a:ext cx="23613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Memory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46081" y="2445693"/>
            <a:ext cx="236130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context across interactions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96119" y="2889572"/>
            <a:ext cx="4019624" cy="1227832"/>
          </a:xfrm>
          <a:prstGeom prst="roundRect">
            <a:avLst>
              <a:gd name="adj" fmla="val 925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6612" y="3030066"/>
            <a:ext cx="378768" cy="378768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792" y="3134171"/>
            <a:ext cx="170408" cy="1704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6612" y="3521273"/>
            <a:ext cx="373863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Tools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36612" y="3785964"/>
            <a:ext cx="373863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APIs, search engines, calculators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628183" y="2889572"/>
            <a:ext cx="4019699" cy="1227832"/>
          </a:xfrm>
          <a:prstGeom prst="roundRect">
            <a:avLst>
              <a:gd name="adj" fmla="val 9255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68676" y="3030066"/>
            <a:ext cx="378768" cy="378768"/>
          </a:xfrm>
          <a:prstGeom prst="ellipse">
            <a:avLst/>
          </a:prstGeom>
          <a:solidFill>
            <a:srgbClr val="FC8337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72856" y="3134171"/>
            <a:ext cx="170408" cy="1704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68676" y="3521273"/>
            <a:ext cx="373871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768676" y="3785964"/>
            <a:ext cx="373871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actions in real or digital systems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96119" y="4243908"/>
            <a:ext cx="8151763" cy="467692"/>
          </a:xfrm>
          <a:prstGeom prst="roundRect">
            <a:avLst>
              <a:gd name="adj" fmla="val 24297"/>
            </a:avLst>
          </a:prstGeom>
          <a:solidFill>
            <a:srgbClr val="7E320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325" y="4419823"/>
            <a:ext cx="157758" cy="12620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6289" y="4387900"/>
            <a:ext cx="807258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 LLM becomes far more powerful when combined with memory, planning, and external tools.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11572" cy="107603"/>
          </a:xfrm>
          <a:prstGeom prst="roundRect">
            <a:avLst>
              <a:gd name="adj" fmla="val 47430"/>
            </a:avLst>
          </a:prstGeom>
          <a:noFill/>
          <a:ln w="4763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68379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63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How Does an LLM-Powered Agent Work?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25996"/>
            <a:ext cx="3989412" cy="398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2443832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Classroom Example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3232" y="2589981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"Summarize this PDF and email it to my manager."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4663232" y="2706886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and parses the PDF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Summarizes key content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Drafts a professional email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it via an email tool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663232" y="3116014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LLM is the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brain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planning, memory, and tools enable real-world action.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311572" cy="107603"/>
          </a:xfrm>
          <a:prstGeom prst="roundRect">
            <a:avLst>
              <a:gd name="adj" fmla="val 47430"/>
            </a:avLst>
          </a:prstGeom>
          <a:noFill/>
          <a:ln w="4763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68379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64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Agent 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618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architecture defines how components collaborate to achieve a goal. Each has a distinct responsibility.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50863"/>
            <a:ext cx="3989412" cy="3989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232" y="263693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Core Loop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663232" y="2783086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LLM sits at the center, orchestrating all components: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663232" y="2899990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Planner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breaks goals into sub-tasks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Memory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retains context across steps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Tool Executor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interacts with external systems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Feedback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enables self-correction and refinement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54521"/>
            <a:ext cx="496937" cy="171673"/>
          </a:xfrm>
          <a:prstGeom prst="roundRect">
            <a:avLst>
              <a:gd name="adj" fmla="val 47380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92835" y="488379"/>
            <a:ext cx="818704" cy="103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25119" y="662136"/>
            <a:ext cx="4722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Agent Design Patterns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925119" y="1150069"/>
            <a:ext cx="4722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design pattern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reusable structure for organizing how an AI agent performs tasks. Different problems demand different designs.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576015"/>
            <a:ext cx="4722763" cy="677763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75807" y="1830139"/>
            <a:ext cx="169441" cy="1694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81215" y="1703263"/>
            <a:ext cx="4039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Single-Agent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481215" y="1933724"/>
            <a:ext cx="4039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agent handles the entire task. </a:t>
            </a:r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e.g., ChatGPT answering a question.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343745"/>
            <a:ext cx="4722763" cy="67776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75807" y="2597869"/>
            <a:ext cx="169441" cy="16944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481215" y="2470993"/>
            <a:ext cx="4039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Planner–Executor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4481215" y="2701454"/>
            <a:ext cx="4039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component plans; another executes. </a:t>
            </a:r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e.g., AI project management assistant.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5119" y="3111475"/>
            <a:ext cx="4722763" cy="677763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75807" y="3365599"/>
            <a:ext cx="169441" cy="16944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481215" y="3238723"/>
            <a:ext cx="4039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18" name="Text 9"/>
          <p:cNvSpPr/>
          <p:nvPr/>
        </p:nvSpPr>
        <p:spPr>
          <a:xfrm>
            <a:off x="4481215" y="3469184"/>
            <a:ext cx="403941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specialized agents collaborate. </a:t>
            </a:r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e.g., AI software development team.</a:t>
            </a:r>
            <a:endParaRPr lang="en-US" sz="8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25119" y="3879205"/>
            <a:ext cx="4722763" cy="809699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75807" y="4199260"/>
            <a:ext cx="169441" cy="169441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481215" y="4006453"/>
            <a:ext cx="403941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22" name="Text 11"/>
          <p:cNvSpPr/>
          <p:nvPr/>
        </p:nvSpPr>
        <p:spPr>
          <a:xfrm>
            <a:off x="4481215" y="4236913"/>
            <a:ext cx="4039419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reviews its own output before responding. </a:t>
            </a:r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e.g., AI proofreading an essay.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3406"/>
            <a:ext cx="623590" cy="215354"/>
          </a:xfrm>
          <a:prstGeom prst="roundRect">
            <a:avLst>
              <a:gd name="adj" fmla="val 47398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625897"/>
            <a:ext cx="9106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5546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Applications of Agentic AI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1052"/>
            <a:ext cx="1507480" cy="931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198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Virtual Assistants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92640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Siri, Alexa, Google Assistant — answering questions, setting reminders, scheduling meetings, and controlling smart devices.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511052"/>
            <a:ext cx="1507480" cy="931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6198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Research Assistants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292640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Automating literature reviews, summarizing papers, comparing documents, and generating structured reports.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511052"/>
            <a:ext cx="1507480" cy="931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6198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Productivity Automation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2926407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drafting, calendar scheduling, meeting summarization, report generation, and task management at scale.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96119" y="3993133"/>
            <a:ext cx="8151763" cy="566961"/>
          </a:xfrm>
          <a:prstGeom prst="roundRect">
            <a:avLst>
              <a:gd name="adj" fmla="val 22504"/>
            </a:avLst>
          </a:prstGeom>
          <a:solidFill>
            <a:srgbClr val="7E320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4193902"/>
            <a:ext cx="177180" cy="1417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6816" y="417031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Agentic AI automates repetitive work and assists users in completing complex tasks efficiently.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4933"/>
            <a:ext cx="603945" cy="208583"/>
          </a:xfrm>
          <a:prstGeom prst="roundRect">
            <a:avLst>
              <a:gd name="adj" fmla="val 47407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8495" y="456084"/>
            <a:ext cx="896392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76721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Industry Applications of Agentic AI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96119" y="1305371"/>
            <a:ext cx="8151763" cy="2735833"/>
          </a:xfrm>
          <a:prstGeom prst="roundRect">
            <a:avLst>
              <a:gd name="adj" fmla="val 451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1697906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088059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478212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2868364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258517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3648670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8249" y="1394668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73772" y="1394668"/>
            <a:ext cx="6289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assistance, medical report summarization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249" y="1784821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3772" y="1784821"/>
            <a:ext cx="6289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detection, investment analysis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8249" y="2174974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73772" y="2174974"/>
            <a:ext cx="6289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tutors, personalized learning pathways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49" y="2565127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Retail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73772" y="2565127"/>
            <a:ext cx="6289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recommendations, customer support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8249" y="2955280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Logistics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73772" y="2955280"/>
            <a:ext cx="6289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optimization, warehouse automation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8249" y="3345433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Manufacturing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73772" y="3345433"/>
            <a:ext cx="6289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maintenance, quality inspection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8249" y="3735586"/>
            <a:ext cx="22181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Legal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73772" y="3735586"/>
            <a:ext cx="6289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Contract review, legal document summarization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6119" y="4190851"/>
            <a:ext cx="8151763" cy="537642"/>
          </a:xfrm>
          <a:prstGeom prst="roundRect">
            <a:avLst>
              <a:gd name="adj" fmla="val 22990"/>
            </a:avLst>
          </a:prstGeom>
          <a:solidFill>
            <a:srgbClr val="262626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3" y="4385146"/>
            <a:ext cx="171599" cy="13729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42305" y="4358134"/>
            <a:ext cx="8025482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 Discussion: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Which industry will benefit most from Agentic AI, and why?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01291"/>
            <a:ext cx="623590" cy="215354"/>
          </a:xfrm>
          <a:prstGeom prst="roundRect">
            <a:avLst>
              <a:gd name="adj" fmla="val 47398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843781"/>
            <a:ext cx="9106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7334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Benefits &amp; Challenges of Agentic AI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1728936"/>
            <a:ext cx="4107135" cy="1886843"/>
          </a:xfrm>
          <a:prstGeom prst="roundRect">
            <a:avLst>
              <a:gd name="adj" fmla="val 10819"/>
            </a:avLst>
          </a:prstGeom>
          <a:solidFill>
            <a:srgbClr val="FC8337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1870695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Benefits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233910"/>
            <a:ext cx="3823618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Saves time on repetitive tasks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faster decision-making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Increases overall productivity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Operates continuously without fatigue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Scales to large, complex workloads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87069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233910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Hallucinations and factual errors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or unsafe tool usage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 and data security risks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computational cost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Ethical concerns and data dependency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775249"/>
            <a:ext cx="8151763" cy="566961"/>
          </a:xfrm>
          <a:prstGeom prst="roundRect">
            <a:avLst>
              <a:gd name="adj" fmla="val 22504"/>
            </a:avLst>
          </a:prstGeom>
          <a:solidFill>
            <a:srgbClr val="7E320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976018"/>
            <a:ext cx="177180" cy="141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56816" y="3952429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Agentic AI offers significant advantages but must be designed responsibly and evaluated carefully.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1241"/>
            <a:ext cx="321394" cy="110951"/>
          </a:xfrm>
          <a:prstGeom prst="roundRect">
            <a:avLst>
              <a:gd name="adj" fmla="val 47436"/>
            </a:avLst>
          </a:prstGeom>
          <a:noFill/>
          <a:ln w="4763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948" y="423118"/>
            <a:ext cx="690935" cy="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69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527224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Summary of Unit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6119" y="812155"/>
            <a:ext cx="860896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foundational agent theory to modern LLM-powered systems — a complete journey through intelligent agent design.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43049"/>
            <a:ext cx="8151763" cy="36682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24067" y="961175"/>
            <a:ext cx="1426538" cy="44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Intelligent Agents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4067" y="1464774"/>
            <a:ext cx="1426538" cy="400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Foundations of agent behavior and autonomy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34929" y="3779102"/>
            <a:ext cx="1434376" cy="44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Environment &amp; PEAS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34929" y="4282702"/>
            <a:ext cx="1434376" cy="26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tasks, sensors, actuators, objectives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30115" y="1043965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Agent Types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30115" y="1327117"/>
            <a:ext cx="1426538" cy="400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Reflex, model, goal, and utility-based agents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0977" y="3712356"/>
            <a:ext cx="1426539" cy="44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LLM-Powered Agents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940977" y="4215955"/>
            <a:ext cx="1426539" cy="400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and design for modern agents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6119" y="4653632"/>
            <a:ext cx="860896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stage builds on the last, forming a complete picture of how intelligent agents are designed, classified, and applied in modern AI systems.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97545"/>
            <a:ext cx="623590" cy="215354"/>
          </a:xfrm>
          <a:prstGeom prst="roundRect">
            <a:avLst>
              <a:gd name="adj" fmla="val 47398"/>
            </a:avLst>
          </a:prstGeom>
          <a:noFill/>
          <a:ln w="9525">
            <a:solidFill>
              <a:srgbClr val="FC8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640035"/>
            <a:ext cx="9106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70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6960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Unit 1 Recap &amp; Classroom Activity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669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Activity: Analyze an AI System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03016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one: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ChatGPT, Google Maps, Alexa, Amazon Recommendations,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Tesla Autopilot.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611338"/>
            <a:ext cx="390294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is the agent's goal?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agent type best describes it?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environment does it operate in?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it use memory and planning?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AI or Agentic AI?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tools or resources does it use?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are its strengths and limitations?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6669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Reflection Questions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03016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is Agentic AI different from traditional AI?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are memory and planning important?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role does an LLM play in an AI agent?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do modern agents need external tools?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application of Agentic AI is most impactful?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2026-07-17T00:24:55Z</dcterms:created>
  <dcterms:modified xsi:type="dcterms:W3CDTF">2026-07-17T00:24:55Z</dcterms:modified>
</cp:coreProperties>
</file>