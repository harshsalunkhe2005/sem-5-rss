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IBM Plex Sans"/>
      <p:regular r:id="rId201314"/>
    </p:embeddedFont>
    <p:embeddedFont>
      <p:font typeface="IBM Plex Sans SemiBold"/>
      <p:regular r:id="rId201315"/>
    </p:embeddedFont>
    <p:embeddedFont>
      <p:font typeface="IBM Plex Sans Bold"/>
      <p:regular r:id="rId201316"/>
    </p:embeddedFont>
    <p:embeddedFont>
      <p:font typeface="IBM Plex Sans Light"/>
      <p:regular r:id="rId201317"/>
    </p:embeddedFont>
    <p:embeddedFont>
      <p:font typeface="IBM Plex Sans Thin"/>
      <p:regular r:id="rId201318"/>
    </p:embeddedFont>
    <p:embeddedFont>
      <p:font typeface="IBM Plex Sans ExtraLight"/>
      <p:regular r:id="rId201319"/>
    </p:embeddedFont>
    <p:embeddedFont>
      <p:font typeface="IBM Plex Sans Medium"/>
      <p:regular r:id="rId201320"/>
    </p:embeddedFont>
    <p:embeddedFont>
      <p:font typeface="Roboto Light"/>
      <p:regular r:id="rId201321"/>
    </p:embeddedFont>
    <p:embeddedFont>
      <p:font typeface="Roboto"/>
      <p:regular r:id="rId201322"/>
    </p:embeddedFont>
    <p:embeddedFont>
      <p:font typeface="Roboto Thin"/>
      <p:regular r:id="rId201323"/>
    </p:embeddedFont>
    <p:embeddedFont>
      <p:font typeface="Roboto ExtraLight"/>
      <p:regular r:id="rId201324"/>
    </p:embeddedFont>
    <p:embeddedFont>
      <p:font typeface="Roboto Medium"/>
      <p:regular r:id="rId201325"/>
    </p:embeddedFont>
    <p:embeddedFont>
      <p:font typeface="Roboto SemiBold"/>
      <p:regular r:id="rId201326"/>
    </p:embeddedFont>
    <p:embeddedFont>
      <p:font typeface="Roboto Bold"/>
      <p:regular r:id="rId201327"/>
    </p:embeddedFont>
    <p:embeddedFont>
      <p:font typeface="Roboto ExtraBold"/>
      <p:regular r:id="rId201328"/>
    </p:embeddedFont>
    <p:embeddedFont>
      <p:font typeface="Roboto Black"/>
      <p:regular r:id="rId20132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Relationship Id="rId201326" Target="fonts/201326.fntdata" Type="http://schemas.openxmlformats.org/officeDocument/2006/relationships/font"/><Relationship Id="rId201327" Target="fonts/201327.fntdata" Type="http://schemas.openxmlformats.org/officeDocument/2006/relationships/font"/><Relationship Id="rId201328" Target="fonts/201328.fntdata" Type="http://schemas.openxmlformats.org/officeDocument/2006/relationships/font"/><Relationship Id="rId201329" Target="fonts/201329.fntdata" Type="http://schemas.openxmlformats.org/officeDocument/2006/relationships/font"/><Relationship Id="rId201330" Target="fonts/201330.fntdata" Type="http://schemas.openxmlformats.org/officeDocument/2006/relationships/font"/><Relationship Id="rId201331" Target="fonts/201331.fntdata" Type="http://schemas.openxmlformats.org/officeDocument/2006/relationships/font"/><Relationship Id="rId201332" Target="fonts/201332.fntdata" Type="http://schemas.openxmlformats.org/officeDocument/2006/relationships/font"/><Relationship Id="rId201333" Target="fonts/201333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224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92C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jpeg"/><Relationship Id="rId3" Type="http://schemas.openxmlformats.org/officeDocument/2006/relationships/image" Target="../media/image-10-3.jpeg"/><Relationship Id="rId4" Type="http://schemas.openxmlformats.org/officeDocument/2006/relationships/image" Target="../media/image-10-4.jpeg"/><Relationship Id="rId5" Type="http://schemas.openxmlformats.org/officeDocument/2006/relationships/image" Target="../media/image-10-5.jpeg"/><Relationship Id="rId6" Type="http://schemas.openxmlformats.org/officeDocument/2006/relationships/image" Target="../media/image-10-6.jpe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829693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Agentic Artificial Intelligence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3925119" y="2485281"/>
            <a:ext cx="957188" cy="215354"/>
          </a:xfrm>
          <a:prstGeom prst="roundRect">
            <a:avLst>
              <a:gd name="adj" fmla="val 7900"/>
            </a:avLst>
          </a:prstGeom>
          <a:solidFill>
            <a:srgbClr val="4D1F00"/>
          </a:solidFill>
          <a:ln/>
        </p:spPr>
      </p:sp>
      <p:sp>
        <p:nvSpPr>
          <p:cNvPr id="5" name="Text 2"/>
          <p:cNvSpPr/>
          <p:nvPr/>
        </p:nvSpPr>
        <p:spPr>
          <a:xfrm>
            <a:off x="4010174" y="2527771"/>
            <a:ext cx="1244278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UNIT 1 · PART 1</a:t>
            </a:r>
            <a:endParaRPr lang="en-US" sz="850" dirty="0"/>
          </a:p>
        </p:txBody>
      </p:sp>
      <p:sp>
        <p:nvSpPr>
          <p:cNvPr id="6" name="Shape 3"/>
          <p:cNvSpPr/>
          <p:nvPr/>
        </p:nvSpPr>
        <p:spPr>
          <a:xfrm>
            <a:off x="4953149" y="2485281"/>
            <a:ext cx="1541190" cy="215354"/>
          </a:xfrm>
          <a:prstGeom prst="roundRect">
            <a:avLst>
              <a:gd name="adj" fmla="val 7900"/>
            </a:avLst>
          </a:prstGeom>
          <a:noFill/>
          <a:ln w="4763">
            <a:solidFill>
              <a:srgbClr val="FFBC8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38204" y="2527771"/>
            <a:ext cx="1828279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850" dirty="0">
                <a:solidFill>
                  <a:srgbClr val="FFBC8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B.TECH CSE · SEMESTER V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3925119" y="2860104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Introduction to Intelligent Agents &amp; Autonomous Systems — the foundations of AI that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D4D4D1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thinks, plans, and acts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on its own.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60599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Learning Outcomes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587103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By the end of Unit 1, you will be able to: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96119" y="1973387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IBM Plex Sans Light" pitchFamily="34" charset="0"/>
                <a:ea typeface="IBM Plex Sans Light" pitchFamily="34" charset="-122"/>
                <a:cs typeface="IBM Plex Sans Light" pitchFamily="34" charset="-120"/>
              </a:rPr>
              <a:t>01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96119" y="2195289"/>
            <a:ext cx="2622724" cy="19050"/>
          </a:xfrm>
          <a:prstGeom prst="rect">
            <a:avLst/>
          </a:prstGeom>
          <a:solidFill>
            <a:srgbClr val="FFBC8F"/>
          </a:solidFill>
          <a:ln/>
        </p:spPr>
      </p:sp>
      <p:sp>
        <p:nvSpPr>
          <p:cNvPr id="6" name="Text 4"/>
          <p:cNvSpPr/>
          <p:nvPr/>
        </p:nvSpPr>
        <p:spPr>
          <a:xfrm>
            <a:off x="496119" y="2304231"/>
            <a:ext cx="262272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Define Intelligent Agents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96119" y="2610743"/>
            <a:ext cx="262272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Understand perception, reasoning, and action.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60601" y="1973387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IBM Plex Sans Light" pitchFamily="34" charset="0"/>
                <a:ea typeface="IBM Plex Sans Light" pitchFamily="34" charset="-122"/>
                <a:cs typeface="IBM Plex Sans Light" pitchFamily="34" charset="-120"/>
              </a:rPr>
              <a:t>02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60601" y="2195289"/>
            <a:ext cx="2622724" cy="19050"/>
          </a:xfrm>
          <a:prstGeom prst="rect">
            <a:avLst/>
          </a:prstGeom>
          <a:solidFill>
            <a:srgbClr val="FFBC8F"/>
          </a:solidFill>
          <a:ln/>
        </p:spPr>
      </p:sp>
      <p:sp>
        <p:nvSpPr>
          <p:cNvPr id="10" name="Text 8"/>
          <p:cNvSpPr/>
          <p:nvPr/>
        </p:nvSpPr>
        <p:spPr>
          <a:xfrm>
            <a:off x="3260601" y="2304231"/>
            <a:ext cx="262272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Explain Autonomous Systems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260601" y="2610743"/>
            <a:ext cx="262272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Describe how systems operate with minimal human input.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025083" y="1973387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IBM Plex Sans Light" pitchFamily="34" charset="0"/>
                <a:ea typeface="IBM Plex Sans Light" pitchFamily="34" charset="-122"/>
                <a:cs typeface="IBM Plex Sans Light" pitchFamily="34" charset="-120"/>
              </a:rPr>
              <a:t>03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25083" y="2195289"/>
            <a:ext cx="2622724" cy="19050"/>
          </a:xfrm>
          <a:prstGeom prst="rect">
            <a:avLst/>
          </a:prstGeom>
          <a:solidFill>
            <a:srgbClr val="FFBC8F"/>
          </a:solidFill>
          <a:ln/>
        </p:spPr>
      </p:sp>
      <p:sp>
        <p:nvSpPr>
          <p:cNvPr id="14" name="Text 12"/>
          <p:cNvSpPr/>
          <p:nvPr/>
        </p:nvSpPr>
        <p:spPr>
          <a:xfrm>
            <a:off x="6025083" y="2304231"/>
            <a:ext cx="262272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Classify Agent Types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025083" y="2610743"/>
            <a:ext cx="2622724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Distinguish simple reflex, model-based, goal-based, and utility-based agents.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6119" y="3312393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IBM Plex Sans Light" pitchFamily="34" charset="0"/>
                <a:ea typeface="IBM Plex Sans Light" pitchFamily="34" charset="-122"/>
                <a:cs typeface="IBM Plex Sans Light" pitchFamily="34" charset="-120"/>
              </a:rPr>
              <a:t>04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96119" y="3534296"/>
            <a:ext cx="4004965" cy="19050"/>
          </a:xfrm>
          <a:prstGeom prst="rect">
            <a:avLst/>
          </a:prstGeom>
          <a:solidFill>
            <a:srgbClr val="FFBC8F"/>
          </a:solidFill>
          <a:ln/>
        </p:spPr>
      </p:sp>
      <p:sp>
        <p:nvSpPr>
          <p:cNvPr id="18" name="Text 16"/>
          <p:cNvSpPr/>
          <p:nvPr/>
        </p:nvSpPr>
        <p:spPr>
          <a:xfrm>
            <a:off x="496119" y="3643238"/>
            <a:ext cx="40049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Explore Agentic AI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96119" y="3949750"/>
            <a:ext cx="40049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Understand LLM-powered agents and modern architectures.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42842" y="3312393"/>
            <a:ext cx="283518" cy="1771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IBM Plex Sans Light" pitchFamily="34" charset="0"/>
                <a:ea typeface="IBM Plex Sans Light" pitchFamily="34" charset="-122"/>
                <a:cs typeface="IBM Plex Sans Light" pitchFamily="34" charset="-120"/>
              </a:rPr>
              <a:t>05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42842" y="3534296"/>
            <a:ext cx="4004965" cy="19050"/>
          </a:xfrm>
          <a:prstGeom prst="rect">
            <a:avLst/>
          </a:prstGeom>
          <a:solidFill>
            <a:srgbClr val="FFBC8F"/>
          </a:solidFill>
          <a:ln/>
        </p:spPr>
      </p:sp>
      <p:sp>
        <p:nvSpPr>
          <p:cNvPr id="22" name="Text 20"/>
          <p:cNvSpPr/>
          <p:nvPr/>
        </p:nvSpPr>
        <p:spPr>
          <a:xfrm>
            <a:off x="4642842" y="3643238"/>
            <a:ext cx="40049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Identify Applications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642842" y="3949750"/>
            <a:ext cx="40049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Recognize agent applications across industries.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3668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Why Study Agentic AI?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496119" y="951161"/>
            <a:ext cx="8608963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Today's AI is moving </a:t>
            </a:r>
            <a:pPr algn="l" indent="0" marL="0">
              <a:lnSpc>
                <a:spcPct val="122000"/>
              </a:lnSpc>
              <a:buNone/>
            </a:pPr>
            <a:r>
              <a:rPr lang="en-US" sz="900" b="1" dirty="0">
                <a:solidFill>
                  <a:srgbClr val="D4D4D1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beyond chatbots</a:t>
            </a:r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Modern agents think, plan, use tools, and make decisions — </a:t>
            </a:r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FFBC8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Agentic AI</a:t>
            </a:r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is the next frontier.</a:t>
            </a:r>
            <a:endParaRPr lang="en-US" sz="9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232148"/>
            <a:ext cx="586978" cy="7044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0281" y="1349499"/>
            <a:ext cx="7467600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Rule-Based AI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1180281" y="1591196"/>
            <a:ext cx="7467600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Fixed logic</a:t>
            </a:r>
            <a:endParaRPr lang="en-US" sz="9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119" y="1936552"/>
            <a:ext cx="586978" cy="70440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80281" y="2053903"/>
            <a:ext cx="7467600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Machine Learning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1180281" y="2295599"/>
            <a:ext cx="7467600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Learns from data</a:t>
            </a:r>
            <a:endParaRPr lang="en-US" sz="9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2640955"/>
            <a:ext cx="586978" cy="70440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80281" y="2758306"/>
            <a:ext cx="7467600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Deep Learning</a:t>
            </a:r>
            <a:endParaRPr lang="en-US" sz="1150" dirty="0"/>
          </a:p>
        </p:txBody>
      </p:sp>
      <p:sp>
        <p:nvSpPr>
          <p:cNvPr id="12" name="Text 7"/>
          <p:cNvSpPr/>
          <p:nvPr/>
        </p:nvSpPr>
        <p:spPr>
          <a:xfrm>
            <a:off x="1180281" y="3000003"/>
            <a:ext cx="7467600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Neural networks</a:t>
            </a:r>
            <a:endParaRPr lang="en-US" sz="9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119" y="3345359"/>
            <a:ext cx="586978" cy="70440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80281" y="3462710"/>
            <a:ext cx="7467600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Generative AI</a:t>
            </a:r>
            <a:endParaRPr lang="en-US" sz="1150" dirty="0"/>
          </a:p>
        </p:txBody>
      </p:sp>
      <p:sp>
        <p:nvSpPr>
          <p:cNvPr id="15" name="Text 9"/>
          <p:cNvSpPr/>
          <p:nvPr/>
        </p:nvSpPr>
        <p:spPr>
          <a:xfrm>
            <a:off x="1180281" y="3704406"/>
            <a:ext cx="7467600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Creates content</a:t>
            </a:r>
            <a:endParaRPr lang="en-US" sz="9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119" y="4049762"/>
            <a:ext cx="586978" cy="704404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180281" y="4167113"/>
            <a:ext cx="7467600" cy="183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Agentic AI</a:t>
            </a:r>
            <a:endParaRPr lang="en-US" sz="1150" dirty="0"/>
          </a:p>
        </p:txBody>
      </p:sp>
      <p:sp>
        <p:nvSpPr>
          <p:cNvPr id="18" name="Text 11"/>
          <p:cNvSpPr/>
          <p:nvPr/>
        </p:nvSpPr>
        <p:spPr>
          <a:xfrm>
            <a:off x="1180281" y="4408810"/>
            <a:ext cx="7467600" cy="171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9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Plans &amp; acts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4979"/>
            <a:ext cx="8151763" cy="408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What Is Intelligence?</a:t>
            </a:r>
            <a:endParaRPr lang="en-US" sz="25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396603"/>
            <a:ext cx="5187032" cy="293928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06703" y="1134517"/>
            <a:ext cx="2645866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Human Intelligence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6006703" y="1459111"/>
            <a:ext cx="2645866" cy="929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3200" indent="-203200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Learns from experience</a:t>
            </a:r>
            <a:endParaRPr lang="en-US" sz="1000" dirty="0"/>
          </a:p>
          <a:p>
            <a:pPr algn="l" marL="203200" indent="-203200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Understands context and nuance</a:t>
            </a:r>
            <a:endParaRPr lang="en-US" sz="1000" dirty="0"/>
          </a:p>
          <a:p>
            <a:pPr algn="l" marL="203200" indent="-203200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Thinks logically and creatively</a:t>
            </a:r>
            <a:endParaRPr lang="en-US" sz="1000" dirty="0"/>
          </a:p>
          <a:p>
            <a:pPr algn="l" marL="203200" indent="-203200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Adapts to new situations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006703" y="2509317"/>
            <a:ext cx="2645866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Artificial Intelligence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006703" y="2833911"/>
            <a:ext cx="2645866" cy="929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3200" indent="-203200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Learns from data at scale</a:t>
            </a:r>
            <a:endParaRPr lang="en-US" sz="1000" dirty="0"/>
          </a:p>
          <a:p>
            <a:pPr algn="l" marL="203200" indent="-203200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Performs statistical reasoning</a:t>
            </a:r>
            <a:endParaRPr lang="en-US" sz="1000" dirty="0"/>
          </a:p>
          <a:p>
            <a:pPr algn="l" marL="203200" indent="-203200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Makes predictions from patterns</a:t>
            </a:r>
            <a:endParaRPr lang="en-US" sz="1000" dirty="0"/>
          </a:p>
          <a:p>
            <a:pPr algn="l" marL="203200" indent="-203200">
              <a:lnSpc>
                <a:spcPct val="128000"/>
              </a:lnSpc>
              <a:buSzPct val="100000"/>
              <a:buChar char="•"/>
            </a:pPr>
            <a:r>
              <a:rPr lang="en-US" sz="1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Executes tasks autonomously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006703" y="3899148"/>
            <a:ext cx="2645866" cy="683865"/>
          </a:xfrm>
          <a:prstGeom prst="roundRect">
            <a:avLst>
              <a:gd name="adj" fmla="val 2867"/>
            </a:avLst>
          </a:prstGeom>
          <a:solidFill>
            <a:srgbClr val="80330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7374" y="4090988"/>
            <a:ext cx="163339" cy="13067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31384" y="4040237"/>
            <a:ext cx="2090514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Core abilities:</a:t>
            </a:r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Learn · Understand · Reason · Solve · Adapt · Decide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What Is Artificial Intelligence?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496119" y="682154"/>
            <a:ext cx="860896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is the branch of computer science that builds systems capable of performing tasks that normally require </a:t>
            </a:r>
            <a:pPr algn="l" indent="0" marL="0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D4D4D1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human intelligence</a:t>
            </a:r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5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846832"/>
            <a:ext cx="3989412" cy="39894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663232" y="2542654"/>
            <a:ext cx="3989412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Real-World Examples</a:t>
            </a:r>
            <a:endParaRPr lang="en-US" sz="650" dirty="0"/>
          </a:p>
        </p:txBody>
      </p:sp>
      <p:sp>
        <p:nvSpPr>
          <p:cNvPr id="6" name="Text 3"/>
          <p:cNvSpPr/>
          <p:nvPr/>
        </p:nvSpPr>
        <p:spPr>
          <a:xfrm>
            <a:off x="4663232" y="2688803"/>
            <a:ext cx="3989412" cy="474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b="1" dirty="0">
                <a:solidFill>
                  <a:srgbClr val="D4D4D1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Speech Recognition</a:t>
            </a:r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Siri, Alexa, Google Assistant</a:t>
            </a:r>
            <a:endParaRPr lang="en-US" sz="550" dirty="0"/>
          </a:p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b="1" dirty="0">
                <a:solidFill>
                  <a:srgbClr val="D4D4D1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Face Recognition</a:t>
            </a:r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iPhone Face ID, security systems</a:t>
            </a:r>
            <a:endParaRPr lang="en-US" sz="550" dirty="0"/>
          </a:p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b="1" dirty="0">
                <a:solidFill>
                  <a:srgbClr val="D4D4D1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Recommendation Systems</a:t>
            </a:r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Netflix, Spotify, Amazon</a:t>
            </a:r>
            <a:endParaRPr lang="en-US" sz="550" dirty="0"/>
          </a:p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b="1" dirty="0">
                <a:solidFill>
                  <a:srgbClr val="D4D4D1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Self-Driving Cars</a:t>
            </a:r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Tesla Autopilot, Waymo</a:t>
            </a:r>
            <a:endParaRPr lang="en-US" sz="550" dirty="0"/>
          </a:p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b="1" dirty="0">
                <a:solidFill>
                  <a:srgbClr val="D4D4D1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Medical Diagnosis</a:t>
            </a:r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AI radiology, drug discovery</a:t>
            </a:r>
            <a:endParaRPr lang="en-US" sz="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5436"/>
            <a:ext cx="8151763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Evolution of Artificial Intelligence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64856" y="928390"/>
            <a:ext cx="14288" cy="3819599"/>
          </a:xfrm>
          <a:prstGeom prst="roundRect">
            <a:avLst>
              <a:gd name="adj" fmla="val 118601"/>
            </a:avLst>
          </a:prstGeom>
          <a:solidFill>
            <a:srgbClr val="61646A"/>
          </a:solidFill>
          <a:ln/>
        </p:spPr>
      </p:sp>
      <p:sp>
        <p:nvSpPr>
          <p:cNvPr id="4" name="Shape 2"/>
          <p:cNvSpPr/>
          <p:nvPr/>
        </p:nvSpPr>
        <p:spPr>
          <a:xfrm>
            <a:off x="4120344" y="1048271"/>
            <a:ext cx="338882" cy="14288"/>
          </a:xfrm>
          <a:prstGeom prst="roundRect">
            <a:avLst>
              <a:gd name="adj" fmla="val 118601"/>
            </a:avLst>
          </a:prstGeom>
          <a:solidFill>
            <a:srgbClr val="61646A"/>
          </a:solidFill>
          <a:ln/>
        </p:spPr>
      </p:sp>
      <p:sp>
        <p:nvSpPr>
          <p:cNvPr id="5" name="Shape 3"/>
          <p:cNvSpPr/>
          <p:nvPr/>
        </p:nvSpPr>
        <p:spPr>
          <a:xfrm>
            <a:off x="4444938" y="928390"/>
            <a:ext cx="254124" cy="254124"/>
          </a:xfrm>
          <a:prstGeom prst="roundRect">
            <a:avLst>
              <a:gd name="adj" fmla="val 6668"/>
            </a:avLst>
          </a:prstGeom>
          <a:solidFill>
            <a:srgbClr val="484B51"/>
          </a:solidFill>
          <a:ln/>
        </p:spPr>
      </p:sp>
      <p:sp>
        <p:nvSpPr>
          <p:cNvPr id="6" name="Text 4"/>
          <p:cNvSpPr/>
          <p:nvPr/>
        </p:nvSpPr>
        <p:spPr>
          <a:xfrm>
            <a:off x="4487242" y="949523"/>
            <a:ext cx="169441" cy="2117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96119" y="967160"/>
            <a:ext cx="3511079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1956 — Birth of AI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96119" y="1197620"/>
            <a:ext cx="3511079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Dartmouth Conference coins "Artificial Intelligence"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4684775" y="1680121"/>
            <a:ext cx="338882" cy="14288"/>
          </a:xfrm>
          <a:prstGeom prst="roundRect">
            <a:avLst>
              <a:gd name="adj" fmla="val 118601"/>
            </a:avLst>
          </a:prstGeom>
          <a:solidFill>
            <a:srgbClr val="61646A"/>
          </a:solidFill>
          <a:ln/>
        </p:spPr>
      </p:sp>
      <p:sp>
        <p:nvSpPr>
          <p:cNvPr id="10" name="Shape 8"/>
          <p:cNvSpPr/>
          <p:nvPr/>
        </p:nvSpPr>
        <p:spPr>
          <a:xfrm>
            <a:off x="4444938" y="1560240"/>
            <a:ext cx="254124" cy="254124"/>
          </a:xfrm>
          <a:prstGeom prst="roundRect">
            <a:avLst>
              <a:gd name="adj" fmla="val 6668"/>
            </a:avLst>
          </a:prstGeom>
          <a:solidFill>
            <a:srgbClr val="484B51"/>
          </a:solidFill>
          <a:ln/>
        </p:spPr>
      </p:sp>
      <p:sp>
        <p:nvSpPr>
          <p:cNvPr id="11" name="Text 9"/>
          <p:cNvSpPr/>
          <p:nvPr/>
        </p:nvSpPr>
        <p:spPr>
          <a:xfrm>
            <a:off x="4487242" y="1581373"/>
            <a:ext cx="169441" cy="2117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136803" y="1599009"/>
            <a:ext cx="3511079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1980 — Expert Systems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136803" y="1829470"/>
            <a:ext cx="3511079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Rule-based systems for business &amp; medicine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120344" y="2241352"/>
            <a:ext cx="338882" cy="14288"/>
          </a:xfrm>
          <a:prstGeom prst="roundRect">
            <a:avLst>
              <a:gd name="adj" fmla="val 118601"/>
            </a:avLst>
          </a:prstGeom>
          <a:solidFill>
            <a:srgbClr val="61646A"/>
          </a:solidFill>
          <a:ln/>
        </p:spPr>
      </p:sp>
      <p:sp>
        <p:nvSpPr>
          <p:cNvPr id="15" name="Shape 13"/>
          <p:cNvSpPr/>
          <p:nvPr/>
        </p:nvSpPr>
        <p:spPr>
          <a:xfrm>
            <a:off x="4444938" y="2121471"/>
            <a:ext cx="254124" cy="254124"/>
          </a:xfrm>
          <a:prstGeom prst="roundRect">
            <a:avLst>
              <a:gd name="adj" fmla="val 6668"/>
            </a:avLst>
          </a:prstGeom>
          <a:solidFill>
            <a:srgbClr val="484B51"/>
          </a:solidFill>
          <a:ln/>
        </p:spPr>
      </p:sp>
      <p:sp>
        <p:nvSpPr>
          <p:cNvPr id="16" name="Text 14"/>
          <p:cNvSpPr/>
          <p:nvPr/>
        </p:nvSpPr>
        <p:spPr>
          <a:xfrm>
            <a:off x="4487242" y="2142604"/>
            <a:ext cx="169441" cy="2117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6119" y="2160240"/>
            <a:ext cx="3511079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1997 — Deep Blue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6119" y="2390701"/>
            <a:ext cx="3511079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IBM defeats Kasparov — AI beats humans at chess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684775" y="2802657"/>
            <a:ext cx="338882" cy="14288"/>
          </a:xfrm>
          <a:prstGeom prst="roundRect">
            <a:avLst>
              <a:gd name="adj" fmla="val 118601"/>
            </a:avLst>
          </a:prstGeom>
          <a:solidFill>
            <a:srgbClr val="61646A"/>
          </a:solidFill>
          <a:ln/>
        </p:spPr>
      </p:sp>
      <p:sp>
        <p:nvSpPr>
          <p:cNvPr id="20" name="Shape 18"/>
          <p:cNvSpPr/>
          <p:nvPr/>
        </p:nvSpPr>
        <p:spPr>
          <a:xfrm>
            <a:off x="4444938" y="2682776"/>
            <a:ext cx="254124" cy="254124"/>
          </a:xfrm>
          <a:prstGeom prst="roundRect">
            <a:avLst>
              <a:gd name="adj" fmla="val 6668"/>
            </a:avLst>
          </a:prstGeom>
          <a:solidFill>
            <a:srgbClr val="484B51"/>
          </a:solidFill>
          <a:ln/>
        </p:spPr>
      </p:sp>
      <p:sp>
        <p:nvSpPr>
          <p:cNvPr id="21" name="Text 19"/>
          <p:cNvSpPr/>
          <p:nvPr/>
        </p:nvSpPr>
        <p:spPr>
          <a:xfrm>
            <a:off x="4487242" y="2703909"/>
            <a:ext cx="169441" cy="2117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136803" y="2721546"/>
            <a:ext cx="3511079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2012 — Deep Learning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136803" y="2952006"/>
            <a:ext cx="3511079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AlexNet wins ImageNet — neural networks surge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120344" y="3363962"/>
            <a:ext cx="338882" cy="14288"/>
          </a:xfrm>
          <a:prstGeom prst="roundRect">
            <a:avLst>
              <a:gd name="adj" fmla="val 118601"/>
            </a:avLst>
          </a:prstGeom>
          <a:solidFill>
            <a:srgbClr val="61646A"/>
          </a:solidFill>
          <a:ln/>
        </p:spPr>
      </p:sp>
      <p:sp>
        <p:nvSpPr>
          <p:cNvPr id="25" name="Shape 23"/>
          <p:cNvSpPr/>
          <p:nvPr/>
        </p:nvSpPr>
        <p:spPr>
          <a:xfrm>
            <a:off x="4444938" y="3244081"/>
            <a:ext cx="254124" cy="254124"/>
          </a:xfrm>
          <a:prstGeom prst="roundRect">
            <a:avLst>
              <a:gd name="adj" fmla="val 6668"/>
            </a:avLst>
          </a:prstGeom>
          <a:solidFill>
            <a:srgbClr val="484B51"/>
          </a:solidFill>
          <a:ln/>
        </p:spPr>
      </p:sp>
      <p:sp>
        <p:nvSpPr>
          <p:cNvPr id="26" name="Text 24"/>
          <p:cNvSpPr/>
          <p:nvPr/>
        </p:nvSpPr>
        <p:spPr>
          <a:xfrm>
            <a:off x="4487242" y="3265215"/>
            <a:ext cx="169441" cy="2117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6119" y="3282851"/>
            <a:ext cx="3511079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2022 — Generative AI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6119" y="3513311"/>
            <a:ext cx="3511079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ChatGPT, DALL·E — AI creates text &amp; images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684775" y="3925267"/>
            <a:ext cx="338882" cy="14288"/>
          </a:xfrm>
          <a:prstGeom prst="roundRect">
            <a:avLst>
              <a:gd name="adj" fmla="val 118601"/>
            </a:avLst>
          </a:prstGeom>
          <a:solidFill>
            <a:srgbClr val="61646A"/>
          </a:solidFill>
          <a:ln/>
        </p:spPr>
      </p:sp>
      <p:sp>
        <p:nvSpPr>
          <p:cNvPr id="30" name="Shape 28"/>
          <p:cNvSpPr/>
          <p:nvPr/>
        </p:nvSpPr>
        <p:spPr>
          <a:xfrm>
            <a:off x="4444938" y="3805386"/>
            <a:ext cx="254124" cy="254124"/>
          </a:xfrm>
          <a:prstGeom prst="roundRect">
            <a:avLst>
              <a:gd name="adj" fmla="val 6668"/>
            </a:avLst>
          </a:prstGeom>
          <a:solidFill>
            <a:srgbClr val="484B51"/>
          </a:solidFill>
          <a:ln/>
        </p:spPr>
      </p:sp>
      <p:sp>
        <p:nvSpPr>
          <p:cNvPr id="31" name="Text 29"/>
          <p:cNvSpPr/>
          <p:nvPr/>
        </p:nvSpPr>
        <p:spPr>
          <a:xfrm>
            <a:off x="4487242" y="3826520"/>
            <a:ext cx="169441" cy="21178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136803" y="3844156"/>
            <a:ext cx="3511079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Today — Agentic AI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136803" y="4074616"/>
            <a:ext cx="3511079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Agents that plan, act, and use tools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AI → ML → DL → GenAI → Agentic AI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496119" y="682154"/>
            <a:ext cx="860896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Each layer is a </a:t>
            </a:r>
            <a:pPr algn="l" indent="0" marL="0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D4D4D1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subset</a:t>
            </a:r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of the one before it. Agentic AI sits at the cutting edge — combining reasoning, generation, and action.</a:t>
            </a:r>
            <a:endParaRPr lang="en-US" sz="5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846832"/>
            <a:ext cx="3989412" cy="39894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663232" y="2542654"/>
            <a:ext cx="3989412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How They Relate</a:t>
            </a:r>
            <a:endParaRPr lang="en-US" sz="650" dirty="0"/>
          </a:p>
        </p:txBody>
      </p:sp>
      <p:sp>
        <p:nvSpPr>
          <p:cNvPr id="6" name="Text 3"/>
          <p:cNvSpPr/>
          <p:nvPr/>
        </p:nvSpPr>
        <p:spPr>
          <a:xfrm>
            <a:off x="4663232" y="2688803"/>
            <a:ext cx="3989412" cy="4746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b="1" dirty="0">
                <a:solidFill>
                  <a:srgbClr val="D4D4D1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AI</a:t>
            </a:r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Mimics intelligence (e.g., Chess AI)</a:t>
            </a:r>
            <a:endParaRPr lang="en-US" sz="550" dirty="0"/>
          </a:p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b="1" dirty="0">
                <a:solidFill>
                  <a:srgbClr val="D4D4D1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ML</a:t>
            </a:r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Learns from data (e.g., Spam Detection)</a:t>
            </a:r>
            <a:endParaRPr lang="en-US" sz="550" dirty="0"/>
          </a:p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b="1" dirty="0">
                <a:solidFill>
                  <a:srgbClr val="D4D4D1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DL</a:t>
            </a:r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Uses neural networks (e.g., Face Recognition)</a:t>
            </a:r>
            <a:endParaRPr lang="en-US" sz="550" dirty="0"/>
          </a:p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b="1" dirty="0">
                <a:solidFill>
                  <a:srgbClr val="D4D4D1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GenAI</a:t>
            </a:r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Creates content (e.g., ChatGPT)</a:t>
            </a:r>
            <a:endParaRPr lang="en-US" sz="550" dirty="0"/>
          </a:p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b="1" dirty="0">
                <a:solidFill>
                  <a:srgbClr val="D4D4D1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Agentic AI</a:t>
            </a:r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Plans and acts (e.g., AI Research Agent)</a:t>
            </a:r>
            <a:endParaRPr lang="en-US" sz="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7148"/>
            <a:ext cx="8151763" cy="4014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0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What Is an Intelligent Agent?</a:t>
            </a:r>
            <a:endParaRPr lang="en-US" sz="25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389534"/>
            <a:ext cx="5188893" cy="29403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03206" y="1089571"/>
            <a:ext cx="2649364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Definition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6003206" y="1406649"/>
            <a:ext cx="2649364" cy="7837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 </a:t>
            </a:r>
            <a:pPr algn="l" indent="0" marL="0">
              <a:lnSpc>
                <a:spcPct val="127000"/>
              </a:lnSpc>
              <a:buNone/>
            </a:pPr>
            <a:r>
              <a:rPr lang="en-US" sz="1000" b="1" dirty="0">
                <a:solidFill>
                  <a:srgbClr val="D4D4D1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Intelligent Agent</a:t>
            </a:r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is any entity that </a:t>
            </a:r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FFBC8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perceives</a:t>
            </a:r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its environment through sensors, </a:t>
            </a:r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FFBC8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reasons</a:t>
            </a:r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about what to do, and </a:t>
            </a:r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FFBC8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acts</a:t>
            </a:r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through actuators to achieve its goals.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6003206" y="2321347"/>
            <a:ext cx="2649364" cy="665559"/>
          </a:xfrm>
          <a:prstGeom prst="roundRect">
            <a:avLst>
              <a:gd name="adj" fmla="val 2896"/>
            </a:avLst>
          </a:prstGeom>
          <a:solidFill>
            <a:srgbClr val="803300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1644" y="2507531"/>
            <a:ext cx="160586" cy="12843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20669" y="2458194"/>
            <a:ext cx="2103462" cy="391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Agent = Perception + Reasoning + Action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6003206" y="3117875"/>
            <a:ext cx="2649364" cy="2006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Key Characteristics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6003206" y="3434953"/>
            <a:ext cx="2649364" cy="9058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3200" indent="-203200">
              <a:lnSpc>
                <a:spcPct val="127000"/>
              </a:lnSpc>
              <a:buSzPct val="100000"/>
              <a:buChar char="•"/>
            </a:pPr>
            <a:r>
              <a:rPr lang="en-US" sz="1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Autonomous &amp; Reactive</a:t>
            </a:r>
            <a:endParaRPr lang="en-US" sz="1000" dirty="0"/>
          </a:p>
          <a:p>
            <a:pPr algn="l" marL="203200" indent="-203200">
              <a:lnSpc>
                <a:spcPct val="127000"/>
              </a:lnSpc>
              <a:buSzPct val="100000"/>
              <a:buChar char="•"/>
            </a:pPr>
            <a:r>
              <a:rPr lang="en-US" sz="1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Proactive &amp; Goal-Oriented</a:t>
            </a:r>
            <a:endParaRPr lang="en-US" sz="1000" dirty="0"/>
          </a:p>
          <a:p>
            <a:pPr algn="l" marL="203200" indent="-203200">
              <a:lnSpc>
                <a:spcPct val="127000"/>
              </a:lnSpc>
              <a:buSzPct val="100000"/>
              <a:buChar char="•"/>
            </a:pPr>
            <a:r>
              <a:rPr lang="en-US" sz="1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Rational &amp; Adaptive</a:t>
            </a:r>
            <a:endParaRPr lang="en-US" sz="1000" dirty="0"/>
          </a:p>
          <a:p>
            <a:pPr algn="l" marL="203200" indent="-203200">
              <a:lnSpc>
                <a:spcPct val="127000"/>
              </a:lnSpc>
              <a:buSzPct val="100000"/>
              <a:buChar char="•"/>
            </a:pPr>
            <a:r>
              <a:rPr lang="en-US" sz="1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Capable of Learning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6003206" y="4445571"/>
            <a:ext cx="3106564" cy="195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000" b="1" dirty="0">
                <a:solidFill>
                  <a:srgbClr val="D4D4D1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Examples:</a:t>
            </a:r>
            <a:pPr algn="l" indent="0" marL="0">
              <a:lnSpc>
                <a:spcPct val="127000"/>
              </a:lnSpc>
              <a:buNone/>
            </a:pPr>
            <a:r>
              <a:rPr lang="en-US" sz="10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Robot · Alexa · Siri · Tesla · Drone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Agent Architecture &amp; Autonomous Systems</a:t>
            </a:r>
            <a:endParaRPr lang="en-US" sz="13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2797" y="682154"/>
            <a:ext cx="6298332" cy="434042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80542" y="3382920"/>
            <a:ext cx="1721164" cy="229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Sensors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3047219" y="1560241"/>
            <a:ext cx="1777080" cy="229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Perception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240176" y="3916732"/>
            <a:ext cx="1721164" cy="229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Reasoning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767990" y="2040048"/>
            <a:ext cx="1721164" cy="229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Actuators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96119" y="5062389"/>
            <a:ext cx="8608963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Sensors feed perception into a knowledge base, reasoning selects the best action, and actuators execute it back on the environment.</a:t>
            </a:r>
            <a:endParaRPr lang="en-US" sz="550" dirty="0"/>
          </a:p>
        </p:txBody>
      </p:sp>
      <p:sp>
        <p:nvSpPr>
          <p:cNvPr id="9" name="Text 6"/>
          <p:cNvSpPr/>
          <p:nvPr/>
        </p:nvSpPr>
        <p:spPr>
          <a:xfrm>
            <a:off x="496119" y="5222677"/>
            <a:ext cx="3989412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Autonomous Systems</a:t>
            </a:r>
            <a:endParaRPr lang="en-US" sz="650" dirty="0"/>
          </a:p>
        </p:txBody>
      </p:sp>
      <p:sp>
        <p:nvSpPr>
          <p:cNvPr id="10" name="Text 7"/>
          <p:cNvSpPr/>
          <p:nvPr/>
        </p:nvSpPr>
        <p:spPr>
          <a:xfrm>
            <a:off x="496119" y="5368826"/>
            <a:ext cx="4446612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Systems that perform tasks </a:t>
            </a:r>
            <a:pPr algn="l" indent="0" marL="0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D4D4D1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independently</a:t>
            </a:r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with minimal human intervention.</a:t>
            </a:r>
            <a:endParaRPr lang="en-US" sz="550" dirty="0"/>
          </a:p>
        </p:txBody>
      </p:sp>
      <p:sp>
        <p:nvSpPr>
          <p:cNvPr id="11" name="Text 8"/>
          <p:cNvSpPr/>
          <p:nvPr/>
        </p:nvSpPr>
        <p:spPr>
          <a:xfrm>
            <a:off x="496119" y="5485730"/>
            <a:ext cx="3989412" cy="3772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Self-Driving Cars (Tesla)</a:t>
            </a:r>
            <a:endParaRPr lang="en-US" sz="550" dirty="0"/>
          </a:p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Robot Vacuums (Roomba)</a:t>
            </a:r>
            <a:endParaRPr lang="en-US" sz="550" dirty="0"/>
          </a:p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Warehouse Robots (Amazon)</a:t>
            </a:r>
            <a:endParaRPr lang="en-US" sz="550" dirty="0"/>
          </a:p>
          <a:p>
            <a:pPr algn="l" marL="111760" indent="-111760">
              <a:lnSpc>
                <a:spcPct val="100000"/>
              </a:lnSpc>
              <a:buSzPct val="100000"/>
              <a:buChar char="•"/>
            </a:pPr>
            <a:r>
              <a:rPr lang="en-US" sz="5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Delivery Drones</a:t>
            </a:r>
            <a:endParaRPr lang="en-US" sz="550" dirty="0"/>
          </a:p>
        </p:txBody>
      </p:sp>
      <p:sp>
        <p:nvSpPr>
          <p:cNvPr id="12" name="Text 9"/>
          <p:cNvSpPr/>
          <p:nvPr/>
        </p:nvSpPr>
        <p:spPr>
          <a:xfrm>
            <a:off x="4663232" y="5222677"/>
            <a:ext cx="3989412" cy="110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Agent vs. Autonomous System</a:t>
            </a:r>
            <a:endParaRPr lang="en-US" sz="650" dirty="0"/>
          </a:p>
        </p:txBody>
      </p:sp>
      <p:sp>
        <p:nvSpPr>
          <p:cNvPr id="13" name="Shape 10"/>
          <p:cNvSpPr/>
          <p:nvPr/>
        </p:nvSpPr>
        <p:spPr>
          <a:xfrm>
            <a:off x="4663232" y="5373216"/>
            <a:ext cx="3989412" cy="713556"/>
          </a:xfrm>
          <a:prstGeom prst="roundRect">
            <a:avLst>
              <a:gd name="adj" fmla="val 1490"/>
            </a:avLst>
          </a:prstGeom>
          <a:noFill/>
          <a:ln w="4763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663232" y="5517356"/>
            <a:ext cx="3989412" cy="4763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5" name="Shape 12"/>
          <p:cNvSpPr/>
          <p:nvPr/>
        </p:nvSpPr>
        <p:spPr>
          <a:xfrm>
            <a:off x="4663232" y="5659115"/>
            <a:ext cx="3989412" cy="4763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4663232" y="5800874"/>
            <a:ext cx="3989412" cy="4763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4663232" y="5942633"/>
            <a:ext cx="3989412" cy="4763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4738911" y="5403949"/>
            <a:ext cx="2305422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D4D4D1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Intelligent Agent</a:t>
            </a:r>
            <a:endParaRPr lang="en-US" sz="550" dirty="0"/>
          </a:p>
        </p:txBody>
      </p:sp>
      <p:sp>
        <p:nvSpPr>
          <p:cNvPr id="19" name="Text 16"/>
          <p:cNvSpPr/>
          <p:nvPr/>
        </p:nvSpPr>
        <p:spPr>
          <a:xfrm>
            <a:off x="6728817" y="5403949"/>
            <a:ext cx="2305422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D4D4D1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Autonomous System</a:t>
            </a:r>
            <a:endParaRPr lang="en-US" sz="550" dirty="0"/>
          </a:p>
        </p:txBody>
      </p:sp>
      <p:sp>
        <p:nvSpPr>
          <p:cNvPr id="20" name="Text 17"/>
          <p:cNvSpPr/>
          <p:nvPr/>
        </p:nvSpPr>
        <p:spPr>
          <a:xfrm>
            <a:off x="4738911" y="5545708"/>
            <a:ext cx="2305422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Makes decisions</a:t>
            </a:r>
            <a:endParaRPr lang="en-US" sz="550" dirty="0"/>
          </a:p>
        </p:txBody>
      </p:sp>
      <p:sp>
        <p:nvSpPr>
          <p:cNvPr id="21" name="Text 18"/>
          <p:cNvSpPr/>
          <p:nvPr/>
        </p:nvSpPr>
        <p:spPr>
          <a:xfrm>
            <a:off x="6728817" y="5545708"/>
            <a:ext cx="2305422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Executes tasks</a:t>
            </a:r>
            <a:endParaRPr lang="en-US" sz="550" dirty="0"/>
          </a:p>
        </p:txBody>
      </p:sp>
      <p:sp>
        <p:nvSpPr>
          <p:cNvPr id="22" name="Text 19"/>
          <p:cNvSpPr/>
          <p:nvPr/>
        </p:nvSpPr>
        <p:spPr>
          <a:xfrm>
            <a:off x="4738911" y="5687467"/>
            <a:ext cx="2305422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Focus: intelligence</a:t>
            </a:r>
            <a:endParaRPr lang="en-US" sz="550" dirty="0"/>
          </a:p>
        </p:txBody>
      </p:sp>
      <p:sp>
        <p:nvSpPr>
          <p:cNvPr id="23" name="Text 20"/>
          <p:cNvSpPr/>
          <p:nvPr/>
        </p:nvSpPr>
        <p:spPr>
          <a:xfrm>
            <a:off x="6728817" y="5687467"/>
            <a:ext cx="2305422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Focus: independence</a:t>
            </a:r>
            <a:endParaRPr lang="en-US" sz="550" dirty="0"/>
          </a:p>
        </p:txBody>
      </p:sp>
      <p:sp>
        <p:nvSpPr>
          <p:cNvPr id="24" name="Text 21"/>
          <p:cNvSpPr/>
          <p:nvPr/>
        </p:nvSpPr>
        <p:spPr>
          <a:xfrm>
            <a:off x="4738911" y="5829226"/>
            <a:ext cx="2305422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Often software-only</a:t>
            </a:r>
            <a:endParaRPr lang="en-US" sz="550" dirty="0"/>
          </a:p>
        </p:txBody>
      </p:sp>
      <p:sp>
        <p:nvSpPr>
          <p:cNvPr id="25" name="Text 22"/>
          <p:cNvSpPr/>
          <p:nvPr/>
        </p:nvSpPr>
        <p:spPr>
          <a:xfrm>
            <a:off x="6728817" y="5829226"/>
            <a:ext cx="2305422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Usually includes hardware</a:t>
            </a:r>
            <a:endParaRPr lang="en-US" sz="550" dirty="0"/>
          </a:p>
        </p:txBody>
      </p:sp>
      <p:sp>
        <p:nvSpPr>
          <p:cNvPr id="26" name="Text 23"/>
          <p:cNvSpPr/>
          <p:nvPr/>
        </p:nvSpPr>
        <p:spPr>
          <a:xfrm>
            <a:off x="4738911" y="5970984"/>
            <a:ext cx="2305422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Uses reasoning</a:t>
            </a:r>
            <a:endParaRPr lang="en-US" sz="550" dirty="0"/>
          </a:p>
        </p:txBody>
      </p:sp>
      <p:sp>
        <p:nvSpPr>
          <p:cNvPr id="27" name="Text 24"/>
          <p:cNvSpPr/>
          <p:nvPr/>
        </p:nvSpPr>
        <p:spPr>
          <a:xfrm>
            <a:off x="6728817" y="5970984"/>
            <a:ext cx="2305422" cy="850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55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Uses sensors + actuators</a:t>
            </a:r>
            <a:endParaRPr lang="en-US" sz="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9323"/>
            <a:ext cx="8151763" cy="3737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dirty="0">
                <a:solidFill>
                  <a:srgbClr val="F3F3F2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Real-World Agents &amp; Unit 1 Wrap-Up</a:t>
            </a:r>
            <a:endParaRPr lang="en-US" sz="23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994916"/>
            <a:ext cx="855018" cy="85501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1976065"/>
            <a:ext cx="1943323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Google Maps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496119" y="2223418"/>
            <a:ext cx="1943323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Routes, traffic, ETA</a:t>
            </a:r>
            <a:endParaRPr lang="en-US" sz="9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5574" y="994916"/>
            <a:ext cx="855018" cy="85501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565574" y="1976065"/>
            <a:ext cx="1943323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Netflix</a:t>
            </a:r>
            <a:endParaRPr lang="en-US" sz="1150" dirty="0"/>
          </a:p>
        </p:txBody>
      </p:sp>
      <p:sp>
        <p:nvSpPr>
          <p:cNvPr id="8" name="Text 4"/>
          <p:cNvSpPr/>
          <p:nvPr/>
        </p:nvSpPr>
        <p:spPr>
          <a:xfrm>
            <a:off x="2565574" y="2223418"/>
            <a:ext cx="1943323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Personalized recommendations</a:t>
            </a:r>
            <a:endParaRPr lang="en-US" sz="9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5029" y="994916"/>
            <a:ext cx="855018" cy="85501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635029" y="1976065"/>
            <a:ext cx="1943323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Amazon</a:t>
            </a:r>
            <a:endParaRPr lang="en-US" sz="1150" dirty="0"/>
          </a:p>
        </p:txBody>
      </p:sp>
      <p:sp>
        <p:nvSpPr>
          <p:cNvPr id="11" name="Text 6"/>
          <p:cNvSpPr/>
          <p:nvPr/>
        </p:nvSpPr>
        <p:spPr>
          <a:xfrm>
            <a:off x="4635029" y="2223418"/>
            <a:ext cx="1943323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Product recommendations</a:t>
            </a:r>
            <a:endParaRPr lang="en-US" sz="9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4484" y="994916"/>
            <a:ext cx="855092" cy="85509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704484" y="1976140"/>
            <a:ext cx="1943398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ChatGPT</a:t>
            </a:r>
            <a:endParaRPr lang="en-US" sz="1150" dirty="0"/>
          </a:p>
        </p:txBody>
      </p:sp>
      <p:sp>
        <p:nvSpPr>
          <p:cNvPr id="14" name="Text 8"/>
          <p:cNvSpPr/>
          <p:nvPr/>
        </p:nvSpPr>
        <p:spPr>
          <a:xfrm>
            <a:off x="6704484" y="2223492"/>
            <a:ext cx="1943398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Conversational AI agent</a:t>
            </a:r>
            <a:endParaRPr lang="en-US" sz="9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119" y="2601664"/>
            <a:ext cx="855018" cy="85501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96119" y="3582814"/>
            <a:ext cx="1943323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Tesla</a:t>
            </a:r>
            <a:endParaRPr lang="en-US" sz="1150" dirty="0"/>
          </a:p>
        </p:txBody>
      </p:sp>
      <p:sp>
        <p:nvSpPr>
          <p:cNvPr id="17" name="Text 10"/>
          <p:cNvSpPr/>
          <p:nvPr/>
        </p:nvSpPr>
        <p:spPr>
          <a:xfrm>
            <a:off x="496119" y="3830166"/>
            <a:ext cx="1943323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Autonomous driving</a:t>
            </a:r>
            <a:endParaRPr lang="en-US" sz="9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65574" y="2601664"/>
            <a:ext cx="855018" cy="85501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2565574" y="3582814"/>
            <a:ext cx="1943323" cy="1868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D4D4D1"/>
                </a:solidFill>
                <a:latin typeface="IBM Plex Sans Medium" pitchFamily="34" charset="0"/>
                <a:ea typeface="IBM Plex Sans Medium" pitchFamily="34" charset="-122"/>
                <a:cs typeface="IBM Plex Sans Medium" pitchFamily="34" charset="-120"/>
              </a:rPr>
              <a:t>Alexa</a:t>
            </a:r>
            <a:endParaRPr lang="en-US" sz="1150" dirty="0"/>
          </a:p>
        </p:txBody>
      </p:sp>
      <p:sp>
        <p:nvSpPr>
          <p:cNvPr id="20" name="Text 12"/>
          <p:cNvSpPr/>
          <p:nvPr/>
        </p:nvSpPr>
        <p:spPr>
          <a:xfrm>
            <a:off x="2565574" y="3830166"/>
            <a:ext cx="1943323" cy="1763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D4D4D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Voice-controlled assistant</a:t>
            </a:r>
            <a:endParaRPr lang="en-US" sz="900" dirty="0"/>
          </a:p>
        </p:txBody>
      </p:sp>
      <p:sp>
        <p:nvSpPr>
          <p:cNvPr id="21" name="Shape 13"/>
          <p:cNvSpPr/>
          <p:nvPr/>
        </p:nvSpPr>
        <p:spPr>
          <a:xfrm>
            <a:off x="496119" y="4120009"/>
            <a:ext cx="8151763" cy="604093"/>
          </a:xfrm>
          <a:prstGeom prst="roundRect">
            <a:avLst>
              <a:gd name="adj" fmla="val 2970"/>
            </a:avLst>
          </a:prstGeom>
          <a:solidFill>
            <a:srgbClr val="803300"/>
          </a:solidFill>
          <a:ln/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5702" y="4283794"/>
            <a:ext cx="149498" cy="119583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884783" y="4250754"/>
            <a:ext cx="7643515" cy="3527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Up Next — Unit 1, Part 2:</a:t>
            </a:r>
            <a:pPr algn="l" indent="0" marL="0">
              <a:lnSpc>
                <a:spcPct val="123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PEAS Framework · Environment Types · Perception–Reasoning–Action Cycle · Agent Architectures · Industry Case Studies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2026-07-12T16:24:11Z</dcterms:created>
  <dcterms:modified xsi:type="dcterms:W3CDTF">2026-07-12T16:24:11Z</dcterms:modified>
</cp:coreProperties>
</file>