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media/image9.jpg" ContentType="image/jpeg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94" r:id="rId6"/>
    <p:sldId id="264" r:id="rId7"/>
    <p:sldId id="267" r:id="rId8"/>
    <p:sldId id="268" r:id="rId9"/>
    <p:sldId id="289" r:id="rId10"/>
    <p:sldId id="269" r:id="rId11"/>
    <p:sldId id="282" r:id="rId12"/>
    <p:sldId id="290" r:id="rId13"/>
    <p:sldId id="291" r:id="rId14"/>
    <p:sldId id="260" r:id="rId15"/>
    <p:sldId id="261" r:id="rId16"/>
    <p:sldId id="287" r:id="rId17"/>
    <p:sldId id="262" r:id="rId18"/>
    <p:sldId id="263" r:id="rId19"/>
    <p:sldId id="265" r:id="rId20"/>
    <p:sldId id="288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92" r:id="rId31"/>
    <p:sldId id="293" r:id="rId32"/>
    <p:sldId id="279" r:id="rId33"/>
    <p:sldId id="280" r:id="rId34"/>
    <p:sldId id="281" r:id="rId35"/>
    <p:sldId id="283" r:id="rId36"/>
    <p:sldId id="284" r:id="rId37"/>
    <p:sldId id="312" r:id="rId38"/>
    <p:sldId id="313" r:id="rId39"/>
    <p:sldId id="314" r:id="rId40"/>
    <p:sldId id="285" r:id="rId41"/>
    <p:sldId id="286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9" autoAdjust="0"/>
    <p:restoredTop sz="85014" autoAdjust="0"/>
  </p:normalViewPr>
  <p:slideViewPr>
    <p:cSldViewPr snapToGrid="0" snapToObjects="1">
      <p:cViewPr varScale="1">
        <p:scale>
          <a:sx n="127" d="100"/>
          <a:sy n="127" d="100"/>
        </p:scale>
        <p:origin x="9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888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752c4006f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752c4006f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35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2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13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07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56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affc1b834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affc1b834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05DB-AC95-6A4C-260D-F8EF51CC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439C3-7AE7-1C97-42BF-537A2B360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7FEDA-F669-5933-6007-EF1E8811A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EE7B5-20CE-A350-38AB-205FB3413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76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B7BB-5887-DE5C-6DA3-27CEE937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FF574-5276-D37A-ADD3-F9C6DD116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583A7-11F9-DB1D-89B6-A64992D39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EAA23-7A7D-5645-D23C-48FF323A4A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38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b897356a0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b897356a0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b9cac06e8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b9cac06e8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b897356a0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b897356a0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868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114800" cy="4114800"/>
          </a:xfrm>
          <a:prstGeom prst="ellipse">
            <a:avLst/>
          </a:prstGeom>
          <a:solidFill>
            <a:srgbClr val="16203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291840"/>
            <a:ext cx="3291840" cy="3291840"/>
          </a:xfrm>
          <a:prstGeom prst="ellipse">
            <a:avLst/>
          </a:prstGeom>
          <a:solidFill>
            <a:srgbClr val="1620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COURSE  ·  UNIT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ANN · History of AI · Why Go Deep · Applications · Challenges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109728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Department  |  10 Hours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 in Unit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039112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&amp; ANN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0487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neurons, layers and networks are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00984" y="15087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8144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38144" y="2039112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38144" y="240487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DL differs from classical ML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5087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81928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81928" y="2039112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History of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240487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Turing (1950) to Generative AI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3639312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Successes of the Last Decade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00507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AlexNet, AlphaGo, ChatGPT and more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00984" y="31089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38144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38144" y="3639312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to Go Deep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38144" y="400507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compute, algorithms,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31089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81928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81928" y="3639312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Challenges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81928" y="400507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DL works, and where it struggles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Humans Make Decisions?</a:t>
            </a:r>
            <a:endParaRPr lang="en-US" sz="2800" dirty="0"/>
          </a:p>
        </p:txBody>
      </p:sp>
      <p:pic>
        <p:nvPicPr>
          <p:cNvPr id="4" name="Image 0" descr="images/orig_slide-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17320"/>
            <a:ext cx="7863840" cy="3310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Rule-Based Systems to Data-Driven Models</a:t>
            </a:r>
            <a:endParaRPr lang="en-US" sz="2800" dirty="0"/>
          </a:p>
        </p:txBody>
      </p:sp>
      <p:pic>
        <p:nvPicPr>
          <p:cNvPr id="4" name="Image 0" descr="images/orig_slide-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371600"/>
            <a:ext cx="813816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Machine  &amp; Deep Learning</a:t>
            </a:r>
            <a:endParaRPr dirty="0"/>
          </a:p>
        </p:txBody>
      </p:sp>
      <p:pic>
        <p:nvPicPr>
          <p:cNvPr id="235" name="Google Shape;235;p40"/>
          <p:cNvPicPr preferRelativeResize="0"/>
          <p:nvPr/>
        </p:nvPicPr>
        <p:blipFill rotWithShape="1">
          <a:blip r:embed="rId3">
            <a:alphaModFix/>
          </a:blip>
          <a:srcRect b="43039"/>
          <a:stretch/>
        </p:blipFill>
        <p:spPr>
          <a:xfrm>
            <a:off x="311700" y="1542250"/>
            <a:ext cx="4105500" cy="197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325" y="1964113"/>
            <a:ext cx="4105500" cy="140212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0"/>
          <p:cNvSpPr/>
          <p:nvPr/>
        </p:nvSpPr>
        <p:spPr>
          <a:xfrm>
            <a:off x="1537150" y="3742700"/>
            <a:ext cx="1044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</a:t>
            </a:r>
            <a:endParaRPr/>
          </a:p>
        </p:txBody>
      </p:sp>
      <p:cxnSp>
        <p:nvCxnSpPr>
          <p:cNvPr id="238" name="Google Shape;238;p40"/>
          <p:cNvCxnSpPr/>
          <p:nvPr/>
        </p:nvCxnSpPr>
        <p:spPr>
          <a:xfrm>
            <a:off x="1069025" y="3856725"/>
            <a:ext cx="4440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9" name="Google Shape;239;p40"/>
          <p:cNvSpPr txBox="1"/>
          <p:nvPr/>
        </p:nvSpPr>
        <p:spPr>
          <a:xfrm>
            <a:off x="430825" y="3628875"/>
            <a:ext cx="345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0" name="Google Shape;240;p40"/>
          <p:cNvCxnSpPr/>
          <p:nvPr/>
        </p:nvCxnSpPr>
        <p:spPr>
          <a:xfrm>
            <a:off x="1057025" y="4198825"/>
            <a:ext cx="4380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40"/>
          <p:cNvSpPr txBox="1"/>
          <p:nvPr/>
        </p:nvSpPr>
        <p:spPr>
          <a:xfrm>
            <a:off x="330850" y="3970975"/>
            <a:ext cx="345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Rules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2" name="Google Shape;242;p40"/>
          <p:cNvCxnSpPr/>
          <p:nvPr/>
        </p:nvCxnSpPr>
        <p:spPr>
          <a:xfrm>
            <a:off x="2623475" y="4000775"/>
            <a:ext cx="28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" name="Google Shape;243;p40"/>
          <p:cNvSpPr txBox="1"/>
          <p:nvPr/>
        </p:nvSpPr>
        <p:spPr>
          <a:xfrm>
            <a:off x="2953500" y="3769925"/>
            <a:ext cx="345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4" name="Google Shape;244;p40"/>
          <p:cNvSpPr/>
          <p:nvPr/>
        </p:nvSpPr>
        <p:spPr>
          <a:xfrm>
            <a:off x="6076825" y="3856525"/>
            <a:ext cx="10443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ML/</a:t>
            </a:r>
            <a:r>
              <a:rPr lang="en-IN" dirty="0"/>
              <a:t>DL</a:t>
            </a:r>
            <a:endParaRPr dirty="0"/>
          </a:p>
        </p:txBody>
      </p:sp>
      <p:cxnSp>
        <p:nvCxnSpPr>
          <p:cNvPr id="245" name="Google Shape;245;p40"/>
          <p:cNvCxnSpPr/>
          <p:nvPr/>
        </p:nvCxnSpPr>
        <p:spPr>
          <a:xfrm>
            <a:off x="5608700" y="3970550"/>
            <a:ext cx="4440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" name="Google Shape;246;p40"/>
          <p:cNvSpPr txBox="1"/>
          <p:nvPr/>
        </p:nvSpPr>
        <p:spPr>
          <a:xfrm>
            <a:off x="4970500" y="3742700"/>
            <a:ext cx="67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7" name="Google Shape;247;p40"/>
          <p:cNvCxnSpPr/>
          <p:nvPr/>
        </p:nvCxnSpPr>
        <p:spPr>
          <a:xfrm>
            <a:off x="5596700" y="4312650"/>
            <a:ext cx="4380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8" name="Google Shape;248;p40"/>
          <p:cNvSpPr txBox="1"/>
          <p:nvPr/>
        </p:nvSpPr>
        <p:spPr>
          <a:xfrm>
            <a:off x="4794325" y="4084800"/>
            <a:ext cx="345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Output</a:t>
            </a: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249" name="Google Shape;249;p40"/>
          <p:cNvCxnSpPr/>
          <p:nvPr/>
        </p:nvCxnSpPr>
        <p:spPr>
          <a:xfrm>
            <a:off x="7163150" y="4114600"/>
            <a:ext cx="28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0" name="Google Shape;250;p40"/>
          <p:cNvSpPr txBox="1"/>
          <p:nvPr/>
        </p:nvSpPr>
        <p:spPr>
          <a:xfrm>
            <a:off x="7493175" y="3606700"/>
            <a:ext cx="3456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Rules,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Patterns,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1" name="Google Shape;251;p40"/>
          <p:cNvSpPr txBox="1"/>
          <p:nvPr/>
        </p:nvSpPr>
        <p:spPr>
          <a:xfrm>
            <a:off x="5255350" y="1154450"/>
            <a:ext cx="3456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Handwritten digit recognition from images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NEURAL NETWORKS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ANN Fits: AI → ML → ANN → Deep Learning</a:t>
            </a:r>
            <a:endParaRPr lang="en-US" sz="2800" dirty="0"/>
          </a:p>
        </p:txBody>
      </p:sp>
      <p:pic>
        <p:nvPicPr>
          <p:cNvPr id="4" name="Image 0" descr="images/orig_slide-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17320"/>
            <a:ext cx="7680960" cy="3310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Deep Learning?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3154680"/>
            <a:ext cx="10058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91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hierarchical feature learning from raw 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51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WHY 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“Deep”? Hierarchical Feature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classical ML, a human engineer manually decides what features matter (edges, colour histograms, etc). In Deep Learning, each layer automatically learns increasingly abstract features from the raw data itself.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508760" cy="1188720"/>
          </a:xfrm>
          <a:prstGeom prst="roundRect">
            <a:avLst>
              <a:gd name="adj" fmla="val 538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3063240"/>
            <a:ext cx="164592" cy="0"/>
          </a:xfrm>
          <a:prstGeom prst="line">
            <a:avLst/>
          </a:prstGeom>
          <a:noFill/>
          <a:ln w="19050">
            <a:solidFill>
              <a:srgbClr val="5B6B8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21992" y="2468880"/>
            <a:ext cx="1508760" cy="1188720"/>
          </a:xfrm>
          <a:prstGeom prst="roundRect">
            <a:avLst>
              <a:gd name="adj" fmla="val 538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221992" y="24688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30752" y="3063240"/>
            <a:ext cx="164592" cy="0"/>
          </a:xfrm>
          <a:prstGeom prst="line">
            <a:avLst/>
          </a:prstGeom>
          <a:noFill/>
          <a:ln w="19050">
            <a:solidFill>
              <a:srgbClr val="5B6B8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468880"/>
            <a:ext cx="150876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895344" y="24688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04104" y="3063240"/>
            <a:ext cx="164592" cy="0"/>
          </a:xfrm>
          <a:prstGeom prst="line">
            <a:avLst/>
          </a:prstGeom>
          <a:noFill/>
          <a:ln w="19050">
            <a:solidFill>
              <a:srgbClr val="5B6B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68696" y="2468880"/>
            <a:ext cx="150876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568696" y="24688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77456" y="3063240"/>
            <a:ext cx="164592" cy="0"/>
          </a:xfrm>
          <a:prstGeom prst="line">
            <a:avLst/>
          </a:prstGeom>
          <a:noFill/>
          <a:ln w="19050">
            <a:solidFill>
              <a:srgbClr val="5B6B8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42048" y="2468880"/>
            <a:ext cx="1508760" cy="1188720"/>
          </a:xfrm>
          <a:prstGeom prst="roundRect">
            <a:avLst>
              <a:gd name="adj" fmla="val 5385"/>
            </a:avLst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242048" y="24688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Layer 1          		      Layer 2                	 Layer 3             		   Layer 4             		 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successive hidden layer composes the patterns detected by the previous layer into something more abstract — this is what “deep” refers to: many stacked layers of representation.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19004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→ 2 · TRANSITION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vs Deep Learning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95399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761743"/>
            <a:ext cx="64008" cy="6400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79447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145791"/>
            <a:ext cx="64008" cy="6400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63495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algorithms: Decision Trees, SVM, k-NN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529839"/>
            <a:ext cx="64008" cy="6400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447543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Needs </a:t>
            </a: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r>
              <a:rPr lang="en-US" sz="12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(manual selection of image features)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950463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416807"/>
            <a:ext cx="64008" cy="6400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34511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features and patterns </a:t>
            </a:r>
            <a:r>
              <a:rPr lang="en-US" sz="1250" b="1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r>
              <a:rPr lang="en-US" sz="12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raw 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800855"/>
            <a:ext cx="64008" cy="6400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18559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r>
              <a:rPr lang="en-US" sz="1250" b="1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r>
              <a:rPr lang="en-US" sz="12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especially </a:t>
            </a:r>
            <a:r>
              <a:rPr lang="en-US" sz="1250" b="1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(CNNs)</a:t>
            </a:r>
            <a:r>
              <a:rPr lang="en-US" sz="12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image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184903"/>
            <a:ext cx="64008" cy="6400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102607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 and high computational power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09040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WHY 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Three Ways Machines Learn</a:t>
            </a:r>
            <a:endParaRPr lang="en-US" sz="2800" dirty="0"/>
          </a:p>
        </p:txBody>
      </p:sp>
      <p:pic>
        <p:nvPicPr>
          <p:cNvPr id="4" name="Image 0" descr="images/orig_slide-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804672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9931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69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Terminology Recap</a:t>
            </a:r>
            <a:endParaRPr lang="en-US" sz="2800" dirty="0"/>
          </a:p>
        </p:txBody>
      </p:sp>
      <p:pic>
        <p:nvPicPr>
          <p:cNvPr id="4" name="Image 0" descr="images/orig_slide-7.jpg"/>
          <p:cNvPicPr>
            <a:picLocks noChangeAspect="1"/>
          </p:cNvPicPr>
          <p:nvPr/>
        </p:nvPicPr>
        <p:blipFill>
          <a:blip r:embed="rId3"/>
          <a:srcRect l="10864" t="4372" r="18016" b="8269"/>
          <a:stretch>
            <a:fillRect/>
          </a:stretch>
        </p:blipFill>
        <p:spPr>
          <a:xfrm>
            <a:off x="1386590" y="1116768"/>
            <a:ext cx="6438276" cy="369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0489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xfrm>
            <a:off x="311700" y="33922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General block diagram for ML/</a:t>
            </a:r>
            <a:r>
              <a:rPr lang="en-IN" sz="3600" dirty="0"/>
              <a:t>DL</a:t>
            </a:r>
            <a:endParaRPr sz="3600" dirty="0"/>
          </a:p>
        </p:txBody>
      </p:sp>
      <p:sp>
        <p:nvSpPr>
          <p:cNvPr id="267" name="Google Shape;267;p47"/>
          <p:cNvSpPr/>
          <p:nvPr/>
        </p:nvSpPr>
        <p:spPr>
          <a:xfrm>
            <a:off x="183350" y="2132500"/>
            <a:ext cx="949500" cy="5727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I/P Dataset</a:t>
            </a:r>
            <a:endParaRPr sz="1600" dirty="0"/>
          </a:p>
        </p:txBody>
      </p:sp>
      <p:sp>
        <p:nvSpPr>
          <p:cNvPr id="268" name="Google Shape;268;p47"/>
          <p:cNvSpPr/>
          <p:nvPr/>
        </p:nvSpPr>
        <p:spPr>
          <a:xfrm>
            <a:off x="4364150" y="2287650"/>
            <a:ext cx="1392300" cy="52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Training and parameter tuning ML Model</a:t>
            </a:r>
            <a:endParaRPr sz="1200" dirty="0"/>
          </a:p>
        </p:txBody>
      </p:sp>
      <p:cxnSp>
        <p:nvCxnSpPr>
          <p:cNvPr id="269" name="Google Shape;269;p47"/>
          <p:cNvCxnSpPr>
            <a:stCxn id="267" idx="3"/>
            <a:endCxn id="270" idx="1"/>
          </p:cNvCxnSpPr>
          <p:nvPr/>
        </p:nvCxnSpPr>
        <p:spPr>
          <a:xfrm>
            <a:off x="1132850" y="2418850"/>
            <a:ext cx="16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1" name="Google Shape;271;p47"/>
          <p:cNvSpPr/>
          <p:nvPr/>
        </p:nvSpPr>
        <p:spPr>
          <a:xfrm>
            <a:off x="2451575" y="1707150"/>
            <a:ext cx="104700" cy="1592400"/>
          </a:xfrm>
          <a:prstGeom prst="leftBrace">
            <a:avLst>
              <a:gd name="adj1" fmla="val 50000"/>
              <a:gd name="adj2" fmla="val 4694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47"/>
          <p:cNvSpPr/>
          <p:nvPr/>
        </p:nvSpPr>
        <p:spPr>
          <a:xfrm>
            <a:off x="2589575" y="1777800"/>
            <a:ext cx="1014000" cy="427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Train Set</a:t>
            </a:r>
            <a:endParaRPr sz="1600" dirty="0"/>
          </a:p>
        </p:txBody>
      </p:sp>
      <p:sp>
        <p:nvSpPr>
          <p:cNvPr id="273" name="Google Shape;273;p47"/>
          <p:cNvSpPr/>
          <p:nvPr/>
        </p:nvSpPr>
        <p:spPr>
          <a:xfrm>
            <a:off x="2589575" y="2355450"/>
            <a:ext cx="1147450" cy="427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Validation Set</a:t>
            </a:r>
            <a:endParaRPr sz="1600" dirty="0"/>
          </a:p>
        </p:txBody>
      </p:sp>
      <p:sp>
        <p:nvSpPr>
          <p:cNvPr id="274" name="Google Shape;274;p47"/>
          <p:cNvSpPr/>
          <p:nvPr/>
        </p:nvSpPr>
        <p:spPr>
          <a:xfrm>
            <a:off x="2589575" y="2933100"/>
            <a:ext cx="1014000" cy="427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 Set</a:t>
            </a:r>
            <a:endParaRPr dirty="0"/>
          </a:p>
        </p:txBody>
      </p:sp>
      <p:cxnSp>
        <p:nvCxnSpPr>
          <p:cNvPr id="275" name="Google Shape;275;p47"/>
          <p:cNvCxnSpPr/>
          <p:nvPr/>
        </p:nvCxnSpPr>
        <p:spPr>
          <a:xfrm rot="10800000" flipH="1">
            <a:off x="3603575" y="1966050"/>
            <a:ext cx="1465200" cy="2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6" name="Google Shape;276;p47"/>
          <p:cNvCxnSpPr>
            <a:endCxn id="268" idx="0"/>
          </p:cNvCxnSpPr>
          <p:nvPr/>
        </p:nvCxnSpPr>
        <p:spPr>
          <a:xfrm flipH="1">
            <a:off x="5060300" y="1951350"/>
            <a:ext cx="3300" cy="33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7" name="Google Shape;277;p47"/>
          <p:cNvCxnSpPr>
            <a:cxnSpLocks/>
            <a:stCxn id="273" idx="3"/>
            <a:endCxn id="268" idx="1"/>
          </p:cNvCxnSpPr>
          <p:nvPr/>
        </p:nvCxnSpPr>
        <p:spPr>
          <a:xfrm flipV="1">
            <a:off x="3737025" y="2550900"/>
            <a:ext cx="627125" cy="1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8" name="Google Shape;278;p47"/>
          <p:cNvSpPr txBox="1"/>
          <p:nvPr/>
        </p:nvSpPr>
        <p:spPr>
          <a:xfrm>
            <a:off x="3883900" y="1625038"/>
            <a:ext cx="10764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Training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79" name="Google Shape;279;p47"/>
          <p:cNvSpPr/>
          <p:nvPr/>
        </p:nvSpPr>
        <p:spPr>
          <a:xfrm>
            <a:off x="6025525" y="2287650"/>
            <a:ext cx="949500" cy="52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Trained Model</a:t>
            </a:r>
            <a:endParaRPr dirty="0"/>
          </a:p>
        </p:txBody>
      </p:sp>
      <p:cxnSp>
        <p:nvCxnSpPr>
          <p:cNvPr id="280" name="Google Shape;280;p47"/>
          <p:cNvCxnSpPr>
            <a:stCxn id="268" idx="3"/>
            <a:endCxn id="279" idx="1"/>
          </p:cNvCxnSpPr>
          <p:nvPr/>
        </p:nvCxnSpPr>
        <p:spPr>
          <a:xfrm>
            <a:off x="5756450" y="2550900"/>
            <a:ext cx="269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" name="Google Shape;281;p47"/>
          <p:cNvCxnSpPr>
            <a:cxnSpLocks/>
          </p:cNvCxnSpPr>
          <p:nvPr/>
        </p:nvCxnSpPr>
        <p:spPr>
          <a:xfrm flipV="1">
            <a:off x="3603575" y="3095700"/>
            <a:ext cx="2896700" cy="328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" name="Google Shape;282;p47"/>
          <p:cNvCxnSpPr>
            <a:cxnSpLocks/>
            <a:endCxn id="279" idx="2"/>
          </p:cNvCxnSpPr>
          <p:nvPr/>
        </p:nvCxnSpPr>
        <p:spPr>
          <a:xfrm flipH="1" flipV="1">
            <a:off x="6500275" y="2814150"/>
            <a:ext cx="13713" cy="2979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3" name="Google Shape;283;p47"/>
          <p:cNvSpPr/>
          <p:nvPr/>
        </p:nvSpPr>
        <p:spPr>
          <a:xfrm>
            <a:off x="7275426" y="2137071"/>
            <a:ext cx="1556874" cy="808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O/P Regression / Classification</a:t>
            </a:r>
            <a:endParaRPr dirty="0"/>
          </a:p>
        </p:txBody>
      </p:sp>
      <p:cxnSp>
        <p:nvCxnSpPr>
          <p:cNvPr id="284" name="Google Shape;284;p47"/>
          <p:cNvCxnSpPr>
            <a:cxnSpLocks/>
            <a:stCxn id="279" idx="3"/>
            <a:endCxn id="283" idx="1"/>
          </p:cNvCxnSpPr>
          <p:nvPr/>
        </p:nvCxnSpPr>
        <p:spPr>
          <a:xfrm flipV="1">
            <a:off x="6975025" y="2541471"/>
            <a:ext cx="300401" cy="942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0" name="Google Shape;270;p47"/>
          <p:cNvSpPr/>
          <p:nvPr/>
        </p:nvSpPr>
        <p:spPr>
          <a:xfrm>
            <a:off x="1300800" y="2132500"/>
            <a:ext cx="949500" cy="5727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Data Preprocessing</a:t>
            </a:r>
            <a:endParaRPr sz="1400" dirty="0"/>
          </a:p>
        </p:txBody>
      </p:sp>
      <p:cxnSp>
        <p:nvCxnSpPr>
          <p:cNvPr id="285" name="Google Shape;285;p47"/>
          <p:cNvCxnSpPr/>
          <p:nvPr/>
        </p:nvCxnSpPr>
        <p:spPr>
          <a:xfrm>
            <a:off x="2250300" y="2461800"/>
            <a:ext cx="16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25196"/>
            <a:ext cx="8092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– Validation – Test Split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480060" y="1209408"/>
            <a:ext cx="5223053" cy="68580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/>
        </p:spPr>
      </p:sp>
      <p:sp>
        <p:nvSpPr>
          <p:cNvPr id="5" name="Shape 3"/>
          <p:cNvSpPr/>
          <p:nvPr/>
        </p:nvSpPr>
        <p:spPr>
          <a:xfrm>
            <a:off x="5730544" y="1209408"/>
            <a:ext cx="1250900" cy="685800"/>
          </a:xfrm>
          <a:prstGeom prst="roundRect">
            <a:avLst>
              <a:gd name="adj" fmla="val 5000"/>
            </a:avLst>
          </a:prstGeom>
          <a:solidFill>
            <a:srgbClr val="0E7C7B"/>
          </a:solidFill>
          <a:ln/>
        </p:spPr>
      </p:sp>
      <p:sp>
        <p:nvSpPr>
          <p:cNvPr id="6" name="Shape 4"/>
          <p:cNvSpPr/>
          <p:nvPr/>
        </p:nvSpPr>
        <p:spPr>
          <a:xfrm>
            <a:off x="7008876" y="1209408"/>
            <a:ext cx="1632204" cy="685800"/>
          </a:xfrm>
          <a:prstGeom prst="roundRect">
            <a:avLst>
              <a:gd name="adj" fmla="val 5000"/>
            </a:avLst>
          </a:prstGeom>
          <a:solidFill>
            <a:srgbClr val="C9962C"/>
          </a:solidFill>
          <a:ln/>
        </p:spPr>
      </p:sp>
      <p:sp>
        <p:nvSpPr>
          <p:cNvPr id="7" name="Text 5"/>
          <p:cNvSpPr/>
          <p:nvPr/>
        </p:nvSpPr>
        <p:spPr>
          <a:xfrm>
            <a:off x="480060" y="1209408"/>
            <a:ext cx="52230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(~64%)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03112" y="1209408"/>
            <a:ext cx="1305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 (~16%)</a:t>
            </a:r>
            <a:endParaRPr lang="en-US" sz="863" dirty="0"/>
          </a:p>
        </p:txBody>
      </p:sp>
      <p:sp>
        <p:nvSpPr>
          <p:cNvPr id="9" name="Text 7"/>
          <p:cNvSpPr/>
          <p:nvPr/>
        </p:nvSpPr>
        <p:spPr>
          <a:xfrm>
            <a:off x="7008876" y="1209408"/>
            <a:ext cx="16322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(~20%)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480060" y="1950072"/>
            <a:ext cx="81610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split — exact ratios (e.g. 80/20 train-test, with 20% of train held out for validation) vary by project.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480060" y="2443848"/>
            <a:ext cx="2674620" cy="195453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" y="2443848"/>
            <a:ext cx="2674620" cy="822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" y="2649588"/>
            <a:ext cx="23317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510" y="3026778"/>
            <a:ext cx="233172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fit the model — the network's weights and biases are updated directly from this data every epoch.</a:t>
            </a:r>
            <a:endParaRPr lang="en-US" sz="938" dirty="0"/>
          </a:p>
        </p:txBody>
      </p:sp>
      <p:sp>
        <p:nvSpPr>
          <p:cNvPr id="15" name="Shape 13"/>
          <p:cNvSpPr/>
          <p:nvPr/>
        </p:nvSpPr>
        <p:spPr>
          <a:xfrm>
            <a:off x="3326130" y="2443848"/>
            <a:ext cx="2674620" cy="195453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26130" y="2443848"/>
            <a:ext cx="2674620" cy="822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3497580" y="2649588"/>
            <a:ext cx="23317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97580" y="3026778"/>
            <a:ext cx="233172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after every epoch, but never trained on. Used to tune hyperparameters and monitor for overfitting (e.g. via EarlyStopping).</a:t>
            </a:r>
            <a:endParaRPr lang="en-US" sz="938" dirty="0"/>
          </a:p>
        </p:txBody>
      </p:sp>
      <p:sp>
        <p:nvSpPr>
          <p:cNvPr id="19" name="Shape 17"/>
          <p:cNvSpPr/>
          <p:nvPr/>
        </p:nvSpPr>
        <p:spPr>
          <a:xfrm>
            <a:off x="6172200" y="2443848"/>
            <a:ext cx="2674620" cy="195453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2443848"/>
            <a:ext cx="2674620" cy="82296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1" name="Text 19"/>
          <p:cNvSpPr/>
          <p:nvPr/>
        </p:nvSpPr>
        <p:spPr>
          <a:xfrm>
            <a:off x="6343650" y="2649588"/>
            <a:ext cx="23317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43650" y="3026778"/>
            <a:ext cx="233172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completely until the very end. Used exactly once, to report an unbiased estimate of real-world performance.</a:t>
            </a:r>
            <a:endParaRPr lang="en-US" sz="938" dirty="0"/>
          </a:p>
        </p:txBody>
      </p:sp>
      <p:sp>
        <p:nvSpPr>
          <p:cNvPr id="23" name="Shape 21"/>
          <p:cNvSpPr/>
          <p:nvPr/>
        </p:nvSpPr>
        <p:spPr>
          <a:xfrm>
            <a:off x="480060" y="4535538"/>
            <a:ext cx="8161020" cy="377190"/>
          </a:xfrm>
          <a:prstGeom prst="roundRect">
            <a:avLst>
              <a:gd name="adj" fmla="val 14545"/>
            </a:avLst>
          </a:prstGeom>
          <a:solidFill>
            <a:srgbClr val="EAF4F3"/>
          </a:solidFill>
          <a:ln w="12700">
            <a:solidFill>
              <a:srgbClr val="F4F6F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1510" y="4535538"/>
            <a:ext cx="7818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test set must remain completely unseen during training and tuning — otherwise, performance metrics become overly optimistic and don't reflect real-world generalization.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24494" y="4604118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 &amp; ANN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3154680"/>
            <a:ext cx="10058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91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building blocks of Deep Learning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NEURAL NETWORKS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94543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Neural Network?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02970"/>
            <a:ext cx="41605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3304D"/>
                </a:solidFill>
              </a:rPr>
              <a:t>A Neural Network is a computing system inspired by how biological neuron process information.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</a:rPr>
              <a:t>Biological neurons: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</a:rPr>
              <a:t>Receive signals through dendrites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</a:rPr>
              <a:t>Process the signal in the cell body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</a:rPr>
              <a:t>Fire an output via the axon if a threshold is crossed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6A6725-387A-42BA-0BAC-44FD17648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662" y="1324322"/>
            <a:ext cx="3545342" cy="290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DA6585C-22A6-FDA6-40DE-4781A884DE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31" t="4695" r="3674" b="7242"/>
          <a:stretch>
            <a:fillRect/>
          </a:stretch>
        </p:blipFill>
        <p:spPr>
          <a:xfrm>
            <a:off x="352268" y="2571750"/>
            <a:ext cx="4687394" cy="21242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94B3-FCC7-3A09-192F-F8A1C16A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A05841-6CF3-A4F2-51CD-E46A75B55685}"/>
              </a:ext>
            </a:extLst>
          </p:cNvPr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NEURAL NETWORKS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FCB116-8378-AA40-3A35-B10A81D7519D}"/>
              </a:ext>
            </a:extLst>
          </p:cNvPr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Artificial Neuron (Perceptron)</a:t>
            </a:r>
            <a:endParaRPr lang="en-US" sz="2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598AC77-5000-543C-458E-1747650531CF}"/>
              </a:ext>
            </a:extLst>
          </p:cNvPr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6569039-526E-6429-130E-DDFA6615F253}"/>
              </a:ext>
            </a:extLst>
          </p:cNvPr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  <p:pic>
        <p:nvPicPr>
          <p:cNvPr id="3074" name="Picture 2" descr="The Concept of Artificial Neurons (Perceptrons) in Neural ...">
            <a:extLst>
              <a:ext uri="{FF2B5EF4-FFF2-40B4-BE49-F238E27FC236}">
                <a16:creationId xmlns:a16="http://schemas.microsoft.com/office/drawing/2014/main" id="{15911255-E058-FF84-E79F-11E2EA35C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197" y="1207008"/>
            <a:ext cx="4639455" cy="336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45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NEURAL NETWORKS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Artificial Neuron (Perceptron)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2062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(w1·x1 + w2·x2 + … + wn·xn) + 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f(z)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</a:rPr>
              <a:t>xi — input features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</a:rPr>
              <a:t>wi — weight (importance of input i)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</a:rPr>
              <a:t>b — bias (shifts the decision boundary)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</a:rPr>
              <a:t>f — activation function (Sigmoid, ReLU, Tanh)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</a:rPr>
              <a:t>y — neuron's output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840480" cy="3337560"/>
          </a:xfrm>
          <a:prstGeom prst="roundRect">
            <a:avLst>
              <a:gd name="adj" fmla="val 2192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Activation Functions Matter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activation function, stacking layers is mathematically equivalent to a single linear layer — the network could only learn straight-line relationships.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27889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activations let networks model curved, complex decision boundaries — essential for images, speech and language.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36118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choices: Sigmoid (0–1 probabilities), Tanh (−1 to 1), ReLU (fast, default for hidden layers), Softmax (multi-class output).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NEURAL NETWORKS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Neuron to a Network (ANN)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Artificial Neural Network (ANN) connects many neurons in layers. Each layer transforms the data a little more, building up the ability to represent complex patterns.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65A58D2B-CCD3-29B2-458A-EE51E153A8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 t="13015" r="35862" b="20481"/>
          <a:stretch>
            <a:fillRect/>
          </a:stretch>
        </p:blipFill>
        <p:spPr bwMode="auto">
          <a:xfrm>
            <a:off x="584616" y="2039112"/>
            <a:ext cx="3672591" cy="271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Artificial Neural Networks and its Applications - GeeksforGeeks">
            <a:extLst>
              <a:ext uri="{FF2B5EF4-FFF2-40B4-BE49-F238E27FC236}">
                <a16:creationId xmlns:a16="http://schemas.microsoft.com/office/drawing/2014/main" id="{FB211407-3612-CAB5-F93F-B9AD9124A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792" y="1988037"/>
            <a:ext cx="4304728" cy="271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NEURAL NETWORKS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an ANN Learn?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721ABFF-576D-5E32-DD74-96186B00D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48" y="1207008"/>
            <a:ext cx="7071999" cy="362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BBA5-4FC9-D795-33FF-B4C3FC11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A406F0-EC8D-F93D-8692-1BA6E0209828}"/>
              </a:ext>
            </a:extLst>
          </p:cNvPr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NEURAL NETWORKS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1E187C-C03C-2D21-BEA1-BD3253CCEA5A}"/>
              </a:ext>
            </a:extLst>
          </p:cNvPr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an ANN Learn?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D8BDDA-E170-3319-8455-555CE94A99AE}"/>
              </a:ext>
            </a:extLst>
          </p:cNvPr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DFE596-2045-3EFB-BB8A-7B6F81B36920}"/>
              </a:ext>
            </a:extLst>
          </p:cNvPr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3529DEB-56C9-9867-F4E7-09AAF8F8DD49}"/>
              </a:ext>
            </a:extLst>
          </p:cNvPr>
          <p:cNvSpPr/>
          <p:nvPr/>
        </p:nvSpPr>
        <p:spPr>
          <a:xfrm>
            <a:off x="708660" y="1965960"/>
            <a:ext cx="0" cy="338328"/>
          </a:xfrm>
          <a:prstGeom prst="line">
            <a:avLst/>
          </a:prstGeom>
          <a:noFill/>
          <a:ln w="19050">
            <a:solidFill>
              <a:srgbClr val="C9D2E3"/>
            </a:solidFill>
            <a:prstDash val="dash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0617ED-1BB5-2788-7D65-C472B35C90B2}"/>
              </a:ext>
            </a:extLst>
          </p:cNvPr>
          <p:cNvSpPr/>
          <p:nvPr/>
        </p:nvSpPr>
        <p:spPr>
          <a:xfrm>
            <a:off x="11430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1D5214-EE34-93A3-1BBE-64EFA96D408F}"/>
              </a:ext>
            </a:extLst>
          </p:cNvPr>
          <p:cNvSpPr/>
          <p:nvPr/>
        </p:nvSpPr>
        <p:spPr>
          <a:xfrm>
            <a:off x="1143000" y="175564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flows through the network; each neuron computes a weighted sum + activation, producing a prediction.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A887645-DF4F-1E3C-B28F-A2A8852DE2C0}"/>
              </a:ext>
            </a:extLst>
          </p:cNvPr>
          <p:cNvSpPr/>
          <p:nvPr/>
        </p:nvSpPr>
        <p:spPr>
          <a:xfrm>
            <a:off x="457200" y="23042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0765C5-5C59-3BDE-FB64-8A73216B55A8}"/>
              </a:ext>
            </a:extLst>
          </p:cNvPr>
          <p:cNvSpPr/>
          <p:nvPr/>
        </p:nvSpPr>
        <p:spPr>
          <a:xfrm>
            <a:off x="45720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8D300D3-615C-AA5B-C38C-972AA67A2F90}"/>
              </a:ext>
            </a:extLst>
          </p:cNvPr>
          <p:cNvSpPr/>
          <p:nvPr/>
        </p:nvSpPr>
        <p:spPr>
          <a:xfrm>
            <a:off x="708660" y="2807208"/>
            <a:ext cx="0" cy="338328"/>
          </a:xfrm>
          <a:prstGeom prst="line">
            <a:avLst/>
          </a:prstGeom>
          <a:noFill/>
          <a:ln w="19050">
            <a:solidFill>
              <a:srgbClr val="C9D2E3"/>
            </a:solidFill>
            <a:prstDash val="dash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860B14E-3053-3031-AC73-14E771CB322E}"/>
              </a:ext>
            </a:extLst>
          </p:cNvPr>
          <p:cNvSpPr/>
          <p:nvPr/>
        </p:nvSpPr>
        <p:spPr>
          <a:xfrm>
            <a:off x="1143000" y="2304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Calculation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A6F01F3-409E-DEFE-3342-F6DFD3E24691}"/>
              </a:ext>
            </a:extLst>
          </p:cNvPr>
          <p:cNvSpPr/>
          <p:nvPr/>
        </p:nvSpPr>
        <p:spPr>
          <a:xfrm>
            <a:off x="1143000" y="259689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function measures how far the prediction is from the true label (e.g., cross-entropy, MSE).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4B4B3C5-491D-DB5B-ADB6-9A6B3100554B}"/>
              </a:ext>
            </a:extLst>
          </p:cNvPr>
          <p:cNvSpPr/>
          <p:nvPr/>
        </p:nvSpPr>
        <p:spPr>
          <a:xfrm>
            <a:off x="457200" y="31455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7934F7F-8287-17D0-DC7D-0DA7790614CF}"/>
              </a:ext>
            </a:extLst>
          </p:cNvPr>
          <p:cNvSpPr/>
          <p:nvPr/>
        </p:nvSpPr>
        <p:spPr>
          <a:xfrm>
            <a:off x="457200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739AD7E-3130-B462-2CB1-EAC8E71D55A4}"/>
              </a:ext>
            </a:extLst>
          </p:cNvPr>
          <p:cNvSpPr/>
          <p:nvPr/>
        </p:nvSpPr>
        <p:spPr>
          <a:xfrm>
            <a:off x="708660" y="3648456"/>
            <a:ext cx="0" cy="338328"/>
          </a:xfrm>
          <a:prstGeom prst="line">
            <a:avLst/>
          </a:prstGeom>
          <a:noFill/>
          <a:ln w="19050">
            <a:solidFill>
              <a:srgbClr val="C9D2E3"/>
            </a:solidFill>
            <a:prstDash val="dash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CB2444-2138-FFAF-6EA6-B244DBC86091}"/>
              </a:ext>
            </a:extLst>
          </p:cNvPr>
          <p:cNvSpPr/>
          <p:nvPr/>
        </p:nvSpPr>
        <p:spPr>
          <a:xfrm>
            <a:off x="1143000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5C843EA-69B4-B684-3B16-B3CEEC244B1A}"/>
              </a:ext>
            </a:extLst>
          </p:cNvPr>
          <p:cNvSpPr/>
          <p:nvPr/>
        </p:nvSpPr>
        <p:spPr>
          <a:xfrm>
            <a:off x="1143000" y="343814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is propagated backward, computing how much each weight contributed to the mistake.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CA7DA5F-452F-CB27-3E1F-84DDFEA20CF4}"/>
              </a:ext>
            </a:extLst>
          </p:cNvPr>
          <p:cNvSpPr/>
          <p:nvPr/>
        </p:nvSpPr>
        <p:spPr>
          <a:xfrm>
            <a:off x="457200" y="3986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5E723BE-AE18-FA4E-6F3E-60A25A74923E}"/>
              </a:ext>
            </a:extLst>
          </p:cNvPr>
          <p:cNvSpPr/>
          <p:nvPr/>
        </p:nvSpPr>
        <p:spPr>
          <a:xfrm>
            <a:off x="457200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F89EC7B-C223-31C6-BBD8-B4ECF634097E}"/>
              </a:ext>
            </a:extLst>
          </p:cNvPr>
          <p:cNvSpPr/>
          <p:nvPr/>
        </p:nvSpPr>
        <p:spPr>
          <a:xfrm>
            <a:off x="1143000" y="39867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8C3BD83-7708-3E00-78F2-91AB874F0BF7}"/>
              </a:ext>
            </a:extLst>
          </p:cNvPr>
          <p:cNvSpPr/>
          <p:nvPr/>
        </p:nvSpPr>
        <p:spPr>
          <a:xfrm>
            <a:off x="1143000" y="42793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nudges every weight slightly to reduce the loss; the cycle repeats for many epochs.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B3FBB30-02FB-7400-B445-BE2A7C53B3CB}"/>
              </a:ext>
            </a:extLst>
          </p:cNvPr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BFBD18A-5D41-8DCE-2E43-540998D43C67}"/>
              </a:ext>
            </a:extLst>
          </p:cNvPr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0343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History of 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3154680"/>
            <a:ext cx="10058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91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Alan Turing's 1950 question to today's Generative AI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HISTORY OF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Early Decades: Birth &amp; Winters (1950–1993)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asks “Can machines think?” and proposes the Turing Test.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McCarthy coins the term “Artificial Intelligence” at the Dartmouth Conference.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621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1960s–70s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symbolic AI systems gain popularity.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1974–80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4880" y="175564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Winter — funding declines as computing power and results fall short of expectations.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1980–87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flourish (e.g., medical diagnosis systems).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3621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1987–93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5488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AI Winter.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HISTORY OF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Era: From Deep Blue to Generative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Deep Blue defeats world chess champion Garry Kasparov.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wins ImageNet — the Deep Learning revolution begins.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621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DeepMind's AlphaGo defeats Go champion Lee Sedol.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2022–Present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4880" y="175564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revolution: ChatGPT, Gemini, Claude, Midjourney.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2025+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and Agentic AI — systems that see, reason and act.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HISTORY OF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813816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770632"/>
            <a:ext cx="128016" cy="12801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01506" y="2770632"/>
            <a:ext cx="128016" cy="128016"/>
          </a:xfrm>
          <a:prstGeom prst="ellipse">
            <a:avLst/>
          </a:prstGeom>
          <a:solidFill>
            <a:srgbClr val="D4AF3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2594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2594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64101" y="2770632"/>
            <a:ext cx="128016" cy="12801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5189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25189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26695" y="2770632"/>
            <a:ext cx="128016" cy="128016"/>
          </a:xfrm>
          <a:prstGeom prst="ellipse">
            <a:avLst/>
          </a:prstGeom>
          <a:solidFill>
            <a:srgbClr val="D4AF3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7783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87783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89289" y="2770632"/>
            <a:ext cx="128016" cy="12801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0377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50377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51883" y="2770632"/>
            <a:ext cx="128016" cy="128016"/>
          </a:xfrm>
          <a:prstGeom prst="ellipse">
            <a:avLst/>
          </a:prstGeom>
          <a:solidFill>
            <a:srgbClr val="D4AF3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12971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12971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14478" y="2770632"/>
            <a:ext cx="128016" cy="12801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5566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75566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577072" y="2770632"/>
            <a:ext cx="128016" cy="128016"/>
          </a:xfrm>
          <a:prstGeom prst="ellipse">
            <a:avLst/>
          </a:prstGeom>
          <a:solidFill>
            <a:srgbClr val="D4AF3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0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pattern: hype → unmet expectations → “winter” → breakthrough. Deep Learning's 2012 breakthrough finally broke this cycle thanks to data, compute and algorithms aligning together.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 Successes — The Last Decade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3154680"/>
            <a:ext cx="10058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91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breakthroughs that proved Deep Learning works at scale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SUCCESSES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— AlexNet &amp; ImageNet (2012)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4754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</a:rPr>
              <a:t>The Challenge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Classify 1.2 million images into 1000 categories — the annual ImageNet (ILSVRC) competition.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</a:rPr>
              <a:t>The Breakthrough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Krizhevsky, Sutskever &amp; Hinton's AlexNet, a deep Convolutional Neural Network trained on GPUs, slashed the error rate from ~26% to ~15%.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</a:rPr>
              <a:t>The Impact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Proved that deep networks + GPUs + large data beat hand-engineered features — triggering the modern Deep Learning boom.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417320"/>
            <a:ext cx="2926080" cy="333756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Error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2011680"/>
            <a:ext cx="594360" cy="2194560"/>
          </a:xfrm>
          <a:prstGeom prst="rect">
            <a:avLst/>
          </a:prstGeom>
          <a:solidFill>
            <a:srgbClr val="5B6B8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7373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4251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(classical)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12280" y="2940148"/>
            <a:ext cx="594360" cy="12660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66582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4251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589520" y="3902378"/>
            <a:ext cx="594360" cy="30386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362805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52360" y="4251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SUCCESSES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 — AlphaGo (2016) &amp; ChatGPT (2022)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(DeepMind, 2016)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Go has more possible positions than atoms in the universe — brute force is impossible.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Combined deep neural networks with reinforcement learning and tree search.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Defeated 18-time world champion Lee Sedol 4–1, decades ahead of expert predictions.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&amp; Generative AI (2022–)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Large Language Models, trained on internet-scale text with the Transformer architecture, learn to generate fluent, context-aware language.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Reached 100 million users within two months of launch — the fastest-adopted consumer application in history.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Sparked the wider Generative AI wave: Gemini, Claude, Midjourney, and beyond.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Reasons to Go Deep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3154680"/>
            <a:ext cx="10058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91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 Four forces that made Deep Learning practical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REASONS TO GO DEEP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Forces Behind the Deep Learning Boom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of labelled data — ImageNet, web text, sensors, smartphones — gives networks enough examples to learn from.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8745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(and later TPUs) made the massive matrix multiplications of deep networks fast and affordable.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activations, Dropout, Batch Normalization, residual connections and the Transformer made very deep networks trainable.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1089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91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5661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learn their own features from raw data, removing the bottleneck of manual feature engineering.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411480"/>
            <a:ext cx="54864" cy="54864"/>
          </a:xfrm>
          <a:prstGeom prst="ellipse">
            <a:avLst/>
          </a:prstGeom>
          <a:solidFill>
            <a:srgbClr val="1C93A6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"/>
            <a:ext cx="54864" cy="54864"/>
          </a:xfrm>
          <a:prstGeom prst="ellipse">
            <a:avLst/>
          </a:prstGeom>
          <a:solidFill>
            <a:srgbClr val="1C93A6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411480"/>
            <a:ext cx="54864" cy="54864"/>
          </a:xfrm>
          <a:prstGeom prst="ellipse">
            <a:avLst/>
          </a:prstGeom>
          <a:solidFill>
            <a:srgbClr val="1C93A6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685800"/>
            <a:ext cx="54864" cy="54864"/>
          </a:xfrm>
          <a:prstGeom prst="ellipse">
            <a:avLst/>
          </a:prstGeom>
          <a:solidFill>
            <a:srgbClr val="1C93A6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685800"/>
            <a:ext cx="54864" cy="54864"/>
          </a:xfrm>
          <a:prstGeom prst="ellipse">
            <a:avLst/>
          </a:prstGeom>
          <a:solidFill>
            <a:srgbClr val="1C93A6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11630"/>
            <a:ext cx="80238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vs GPU vs TPU</a:t>
            </a:r>
            <a:endParaRPr lang="en-US" sz="3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297430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parallel hardware is the engine behind deep learning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914650"/>
            <a:ext cx="377190" cy="41148"/>
          </a:xfrm>
          <a:prstGeom prst="rect">
            <a:avLst/>
          </a:prstGeom>
          <a:solidFill>
            <a:srgbClr val="3ED6C6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vs GPU: Architecture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651510"/>
            <a:ext cx="8435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designs for two very different jobs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2900" y="1062990"/>
            <a:ext cx="4011930" cy="243459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234440"/>
            <a:ext cx="308610" cy="308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5830" y="1234440"/>
            <a:ext cx="32918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75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(Central Processing Unit)</a:t>
            </a:r>
            <a:endParaRPr lang="en-US" sz="12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582930" y="1645920"/>
            <a:ext cx="353187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4–64 powerful cores, optimized for low-latency, sequential logic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clock speed (~3–5 GHz) per core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per-core cache; complex branch prediction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MIMD-style: each core runs a different instruction stream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at: control flow, I/O, diverse general-purpose tasks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60570" y="1062990"/>
            <a:ext cx="4011930" cy="2434590"/>
          </a:xfrm>
          <a:prstGeom prst="roundRect">
            <a:avLst>
              <a:gd name="adj" fmla="val 2254"/>
            </a:avLst>
          </a:prstGeom>
          <a:solidFill>
            <a:srgbClr val="0F3D5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1234440"/>
            <a:ext cx="308610" cy="3086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3500" y="1234440"/>
            <a:ext cx="32918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(Graphics Processing Unit)</a:t>
            </a:r>
            <a:endParaRPr lang="en-US" sz="12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800600" y="1645920"/>
            <a:ext cx="353187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small cores (e.g., 10,000+ CUDA cores)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clock speed, but massive SIMT parallelism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memory bandwidth (~1–3 TB/s HBM)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SIMD/SIMT: same instruction, thousands of data lanes at once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lnSpc>
                <a:spcPct val="11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at: throughput on repetitive, parallel math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42900" y="3669030"/>
            <a:ext cx="8229600" cy="1131570"/>
          </a:xfrm>
          <a:prstGeom prst="roundRect">
            <a:avLst>
              <a:gd name="adj" fmla="val 4848"/>
            </a:avLst>
          </a:prstGeom>
          <a:solidFill>
            <a:srgbClr val="EAF7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380619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1540" y="37719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88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 needs GPUs</a:t>
            </a:r>
            <a:endParaRPr lang="en-US" sz="10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82930" y="4066794"/>
            <a:ext cx="7886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15000"/>
              </a:lnSpc>
            </a:pPr>
            <a:r>
              <a:rPr lang="en-US" sz="9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neural network is dominated by matrix multiplications and convolutions — millions of independent multiply-accumulate operations per layer. GPUs run the same operation across thousands of cores simultaneously and use high-bandwidth memory to keep those cores fed, giving 10–100x speedups over CPUs. Tensor Cores further accelerate mixed-precision matmuls used in training.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Deep Learning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3154680"/>
            <a:ext cx="10058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91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techniques are changing industries today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Healthcare, Finance &amp; Education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522476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792" y="27889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detect tumours, fractures and diabetic retinopathy from medical scans, often matching specialist accuracy.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3794760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receiving 50,000 X-rays/day uses DL to flag suspicious scans for radiologists — assisting, not replacing, doctors.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00984" y="146304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3438144" y="242316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65576" y="27889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models flag fraudulent transactions in real time by learning subtle, evolving patterns of misuse.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65576" y="3794760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card networks use sequence models to score every transaction in milliseconds.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146304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10044" y="169164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210044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6281928" y="242316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27889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platforms personalise content and pace using a student's own performance data.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794760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recommendation engines suggest the next topic or question based on mastery level.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Vision, Language &amp; Everyday Life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522476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792" y="27889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 use CNNs to detect lanes, pedestrians and obstacles from camera and LiDAR feeds.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3794760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Tesla / Waymo perception stacks run multiple deep networks per frame, 30+ times a second.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00984" y="146304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3438144" y="242316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Chatbots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65576" y="27889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language models understand and generate human language for translation, search and assistants.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65576" y="3794760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ChatGPT, Google Translate and voice assistants like Alexa and Siri.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146304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10044" y="169164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210044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6281928" y="242316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2788920"/>
            <a:ext cx="235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learn viewing/listening patterns to personalise content feeds.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794760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Netflix, Spotify and YouTube recommendation engines.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of Deep Learning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3154680"/>
            <a:ext cx="10058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91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powerful — but not free of serious limitations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Limitations to Be Aware 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73152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0876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Hungry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984248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networks typically need thousands to millions of labelled examples; performance degrades sharply with small datasets.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300984" y="141732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38144" y="155448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150876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65576" y="1984248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large models requires powerful GPUs/TPUs, significant time and substantial energy consumption.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144768" y="141732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1928" y="1554480"/>
            <a:ext cx="73152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437376" y="150876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Nature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984248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hard to interpret — this is the core motivation for Explainable AI (XAI) techniques like Grad-CAM and SHAP.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200400"/>
            <a:ext cx="73152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15468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 Bias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630168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memorise training data or inherit and amplify biases present in it, hurting generalisation and fairness.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300984" y="306324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38144" y="320040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593592" y="315468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Vulnerability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65576" y="3630168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imperceptible input perturbations can fool deep networks into confident, wrong predictions.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144768" y="306324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81928" y="3200400"/>
            <a:ext cx="73152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6437376" y="315468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True Understanding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630168"/>
            <a:ext cx="235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3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finds statistical patterns; it does not possess genuine reasoning or consciousness.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9"/>
          <p:cNvSpPr txBox="1">
            <a:spLocks noGrp="1"/>
          </p:cNvSpPr>
          <p:nvPr>
            <p:ph type="title"/>
          </p:nvPr>
        </p:nvSpPr>
        <p:spPr>
          <a:xfrm>
            <a:off x="236925" y="228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/>
              <a:t>McCulloch Pit’s Neuron (MP Neuron)</a:t>
            </a:r>
            <a:endParaRPr sz="2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4" name="Google Shape;44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000" y="800900"/>
            <a:ext cx="2726575" cy="25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4900" y="868590"/>
            <a:ext cx="2867900" cy="392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300" y="3582550"/>
            <a:ext cx="2726575" cy="1089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Jars for MP Neuron</a:t>
            </a:r>
            <a:endParaRPr/>
          </a:p>
        </p:txBody>
      </p:sp>
      <p:pic>
        <p:nvPicPr>
          <p:cNvPr id="452" name="Google Shape;45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170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</a:t>
            </a:r>
            <a:endParaRPr/>
          </a:p>
        </p:txBody>
      </p:sp>
      <p:pic>
        <p:nvPicPr>
          <p:cNvPr id="458" name="Google Shape;45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00" y="1096825"/>
            <a:ext cx="2914525" cy="231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325" y="3667100"/>
            <a:ext cx="4101124" cy="122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9325" y="228225"/>
            <a:ext cx="2838074" cy="24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2274" y="2794175"/>
            <a:ext cx="3861393" cy="21520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82B843-B495-4B24-B5BA-296D198039C9}"/>
                  </a:ext>
                </a:extLst>
              </p:cNvPr>
              <p:cNvSpPr txBox="1"/>
              <p:nvPr/>
            </p:nvSpPr>
            <p:spPr>
              <a:xfrm>
                <a:off x="3491034" y="3019648"/>
                <a:ext cx="685188" cy="30777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82B843-B495-4B24-B5BA-296D19803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034" y="3019648"/>
                <a:ext cx="68518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86AE3D-4F68-4A14-8BCC-FEE4E8385048}"/>
                  </a:ext>
                </a:extLst>
              </p:cNvPr>
              <p:cNvSpPr txBox="1"/>
              <p:nvPr/>
            </p:nvSpPr>
            <p:spPr>
              <a:xfrm>
                <a:off x="2493711" y="1203511"/>
                <a:ext cx="923907" cy="30777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86AE3D-4F68-4A14-8BCC-FEE4E8385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711" y="1203511"/>
                <a:ext cx="923907" cy="307777"/>
              </a:xfrm>
              <a:prstGeom prst="rect">
                <a:avLst/>
              </a:prstGeom>
              <a:blipFill>
                <a:blip r:embed="rId8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1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</a:rPr>
              <a:t>Neural Networks are inspired by biological neurons; ANNs stack layers of these neurons to learn complex functions.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</a:rPr>
              <a:t>Deep Learning automatically learns hierarchical features from raw data, removing the need for manual feature engineering.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</a:rPr>
              <a:t>AI's history (1950–today) shows cycles of hype and “winters” — broken in 2012 by the convergence of data, compute and algorithms.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</a:rPr>
              <a:t>Landmark successes — AlexNet, AlphaGo, ChatGPT — demonstrate Deep Learning's real-world impact.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</a:rPr>
              <a:t>Deep Learning powers healthcare, finance, vision, language and entertainment applications — but remains data-hungry, costly and often a “black box.”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620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2606040"/>
            <a:ext cx="109728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889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|  Next: Unit 2 — Perceptrons, Activation Functions &amp; Training Deep Networks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2527</Words>
  <Application>Microsoft Office PowerPoint</Application>
  <PresentationFormat>On-screen Show (16:9)</PresentationFormat>
  <Paragraphs>408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Machine  &amp; Deep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General block diagram for ML/DL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McCulloch Pit’s Neuron (MP Neuron) </vt:lpstr>
      <vt:lpstr>Six Jars for MP Neuron</vt:lpstr>
      <vt:lpstr>Perceptron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1: Introduction to Deep Learning</dc:title>
  <dc:subject>PptxGenJS Presentation</dc:subject>
  <dc:creator>SIT AIML Dept</dc:creator>
  <cp:lastModifiedBy>Shrikrishna Kolhar</cp:lastModifiedBy>
  <cp:revision>10</cp:revision>
  <dcterms:created xsi:type="dcterms:W3CDTF">2026-06-30T14:18:24Z</dcterms:created>
  <dcterms:modified xsi:type="dcterms:W3CDTF">2026-07-07T04:11:25Z</dcterms:modified>
</cp:coreProperties>
</file>