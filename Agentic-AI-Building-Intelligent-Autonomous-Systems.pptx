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Light"/>
      <p:regular r:id="rId201317"/>
    </p:embeddedFont>
    <p:embeddedFont>
      <p:font typeface="IBM Plex Sans Thin"/>
      <p:regular r:id="rId201318"/>
    </p:embeddedFont>
    <p:embeddedFont>
      <p:font typeface="IBM Plex Sans ExtraLight"/>
      <p:regular r:id="rId201319"/>
    </p:embeddedFont>
    <p:embeddedFont>
      <p:font typeface="IBM Plex Sans Medium"/>
      <p:regular r:id="rId201320"/>
    </p:embeddedFont>
    <p:embeddedFont>
      <p:font typeface="Roboto Light"/>
      <p:regular r:id="rId201321"/>
    </p:embeddedFont>
    <p:embeddedFont>
      <p:font typeface="Roboto"/>
      <p:regular r:id="rId201322"/>
    </p:embeddedFont>
    <p:embeddedFont>
      <p:font typeface="Roboto Thin"/>
      <p:regular r:id="rId201323"/>
    </p:embeddedFont>
    <p:embeddedFont>
      <p:font typeface="Roboto ExtraLight"/>
      <p:regular r:id="rId201324"/>
    </p:embeddedFont>
    <p:embeddedFont>
      <p:font typeface="Roboto Medium"/>
      <p:regular r:id="rId201325"/>
    </p:embeddedFont>
    <p:embeddedFont>
      <p:font typeface="Roboto SemiBold"/>
      <p:regular r:id="rId201326"/>
    </p:embeddedFont>
    <p:embeddedFont>
      <p:font typeface="Roboto Bold"/>
      <p:regular r:id="rId201327"/>
    </p:embeddedFont>
    <p:embeddedFont>
      <p:font typeface="Roboto ExtraBold"/>
      <p:regular r:id="rId201328"/>
    </p:embeddedFont>
    <p:embeddedFont>
      <p:font typeface="Roboto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7329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Agentic AI: Building Intelligent Autonomous Systems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486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Deep Learning → Generative AI →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Agentic AI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course designed to take you from understanding how AI thinks to building systems that act, plan, and collaborate.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654772"/>
            <a:ext cx="2751237" cy="215354"/>
          </a:xfrm>
          <a:prstGeom prst="roundRect">
            <a:avLst>
              <a:gd name="adj" fmla="val 7900"/>
            </a:avLst>
          </a:prstGeom>
          <a:solidFill>
            <a:srgbClr val="4D1F00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697263"/>
            <a:ext cx="303832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SEMESTER V · COMPUTER SCIENCE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9605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Agentic AI?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51645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is no longer just reactive — it now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plans, decides, and acts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Organizations are deploying autonomous agents to automate complex workflows, collaborate with humans, and operate at scale.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091556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484B51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233315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Autonomy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539826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systems plan and execute tasks without step-by-step human guidance.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091556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484B51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2233315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Collaboration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539826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work alongside humans and other AI agents to solve complex problems.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503786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484B51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64554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Adoption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3952056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ChatGPT, Claude, Gemini, Copilot, Perplexity — agentic AI is already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705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Is This Course About?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52116"/>
            <a:ext cx="3478039" cy="197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806699"/>
            <a:ext cx="432777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course covers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concepts, architectures, reasoning strategies, memory systems, and deployment methods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used to build intelligent autonomous AI agents.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will learn how modern AI assistants work — and how to design, evaluate, and deploy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safe, reliable, and scalable agentic AI systems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741911"/>
            <a:ext cx="1931566" cy="764530"/>
          </a:xfrm>
          <a:prstGeom prst="roundRect">
            <a:avLst>
              <a:gd name="adj" fmla="val 2781"/>
            </a:avLst>
          </a:prstGeom>
          <a:solidFill>
            <a:srgbClr val="292C32"/>
          </a:solidFill>
          <a:ln w="19050">
            <a:solidFill>
              <a:srgbClr val="6164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6927" y="3902720"/>
            <a:ext cx="16099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Intelligent Agents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569443" y="3741911"/>
            <a:ext cx="1931640" cy="764530"/>
          </a:xfrm>
          <a:prstGeom prst="roundRect">
            <a:avLst>
              <a:gd name="adj" fmla="val 2781"/>
            </a:avLst>
          </a:prstGeom>
          <a:solidFill>
            <a:srgbClr val="292C32"/>
          </a:solidFill>
          <a:ln w="19050">
            <a:solidFill>
              <a:srgbClr val="6164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30252" y="3902720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LLMs &amp; RAG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42842" y="3741911"/>
            <a:ext cx="1931640" cy="764530"/>
          </a:xfrm>
          <a:prstGeom prst="roundRect">
            <a:avLst>
              <a:gd name="adj" fmla="val 2781"/>
            </a:avLst>
          </a:prstGeom>
          <a:solidFill>
            <a:srgbClr val="292C32"/>
          </a:solidFill>
          <a:ln w="19050">
            <a:solidFill>
              <a:srgbClr val="6164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3651" y="3902720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Multi-Agent Systems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716241" y="3741911"/>
            <a:ext cx="1931640" cy="764530"/>
          </a:xfrm>
          <a:prstGeom prst="roundRect">
            <a:avLst>
              <a:gd name="adj" fmla="val 2781"/>
            </a:avLst>
          </a:prstGeom>
          <a:solidFill>
            <a:srgbClr val="292C32"/>
          </a:solidFill>
          <a:ln w="19050">
            <a:solidFill>
              <a:srgbClr val="6164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77050" y="3902720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Safety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37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Learning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028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course, you will be able to: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74657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968475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07741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Understand Intelligent Agents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383929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Grasp autonomous systems, agent architectures, and environment interaction.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0601" y="174657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1968475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0" name="Text 8"/>
          <p:cNvSpPr/>
          <p:nvPr/>
        </p:nvSpPr>
        <p:spPr>
          <a:xfrm>
            <a:off x="3260601" y="2077417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Build LLM-Powered Reasoning Agents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60601" y="2605385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chain-of-thought, ReAct, and planning strategies.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25083" y="174657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1968475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083" y="207741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Design Memory-Enabled AI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25083" y="2383929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RAG pipelines and vector databases for knowledge grounding.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31239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534296"/>
            <a:ext cx="4004965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643238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Develop Multi-Agent Systems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119" y="3949750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 collaborative agents using MCP and role-based architectures.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2842" y="331239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2842" y="3534296"/>
            <a:ext cx="4004965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842" y="3643238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Evaluate Safe &amp; Responsible AI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42842" y="3949750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reliability, security, bias, and ethical governance.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3136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Prerequisites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32805"/>
            <a:ext cx="315590" cy="3155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202" y="1132805"/>
            <a:ext cx="219677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Programming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52202" y="1442517"/>
            <a:ext cx="219677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basics — variables, loops, functions, and libraries.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049289"/>
            <a:ext cx="315590" cy="3155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202" y="2049289"/>
            <a:ext cx="219677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&amp; Deep Learning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52202" y="2359000"/>
            <a:ext cx="219677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fundamentals and neural network basics.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65772"/>
            <a:ext cx="315590" cy="3155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202" y="2965772"/>
            <a:ext cx="219677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NLP Basics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952202" y="3275484"/>
            <a:ext cx="219677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Tokens, embeddings, and a working understanding of language models.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882256"/>
            <a:ext cx="315590" cy="3155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2202" y="3882256"/>
            <a:ext cx="219677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Mathematics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952202" y="4191967"/>
            <a:ext cx="219677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linear algebra and probability concepts.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1817" y="1382613"/>
            <a:ext cx="5190753" cy="2941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031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Complete Course Roadmap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61368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units, one mini-project, and a final assessment — each unit builds on the last.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7719"/>
            <a:ext cx="2717229" cy="522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790" y="2040954"/>
            <a:ext cx="24558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6790" y="2317328"/>
            <a:ext cx="24558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Agents &amp; Agentic AI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397719"/>
            <a:ext cx="2717229" cy="522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44019" y="2040954"/>
            <a:ext cx="24558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2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344019" y="2317328"/>
            <a:ext cx="24558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Strategies &amp; Reasoning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397719"/>
            <a:ext cx="2717229" cy="5227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61249" y="2040954"/>
            <a:ext cx="24558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3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061249" y="2317328"/>
            <a:ext cx="24558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&amp; Agent Memory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648843"/>
            <a:ext cx="2717229" cy="522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790" y="3292078"/>
            <a:ext cx="24558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4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26790" y="3568452"/>
            <a:ext cx="24558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Systems &amp; MCP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348" y="2648843"/>
            <a:ext cx="2717229" cy="5227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44019" y="3292078"/>
            <a:ext cx="24558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5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3344019" y="3568452"/>
            <a:ext cx="24558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Evaluation, Safety &amp; Governance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496119" y="4035475"/>
            <a:ext cx="8151763" cy="695920"/>
          </a:xfrm>
          <a:prstGeom prst="roundRect">
            <a:avLst>
              <a:gd name="adj" fmla="val 2817"/>
            </a:avLst>
          </a:prstGeom>
          <a:solidFill>
            <a:srgbClr val="80330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90" y="4222552"/>
            <a:ext cx="163339" cy="13067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20800" y="4188619"/>
            <a:ext cx="759641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Message: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Each unit builds on the previous one — from understanding agents → reasoning → memory → collaboration → safety.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254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1 &amp; Unit 2 at a Glance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878137"/>
            <a:ext cx="4107135" cy="2042815"/>
          </a:xfrm>
          <a:prstGeom prst="roundRect">
            <a:avLst>
              <a:gd name="adj" fmla="val 1041"/>
            </a:avLst>
          </a:prstGeom>
          <a:solidFill>
            <a:srgbClr val="FFBC8F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19895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1 — Intelligent Agents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83110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Agent–Environment Interaction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Perception–Reasoning–Action Cycle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LLM-Powered Agent Architectures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Patterns &amp; Applications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3566592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Examples: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Robot vacuum, self-driving car, ChatGPT, Alexa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01989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2 — LLM Strategies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383110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Chain-of-Thought, Tree-of-Thought, Self-Consistency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Framework &amp; Observation–Action Cycle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Decomposition &amp; Hierarchical Planning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Integration: APIs, Code, Search, Databases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Outputs: JSON &amp; Function Calling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3 &amp; Unit 4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978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3 — RAG &amp; Agent Memory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6109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Short-Term vs. Long-Term Memory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Chunking &amp; Embedding Generation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Vector Databases &amp; Similarity Search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Retrieval, Re-Ranking &amp; Multi-Hop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956122"/>
            <a:ext cx="4107135" cy="1886843"/>
          </a:xfrm>
          <a:prstGeom prst="roundRect">
            <a:avLst>
              <a:gd name="adj" fmla="val 1127"/>
            </a:avLst>
          </a:prstGeom>
          <a:solidFill>
            <a:srgbClr val="FFBC8F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2097881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4 — Multi-Agent Systems &amp; MCP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461096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Distributed AI &amp; Collaborative Intelligence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Context Protocol (MCP) Architecture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Planner, Research, Executor &amp; Critic Agents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Swarm Intelligence &amp; Emergent Behavior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Deployment, Monitoring &amp; Scaling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199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5 — Evaluation, Safety &amp; Governance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41760"/>
            <a:ext cx="5202138" cy="294783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649" y="989335"/>
            <a:ext cx="2673921" cy="8457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63047" y="1116583"/>
            <a:ext cx="236227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163047" y="1383060"/>
            <a:ext cx="2362274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completion, tool efficiency, latency, cost benchmarking.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8649" y="1925017"/>
            <a:ext cx="2673921" cy="8457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63047" y="2052265"/>
            <a:ext cx="236227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Hallucination Mitigation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163047" y="2318742"/>
            <a:ext cx="2362274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 verification and retrieval grounding to reduce errors.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8649" y="2860700"/>
            <a:ext cx="2673921" cy="8457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63047" y="2987948"/>
            <a:ext cx="236227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Security &amp; Guardrails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163047" y="3254425"/>
            <a:ext cx="2362274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injection defense, data leakage prevention, tool restrictions.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8649" y="3796382"/>
            <a:ext cx="2673921" cy="84571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63047" y="3923630"/>
            <a:ext cx="236227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163047" y="4190107"/>
            <a:ext cx="2362274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mitigation, transparency, explainability, and ethics.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0542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You Will Gain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96119" y="948258"/>
            <a:ext cx="4722763" cy="682749"/>
          </a:xfrm>
          <a:prstGeom prst="roundRect">
            <a:avLst>
              <a:gd name="adj" fmla="val 2677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617934" y="1070074"/>
            <a:ext cx="4479131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🏗️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Build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7934" y="1327993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and deploy intelligent AI agents and RAG-powered assistants.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6119" y="1735634"/>
            <a:ext cx="4722763" cy="682749"/>
          </a:xfrm>
          <a:prstGeom prst="roundRect">
            <a:avLst>
              <a:gd name="adj" fmla="val 2677"/>
            </a:avLst>
          </a:prstGeom>
          <a:solidFill>
            <a:srgbClr val="484B51"/>
          </a:solidFill>
          <a:ln/>
        </p:spPr>
      </p:sp>
      <p:sp>
        <p:nvSpPr>
          <p:cNvPr id="8" name="Text 5"/>
          <p:cNvSpPr/>
          <p:nvPr/>
        </p:nvSpPr>
        <p:spPr>
          <a:xfrm>
            <a:off x="617934" y="1857449"/>
            <a:ext cx="4479131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Collaborate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7934" y="2115369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multi-agent systems using MCP for real-world coordination.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6119" y="2523009"/>
            <a:ext cx="4722763" cy="682749"/>
          </a:xfrm>
          <a:prstGeom prst="roundRect">
            <a:avLst>
              <a:gd name="adj" fmla="val 2677"/>
            </a:avLst>
          </a:prstGeom>
          <a:solidFill>
            <a:srgbClr val="484B51"/>
          </a:solidFill>
          <a:ln/>
        </p:spPr>
      </p:sp>
      <p:sp>
        <p:nvSpPr>
          <p:cNvPr id="11" name="Text 8"/>
          <p:cNvSpPr/>
          <p:nvPr/>
        </p:nvSpPr>
        <p:spPr>
          <a:xfrm>
            <a:off x="617934" y="2644825"/>
            <a:ext cx="4479131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Secure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7934" y="2902744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AI systems for safety, reliability, and ethical governance.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6119" y="3310384"/>
            <a:ext cx="4722763" cy="682749"/>
          </a:xfrm>
          <a:prstGeom prst="roundRect">
            <a:avLst>
              <a:gd name="adj" fmla="val 2677"/>
            </a:avLst>
          </a:prstGeom>
          <a:solidFill>
            <a:srgbClr val="484B51"/>
          </a:solidFill>
          <a:ln/>
        </p:spPr>
      </p:sp>
      <p:sp>
        <p:nvSpPr>
          <p:cNvPr id="14" name="Text 11"/>
          <p:cNvSpPr/>
          <p:nvPr/>
        </p:nvSpPr>
        <p:spPr>
          <a:xfrm>
            <a:off x="617934" y="3432200"/>
            <a:ext cx="4479131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Launch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17934" y="3690119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 ready for roles like AI Engineer, LLM Engineer, or Agentic AI Developer.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6119" y="4110856"/>
            <a:ext cx="4722763" cy="622102"/>
          </a:xfrm>
          <a:prstGeom prst="roundRect">
            <a:avLst>
              <a:gd name="adj" fmla="val 2938"/>
            </a:avLst>
          </a:prstGeom>
          <a:solidFill>
            <a:srgbClr val="80330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34" y="4280297"/>
            <a:ext cx="152251" cy="12181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92001" y="4245918"/>
            <a:ext cx="4205064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Next Lecture: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 1 — What is an Intelligent Agent? We begin with agent–environment interaction and the Perception–Reasoning–Action cycle.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2026-07-13T03:06:48Z</dcterms:created>
  <dcterms:modified xsi:type="dcterms:W3CDTF">2026-07-13T03:06:48Z</dcterms:modified>
</cp:coreProperties>
</file>