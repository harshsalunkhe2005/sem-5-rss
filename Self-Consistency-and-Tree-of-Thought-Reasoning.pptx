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 ExtraBold"/>
      <p:regular r:id="rId201314"/>
    </p:embeddedFont>
    <p:embeddedFont>
      <p:font typeface="Alexandria Thin"/>
      <p:regular r:id="rId201315"/>
    </p:embeddedFont>
    <p:embeddedFont>
      <p:font typeface="Alexandria ExtraLight"/>
      <p:regular r:id="rId201316"/>
    </p:embeddedFont>
    <p:embeddedFont>
      <p:font typeface="Alexandria Light"/>
      <p:regular r:id="rId201317"/>
    </p:embeddedFont>
    <p:embeddedFont>
      <p:font typeface="Alexandria"/>
      <p:regular r:id="rId201318"/>
    </p:embeddedFont>
    <p:embeddedFont>
      <p:font typeface="Alexandria Medium"/>
      <p:regular r:id="rId201319"/>
    </p:embeddedFont>
    <p:embeddedFont>
      <p:font typeface="Alexandria SemiBold"/>
      <p:regular r:id="rId201320"/>
    </p:embeddedFont>
    <p:embeddedFont>
      <p:font typeface="Alexandria Bold"/>
      <p:regular r:id="rId201321"/>
    </p:embeddedFont>
    <p:embeddedFont>
      <p:font typeface="Alexandria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4-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9582"/>
            <a:ext cx="933748" cy="215354"/>
          </a:xfrm>
          <a:prstGeom prst="roundRect">
            <a:avLst>
              <a:gd name="adj" fmla="val 78996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702073"/>
            <a:ext cx="12208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2 · PART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316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Self-Consistency &amp; Tree-of-Thought Reasoning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03021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prompting strategies that help LLMs reason more reliably — by exploring, comparing, and selecting the best path forward.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82600"/>
            <a:ext cx="576114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0174" y="725091"/>
            <a:ext cx="86320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5465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Self-Consistency Reasoning?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05323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multiple independent solutions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the same problem — then select the answer that appears most consistently across them.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666330"/>
            <a:ext cx="22904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71640" y="281285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71640" y="3119363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Multiple solution paths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7342" y="2666330"/>
            <a:ext cx="22905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3863" y="281285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Compare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03863" y="3119363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 answers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634457"/>
            <a:ext cx="4722763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71640" y="378097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Select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71640" y="408749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consistent result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280"/>
            <a:ext cx="596503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76771"/>
            <a:ext cx="8835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063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Self-Consistency Works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361926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48943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Return Selected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48943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Find Most Consistent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48943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Evaluate Answers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48943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Generate Candidates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48943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Receive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4823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comparing outcomes across independent paths, the model reduces random errors and increases answer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21718"/>
            <a:ext cx="594568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164208"/>
            <a:ext cx="8816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9377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Self-Consistency in Action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493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125 engineers + 75 testers + 50 designers =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35647"/>
            <a:ext cx="2622724" cy="859706"/>
          </a:xfrm>
          <a:prstGeom prst="roundRect">
            <a:avLst>
              <a:gd name="adj" fmla="val 24735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59645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Solution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902967"/>
            <a:ext cx="230110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+ 75 + 50 =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250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435647"/>
            <a:ext cx="2622724" cy="859706"/>
          </a:xfrm>
          <a:prstGeom prst="roundRect">
            <a:avLst>
              <a:gd name="adj" fmla="val 24735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1410" y="259645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Solution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1410" y="2902967"/>
            <a:ext cx="230110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(125 + 75) + 50 =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250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435647"/>
            <a:ext cx="2622724" cy="859706"/>
          </a:xfrm>
          <a:prstGeom prst="roundRect">
            <a:avLst>
              <a:gd name="adj" fmla="val 24735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5892" y="2596455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Solution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85892" y="2902967"/>
            <a:ext cx="230110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+ 75 = 190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240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54822"/>
            <a:ext cx="8151763" cy="566961"/>
          </a:xfrm>
          <a:prstGeom prst="roundRect">
            <a:avLst>
              <a:gd name="adj" fmla="val 37507"/>
            </a:avLst>
          </a:prstGeom>
          <a:solidFill>
            <a:srgbClr val="CDEFF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655591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63200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Final answer: 250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majority wins, even when one path fails.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081"/>
            <a:ext cx="561305" cy="201885"/>
          </a:xfrm>
          <a:prstGeom prst="roundRect">
            <a:avLst>
              <a:gd name="adj" fmla="val 79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816" y="470892"/>
            <a:ext cx="859110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2749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Where Self-Consistency Shines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84908"/>
            <a:ext cx="332259" cy="33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772915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6119" y="2055316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Reliable numerical calculations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837" y="1284908"/>
            <a:ext cx="332259" cy="3322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9837" y="1772915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649837" y="2055316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generated code solutions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10433"/>
            <a:ext cx="332259" cy="3322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998440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Medical Diagnosis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96119" y="3280842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diagnostic possibilities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837" y="2510433"/>
            <a:ext cx="332259" cy="3322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49837" y="2998440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Financial Planning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649837" y="3280842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investment strategies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35958"/>
            <a:ext cx="332259" cy="3322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223965"/>
            <a:ext cx="39979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Scientific Research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96119" y="4506367"/>
            <a:ext cx="39979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competing hypotheses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9837" y="3735958"/>
            <a:ext cx="332259" cy="33225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49837" y="4223965"/>
            <a:ext cx="399804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 Tutoring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649837" y="4506367"/>
            <a:ext cx="399804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Verify explanations before presenting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98475" cy="107603"/>
          </a:xfrm>
          <a:prstGeom prst="roundRect">
            <a:avLst>
              <a:gd name="adj" fmla="val 7905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7069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15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Chain-of-Thought vs. Self-Consistency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609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Distinction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75562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 develops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one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solution path. Self-Consistency generates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many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selects the most reliable.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872532"/>
            <a:ext cx="3989412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CoT: single path → answer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Self-Consistency: multiple paths → compare → best answer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58279"/>
            <a:ext cx="602233" cy="215354"/>
          </a:xfrm>
          <a:prstGeom prst="roundRect">
            <a:avLst>
              <a:gd name="adj" fmla="val 78996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800770"/>
            <a:ext cx="8893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303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Tree-of-Thought (ToT)?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1289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 explores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multiple solution branches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evaluates each, discards weaker paths, and advances the most promising one.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742009"/>
            <a:ext cx="4722763" cy="1643211"/>
          </a:xfrm>
          <a:prstGeom prst="roundRect">
            <a:avLst>
              <a:gd name="adj" fmla="val 129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0881" y="2746772"/>
            <a:ext cx="2356619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Text 6"/>
          <p:cNvSpPr/>
          <p:nvPr/>
        </p:nvSpPr>
        <p:spPr>
          <a:xfrm>
            <a:off x="642640" y="2888531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Branch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195042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alternatives in parallel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746772"/>
            <a:ext cx="2356619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746772"/>
            <a:ext cx="19050" cy="816843"/>
          </a:xfrm>
          <a:prstGeom prst="roundRect">
            <a:avLst>
              <a:gd name="adj" fmla="val 1116279"/>
            </a:avLst>
          </a:prstGeom>
          <a:solidFill>
            <a:srgbClr val="B3D5E4"/>
          </a:solidFill>
          <a:ln/>
        </p:spPr>
      </p:sp>
      <p:sp>
        <p:nvSpPr>
          <p:cNvPr id="13" name="Text 10"/>
          <p:cNvSpPr/>
          <p:nvPr/>
        </p:nvSpPr>
        <p:spPr>
          <a:xfrm>
            <a:off x="2999259" y="2888531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99259" y="3195042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 each branch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0881" y="3563615"/>
            <a:ext cx="4713238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00881" y="3563615"/>
            <a:ext cx="4713238" cy="19050"/>
          </a:xfrm>
          <a:prstGeom prst="roundRect">
            <a:avLst>
              <a:gd name="adj" fmla="val 1116279"/>
            </a:avLst>
          </a:prstGeom>
          <a:solidFill>
            <a:srgbClr val="B3D5E4"/>
          </a:solidFill>
          <a:ln/>
        </p:spPr>
      </p:sp>
      <p:sp>
        <p:nvSpPr>
          <p:cNvPr id="17" name="Text 14"/>
          <p:cNvSpPr/>
          <p:nvPr/>
        </p:nvSpPr>
        <p:spPr>
          <a:xfrm>
            <a:off x="642640" y="370537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Select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2640" y="4011885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Continue the strongest path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280"/>
            <a:ext cx="588764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76771"/>
            <a:ext cx="8758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063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Tree-of-Thought Works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361926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60406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60406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360406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Expand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60406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60406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4823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 enables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exploration and comparison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alternatives — rather than committing to the first solution found.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7582"/>
            <a:ext cx="597694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940073"/>
            <a:ext cx="8847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696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 Example: Planning a Tech Fest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252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Constraint: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Budget = ₹5 lakh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11512"/>
            <a:ext cx="2622724" cy="1307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127" y="237232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Option A — Celebrity Speakers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3127" y="2900288"/>
            <a:ext cx="2224906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attraction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Budget exceeded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211512"/>
            <a:ext cx="2622724" cy="1307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7610" y="237232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Option B — Industry Experts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97610" y="2900288"/>
            <a:ext cx="222490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 value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Within budget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211512"/>
            <a:ext cx="2622724" cy="1307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2092" y="237232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Option C — Student Workshops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62092" y="2900288"/>
            <a:ext cx="2224906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participation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Lowest cost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3678957"/>
            <a:ext cx="8151763" cy="566961"/>
          </a:xfrm>
          <a:prstGeom prst="roundRect">
            <a:avLst>
              <a:gd name="adj" fmla="val 37507"/>
            </a:avLst>
          </a:prstGeom>
          <a:solidFill>
            <a:srgbClr val="CDEF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879726"/>
            <a:ext cx="177180" cy="1417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6816" y="3856137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Best decision: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Combine B + C for maximum value within constraints.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10530" cy="107603"/>
          </a:xfrm>
          <a:prstGeom prst="roundRect">
            <a:avLst>
              <a:gd name="adj" fmla="val 7905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8274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20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Reasoning Strategies Compared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61922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Takeaways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765375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CoT: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Single path, step-by-step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Self-Consistency: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Multiple paths, majority vote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ToT: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Branching exploration with backtracking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2026-07-24T02:18:05Z</dcterms:created>
  <dcterms:modified xsi:type="dcterms:W3CDTF">2026-07-24T02:18:05Z</dcterms:modified>
</cp:coreProperties>
</file>