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1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364" r:id="rId16"/>
    <p:sldId id="365" r:id="rId17"/>
    <p:sldId id="366" r:id="rId18"/>
    <p:sldId id="272" r:id="rId19"/>
    <p:sldId id="273" r:id="rId20"/>
    <p:sldId id="367" r:id="rId21"/>
    <p:sldId id="368" r:id="rId22"/>
    <p:sldId id="274" r:id="rId23"/>
    <p:sldId id="275" r:id="rId24"/>
    <p:sldId id="276" r:id="rId25"/>
    <p:sldId id="277" r:id="rId26"/>
    <p:sldId id="373" r:id="rId27"/>
    <p:sldId id="374" r:id="rId28"/>
    <p:sldId id="375" r:id="rId29"/>
    <p:sldId id="376" r:id="rId30"/>
    <p:sldId id="377" r:id="rId31"/>
    <p:sldId id="378" r:id="rId32"/>
    <p:sldId id="379" r:id="rId33"/>
    <p:sldId id="380" r:id="rId34"/>
    <p:sldId id="278" r:id="rId35"/>
    <p:sldId id="279" r:id="rId36"/>
    <p:sldId id="280" r:id="rId37"/>
    <p:sldId id="281" r:id="rId38"/>
    <p:sldId id="282" r:id="rId39"/>
    <p:sldId id="283" r:id="rId40"/>
    <p:sldId id="284" r:id="rId41"/>
    <p:sldId id="369" r:id="rId42"/>
    <p:sldId id="370" r:id="rId43"/>
    <p:sldId id="371" r:id="rId44"/>
    <p:sldId id="372" r:id="rId45"/>
    <p:sldId id="285" r:id="rId46"/>
    <p:sldId id="286" r:id="rId47"/>
    <p:sldId id="287" r:id="rId48"/>
    <p:sldId id="288" r:id="rId49"/>
    <p:sldId id="289" r:id="rId50"/>
    <p:sldId id="290" r:id="rId51"/>
    <p:sldId id="291" r:id="rId52"/>
    <p:sldId id="292" r:id="rId53"/>
    <p:sldId id="293" r:id="rId54"/>
    <p:sldId id="294" r:id="rId55"/>
    <p:sldId id="295" r:id="rId56"/>
    <p:sldId id="296" r:id="rId57"/>
    <p:sldId id="297" r:id="rId58"/>
    <p:sldId id="298" r:id="rId59"/>
    <p:sldId id="299" r:id="rId60"/>
    <p:sldId id="300" r:id="rId61"/>
    <p:sldId id="301" r:id="rId62"/>
    <p:sldId id="302" r:id="rId63"/>
    <p:sldId id="303" r:id="rId64"/>
    <p:sldId id="304" r:id="rId65"/>
    <p:sldId id="305" r:id="rId66"/>
    <p:sldId id="306" r:id="rId67"/>
    <p:sldId id="307" r:id="rId68"/>
    <p:sldId id="308" r:id="rId69"/>
    <p:sldId id="309" r:id="rId70"/>
    <p:sldId id="310" r:id="rId71"/>
    <p:sldId id="311" r:id="rId72"/>
    <p:sldId id="312" r:id="rId73"/>
    <p:sldId id="313" r:id="rId74"/>
    <p:sldId id="314" r:id="rId75"/>
    <p:sldId id="315" r:id="rId76"/>
    <p:sldId id="316" r:id="rId77"/>
    <p:sldId id="381" r:id="rId78"/>
    <p:sldId id="382" r:id="rId79"/>
    <p:sldId id="317" r:id="rId80"/>
    <p:sldId id="318" r:id="rId81"/>
    <p:sldId id="319" r:id="rId82"/>
    <p:sldId id="320" r:id="rId83"/>
    <p:sldId id="321" r:id="rId84"/>
    <p:sldId id="322" r:id="rId85"/>
    <p:sldId id="323" r:id="rId86"/>
    <p:sldId id="324" r:id="rId87"/>
    <p:sldId id="325" r:id="rId88"/>
    <p:sldId id="326" r:id="rId89"/>
    <p:sldId id="327" r:id="rId90"/>
    <p:sldId id="328" r:id="rId91"/>
    <p:sldId id="342" r:id="rId92"/>
    <p:sldId id="343" r:id="rId93"/>
    <p:sldId id="344" r:id="rId94"/>
    <p:sldId id="345" r:id="rId95"/>
    <p:sldId id="346" r:id="rId96"/>
    <p:sldId id="347" r:id="rId97"/>
    <p:sldId id="348" r:id="rId98"/>
    <p:sldId id="329" r:id="rId99"/>
    <p:sldId id="330" r:id="rId100"/>
    <p:sldId id="331" r:id="rId101"/>
    <p:sldId id="332" r:id="rId102"/>
    <p:sldId id="333" r:id="rId103"/>
    <p:sldId id="334" r:id="rId104"/>
    <p:sldId id="335" r:id="rId105"/>
    <p:sldId id="336" r:id="rId106"/>
    <p:sldId id="337" r:id="rId107"/>
    <p:sldId id="338" r:id="rId108"/>
    <p:sldId id="339" r:id="rId109"/>
    <p:sldId id="340" r:id="rId110"/>
    <p:sldId id="341" r:id="rId111"/>
    <p:sldId id="349" r:id="rId112"/>
    <p:sldId id="350" r:id="rId113"/>
    <p:sldId id="351" r:id="rId114"/>
    <p:sldId id="352" r:id="rId1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71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presProps" Target="pres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3EC7F4-CF8D-4F99-9E56-EBD15C8C4F55}" type="datetimeFigureOut">
              <a:rPr lang="en-IN" smtClean="0"/>
              <a:t>13-08-2026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014A2E-5843-40E1-923C-371B8DB99016}" type="slidenum">
              <a:rPr lang="en-IN" smtClean="0"/>
              <a:t>‹#›</a:t>
            </a:fld>
            <a:endParaRPr lang="en-IN"/>
          </a:p>
        </p:txBody>
      </p:sp>
    </p:spTree>
    <p:extLst>
      <p:ext uri="{BB962C8B-B14F-4D97-AF65-F5344CB8AC3E}">
        <p14:creationId xmlns:p14="http://schemas.microsoft.com/office/powerpoint/2010/main" val="33615246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7014A2E-5843-40E1-923C-371B8DB99016}" type="slidenum">
              <a:rPr lang="en-IN" smtClean="0"/>
              <a:t>103</a:t>
            </a:fld>
            <a:endParaRPr lang="en-IN"/>
          </a:p>
        </p:txBody>
      </p:sp>
    </p:spTree>
    <p:extLst>
      <p:ext uri="{BB962C8B-B14F-4D97-AF65-F5344CB8AC3E}">
        <p14:creationId xmlns:p14="http://schemas.microsoft.com/office/powerpoint/2010/main" val="12199295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76EC8-C211-44D4-A728-15A05B1D0DD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C0CB98C-377F-4AAC-8A5D-2FDBBB5523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2894490-9EAA-40E2-9606-0518FB5C3518}"/>
              </a:ext>
            </a:extLst>
          </p:cNvPr>
          <p:cNvSpPr>
            <a:spLocks noGrp="1"/>
          </p:cNvSpPr>
          <p:nvPr>
            <p:ph type="dt" sz="half" idx="10"/>
          </p:nvPr>
        </p:nvSpPr>
        <p:spPr/>
        <p:txBody>
          <a:bodyPr/>
          <a:lstStyle/>
          <a:p>
            <a:fld id="{052C9EF7-F6C7-421C-8E4A-B6EEEF060896}" type="datetimeFigureOut">
              <a:rPr lang="en-IN" smtClean="0"/>
              <a:t>13-08-2026</a:t>
            </a:fld>
            <a:endParaRPr lang="en-IN"/>
          </a:p>
        </p:txBody>
      </p:sp>
      <p:sp>
        <p:nvSpPr>
          <p:cNvPr id="5" name="Footer Placeholder 4">
            <a:extLst>
              <a:ext uri="{FF2B5EF4-FFF2-40B4-BE49-F238E27FC236}">
                <a16:creationId xmlns:a16="http://schemas.microsoft.com/office/drawing/2014/main" id="{ED4F1726-1565-4A1B-B77B-D486570EFC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A5666D6-23BE-43BF-8737-261E4023FDE1}"/>
              </a:ext>
            </a:extLst>
          </p:cNvPr>
          <p:cNvSpPr>
            <a:spLocks noGrp="1"/>
          </p:cNvSpPr>
          <p:nvPr>
            <p:ph type="sldNum" sz="quarter" idx="12"/>
          </p:nvPr>
        </p:nvSpPr>
        <p:spPr/>
        <p:txBody>
          <a:bodyPr/>
          <a:lstStyle/>
          <a:p>
            <a:fld id="{8D3B4CCE-EFBC-40E6-9525-BF63A61C7DB5}" type="slidenum">
              <a:rPr lang="en-IN" smtClean="0"/>
              <a:t>‹#›</a:t>
            </a:fld>
            <a:endParaRPr lang="en-IN"/>
          </a:p>
        </p:txBody>
      </p:sp>
    </p:spTree>
    <p:extLst>
      <p:ext uri="{BB962C8B-B14F-4D97-AF65-F5344CB8AC3E}">
        <p14:creationId xmlns:p14="http://schemas.microsoft.com/office/powerpoint/2010/main" val="28416302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51E13-98B1-46DA-A2BF-6E1161DB826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1084141-DF99-4483-BFAB-9740380665C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31D879-BBFF-4F1C-9EBC-15158BE0BBAE}"/>
              </a:ext>
            </a:extLst>
          </p:cNvPr>
          <p:cNvSpPr>
            <a:spLocks noGrp="1"/>
          </p:cNvSpPr>
          <p:nvPr>
            <p:ph type="dt" sz="half" idx="10"/>
          </p:nvPr>
        </p:nvSpPr>
        <p:spPr/>
        <p:txBody>
          <a:bodyPr/>
          <a:lstStyle/>
          <a:p>
            <a:fld id="{052C9EF7-F6C7-421C-8E4A-B6EEEF060896}" type="datetimeFigureOut">
              <a:rPr lang="en-IN" smtClean="0"/>
              <a:t>13-08-2026</a:t>
            </a:fld>
            <a:endParaRPr lang="en-IN"/>
          </a:p>
        </p:txBody>
      </p:sp>
      <p:sp>
        <p:nvSpPr>
          <p:cNvPr id="5" name="Footer Placeholder 4">
            <a:extLst>
              <a:ext uri="{FF2B5EF4-FFF2-40B4-BE49-F238E27FC236}">
                <a16:creationId xmlns:a16="http://schemas.microsoft.com/office/drawing/2014/main" id="{38DC2DCD-EB91-4484-AEC8-DD5116D6D0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0E27C9B-FB03-4F56-B18B-0F732CF3C335}"/>
              </a:ext>
            </a:extLst>
          </p:cNvPr>
          <p:cNvSpPr>
            <a:spLocks noGrp="1"/>
          </p:cNvSpPr>
          <p:nvPr>
            <p:ph type="sldNum" sz="quarter" idx="12"/>
          </p:nvPr>
        </p:nvSpPr>
        <p:spPr/>
        <p:txBody>
          <a:bodyPr/>
          <a:lstStyle/>
          <a:p>
            <a:fld id="{8D3B4CCE-EFBC-40E6-9525-BF63A61C7DB5}" type="slidenum">
              <a:rPr lang="en-IN" smtClean="0"/>
              <a:t>‹#›</a:t>
            </a:fld>
            <a:endParaRPr lang="en-IN"/>
          </a:p>
        </p:txBody>
      </p:sp>
    </p:spTree>
    <p:extLst>
      <p:ext uri="{BB962C8B-B14F-4D97-AF65-F5344CB8AC3E}">
        <p14:creationId xmlns:p14="http://schemas.microsoft.com/office/powerpoint/2010/main" val="16811072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F9C94-307E-4837-994A-D08F4A5F109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DAA09AA-CC43-474D-8BDB-DBEAF33BFD2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70FDBF7-74BC-49BC-9783-8660EC9E82CF}"/>
              </a:ext>
            </a:extLst>
          </p:cNvPr>
          <p:cNvSpPr>
            <a:spLocks noGrp="1"/>
          </p:cNvSpPr>
          <p:nvPr>
            <p:ph type="dt" sz="half" idx="10"/>
          </p:nvPr>
        </p:nvSpPr>
        <p:spPr/>
        <p:txBody>
          <a:bodyPr/>
          <a:lstStyle/>
          <a:p>
            <a:fld id="{052C9EF7-F6C7-421C-8E4A-B6EEEF060896}" type="datetimeFigureOut">
              <a:rPr lang="en-IN" smtClean="0"/>
              <a:t>13-08-2026</a:t>
            </a:fld>
            <a:endParaRPr lang="en-IN"/>
          </a:p>
        </p:txBody>
      </p:sp>
      <p:sp>
        <p:nvSpPr>
          <p:cNvPr id="5" name="Footer Placeholder 4">
            <a:extLst>
              <a:ext uri="{FF2B5EF4-FFF2-40B4-BE49-F238E27FC236}">
                <a16:creationId xmlns:a16="http://schemas.microsoft.com/office/drawing/2014/main" id="{67089452-4A08-4998-A1B2-0379BE0ED0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0A8D04E-9551-43B6-85B1-38ED50AE1141}"/>
              </a:ext>
            </a:extLst>
          </p:cNvPr>
          <p:cNvSpPr>
            <a:spLocks noGrp="1"/>
          </p:cNvSpPr>
          <p:nvPr>
            <p:ph type="sldNum" sz="quarter" idx="12"/>
          </p:nvPr>
        </p:nvSpPr>
        <p:spPr/>
        <p:txBody>
          <a:bodyPr/>
          <a:lstStyle/>
          <a:p>
            <a:fld id="{8D3B4CCE-EFBC-40E6-9525-BF63A61C7DB5}" type="slidenum">
              <a:rPr lang="en-IN" smtClean="0"/>
              <a:t>‹#›</a:t>
            </a:fld>
            <a:endParaRPr lang="en-IN"/>
          </a:p>
        </p:txBody>
      </p:sp>
    </p:spTree>
    <p:extLst>
      <p:ext uri="{BB962C8B-B14F-4D97-AF65-F5344CB8AC3E}">
        <p14:creationId xmlns:p14="http://schemas.microsoft.com/office/powerpoint/2010/main" val="4238166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945F7-16CB-47B9-8733-32CCBAF93C5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A5857EA-7FA5-47B5-B6B8-09A2F709769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327ED4E-3E5C-491F-A99D-C4DABF67A2B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C7AE3F1-DEC4-4E69-9160-4378C6740AB4}"/>
              </a:ext>
            </a:extLst>
          </p:cNvPr>
          <p:cNvSpPr>
            <a:spLocks noGrp="1"/>
          </p:cNvSpPr>
          <p:nvPr>
            <p:ph type="dt" sz="half" idx="10"/>
          </p:nvPr>
        </p:nvSpPr>
        <p:spPr/>
        <p:txBody>
          <a:bodyPr/>
          <a:lstStyle/>
          <a:p>
            <a:fld id="{052C9EF7-F6C7-421C-8E4A-B6EEEF060896}" type="datetimeFigureOut">
              <a:rPr lang="en-IN" smtClean="0"/>
              <a:t>13-08-2026</a:t>
            </a:fld>
            <a:endParaRPr lang="en-IN"/>
          </a:p>
        </p:txBody>
      </p:sp>
      <p:sp>
        <p:nvSpPr>
          <p:cNvPr id="6" name="Footer Placeholder 5">
            <a:extLst>
              <a:ext uri="{FF2B5EF4-FFF2-40B4-BE49-F238E27FC236}">
                <a16:creationId xmlns:a16="http://schemas.microsoft.com/office/drawing/2014/main" id="{FE7CC6ED-B677-43C8-9A3E-9CBCAF75BFB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513E370-AD6A-48E5-8972-E7CA8765BE3E}"/>
              </a:ext>
            </a:extLst>
          </p:cNvPr>
          <p:cNvSpPr>
            <a:spLocks noGrp="1"/>
          </p:cNvSpPr>
          <p:nvPr>
            <p:ph type="sldNum" sz="quarter" idx="12"/>
          </p:nvPr>
        </p:nvSpPr>
        <p:spPr/>
        <p:txBody>
          <a:bodyPr/>
          <a:lstStyle/>
          <a:p>
            <a:fld id="{8D3B4CCE-EFBC-40E6-9525-BF63A61C7DB5}" type="slidenum">
              <a:rPr lang="en-IN" smtClean="0"/>
              <a:t>‹#›</a:t>
            </a:fld>
            <a:endParaRPr lang="en-IN"/>
          </a:p>
        </p:txBody>
      </p:sp>
    </p:spTree>
    <p:extLst>
      <p:ext uri="{BB962C8B-B14F-4D97-AF65-F5344CB8AC3E}">
        <p14:creationId xmlns:p14="http://schemas.microsoft.com/office/powerpoint/2010/main" val="42269656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CCD22-8034-43E0-B98B-422C3802D78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996868C-64C2-4AF9-A50E-F3F5A962B47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1E9E212F-0A79-41A9-841C-5EF47709A3F1}"/>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F46084A-32AD-4059-8C31-39F1D0A831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DDF265E-9C41-48E8-8B0E-19723B072C92}"/>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1160534-EB10-4DB6-ABFB-E6E022B40BFB}"/>
              </a:ext>
            </a:extLst>
          </p:cNvPr>
          <p:cNvSpPr>
            <a:spLocks noGrp="1"/>
          </p:cNvSpPr>
          <p:nvPr>
            <p:ph type="dt" sz="half" idx="10"/>
          </p:nvPr>
        </p:nvSpPr>
        <p:spPr/>
        <p:txBody>
          <a:bodyPr/>
          <a:lstStyle/>
          <a:p>
            <a:fld id="{052C9EF7-F6C7-421C-8E4A-B6EEEF060896}" type="datetimeFigureOut">
              <a:rPr lang="en-IN" smtClean="0"/>
              <a:t>13-08-2026</a:t>
            </a:fld>
            <a:endParaRPr lang="en-IN"/>
          </a:p>
        </p:txBody>
      </p:sp>
      <p:sp>
        <p:nvSpPr>
          <p:cNvPr id="8" name="Footer Placeholder 7">
            <a:extLst>
              <a:ext uri="{FF2B5EF4-FFF2-40B4-BE49-F238E27FC236}">
                <a16:creationId xmlns:a16="http://schemas.microsoft.com/office/drawing/2014/main" id="{60DDD750-94CD-4A74-B67A-9D194F55066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FF1A4B0-7B64-46B7-98AC-56D57E740830}"/>
              </a:ext>
            </a:extLst>
          </p:cNvPr>
          <p:cNvSpPr>
            <a:spLocks noGrp="1"/>
          </p:cNvSpPr>
          <p:nvPr>
            <p:ph type="sldNum" sz="quarter" idx="12"/>
          </p:nvPr>
        </p:nvSpPr>
        <p:spPr/>
        <p:txBody>
          <a:bodyPr/>
          <a:lstStyle/>
          <a:p>
            <a:fld id="{8D3B4CCE-EFBC-40E6-9525-BF63A61C7DB5}" type="slidenum">
              <a:rPr lang="en-IN" smtClean="0"/>
              <a:t>‹#›</a:t>
            </a:fld>
            <a:endParaRPr lang="en-IN"/>
          </a:p>
        </p:txBody>
      </p:sp>
    </p:spTree>
    <p:extLst>
      <p:ext uri="{BB962C8B-B14F-4D97-AF65-F5344CB8AC3E}">
        <p14:creationId xmlns:p14="http://schemas.microsoft.com/office/powerpoint/2010/main" val="15077053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A4A98-0965-458B-8C2C-A9AE8945E37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25B64F5-33FE-4CD3-98D1-19FE9BA68296}"/>
              </a:ext>
            </a:extLst>
          </p:cNvPr>
          <p:cNvSpPr>
            <a:spLocks noGrp="1"/>
          </p:cNvSpPr>
          <p:nvPr>
            <p:ph type="dt" sz="half" idx="10"/>
          </p:nvPr>
        </p:nvSpPr>
        <p:spPr/>
        <p:txBody>
          <a:bodyPr/>
          <a:lstStyle/>
          <a:p>
            <a:fld id="{052C9EF7-F6C7-421C-8E4A-B6EEEF060896}" type="datetimeFigureOut">
              <a:rPr lang="en-IN" smtClean="0"/>
              <a:t>13-08-2026</a:t>
            </a:fld>
            <a:endParaRPr lang="en-IN"/>
          </a:p>
        </p:txBody>
      </p:sp>
      <p:sp>
        <p:nvSpPr>
          <p:cNvPr id="4" name="Footer Placeholder 3">
            <a:extLst>
              <a:ext uri="{FF2B5EF4-FFF2-40B4-BE49-F238E27FC236}">
                <a16:creationId xmlns:a16="http://schemas.microsoft.com/office/drawing/2014/main" id="{A25438E5-87F6-433B-8499-FA19E2DE6B3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C6BFF8C-FF37-4558-A507-45781B3C3F21}"/>
              </a:ext>
            </a:extLst>
          </p:cNvPr>
          <p:cNvSpPr>
            <a:spLocks noGrp="1"/>
          </p:cNvSpPr>
          <p:nvPr>
            <p:ph type="sldNum" sz="quarter" idx="12"/>
          </p:nvPr>
        </p:nvSpPr>
        <p:spPr/>
        <p:txBody>
          <a:bodyPr/>
          <a:lstStyle/>
          <a:p>
            <a:fld id="{8D3B4CCE-EFBC-40E6-9525-BF63A61C7DB5}" type="slidenum">
              <a:rPr lang="en-IN" smtClean="0"/>
              <a:t>‹#›</a:t>
            </a:fld>
            <a:endParaRPr lang="en-IN"/>
          </a:p>
        </p:txBody>
      </p:sp>
    </p:spTree>
    <p:extLst>
      <p:ext uri="{BB962C8B-B14F-4D97-AF65-F5344CB8AC3E}">
        <p14:creationId xmlns:p14="http://schemas.microsoft.com/office/powerpoint/2010/main" val="33053942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3F41E09-3737-4EAA-9A2D-FFAC6CEB5D3F}"/>
              </a:ext>
            </a:extLst>
          </p:cNvPr>
          <p:cNvSpPr>
            <a:spLocks noGrp="1"/>
          </p:cNvSpPr>
          <p:nvPr>
            <p:ph type="dt" sz="half" idx="10"/>
          </p:nvPr>
        </p:nvSpPr>
        <p:spPr/>
        <p:txBody>
          <a:bodyPr/>
          <a:lstStyle/>
          <a:p>
            <a:fld id="{052C9EF7-F6C7-421C-8E4A-B6EEEF060896}" type="datetimeFigureOut">
              <a:rPr lang="en-IN" smtClean="0"/>
              <a:t>13-08-2026</a:t>
            </a:fld>
            <a:endParaRPr lang="en-IN"/>
          </a:p>
        </p:txBody>
      </p:sp>
      <p:sp>
        <p:nvSpPr>
          <p:cNvPr id="3" name="Footer Placeholder 2">
            <a:extLst>
              <a:ext uri="{FF2B5EF4-FFF2-40B4-BE49-F238E27FC236}">
                <a16:creationId xmlns:a16="http://schemas.microsoft.com/office/drawing/2014/main" id="{75EB8D13-7DCA-4525-8FF1-2210C3F7306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167F2F5-2A1A-4F7F-B433-EAEB8EF2DF5B}"/>
              </a:ext>
            </a:extLst>
          </p:cNvPr>
          <p:cNvSpPr>
            <a:spLocks noGrp="1"/>
          </p:cNvSpPr>
          <p:nvPr>
            <p:ph type="sldNum" sz="quarter" idx="12"/>
          </p:nvPr>
        </p:nvSpPr>
        <p:spPr/>
        <p:txBody>
          <a:bodyPr/>
          <a:lstStyle/>
          <a:p>
            <a:fld id="{8D3B4CCE-EFBC-40E6-9525-BF63A61C7DB5}" type="slidenum">
              <a:rPr lang="en-IN" smtClean="0"/>
              <a:t>‹#›</a:t>
            </a:fld>
            <a:endParaRPr lang="en-IN"/>
          </a:p>
        </p:txBody>
      </p:sp>
    </p:spTree>
    <p:extLst>
      <p:ext uri="{BB962C8B-B14F-4D97-AF65-F5344CB8AC3E}">
        <p14:creationId xmlns:p14="http://schemas.microsoft.com/office/powerpoint/2010/main" val="15093316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5EA2B-C933-41E3-A3EE-55A2138995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FF9F8DA-558D-4205-8306-7DB05773BFA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002797B-39C3-493C-BB07-C205DB245F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6529457-D74F-4E63-BD1F-EE17F1278A8F}"/>
              </a:ext>
            </a:extLst>
          </p:cNvPr>
          <p:cNvSpPr>
            <a:spLocks noGrp="1"/>
          </p:cNvSpPr>
          <p:nvPr>
            <p:ph type="dt" sz="half" idx="10"/>
          </p:nvPr>
        </p:nvSpPr>
        <p:spPr/>
        <p:txBody>
          <a:bodyPr/>
          <a:lstStyle/>
          <a:p>
            <a:fld id="{052C9EF7-F6C7-421C-8E4A-B6EEEF060896}" type="datetimeFigureOut">
              <a:rPr lang="en-IN" smtClean="0"/>
              <a:t>13-08-2026</a:t>
            </a:fld>
            <a:endParaRPr lang="en-IN"/>
          </a:p>
        </p:txBody>
      </p:sp>
      <p:sp>
        <p:nvSpPr>
          <p:cNvPr id="6" name="Footer Placeholder 5">
            <a:extLst>
              <a:ext uri="{FF2B5EF4-FFF2-40B4-BE49-F238E27FC236}">
                <a16:creationId xmlns:a16="http://schemas.microsoft.com/office/drawing/2014/main" id="{B520A90A-B2AE-40B3-9C52-7A69BBF704C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5565707-F9DC-4728-86C3-7B0799A24502}"/>
              </a:ext>
            </a:extLst>
          </p:cNvPr>
          <p:cNvSpPr>
            <a:spLocks noGrp="1"/>
          </p:cNvSpPr>
          <p:nvPr>
            <p:ph type="sldNum" sz="quarter" idx="12"/>
          </p:nvPr>
        </p:nvSpPr>
        <p:spPr/>
        <p:txBody>
          <a:bodyPr/>
          <a:lstStyle/>
          <a:p>
            <a:fld id="{8D3B4CCE-EFBC-40E6-9525-BF63A61C7DB5}" type="slidenum">
              <a:rPr lang="en-IN" smtClean="0"/>
              <a:t>‹#›</a:t>
            </a:fld>
            <a:endParaRPr lang="en-IN"/>
          </a:p>
        </p:txBody>
      </p:sp>
    </p:spTree>
    <p:extLst>
      <p:ext uri="{BB962C8B-B14F-4D97-AF65-F5344CB8AC3E}">
        <p14:creationId xmlns:p14="http://schemas.microsoft.com/office/powerpoint/2010/main" val="8858756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EFC24-D6D9-4261-972A-CBE7DC0405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481C934-90A8-4F99-9F2B-A4C015868A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6A8FD74-FF46-4A8C-87D6-AAEECEBFBE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1F50EE5-9810-45FF-AC6C-F6D2EF1E5F53}"/>
              </a:ext>
            </a:extLst>
          </p:cNvPr>
          <p:cNvSpPr>
            <a:spLocks noGrp="1"/>
          </p:cNvSpPr>
          <p:nvPr>
            <p:ph type="dt" sz="half" idx="10"/>
          </p:nvPr>
        </p:nvSpPr>
        <p:spPr/>
        <p:txBody>
          <a:bodyPr/>
          <a:lstStyle/>
          <a:p>
            <a:fld id="{052C9EF7-F6C7-421C-8E4A-B6EEEF060896}" type="datetimeFigureOut">
              <a:rPr lang="en-IN" smtClean="0"/>
              <a:t>13-08-2026</a:t>
            </a:fld>
            <a:endParaRPr lang="en-IN"/>
          </a:p>
        </p:txBody>
      </p:sp>
      <p:sp>
        <p:nvSpPr>
          <p:cNvPr id="6" name="Footer Placeholder 5">
            <a:extLst>
              <a:ext uri="{FF2B5EF4-FFF2-40B4-BE49-F238E27FC236}">
                <a16:creationId xmlns:a16="http://schemas.microsoft.com/office/drawing/2014/main" id="{8DE3D56E-08AF-447D-849E-EAD51A49597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9E72FB7-DA17-4A99-9FFC-CF3B3B856459}"/>
              </a:ext>
            </a:extLst>
          </p:cNvPr>
          <p:cNvSpPr>
            <a:spLocks noGrp="1"/>
          </p:cNvSpPr>
          <p:nvPr>
            <p:ph type="sldNum" sz="quarter" idx="12"/>
          </p:nvPr>
        </p:nvSpPr>
        <p:spPr/>
        <p:txBody>
          <a:bodyPr/>
          <a:lstStyle/>
          <a:p>
            <a:fld id="{8D3B4CCE-EFBC-40E6-9525-BF63A61C7DB5}" type="slidenum">
              <a:rPr lang="en-IN" smtClean="0"/>
              <a:t>‹#›</a:t>
            </a:fld>
            <a:endParaRPr lang="en-IN"/>
          </a:p>
        </p:txBody>
      </p:sp>
    </p:spTree>
    <p:extLst>
      <p:ext uri="{BB962C8B-B14F-4D97-AF65-F5344CB8AC3E}">
        <p14:creationId xmlns:p14="http://schemas.microsoft.com/office/powerpoint/2010/main" val="3485873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C2144-094A-47D8-8016-4396230C6DA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35D61E9-62E6-429E-94E1-9265262E3A16}"/>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847B98D-83F0-4AFE-9D72-4DF0F206991C}"/>
              </a:ext>
            </a:extLst>
          </p:cNvPr>
          <p:cNvSpPr>
            <a:spLocks noGrp="1"/>
          </p:cNvSpPr>
          <p:nvPr>
            <p:ph type="dt" sz="half" idx="10"/>
          </p:nvPr>
        </p:nvSpPr>
        <p:spPr/>
        <p:txBody>
          <a:bodyPr/>
          <a:lstStyle/>
          <a:p>
            <a:fld id="{052C9EF7-F6C7-421C-8E4A-B6EEEF060896}" type="datetimeFigureOut">
              <a:rPr lang="en-IN" smtClean="0"/>
              <a:t>13-08-2026</a:t>
            </a:fld>
            <a:endParaRPr lang="en-IN"/>
          </a:p>
        </p:txBody>
      </p:sp>
      <p:sp>
        <p:nvSpPr>
          <p:cNvPr id="5" name="Footer Placeholder 4">
            <a:extLst>
              <a:ext uri="{FF2B5EF4-FFF2-40B4-BE49-F238E27FC236}">
                <a16:creationId xmlns:a16="http://schemas.microsoft.com/office/drawing/2014/main" id="{52D11164-4972-411A-948E-2B3A5A91B42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827444A-3B2A-4C64-AC57-38226232AA0E}"/>
              </a:ext>
            </a:extLst>
          </p:cNvPr>
          <p:cNvSpPr>
            <a:spLocks noGrp="1"/>
          </p:cNvSpPr>
          <p:nvPr>
            <p:ph type="sldNum" sz="quarter" idx="12"/>
          </p:nvPr>
        </p:nvSpPr>
        <p:spPr/>
        <p:txBody>
          <a:bodyPr/>
          <a:lstStyle/>
          <a:p>
            <a:fld id="{8D3B4CCE-EFBC-40E6-9525-BF63A61C7DB5}" type="slidenum">
              <a:rPr lang="en-IN" smtClean="0"/>
              <a:t>‹#›</a:t>
            </a:fld>
            <a:endParaRPr lang="en-IN"/>
          </a:p>
        </p:txBody>
      </p:sp>
    </p:spTree>
    <p:extLst>
      <p:ext uri="{BB962C8B-B14F-4D97-AF65-F5344CB8AC3E}">
        <p14:creationId xmlns:p14="http://schemas.microsoft.com/office/powerpoint/2010/main" val="306402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548AA2-6C8C-4B3D-AC1D-207C8C1D353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6927D04-A2B3-4B70-BBFC-41E69B25627D}"/>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46A07FA-55AD-4D89-908A-B4DA0EF68390}"/>
              </a:ext>
            </a:extLst>
          </p:cNvPr>
          <p:cNvSpPr>
            <a:spLocks noGrp="1"/>
          </p:cNvSpPr>
          <p:nvPr>
            <p:ph type="dt" sz="half" idx="10"/>
          </p:nvPr>
        </p:nvSpPr>
        <p:spPr/>
        <p:txBody>
          <a:bodyPr/>
          <a:lstStyle/>
          <a:p>
            <a:fld id="{052C9EF7-F6C7-421C-8E4A-B6EEEF060896}" type="datetimeFigureOut">
              <a:rPr lang="en-IN" smtClean="0"/>
              <a:t>13-08-2026</a:t>
            </a:fld>
            <a:endParaRPr lang="en-IN"/>
          </a:p>
        </p:txBody>
      </p:sp>
      <p:sp>
        <p:nvSpPr>
          <p:cNvPr id="5" name="Footer Placeholder 4">
            <a:extLst>
              <a:ext uri="{FF2B5EF4-FFF2-40B4-BE49-F238E27FC236}">
                <a16:creationId xmlns:a16="http://schemas.microsoft.com/office/drawing/2014/main" id="{D8318F59-84C8-4089-BF8E-2C080134BDB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FA2B82A-FDC9-406D-A795-B670AE1DF1AE}"/>
              </a:ext>
            </a:extLst>
          </p:cNvPr>
          <p:cNvSpPr>
            <a:spLocks noGrp="1"/>
          </p:cNvSpPr>
          <p:nvPr>
            <p:ph type="sldNum" sz="quarter" idx="12"/>
          </p:nvPr>
        </p:nvSpPr>
        <p:spPr/>
        <p:txBody>
          <a:bodyPr/>
          <a:lstStyle/>
          <a:p>
            <a:fld id="{8D3B4CCE-EFBC-40E6-9525-BF63A61C7DB5}" type="slidenum">
              <a:rPr lang="en-IN" smtClean="0"/>
              <a:t>‹#›</a:t>
            </a:fld>
            <a:endParaRPr lang="en-IN"/>
          </a:p>
        </p:txBody>
      </p:sp>
    </p:spTree>
    <p:extLst>
      <p:ext uri="{BB962C8B-B14F-4D97-AF65-F5344CB8AC3E}">
        <p14:creationId xmlns:p14="http://schemas.microsoft.com/office/powerpoint/2010/main" val="37322887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0E6F12-A688-4D98-B829-1E81636B42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BED2195-5A06-4934-862A-A6628AE7F68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5F312C3-4B06-4D19-9FBB-A7AD9C0F84F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2C9EF7-F6C7-421C-8E4A-B6EEEF060896}" type="datetimeFigureOut">
              <a:rPr lang="en-IN" smtClean="0"/>
              <a:t>13-08-2026</a:t>
            </a:fld>
            <a:endParaRPr lang="en-IN"/>
          </a:p>
        </p:txBody>
      </p:sp>
      <p:sp>
        <p:nvSpPr>
          <p:cNvPr id="5" name="Footer Placeholder 4">
            <a:extLst>
              <a:ext uri="{FF2B5EF4-FFF2-40B4-BE49-F238E27FC236}">
                <a16:creationId xmlns:a16="http://schemas.microsoft.com/office/drawing/2014/main" id="{91FBFBCA-2F8C-468A-9FC8-702124FC86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CCF5914-8CA2-44B4-A5D1-2C82361A71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3B4CCE-EFBC-40E6-9525-BF63A61C7DB5}" type="slidenum">
              <a:rPr lang="en-IN" smtClean="0"/>
              <a:t>‹#›</a:t>
            </a:fld>
            <a:endParaRPr lang="en-IN"/>
          </a:p>
        </p:txBody>
      </p:sp>
    </p:spTree>
    <p:extLst>
      <p:ext uri="{BB962C8B-B14F-4D97-AF65-F5344CB8AC3E}">
        <p14:creationId xmlns:p14="http://schemas.microsoft.com/office/powerpoint/2010/main" val="1510045254"/>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www.youtube.com/"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hyperlink" Target="https://www.shiksha.com/online-courses/articles/how-does-http-work/#https://www.shiksha.com/online-courses/articles/osi-vs-tcp-ip-model-whats-the-difference/"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http://www.facebook.com/" TargetMode="External"/><Relationship Id="rId2" Type="http://schemas.openxmlformats.org/officeDocument/2006/relationships/hyperlink" Target="https://www.facebook.com/"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hyperlink" Target="https://www.geeksforgeeks.org/difference-between-ftp-and-tftp/" TargetMode="Externa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24.gif"/><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hyperlink" Target="https://www.geeksforgeeks.org/" TargetMode="Externa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hyperlink" Target="http://www.sitpune.edu.in/" TargetMode="Externa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4E01D-0847-4C05-897C-52DB80D2FF53}"/>
              </a:ext>
            </a:extLst>
          </p:cNvPr>
          <p:cNvSpPr>
            <a:spLocks noGrp="1"/>
          </p:cNvSpPr>
          <p:nvPr>
            <p:ph type="title"/>
          </p:nvPr>
        </p:nvSpPr>
        <p:spPr>
          <a:xfrm>
            <a:off x="770965" y="365125"/>
            <a:ext cx="10582835" cy="576169"/>
          </a:xfrm>
        </p:spPr>
        <p:txBody>
          <a:bodyPr>
            <a:normAutofit fontScale="90000"/>
          </a:bodyPr>
          <a:lstStyle/>
          <a:p>
            <a:pPr algn="ctr"/>
            <a:br>
              <a:rPr lang="en-IN" sz="3100" b="1" dirty="0"/>
            </a:br>
            <a:r>
              <a:rPr lang="en-IN" sz="3100" b="1" dirty="0"/>
              <a:t>Principles of Network Applications</a:t>
            </a:r>
            <a:br>
              <a:rPr lang="en-IN" dirty="0"/>
            </a:br>
            <a:endParaRPr lang="en-IN" dirty="0"/>
          </a:p>
        </p:txBody>
      </p:sp>
      <p:pic>
        <p:nvPicPr>
          <p:cNvPr id="4" name="Content Placeholder 3">
            <a:extLst>
              <a:ext uri="{FF2B5EF4-FFF2-40B4-BE49-F238E27FC236}">
                <a16:creationId xmlns:a16="http://schemas.microsoft.com/office/drawing/2014/main" id="{29822643-293A-4C5A-A821-0DB40EE241B0}"/>
              </a:ext>
            </a:extLst>
          </p:cNvPr>
          <p:cNvPicPr>
            <a:picLocks noGrp="1" noChangeAspect="1"/>
          </p:cNvPicPr>
          <p:nvPr>
            <p:ph idx="1"/>
          </p:nvPr>
        </p:nvPicPr>
        <p:blipFill>
          <a:blip r:embed="rId2"/>
          <a:stretch>
            <a:fillRect/>
          </a:stretch>
        </p:blipFill>
        <p:spPr>
          <a:xfrm>
            <a:off x="2465294" y="1164821"/>
            <a:ext cx="6875930" cy="5146453"/>
          </a:xfrm>
          <a:prstGeom prst="rect">
            <a:avLst/>
          </a:prstGeom>
        </p:spPr>
      </p:pic>
    </p:spTree>
    <p:extLst>
      <p:ext uri="{BB962C8B-B14F-4D97-AF65-F5344CB8AC3E}">
        <p14:creationId xmlns:p14="http://schemas.microsoft.com/office/powerpoint/2010/main" val="17869349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958C5-A91B-4DFE-BB38-D0A4903D39CE}"/>
              </a:ext>
            </a:extLst>
          </p:cNvPr>
          <p:cNvSpPr>
            <a:spLocks noGrp="1"/>
          </p:cNvSpPr>
          <p:nvPr>
            <p:ph type="title"/>
          </p:nvPr>
        </p:nvSpPr>
        <p:spPr>
          <a:xfrm>
            <a:off x="838200" y="365126"/>
            <a:ext cx="10515600" cy="315912"/>
          </a:xfrm>
        </p:spPr>
        <p:txBody>
          <a:bodyPr>
            <a:normAutofit/>
          </a:bodyPr>
          <a:lstStyle/>
          <a:p>
            <a:r>
              <a:rPr lang="en-US" sz="1400" dirty="0"/>
              <a:t>Continued…</a:t>
            </a:r>
            <a:endParaRPr lang="en-IN" sz="1400" dirty="0"/>
          </a:p>
        </p:txBody>
      </p:sp>
      <p:sp>
        <p:nvSpPr>
          <p:cNvPr id="3" name="Content Placeholder 2">
            <a:extLst>
              <a:ext uri="{FF2B5EF4-FFF2-40B4-BE49-F238E27FC236}">
                <a16:creationId xmlns:a16="http://schemas.microsoft.com/office/drawing/2014/main" id="{DAAC379E-D270-4652-9801-09FB4E1F52D6}"/>
              </a:ext>
            </a:extLst>
          </p:cNvPr>
          <p:cNvSpPr>
            <a:spLocks noGrp="1"/>
          </p:cNvSpPr>
          <p:nvPr>
            <p:ph idx="1"/>
          </p:nvPr>
        </p:nvSpPr>
        <p:spPr>
          <a:xfrm>
            <a:off x="838200" y="995082"/>
            <a:ext cx="10515600" cy="5181881"/>
          </a:xfrm>
        </p:spPr>
        <p:txBody>
          <a:bodyPr>
            <a:normAutofit/>
          </a:bodyPr>
          <a:lstStyle/>
          <a:p>
            <a:pPr marL="0" indent="0" fontAlgn="base">
              <a:buNone/>
            </a:pPr>
            <a:r>
              <a:rPr lang="en-IN" sz="2000" dirty="0"/>
              <a:t>The Principles of Network Applications are fundamental concepts that govern the design and development of applications that run on a computer network. These principles encompass several key aspects of network applications, including:</a:t>
            </a:r>
          </a:p>
          <a:p>
            <a:pPr lvl="0" fontAlgn="base"/>
            <a:r>
              <a:rPr lang="en-IN" sz="2000" dirty="0"/>
              <a:t>Network Application Architectures</a:t>
            </a:r>
          </a:p>
          <a:p>
            <a:pPr lvl="0" fontAlgn="base"/>
            <a:r>
              <a:rPr lang="en-IN" sz="2000" dirty="0"/>
              <a:t>Processes Communicating</a:t>
            </a:r>
          </a:p>
          <a:p>
            <a:pPr lvl="0" fontAlgn="base"/>
            <a:r>
              <a:rPr lang="en-IN" sz="2000" dirty="0"/>
              <a:t>The Interface Between the Process and the Computer Network</a:t>
            </a:r>
          </a:p>
          <a:p>
            <a:pPr lvl="0" fontAlgn="base"/>
            <a:r>
              <a:rPr lang="en-IN" sz="2000" dirty="0"/>
              <a:t>Transport Services Available to Applications</a:t>
            </a:r>
          </a:p>
          <a:p>
            <a:pPr lvl="0" fontAlgn="base"/>
            <a:r>
              <a:rPr lang="en-IN" sz="2000" dirty="0"/>
              <a:t>Transport Services Provided by the Internet</a:t>
            </a:r>
          </a:p>
          <a:p>
            <a:r>
              <a:rPr lang="en-IN" sz="2000" dirty="0"/>
              <a:t>Application-Layer Protocols</a:t>
            </a:r>
          </a:p>
        </p:txBody>
      </p:sp>
    </p:spTree>
    <p:extLst>
      <p:ext uri="{BB962C8B-B14F-4D97-AF65-F5344CB8AC3E}">
        <p14:creationId xmlns:p14="http://schemas.microsoft.com/office/powerpoint/2010/main" val="27494529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A3A31-3A65-483A-B8BD-295140957F8A}"/>
              </a:ext>
            </a:extLst>
          </p:cNvPr>
          <p:cNvSpPr>
            <a:spLocks noGrp="1"/>
          </p:cNvSpPr>
          <p:nvPr>
            <p:ph type="title"/>
          </p:nvPr>
        </p:nvSpPr>
        <p:spPr>
          <a:xfrm>
            <a:off x="839789" y="457200"/>
            <a:ext cx="3839788" cy="530225"/>
          </a:xfrm>
        </p:spPr>
        <p:txBody>
          <a:bodyPr>
            <a:normAutofit/>
          </a:bodyPr>
          <a:lstStyle/>
          <a:p>
            <a:pPr algn="ctr"/>
            <a:r>
              <a:rPr lang="en-IN" sz="2000" b="1" dirty="0"/>
              <a:t>Network Application Architectures</a:t>
            </a:r>
            <a:r>
              <a:rPr lang="en-IN" sz="2000" dirty="0"/>
              <a:t> </a:t>
            </a:r>
          </a:p>
        </p:txBody>
      </p:sp>
      <p:sp>
        <p:nvSpPr>
          <p:cNvPr id="3" name="Picture Placeholder 2">
            <a:extLst>
              <a:ext uri="{FF2B5EF4-FFF2-40B4-BE49-F238E27FC236}">
                <a16:creationId xmlns:a16="http://schemas.microsoft.com/office/drawing/2014/main" id="{7FF2DB4E-7792-4A37-8409-E38101C67126}"/>
              </a:ext>
            </a:extLst>
          </p:cNvPr>
          <p:cNvSpPr>
            <a:spLocks noGrp="1"/>
          </p:cNvSpPr>
          <p:nvPr>
            <p:ph type="pic" idx="1"/>
          </p:nvPr>
        </p:nvSpPr>
        <p:spPr>
          <a:xfrm>
            <a:off x="6391834" y="1407459"/>
            <a:ext cx="4963553" cy="4453591"/>
          </a:xfrm>
        </p:spPr>
      </p:sp>
      <p:sp>
        <p:nvSpPr>
          <p:cNvPr id="4" name="Text Placeholder 3">
            <a:extLst>
              <a:ext uri="{FF2B5EF4-FFF2-40B4-BE49-F238E27FC236}">
                <a16:creationId xmlns:a16="http://schemas.microsoft.com/office/drawing/2014/main" id="{974FB358-5DEF-4604-9BA0-110E2C2C2781}"/>
              </a:ext>
            </a:extLst>
          </p:cNvPr>
          <p:cNvSpPr>
            <a:spLocks noGrp="1"/>
          </p:cNvSpPr>
          <p:nvPr>
            <p:ph type="body" sz="half" idx="2"/>
          </p:nvPr>
        </p:nvSpPr>
        <p:spPr>
          <a:xfrm>
            <a:off x="839788" y="1407459"/>
            <a:ext cx="5256212" cy="4461529"/>
          </a:xfrm>
        </p:spPr>
        <p:txBody>
          <a:bodyPr/>
          <a:lstStyle/>
          <a:p>
            <a:pPr algn="just"/>
            <a:r>
              <a:rPr lang="en-IN" b="1" dirty="0"/>
              <a:t>Network Application Architectures</a:t>
            </a:r>
            <a:r>
              <a:rPr lang="en-IN" dirty="0"/>
              <a:t> refer to the overall design and structure of a network application. It encompasses how the application is divided into different components, and how these components interact with each other. There are several commonly used network application architectures, including:</a:t>
            </a:r>
          </a:p>
          <a:p>
            <a:pPr marL="285750" indent="-285750">
              <a:buFont typeface="Wingdings" panose="05000000000000000000" pitchFamily="2" charset="2"/>
              <a:buChar char="Ø"/>
            </a:pPr>
            <a:r>
              <a:rPr lang="en-IN" b="1" dirty="0"/>
              <a:t>Client-Server Architecture</a:t>
            </a:r>
          </a:p>
          <a:p>
            <a:pPr marL="285750" indent="-285750">
              <a:buFont typeface="Wingdings" panose="05000000000000000000" pitchFamily="2" charset="2"/>
              <a:buChar char="Ø"/>
            </a:pPr>
            <a:r>
              <a:rPr lang="en-IN" b="1" dirty="0"/>
              <a:t>Peer-to-Peer Architecture</a:t>
            </a:r>
          </a:p>
          <a:p>
            <a:pPr marL="285750" indent="-285750">
              <a:buFont typeface="Wingdings" panose="05000000000000000000" pitchFamily="2" charset="2"/>
              <a:buChar char="Ø"/>
            </a:pPr>
            <a:r>
              <a:rPr lang="en-IN" b="1" dirty="0"/>
              <a:t>Three-Tier Architecture</a:t>
            </a:r>
          </a:p>
          <a:p>
            <a:pPr marL="285750" indent="-285750">
              <a:buFont typeface="Wingdings" panose="05000000000000000000" pitchFamily="2" charset="2"/>
              <a:buChar char="Ø"/>
            </a:pPr>
            <a:r>
              <a:rPr lang="en-IN" b="1" dirty="0"/>
              <a:t>Microservices Architecture</a:t>
            </a:r>
            <a:endParaRPr lang="en-IN" dirty="0"/>
          </a:p>
        </p:txBody>
      </p:sp>
      <p:pic>
        <p:nvPicPr>
          <p:cNvPr id="5" name="Picture 4">
            <a:extLst>
              <a:ext uri="{FF2B5EF4-FFF2-40B4-BE49-F238E27FC236}">
                <a16:creationId xmlns:a16="http://schemas.microsoft.com/office/drawing/2014/main" id="{160FD5D4-D14B-40A8-BBD1-F4D10BC421F5}"/>
              </a:ext>
            </a:extLst>
          </p:cNvPr>
          <p:cNvPicPr>
            <a:picLocks noChangeAspect="1"/>
          </p:cNvPicPr>
          <p:nvPr/>
        </p:nvPicPr>
        <p:blipFill>
          <a:blip r:embed="rId2"/>
          <a:stretch>
            <a:fillRect/>
          </a:stretch>
        </p:blipFill>
        <p:spPr>
          <a:xfrm>
            <a:off x="6391834" y="1481158"/>
            <a:ext cx="5067806" cy="4387829"/>
          </a:xfrm>
          <a:prstGeom prst="rect">
            <a:avLst/>
          </a:prstGeom>
        </p:spPr>
      </p:pic>
    </p:spTree>
    <p:extLst>
      <p:ext uri="{BB962C8B-B14F-4D97-AF65-F5344CB8AC3E}">
        <p14:creationId xmlns:p14="http://schemas.microsoft.com/office/powerpoint/2010/main" val="26579756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BB7BD-ADD7-4F03-932F-892873CF4378}"/>
              </a:ext>
            </a:extLst>
          </p:cNvPr>
          <p:cNvSpPr>
            <a:spLocks noGrp="1"/>
          </p:cNvSpPr>
          <p:nvPr>
            <p:ph type="title"/>
          </p:nvPr>
        </p:nvSpPr>
        <p:spPr>
          <a:xfrm>
            <a:off x="986118" y="457200"/>
            <a:ext cx="3785907" cy="421341"/>
          </a:xfrm>
        </p:spPr>
        <p:txBody>
          <a:bodyPr>
            <a:normAutofit/>
          </a:bodyPr>
          <a:lstStyle/>
          <a:p>
            <a:r>
              <a:rPr lang="en-IN" sz="2000" b="1" dirty="0"/>
              <a:t>Client-Server Architecture</a:t>
            </a:r>
            <a:endParaRPr lang="en-IN" sz="2000" dirty="0"/>
          </a:p>
        </p:txBody>
      </p:sp>
      <p:pic>
        <p:nvPicPr>
          <p:cNvPr id="6" name="Picture Placeholder 5">
            <a:extLst>
              <a:ext uri="{FF2B5EF4-FFF2-40B4-BE49-F238E27FC236}">
                <a16:creationId xmlns:a16="http://schemas.microsoft.com/office/drawing/2014/main" id="{8CD3C6F1-E905-48A4-9877-A0C5566BFFAE}"/>
              </a:ext>
            </a:extLst>
          </p:cNvPr>
          <p:cNvPicPr>
            <a:picLocks noGrp="1" noChangeAspect="1"/>
          </p:cNvPicPr>
          <p:nvPr>
            <p:ph type="pic" idx="1"/>
          </p:nvPr>
        </p:nvPicPr>
        <p:blipFill>
          <a:blip r:embed="rId2"/>
          <a:srcRect l="7390" r="7390"/>
          <a:stretch>
            <a:fillRect/>
          </a:stretch>
        </p:blipFill>
        <p:spPr>
          <a:prstGeom prst="rect">
            <a:avLst/>
          </a:prstGeom>
        </p:spPr>
      </p:pic>
      <p:sp>
        <p:nvSpPr>
          <p:cNvPr id="4" name="Text Placeholder 3">
            <a:extLst>
              <a:ext uri="{FF2B5EF4-FFF2-40B4-BE49-F238E27FC236}">
                <a16:creationId xmlns:a16="http://schemas.microsoft.com/office/drawing/2014/main" id="{69C4D1BF-E36B-4B63-A0F8-872923E08DF7}"/>
              </a:ext>
            </a:extLst>
          </p:cNvPr>
          <p:cNvSpPr>
            <a:spLocks noGrp="1"/>
          </p:cNvSpPr>
          <p:nvPr>
            <p:ph type="body" sz="half" idx="2"/>
          </p:nvPr>
        </p:nvSpPr>
        <p:spPr>
          <a:xfrm>
            <a:off x="839788" y="1416424"/>
            <a:ext cx="5256212" cy="4452564"/>
          </a:xfrm>
        </p:spPr>
        <p:txBody>
          <a:bodyPr/>
          <a:lstStyle/>
          <a:p>
            <a:endParaRPr lang="en-IN" b="1" dirty="0"/>
          </a:p>
          <a:p>
            <a:endParaRPr lang="en-IN" b="1" dirty="0"/>
          </a:p>
          <a:p>
            <a:endParaRPr lang="en-IN" b="1" dirty="0"/>
          </a:p>
          <a:p>
            <a:pPr marL="342900" indent="-342900" algn="just">
              <a:buFont typeface="Wingdings" panose="05000000000000000000" pitchFamily="2" charset="2"/>
              <a:buChar char="Ø"/>
            </a:pPr>
            <a:r>
              <a:rPr lang="en-IN" sz="2000" dirty="0"/>
              <a:t>one component acts as a client and makes requests to a server component, which provides the requested services.</a:t>
            </a:r>
          </a:p>
          <a:p>
            <a:pPr marL="342900" indent="-342900" algn="just">
              <a:buFont typeface="Wingdings" panose="05000000000000000000" pitchFamily="2" charset="2"/>
              <a:buChar char="Ø"/>
            </a:pPr>
            <a:r>
              <a:rPr lang="en-IN" sz="2000" dirty="0"/>
              <a:t>commonly used in web applications, where the client is a web browser and the server is a web server.</a:t>
            </a:r>
          </a:p>
        </p:txBody>
      </p:sp>
    </p:spTree>
    <p:extLst>
      <p:ext uri="{BB962C8B-B14F-4D97-AF65-F5344CB8AC3E}">
        <p14:creationId xmlns:p14="http://schemas.microsoft.com/office/powerpoint/2010/main" val="20778408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36A10-3595-4F3C-8F51-F6B1713551B5}"/>
              </a:ext>
            </a:extLst>
          </p:cNvPr>
          <p:cNvSpPr>
            <a:spLocks noGrp="1"/>
          </p:cNvSpPr>
          <p:nvPr>
            <p:ph type="title"/>
          </p:nvPr>
        </p:nvSpPr>
        <p:spPr>
          <a:xfrm>
            <a:off x="836612" y="457200"/>
            <a:ext cx="3935413" cy="905435"/>
          </a:xfrm>
        </p:spPr>
        <p:txBody>
          <a:bodyPr>
            <a:normAutofit/>
          </a:bodyPr>
          <a:lstStyle/>
          <a:p>
            <a:r>
              <a:rPr lang="en-IN" sz="2400" b="1" dirty="0"/>
              <a:t>Peer to Peer architecture </a:t>
            </a:r>
          </a:p>
        </p:txBody>
      </p:sp>
      <p:pic>
        <p:nvPicPr>
          <p:cNvPr id="7" name="Picture Placeholder 6">
            <a:extLst>
              <a:ext uri="{FF2B5EF4-FFF2-40B4-BE49-F238E27FC236}">
                <a16:creationId xmlns:a16="http://schemas.microsoft.com/office/drawing/2014/main" id="{EC7BF685-551C-4E0D-B061-0ABAC6D79BD7}"/>
              </a:ext>
            </a:extLst>
          </p:cNvPr>
          <p:cNvPicPr>
            <a:picLocks noGrp="1" noChangeAspect="1"/>
          </p:cNvPicPr>
          <p:nvPr>
            <p:ph type="pic" idx="1"/>
          </p:nvPr>
        </p:nvPicPr>
        <p:blipFill>
          <a:blip r:embed="rId2"/>
          <a:srcRect t="8052" b="8052"/>
          <a:stretch>
            <a:fillRect/>
          </a:stretch>
        </p:blipFill>
        <p:spPr>
          <a:prstGeom prst="rect">
            <a:avLst/>
          </a:prstGeom>
        </p:spPr>
      </p:pic>
      <p:sp>
        <p:nvSpPr>
          <p:cNvPr id="4" name="Text Placeholder 3">
            <a:extLst>
              <a:ext uri="{FF2B5EF4-FFF2-40B4-BE49-F238E27FC236}">
                <a16:creationId xmlns:a16="http://schemas.microsoft.com/office/drawing/2014/main" id="{7A2B3D4C-2457-4155-86EA-2695EFBD6B50}"/>
              </a:ext>
            </a:extLst>
          </p:cNvPr>
          <p:cNvSpPr>
            <a:spLocks noGrp="1"/>
          </p:cNvSpPr>
          <p:nvPr>
            <p:ph type="body" sz="half" idx="2"/>
          </p:nvPr>
        </p:nvSpPr>
        <p:spPr>
          <a:xfrm>
            <a:off x="839788" y="1846729"/>
            <a:ext cx="4368706" cy="4022259"/>
          </a:xfrm>
        </p:spPr>
        <p:txBody>
          <a:bodyPr/>
          <a:lstStyle/>
          <a:p>
            <a:endParaRPr lang="en-US" dirty="0"/>
          </a:p>
          <a:p>
            <a:pPr marL="285750" indent="-285750">
              <a:buFont typeface="Wingdings" panose="05000000000000000000" pitchFamily="2" charset="2"/>
              <a:buChar char="Ø"/>
            </a:pPr>
            <a:r>
              <a:rPr lang="en-IN" dirty="0"/>
              <a:t>Every component is both a client and a server, and each component can communicate directly with any other component. </a:t>
            </a:r>
          </a:p>
          <a:p>
            <a:pPr marL="285750" indent="-285750">
              <a:buFont typeface="Wingdings" panose="05000000000000000000" pitchFamily="2" charset="2"/>
              <a:buChar char="Ø"/>
            </a:pPr>
            <a:r>
              <a:rPr lang="en-IN" dirty="0"/>
              <a:t>Commonly used in file-sharing applications, where each user's device acts as both a client and a server.</a:t>
            </a:r>
          </a:p>
          <a:p>
            <a:pPr marL="285750" indent="-285750">
              <a:buFont typeface="Wingdings" panose="05000000000000000000" pitchFamily="2" charset="2"/>
              <a:buChar char="Ø"/>
            </a:pPr>
            <a:endParaRPr lang="en-IN" dirty="0"/>
          </a:p>
        </p:txBody>
      </p:sp>
    </p:spTree>
    <p:extLst>
      <p:ext uri="{BB962C8B-B14F-4D97-AF65-F5344CB8AC3E}">
        <p14:creationId xmlns:p14="http://schemas.microsoft.com/office/powerpoint/2010/main" val="10230631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87D6A-C6C4-46A6-8307-F04052A30465}"/>
              </a:ext>
            </a:extLst>
          </p:cNvPr>
          <p:cNvSpPr>
            <a:spLocks noGrp="1"/>
          </p:cNvSpPr>
          <p:nvPr>
            <p:ph type="title"/>
          </p:nvPr>
        </p:nvSpPr>
        <p:spPr>
          <a:xfrm>
            <a:off x="905435" y="457200"/>
            <a:ext cx="3866590" cy="609600"/>
          </a:xfrm>
        </p:spPr>
        <p:txBody>
          <a:bodyPr>
            <a:normAutofit/>
          </a:bodyPr>
          <a:lstStyle/>
          <a:p>
            <a:r>
              <a:rPr lang="en-IN" sz="2400" b="1" dirty="0"/>
              <a:t>Three-Tier Architecture</a:t>
            </a:r>
          </a:p>
        </p:txBody>
      </p:sp>
      <p:pic>
        <p:nvPicPr>
          <p:cNvPr id="15" name="Picture Placeholder 14">
            <a:extLst>
              <a:ext uri="{FF2B5EF4-FFF2-40B4-BE49-F238E27FC236}">
                <a16:creationId xmlns:a16="http://schemas.microsoft.com/office/drawing/2014/main" id="{09AA329F-74CF-4E58-BEF5-673BDDAE1DEA}"/>
              </a:ext>
            </a:extLst>
          </p:cNvPr>
          <p:cNvPicPr>
            <a:picLocks noGrp="1" noChangeAspect="1"/>
          </p:cNvPicPr>
          <p:nvPr>
            <p:ph type="pic" idx="1"/>
          </p:nvPr>
        </p:nvPicPr>
        <p:blipFill>
          <a:blip r:embed="rId2"/>
          <a:srcRect l="14491" r="14491"/>
          <a:stretch>
            <a:fillRect/>
          </a:stretch>
        </p:blipFill>
        <p:spPr>
          <a:prstGeom prst="rect">
            <a:avLst/>
          </a:prstGeom>
        </p:spPr>
      </p:pic>
      <p:sp>
        <p:nvSpPr>
          <p:cNvPr id="4" name="Text Placeholder 3">
            <a:extLst>
              <a:ext uri="{FF2B5EF4-FFF2-40B4-BE49-F238E27FC236}">
                <a16:creationId xmlns:a16="http://schemas.microsoft.com/office/drawing/2014/main" id="{4412D4AC-3CB6-424B-9CEF-186511A26130}"/>
              </a:ext>
            </a:extLst>
          </p:cNvPr>
          <p:cNvSpPr>
            <a:spLocks noGrp="1"/>
          </p:cNvSpPr>
          <p:nvPr>
            <p:ph type="body" sz="half" idx="2"/>
          </p:nvPr>
        </p:nvSpPr>
        <p:spPr>
          <a:xfrm>
            <a:off x="839788" y="1667435"/>
            <a:ext cx="4969341" cy="4201553"/>
          </a:xfrm>
        </p:spPr>
        <p:txBody>
          <a:bodyPr/>
          <a:lstStyle/>
          <a:p>
            <a:pPr marL="285750" indent="-285750">
              <a:buFont typeface="Wingdings" panose="05000000000000000000" pitchFamily="2" charset="2"/>
              <a:buChar char="Ø"/>
            </a:pPr>
            <a:r>
              <a:rPr lang="en-IN" dirty="0"/>
              <a:t>The application is divided into three components: a client component, a middleware component, and a database component. </a:t>
            </a:r>
          </a:p>
          <a:p>
            <a:pPr marL="285750" indent="-285750">
              <a:buFont typeface="Wingdings" panose="05000000000000000000" pitchFamily="2" charset="2"/>
              <a:buChar char="Ø"/>
            </a:pPr>
            <a:r>
              <a:rPr lang="en-IN"/>
              <a:t>The </a:t>
            </a:r>
            <a:r>
              <a:rPr lang="en-IN" dirty="0"/>
              <a:t>client component makes requests to the middleware component, which communicates with the database component to retrieve or update </a:t>
            </a:r>
            <a:r>
              <a:rPr lang="en-IN"/>
              <a:t>data.</a:t>
            </a:r>
          </a:p>
          <a:p>
            <a:pPr marL="285750" indent="-285750">
              <a:buFont typeface="Wingdings" panose="05000000000000000000" pitchFamily="2" charset="2"/>
              <a:buChar char="Ø"/>
            </a:pPr>
            <a:r>
              <a:rPr lang="en-IN"/>
              <a:t> </a:t>
            </a:r>
            <a:r>
              <a:rPr lang="en-IN" dirty="0"/>
              <a:t>This architecture provides a layer of abstraction between the client and the database, which can improve performance and scalability.</a:t>
            </a:r>
          </a:p>
          <a:p>
            <a:pPr marL="285750" indent="-285750">
              <a:buFont typeface="Wingdings" panose="05000000000000000000" pitchFamily="2" charset="2"/>
              <a:buChar char="Ø"/>
            </a:pPr>
            <a:endParaRPr lang="en-IN" dirty="0"/>
          </a:p>
        </p:txBody>
      </p:sp>
    </p:spTree>
    <p:extLst>
      <p:ext uri="{BB962C8B-B14F-4D97-AF65-F5344CB8AC3E}">
        <p14:creationId xmlns:p14="http://schemas.microsoft.com/office/powerpoint/2010/main" val="1093891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DBFE9-FF40-46C4-9CF0-5B0F6E32953A}"/>
              </a:ext>
            </a:extLst>
          </p:cNvPr>
          <p:cNvSpPr>
            <a:spLocks noGrp="1"/>
          </p:cNvSpPr>
          <p:nvPr>
            <p:ph type="title"/>
          </p:nvPr>
        </p:nvSpPr>
        <p:spPr>
          <a:xfrm>
            <a:off x="609601" y="502024"/>
            <a:ext cx="10744200" cy="950258"/>
          </a:xfrm>
        </p:spPr>
        <p:txBody>
          <a:bodyPr>
            <a:normAutofit fontScale="90000"/>
          </a:bodyPr>
          <a:lstStyle/>
          <a:p>
            <a:r>
              <a:rPr lang="en-IN" sz="3600" b="1" dirty="0"/>
              <a:t>Microservices Architecture</a:t>
            </a:r>
            <a:br>
              <a:rPr lang="en-IN" dirty="0"/>
            </a:br>
            <a:endParaRPr lang="en-IN" dirty="0"/>
          </a:p>
        </p:txBody>
      </p:sp>
      <p:sp>
        <p:nvSpPr>
          <p:cNvPr id="3" name="Content Placeholder 2">
            <a:extLst>
              <a:ext uri="{FF2B5EF4-FFF2-40B4-BE49-F238E27FC236}">
                <a16:creationId xmlns:a16="http://schemas.microsoft.com/office/drawing/2014/main" id="{B02735ED-68E4-4C01-9E1E-7D3E2302EE36}"/>
              </a:ext>
            </a:extLst>
          </p:cNvPr>
          <p:cNvSpPr>
            <a:spLocks noGrp="1"/>
          </p:cNvSpPr>
          <p:nvPr>
            <p:ph idx="1"/>
          </p:nvPr>
        </p:nvSpPr>
        <p:spPr>
          <a:xfrm>
            <a:off x="838199" y="1452282"/>
            <a:ext cx="10515601" cy="4724681"/>
          </a:xfrm>
        </p:spPr>
        <p:txBody>
          <a:bodyPr>
            <a:normAutofit/>
          </a:bodyPr>
          <a:lstStyle/>
          <a:p>
            <a:endParaRPr lang="en-US" sz="2000" dirty="0"/>
          </a:p>
          <a:p>
            <a:r>
              <a:rPr lang="en-US" sz="2000" dirty="0">
                <a:latin typeface="Arial" panose="020B0604020202020204" pitchFamily="34" charset="0"/>
                <a:cs typeface="Arial" panose="020B0604020202020204" pitchFamily="34" charset="0"/>
              </a:rPr>
              <a:t>A microservices architecture is a design approach where an application is structured as a collection of small, independent, and loosely coupled services. </a:t>
            </a:r>
          </a:p>
          <a:p>
            <a:r>
              <a:rPr lang="en-US" sz="2000" dirty="0">
                <a:latin typeface="Arial" panose="020B0604020202020204" pitchFamily="34" charset="0"/>
                <a:cs typeface="Arial" panose="020B0604020202020204" pitchFamily="34" charset="0"/>
              </a:rPr>
              <a:t>These services, often called microservices, are independently deployable and can communicate with each other through well-defined APIs. </a:t>
            </a:r>
          </a:p>
          <a:p>
            <a:pPr marL="0" lvl="0" indent="0" eaLnBrk="0" fontAlgn="base" hangingPunct="0">
              <a:lnSpc>
                <a:spcPct val="100000"/>
              </a:lnSpc>
              <a:spcBef>
                <a:spcPct val="0"/>
              </a:spcBef>
              <a:spcAft>
                <a:spcPct val="0"/>
              </a:spcAft>
              <a:buFontTx/>
              <a:buChar char="•"/>
            </a:pPr>
            <a:r>
              <a:rPr lang="en-US" altLang="en-US" sz="2000" dirty="0">
                <a:latin typeface="Arial" panose="020B0604020202020204" pitchFamily="34" charset="0"/>
                <a:cs typeface="Arial" panose="020B0604020202020204" pitchFamily="34" charset="0"/>
              </a:rPr>
              <a:t>   Each service performs </a:t>
            </a:r>
            <a:r>
              <a:rPr lang="en-US" altLang="en-US" sz="2000" b="1" dirty="0">
                <a:latin typeface="Arial" panose="020B0604020202020204" pitchFamily="34" charset="0"/>
                <a:cs typeface="Arial" panose="020B0604020202020204" pitchFamily="34" charset="0"/>
              </a:rPr>
              <a:t>one specific task</a:t>
            </a:r>
            <a:r>
              <a:rPr lang="en-US" altLang="en-US" sz="2000" dirty="0">
                <a:latin typeface="Arial" panose="020B0604020202020204" pitchFamily="34" charset="0"/>
                <a:cs typeface="Arial" panose="020B0604020202020204" pitchFamily="34" charset="0"/>
              </a:rPr>
              <a:t>. </a:t>
            </a:r>
          </a:p>
          <a:p>
            <a:pPr marL="0" lvl="0" indent="0" eaLnBrk="0" fontAlgn="base" hangingPunct="0">
              <a:lnSpc>
                <a:spcPct val="100000"/>
              </a:lnSpc>
              <a:spcBef>
                <a:spcPct val="0"/>
              </a:spcBef>
              <a:spcAft>
                <a:spcPct val="0"/>
              </a:spcAft>
              <a:buFontTx/>
              <a:buChar char="•"/>
            </a:pPr>
            <a:r>
              <a:rPr lang="en-US" altLang="en-US" sz="2000" dirty="0">
                <a:latin typeface="Arial" panose="020B0604020202020204" pitchFamily="34" charset="0"/>
                <a:cs typeface="Arial" panose="020B0604020202020204" pitchFamily="34" charset="0"/>
              </a:rPr>
              <a:t>   Each service can be </a:t>
            </a:r>
            <a:r>
              <a:rPr lang="en-US" altLang="en-US" sz="2000" b="1" dirty="0">
                <a:latin typeface="Arial" panose="020B0604020202020204" pitchFamily="34" charset="0"/>
                <a:cs typeface="Arial" panose="020B0604020202020204" pitchFamily="34" charset="0"/>
              </a:rPr>
              <a:t>developed, tested, deployed, and maintained independently</a:t>
            </a:r>
            <a:r>
              <a:rPr lang="en-US" altLang="en-US" sz="2000" dirty="0">
                <a:latin typeface="Arial" panose="020B0604020202020204" pitchFamily="34" charset="0"/>
                <a:cs typeface="Arial" panose="020B0604020202020204" pitchFamily="34" charset="0"/>
              </a:rPr>
              <a:t>. </a:t>
            </a:r>
          </a:p>
          <a:p>
            <a:pPr marL="0" lvl="0" indent="0" eaLnBrk="0" fontAlgn="base" hangingPunct="0">
              <a:lnSpc>
                <a:spcPct val="100000"/>
              </a:lnSpc>
              <a:spcBef>
                <a:spcPct val="0"/>
              </a:spcBef>
              <a:spcAft>
                <a:spcPct val="0"/>
              </a:spcAft>
              <a:buFontTx/>
              <a:buChar char="•"/>
            </a:pPr>
            <a:r>
              <a:rPr lang="en-US" altLang="en-US" sz="2000" dirty="0">
                <a:latin typeface="Arial" panose="020B0604020202020204" pitchFamily="34" charset="0"/>
                <a:cs typeface="Arial" panose="020B0604020202020204" pitchFamily="34" charset="0"/>
              </a:rPr>
              <a:t>   Services communicate with one another using </a:t>
            </a:r>
            <a:r>
              <a:rPr lang="en-US" altLang="en-US" sz="2000" b="1" dirty="0">
                <a:latin typeface="Arial" panose="020B0604020202020204" pitchFamily="34" charset="0"/>
                <a:cs typeface="Arial" panose="020B0604020202020204" pitchFamily="34" charset="0"/>
              </a:rPr>
              <a:t>APIs (Application Programming </a:t>
            </a:r>
          </a:p>
          <a:p>
            <a:pPr marL="0" lvl="0" indent="0" eaLnBrk="0" fontAlgn="base" hangingPunct="0">
              <a:lnSpc>
                <a:spcPct val="100000"/>
              </a:lnSpc>
              <a:spcBef>
                <a:spcPct val="0"/>
              </a:spcBef>
              <a:spcAft>
                <a:spcPct val="0"/>
              </a:spcAft>
              <a:buNone/>
            </a:pPr>
            <a:r>
              <a:rPr lang="en-US" sz="2000" b="1" dirty="0">
                <a:latin typeface="Arial" panose="020B0604020202020204" pitchFamily="34" charset="0"/>
                <a:cs typeface="Arial" panose="020B0604020202020204" pitchFamily="34" charset="0"/>
              </a:rPr>
              <a:t>     Interfaces</a:t>
            </a:r>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This contrasts with a monolithic architecture where all application components are tightly integrated.</a:t>
            </a:r>
          </a:p>
          <a:p>
            <a:r>
              <a:rPr lang="en-US" sz="2000" dirty="0">
                <a:latin typeface="Arial" panose="020B0604020202020204" pitchFamily="34" charset="0"/>
                <a:cs typeface="Arial" panose="020B0604020202020204" pitchFamily="34" charset="0"/>
              </a:rPr>
              <a:t>Leading online companies such as Amazon, eBay, Netflix, PayPal, Twitter, and Uber have dropped monolithic architectures and moved to microservices</a:t>
            </a:r>
            <a:r>
              <a:rPr lang="en-US" dirty="0">
                <a:latin typeface="Arial" panose="020B0604020202020204" pitchFamily="34" charset="0"/>
                <a:cs typeface="Arial" panose="020B0604020202020204" pitchFamily="34" charset="0"/>
              </a:rPr>
              <a:t>.</a:t>
            </a:r>
            <a:endParaRPr lang="en-IN" sz="2000" dirty="0">
              <a:latin typeface="Arial" panose="020B0604020202020204" pitchFamily="34" charset="0"/>
              <a:cs typeface="Arial" panose="020B0604020202020204" pitchFamily="34" charset="0"/>
            </a:endParaRPr>
          </a:p>
        </p:txBody>
      </p:sp>
      <p:sp>
        <p:nvSpPr>
          <p:cNvPr id="4" name="Rectangle 1">
            <a:extLst>
              <a:ext uri="{FF2B5EF4-FFF2-40B4-BE49-F238E27FC236}">
                <a16:creationId xmlns:a16="http://schemas.microsoft.com/office/drawing/2014/main" id="{8D368446-F9AE-41CE-B7AC-E1128304EAFE}"/>
              </a:ext>
            </a:extLst>
          </p:cNvPr>
          <p:cNvSpPr>
            <a:spLocks noChangeArrowheads="1"/>
          </p:cNvSpPr>
          <p:nvPr/>
        </p:nvSpPr>
        <p:spPr bwMode="auto">
          <a:xfrm>
            <a:off x="0" y="-3231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382797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C1B9946-6DD0-4816-8112-14671B65B642}"/>
              </a:ext>
            </a:extLst>
          </p:cNvPr>
          <p:cNvPicPr>
            <a:picLocks noChangeAspect="1"/>
          </p:cNvPicPr>
          <p:nvPr/>
        </p:nvPicPr>
        <p:blipFill>
          <a:blip r:embed="rId2"/>
          <a:stretch>
            <a:fillRect/>
          </a:stretch>
        </p:blipFill>
        <p:spPr>
          <a:xfrm>
            <a:off x="1206259" y="717177"/>
            <a:ext cx="9295053" cy="5154986"/>
          </a:xfrm>
          <a:prstGeom prst="rect">
            <a:avLst/>
          </a:prstGeom>
        </p:spPr>
      </p:pic>
    </p:spTree>
    <p:extLst>
      <p:ext uri="{BB962C8B-B14F-4D97-AF65-F5344CB8AC3E}">
        <p14:creationId xmlns:p14="http://schemas.microsoft.com/office/powerpoint/2010/main" val="27398491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434EA50-4AAD-414C-B6A9-CD83DEAE3B45}"/>
              </a:ext>
            </a:extLst>
          </p:cNvPr>
          <p:cNvPicPr>
            <a:picLocks noChangeAspect="1"/>
          </p:cNvPicPr>
          <p:nvPr/>
        </p:nvPicPr>
        <p:blipFill>
          <a:blip r:embed="rId2"/>
          <a:stretch>
            <a:fillRect/>
          </a:stretch>
        </p:blipFill>
        <p:spPr>
          <a:xfrm>
            <a:off x="2667000" y="0"/>
            <a:ext cx="6858000" cy="6858000"/>
          </a:xfrm>
          <a:prstGeom prst="rect">
            <a:avLst/>
          </a:prstGeom>
        </p:spPr>
      </p:pic>
    </p:spTree>
    <p:extLst>
      <p:ext uri="{BB962C8B-B14F-4D97-AF65-F5344CB8AC3E}">
        <p14:creationId xmlns:p14="http://schemas.microsoft.com/office/powerpoint/2010/main" val="13293615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F19A6-8D87-47E7-9AF1-B6A43635622D}"/>
              </a:ext>
            </a:extLst>
          </p:cNvPr>
          <p:cNvSpPr>
            <a:spLocks noGrp="1"/>
          </p:cNvSpPr>
          <p:nvPr>
            <p:ph type="title"/>
          </p:nvPr>
        </p:nvSpPr>
        <p:spPr>
          <a:xfrm>
            <a:off x="838200" y="365126"/>
            <a:ext cx="10515600" cy="315912"/>
          </a:xfrm>
        </p:spPr>
        <p:txBody>
          <a:bodyPr>
            <a:normAutofit/>
          </a:bodyPr>
          <a:lstStyle/>
          <a:p>
            <a:r>
              <a:rPr lang="en-IN" sz="1200" dirty="0"/>
              <a:t>Continued…</a:t>
            </a:r>
          </a:p>
        </p:txBody>
      </p:sp>
      <p:sp>
        <p:nvSpPr>
          <p:cNvPr id="3" name="Content Placeholder 2">
            <a:extLst>
              <a:ext uri="{FF2B5EF4-FFF2-40B4-BE49-F238E27FC236}">
                <a16:creationId xmlns:a16="http://schemas.microsoft.com/office/drawing/2014/main" id="{DB88F7FA-41AD-406F-AEDB-0E31D2D4AE04}"/>
              </a:ext>
            </a:extLst>
          </p:cNvPr>
          <p:cNvSpPr>
            <a:spLocks noGrp="1"/>
          </p:cNvSpPr>
          <p:nvPr>
            <p:ph idx="1"/>
          </p:nvPr>
        </p:nvSpPr>
        <p:spPr>
          <a:xfrm>
            <a:off x="838200" y="762000"/>
            <a:ext cx="10515600" cy="5414963"/>
          </a:xfrm>
        </p:spPr>
        <p:txBody>
          <a:bodyPr>
            <a:normAutofit/>
          </a:bodyPr>
          <a:lstStyle/>
          <a:p>
            <a:pPr marL="457200" indent="-457200">
              <a:buAutoNum type="arabicPeriod"/>
            </a:pPr>
            <a:r>
              <a:rPr lang="en-US" sz="2000" b="1" dirty="0"/>
              <a:t>Split into numerous components</a:t>
            </a:r>
          </a:p>
          <a:p>
            <a:pPr>
              <a:buFont typeface="Wingdings" panose="05000000000000000000" pitchFamily="2" charset="2"/>
              <a:buChar char="Ø"/>
            </a:pPr>
            <a:r>
              <a:rPr lang="en-US" sz="1800" dirty="0"/>
              <a:t>Software built using a microservices architecture is, by definition, broken down into numerous component services. </a:t>
            </a:r>
          </a:p>
          <a:p>
            <a:pPr>
              <a:buFont typeface="Wingdings" panose="05000000000000000000" pitchFamily="2" charset="2"/>
              <a:buChar char="Ø"/>
            </a:pPr>
            <a:r>
              <a:rPr lang="en-US" sz="1800" dirty="0"/>
              <a:t>Each service can be created, deployed, and updated independently without compromising application integrity.</a:t>
            </a:r>
          </a:p>
          <a:p>
            <a:pPr marL="0" indent="0">
              <a:buNone/>
            </a:pPr>
            <a:r>
              <a:rPr lang="en-US" sz="2000" b="1" dirty="0"/>
              <a:t>2. Robust and resistant to failure</a:t>
            </a:r>
          </a:p>
          <a:p>
            <a:pPr>
              <a:buFont typeface="Wingdings" panose="05000000000000000000" pitchFamily="2" charset="2"/>
              <a:buChar char="Ø"/>
            </a:pPr>
            <a:r>
              <a:rPr lang="en-US" sz="1800" dirty="0"/>
              <a:t>It is not easy for an application built using a microservices architecture to fail.</a:t>
            </a:r>
          </a:p>
          <a:p>
            <a:pPr>
              <a:buFont typeface="Wingdings" panose="05000000000000000000" pitchFamily="2" charset="2"/>
              <a:buChar char="Ø"/>
            </a:pPr>
            <a:r>
              <a:rPr lang="en-US" sz="1800" dirty="0"/>
              <a:t> Of course, individual services can fail, undoubtedly affecting operations. </a:t>
            </a:r>
          </a:p>
          <a:p>
            <a:pPr>
              <a:buFont typeface="Wingdings" panose="05000000000000000000" pitchFamily="2" charset="2"/>
              <a:buChar char="Ø"/>
            </a:pPr>
            <a:r>
              <a:rPr lang="en-US" sz="1800" dirty="0"/>
              <a:t>After all, numerous diverse and unique services communicate with each other to carry out operations in a microservices environment, and failure is bound to occur at some point.</a:t>
            </a:r>
          </a:p>
          <a:p>
            <a:pPr>
              <a:buFont typeface="Wingdings" panose="05000000000000000000" pitchFamily="2" charset="2"/>
              <a:buChar char="Ø"/>
            </a:pPr>
            <a:r>
              <a:rPr lang="en-US" sz="1800" dirty="0"/>
              <a:t>However, in a correctly configured microservices-based application, a function facing downtime should be able to reroute traffic away from itself while allowing its connected services to continue operating.</a:t>
            </a:r>
            <a:endParaRPr lang="en-IN" sz="1800" dirty="0"/>
          </a:p>
        </p:txBody>
      </p:sp>
    </p:spTree>
    <p:extLst>
      <p:ext uri="{BB962C8B-B14F-4D97-AF65-F5344CB8AC3E}">
        <p14:creationId xmlns:p14="http://schemas.microsoft.com/office/powerpoint/2010/main" val="3097120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0F596-6CB3-498B-A675-4C83EE050AC3}"/>
              </a:ext>
            </a:extLst>
          </p:cNvPr>
          <p:cNvSpPr>
            <a:spLocks noGrp="1"/>
          </p:cNvSpPr>
          <p:nvPr>
            <p:ph type="title"/>
          </p:nvPr>
        </p:nvSpPr>
        <p:spPr>
          <a:xfrm>
            <a:off x="744071" y="365126"/>
            <a:ext cx="10609729" cy="235510"/>
          </a:xfrm>
        </p:spPr>
        <p:txBody>
          <a:bodyPr>
            <a:noAutofit/>
          </a:bodyPr>
          <a:lstStyle/>
          <a:p>
            <a:r>
              <a:rPr lang="en-IN" sz="1200" dirty="0"/>
              <a:t>Continued…</a:t>
            </a:r>
          </a:p>
        </p:txBody>
      </p:sp>
      <p:sp>
        <p:nvSpPr>
          <p:cNvPr id="3" name="Content Placeholder 2">
            <a:extLst>
              <a:ext uri="{FF2B5EF4-FFF2-40B4-BE49-F238E27FC236}">
                <a16:creationId xmlns:a16="http://schemas.microsoft.com/office/drawing/2014/main" id="{E0A90BC0-8C9D-46D5-BEEB-54E061363491}"/>
              </a:ext>
            </a:extLst>
          </p:cNvPr>
          <p:cNvSpPr>
            <a:spLocks noGrp="1"/>
          </p:cNvSpPr>
          <p:nvPr>
            <p:ph idx="1"/>
          </p:nvPr>
        </p:nvSpPr>
        <p:spPr>
          <a:xfrm>
            <a:off x="838200" y="600636"/>
            <a:ext cx="10515600" cy="5576327"/>
          </a:xfrm>
        </p:spPr>
        <p:txBody>
          <a:bodyPr>
            <a:normAutofit/>
          </a:bodyPr>
          <a:lstStyle/>
          <a:p>
            <a:pPr marL="0" indent="0">
              <a:buNone/>
            </a:pPr>
            <a:r>
              <a:rPr lang="en-IN" sz="2000" b="1" dirty="0"/>
              <a:t>3. Simple routing process</a:t>
            </a:r>
          </a:p>
          <a:p>
            <a:pPr fontAlgn="base">
              <a:buFont typeface="Wingdings" panose="05000000000000000000" pitchFamily="2" charset="2"/>
              <a:buChar char="Ø"/>
            </a:pPr>
            <a:r>
              <a:rPr lang="en-US" sz="1800" dirty="0"/>
              <a:t>Microservices consist of intelligent components capable of processing data and applying logic. </a:t>
            </a:r>
          </a:p>
          <a:p>
            <a:pPr fontAlgn="base">
              <a:buFont typeface="Wingdings" panose="05000000000000000000" pitchFamily="2" charset="2"/>
              <a:buChar char="Ø"/>
            </a:pPr>
            <a:r>
              <a:rPr lang="en-US" sz="1800" dirty="0"/>
              <a:t>These components are connected by ‘dumb wires’ that transmit information from one element to another. </a:t>
            </a:r>
          </a:p>
          <a:p>
            <a:pPr fontAlgn="base">
              <a:buFont typeface="Wingdings" panose="05000000000000000000" pitchFamily="2" charset="2"/>
              <a:buChar char="Ø"/>
            </a:pPr>
            <a:r>
              <a:rPr lang="en-US" sz="1800" dirty="0"/>
              <a:t>This simple routing process is the opposite of the architecture used by some other enterprise applications.</a:t>
            </a:r>
          </a:p>
          <a:p>
            <a:pPr marL="0" indent="0" fontAlgn="base">
              <a:buNone/>
            </a:pPr>
            <a:r>
              <a:rPr lang="en-IN" sz="2000" b="1" dirty="0"/>
              <a:t>4. Decentralized operations</a:t>
            </a:r>
          </a:p>
          <a:p>
            <a:pPr fontAlgn="base">
              <a:buFont typeface="Wingdings" panose="05000000000000000000" pitchFamily="2" charset="2"/>
              <a:buChar char="Ø"/>
            </a:pPr>
            <a:r>
              <a:rPr lang="en-US" sz="1800" dirty="0"/>
              <a:t>Microservices leverage numerous platforms and technologies. This makes traditional centralized governance methods inefficient for operating a microservices architecture.</a:t>
            </a:r>
          </a:p>
          <a:p>
            <a:pPr>
              <a:buFont typeface="Wingdings" panose="05000000000000000000" pitchFamily="2" charset="2"/>
              <a:buChar char="Ø"/>
            </a:pPr>
            <a:r>
              <a:rPr lang="en-US" sz="1800" dirty="0"/>
              <a:t>Decentralized governance is better suited for microservices as developers worldwide create valuable tools to solve operational challenges.</a:t>
            </a:r>
          </a:p>
          <a:p>
            <a:pPr>
              <a:buFont typeface="Wingdings" panose="05000000000000000000" pitchFamily="2" charset="2"/>
              <a:buChar char="Ø"/>
            </a:pPr>
            <a:r>
              <a:rPr lang="en-US" sz="1800" dirty="0"/>
              <a:t>Similarly, a microservices architecture favors decentralized data management, as every microservice application manages its unique database.</a:t>
            </a:r>
          </a:p>
          <a:p>
            <a:pPr marL="0" indent="0">
              <a:buNone/>
            </a:pPr>
            <a:r>
              <a:rPr lang="en-US" sz="2000" b="1" dirty="0"/>
              <a:t>5. Built for modern businesses</a:t>
            </a:r>
          </a:p>
          <a:p>
            <a:pPr>
              <a:buFont typeface="Wingdings" panose="05000000000000000000" pitchFamily="2" charset="2"/>
              <a:buChar char="Ø"/>
            </a:pPr>
            <a:r>
              <a:rPr lang="en-US" sz="1800" dirty="0"/>
              <a:t>Microservices architecture is created to focus on fulfilling the requirements of modern, digital businesses.</a:t>
            </a:r>
          </a:p>
          <a:p>
            <a:pPr>
              <a:buFont typeface="Wingdings" panose="05000000000000000000" pitchFamily="2" charset="2"/>
              <a:buChar char="Ø"/>
            </a:pPr>
            <a:r>
              <a:rPr lang="en-US" sz="1900" dirty="0"/>
              <a:t>Microservices rely on cross-functional teams. Each team takes responsibility for creating specific products based on individual services transmitting and receiving data through a message bus.</a:t>
            </a:r>
            <a:endParaRPr lang="en-IN" sz="1900" dirty="0"/>
          </a:p>
        </p:txBody>
      </p:sp>
    </p:spTree>
    <p:extLst>
      <p:ext uri="{BB962C8B-B14F-4D97-AF65-F5344CB8AC3E}">
        <p14:creationId xmlns:p14="http://schemas.microsoft.com/office/powerpoint/2010/main" val="812279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598E2-7446-4530-BEF0-09D8881AD92D}"/>
              </a:ext>
            </a:extLst>
          </p:cNvPr>
          <p:cNvSpPr>
            <a:spLocks noGrp="1"/>
          </p:cNvSpPr>
          <p:nvPr>
            <p:ph type="title"/>
          </p:nvPr>
        </p:nvSpPr>
        <p:spPr>
          <a:xfrm>
            <a:off x="753035" y="365125"/>
            <a:ext cx="10600765" cy="549275"/>
          </a:xfrm>
        </p:spPr>
        <p:txBody>
          <a:bodyPr>
            <a:normAutofit/>
          </a:bodyPr>
          <a:lstStyle/>
          <a:p>
            <a:r>
              <a:rPr lang="en-IN" sz="2400" b="1" dirty="0"/>
              <a:t>Examples of Microservices</a:t>
            </a:r>
          </a:p>
        </p:txBody>
      </p:sp>
      <p:sp>
        <p:nvSpPr>
          <p:cNvPr id="3" name="Content Placeholder 2">
            <a:extLst>
              <a:ext uri="{FF2B5EF4-FFF2-40B4-BE49-F238E27FC236}">
                <a16:creationId xmlns:a16="http://schemas.microsoft.com/office/drawing/2014/main" id="{B0693FFE-ABA6-41BA-A2B0-E00304FF96DA}"/>
              </a:ext>
            </a:extLst>
          </p:cNvPr>
          <p:cNvSpPr>
            <a:spLocks noGrp="1"/>
          </p:cNvSpPr>
          <p:nvPr>
            <p:ph idx="1"/>
          </p:nvPr>
        </p:nvSpPr>
        <p:spPr>
          <a:xfrm>
            <a:off x="753035" y="851647"/>
            <a:ext cx="10999694" cy="5641228"/>
          </a:xfrm>
        </p:spPr>
        <p:txBody>
          <a:bodyPr>
            <a:normAutofit/>
          </a:bodyPr>
          <a:lstStyle/>
          <a:p>
            <a:pPr marL="0" indent="0">
              <a:buNone/>
            </a:pPr>
            <a:r>
              <a:rPr lang="en-US" sz="1800" dirty="0"/>
              <a:t>Leading tech companies use microservices for numerous reasons, such as to reduce the complexity of their architecture, speed up development, and make applications more responsive and easier to update.</a:t>
            </a:r>
          </a:p>
          <a:p>
            <a:pPr marL="0" indent="0">
              <a:buNone/>
            </a:pPr>
            <a:r>
              <a:rPr lang="en-US" sz="1800" dirty="0"/>
              <a:t>Listed below are three real-life examples of market leaders adopting microservices to enhance their operations.</a:t>
            </a:r>
          </a:p>
          <a:p>
            <a:pPr marL="514350" indent="-514350">
              <a:buAutoNum type="arabicPeriod"/>
            </a:pPr>
            <a:r>
              <a:rPr lang="en-IN" sz="2000" b="1" dirty="0"/>
              <a:t>Amazon</a:t>
            </a:r>
          </a:p>
          <a:p>
            <a:pPr>
              <a:buFont typeface="Wingdings" panose="05000000000000000000" pitchFamily="2" charset="2"/>
              <a:buChar char="ü"/>
            </a:pPr>
            <a:r>
              <a:rPr lang="en-US" sz="2000" dirty="0"/>
              <a:t>At the turn of the millennium, Amazon’s retail website was a monolith with tightly knit connections between and within its multi-tiered services.</a:t>
            </a:r>
          </a:p>
          <a:p>
            <a:pPr>
              <a:buFont typeface="Wingdings" panose="05000000000000000000" pitchFamily="2" charset="2"/>
              <a:buChar char="ü"/>
            </a:pPr>
            <a:r>
              <a:rPr lang="en-US" sz="2000" dirty="0"/>
              <a:t>Amazon divided its monolithic applications into small, independent, specialized applications</a:t>
            </a:r>
            <a:endParaRPr lang="en-IN" sz="2000" dirty="0"/>
          </a:p>
        </p:txBody>
      </p:sp>
      <p:pic>
        <p:nvPicPr>
          <p:cNvPr id="4" name="Picture 3">
            <a:extLst>
              <a:ext uri="{FF2B5EF4-FFF2-40B4-BE49-F238E27FC236}">
                <a16:creationId xmlns:a16="http://schemas.microsoft.com/office/drawing/2014/main" id="{264897C6-3B72-4F7D-A0F1-435781735603}"/>
              </a:ext>
            </a:extLst>
          </p:cNvPr>
          <p:cNvPicPr>
            <a:picLocks noChangeAspect="1"/>
          </p:cNvPicPr>
          <p:nvPr/>
        </p:nvPicPr>
        <p:blipFill>
          <a:blip r:embed="rId2"/>
          <a:stretch>
            <a:fillRect/>
          </a:stretch>
        </p:blipFill>
        <p:spPr>
          <a:xfrm>
            <a:off x="3112434" y="3429000"/>
            <a:ext cx="4061057" cy="2698377"/>
          </a:xfrm>
          <a:prstGeom prst="rect">
            <a:avLst/>
          </a:prstGeom>
        </p:spPr>
      </p:pic>
    </p:spTree>
    <p:extLst>
      <p:ext uri="{BB962C8B-B14F-4D97-AF65-F5344CB8AC3E}">
        <p14:creationId xmlns:p14="http://schemas.microsoft.com/office/powerpoint/2010/main" val="37548265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56921-7583-45AC-B5D2-E18DE2E54C31}"/>
              </a:ext>
            </a:extLst>
          </p:cNvPr>
          <p:cNvSpPr>
            <a:spLocks noGrp="1"/>
          </p:cNvSpPr>
          <p:nvPr>
            <p:ph type="title"/>
          </p:nvPr>
        </p:nvSpPr>
        <p:spPr>
          <a:xfrm>
            <a:off x="838200" y="365126"/>
            <a:ext cx="10515600" cy="387910"/>
          </a:xfrm>
        </p:spPr>
        <p:txBody>
          <a:bodyPr>
            <a:normAutofit/>
          </a:bodyPr>
          <a:lstStyle/>
          <a:p>
            <a:r>
              <a:rPr lang="en-IN" sz="1200" dirty="0"/>
              <a:t>Continued…</a:t>
            </a:r>
          </a:p>
        </p:txBody>
      </p:sp>
      <p:sp>
        <p:nvSpPr>
          <p:cNvPr id="3" name="Content Placeholder 2">
            <a:extLst>
              <a:ext uri="{FF2B5EF4-FFF2-40B4-BE49-F238E27FC236}">
                <a16:creationId xmlns:a16="http://schemas.microsoft.com/office/drawing/2014/main" id="{2E8D19CC-CAD5-4B85-9118-FBCFC1069E29}"/>
              </a:ext>
            </a:extLst>
          </p:cNvPr>
          <p:cNvSpPr>
            <a:spLocks noGrp="1"/>
          </p:cNvSpPr>
          <p:nvPr>
            <p:ph idx="1"/>
          </p:nvPr>
        </p:nvSpPr>
        <p:spPr>
          <a:xfrm>
            <a:off x="838200" y="905434"/>
            <a:ext cx="10771094" cy="5587439"/>
          </a:xfrm>
        </p:spPr>
        <p:txBody>
          <a:bodyPr>
            <a:normAutofit/>
          </a:bodyPr>
          <a:lstStyle/>
          <a:p>
            <a:pPr marL="0" indent="0">
              <a:buNone/>
            </a:pPr>
            <a:r>
              <a:rPr lang="en-IN" dirty="0"/>
              <a:t>2. </a:t>
            </a:r>
            <a:r>
              <a:rPr lang="en-IN" sz="1800" dirty="0"/>
              <a:t>Netflix</a:t>
            </a:r>
          </a:p>
          <a:p>
            <a:pPr>
              <a:buFont typeface="Wingdings" panose="05000000000000000000" pitchFamily="2" charset="2"/>
              <a:buChar char="ü"/>
            </a:pPr>
            <a:r>
              <a:rPr lang="en-US" sz="1800" dirty="0"/>
              <a:t>Just like Amazon, Netflix is a pioneer in the microservices space.</a:t>
            </a:r>
          </a:p>
          <a:p>
            <a:pPr>
              <a:buFont typeface="Wingdings" panose="05000000000000000000" pitchFamily="2" charset="2"/>
              <a:buChar char="ü"/>
            </a:pPr>
            <a:r>
              <a:rPr lang="en-US" sz="1800" dirty="0"/>
              <a:t>Its migration began in 2008 when the streaming platform faced numerous scaling issues and service outages.</a:t>
            </a:r>
          </a:p>
          <a:p>
            <a:pPr>
              <a:buFont typeface="Wingdings" panose="05000000000000000000" pitchFamily="2" charset="2"/>
              <a:buChar char="ü"/>
            </a:pPr>
            <a:r>
              <a:rPr lang="en-US" sz="1800" dirty="0"/>
              <a:t>When a primary database of the company was corrupted, causing a three-day blockage on DVD shipping to members, Netflix realized it was time to migrate to microservices.</a:t>
            </a:r>
          </a:p>
          <a:p>
            <a:pPr>
              <a:buFont typeface="Wingdings" panose="05000000000000000000" pitchFamily="2" charset="2"/>
              <a:buChar char="ü"/>
            </a:pPr>
            <a:r>
              <a:rPr lang="en-US" sz="1800" dirty="0"/>
              <a:t>In 2009, Netflix started gradually refactoring its monolithic architecture into microservices, one service at a time.</a:t>
            </a:r>
          </a:p>
          <a:p>
            <a:pPr>
              <a:buFont typeface="Wingdings" panose="05000000000000000000" pitchFamily="2" charset="2"/>
              <a:buChar char="ü"/>
            </a:pPr>
            <a:r>
              <a:rPr lang="en-US" sz="1800" dirty="0"/>
              <a:t>It began by migrating its movie-coding platform–which was not user-facing – to operate on the AWS cloud through a standalone microservice architecture.</a:t>
            </a:r>
          </a:p>
          <a:p>
            <a:pPr>
              <a:buFont typeface="Wingdings" panose="05000000000000000000" pitchFamily="2" charset="2"/>
              <a:buChar char="ü"/>
            </a:pPr>
            <a:r>
              <a:rPr lang="en-US" sz="1800" dirty="0"/>
              <a:t> Soon after, it began converting its user-facing systems to microservices, completing the process in 2012.</a:t>
            </a:r>
            <a:endParaRPr lang="en-IN" sz="1800" dirty="0"/>
          </a:p>
        </p:txBody>
      </p:sp>
      <p:pic>
        <p:nvPicPr>
          <p:cNvPr id="4" name="Picture 3">
            <a:extLst>
              <a:ext uri="{FF2B5EF4-FFF2-40B4-BE49-F238E27FC236}">
                <a16:creationId xmlns:a16="http://schemas.microsoft.com/office/drawing/2014/main" id="{D4438A60-F7F1-438E-92FD-4F8BCC435613}"/>
              </a:ext>
            </a:extLst>
          </p:cNvPr>
          <p:cNvPicPr>
            <a:picLocks noChangeAspect="1"/>
          </p:cNvPicPr>
          <p:nvPr/>
        </p:nvPicPr>
        <p:blipFill>
          <a:blip r:embed="rId2"/>
          <a:stretch>
            <a:fillRect/>
          </a:stretch>
        </p:blipFill>
        <p:spPr>
          <a:xfrm>
            <a:off x="3899647" y="4454338"/>
            <a:ext cx="2324100" cy="1409700"/>
          </a:xfrm>
          <a:prstGeom prst="rect">
            <a:avLst/>
          </a:prstGeom>
        </p:spPr>
      </p:pic>
    </p:spTree>
    <p:extLst>
      <p:ext uri="{BB962C8B-B14F-4D97-AF65-F5344CB8AC3E}">
        <p14:creationId xmlns:p14="http://schemas.microsoft.com/office/powerpoint/2010/main" val="17253010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9FA31-DD61-4841-B418-8BDE2EB25952}"/>
              </a:ext>
            </a:extLst>
          </p:cNvPr>
          <p:cNvSpPr>
            <a:spLocks noGrp="1"/>
          </p:cNvSpPr>
          <p:nvPr>
            <p:ph type="title"/>
          </p:nvPr>
        </p:nvSpPr>
        <p:spPr>
          <a:xfrm>
            <a:off x="762000" y="365125"/>
            <a:ext cx="10591800" cy="620993"/>
          </a:xfrm>
        </p:spPr>
        <p:txBody>
          <a:bodyPr>
            <a:normAutofit/>
          </a:bodyPr>
          <a:lstStyle/>
          <a:p>
            <a:r>
              <a:rPr lang="en-IN" sz="2400" b="1" dirty="0"/>
              <a:t>3. Uber</a:t>
            </a:r>
          </a:p>
        </p:txBody>
      </p:sp>
      <p:sp>
        <p:nvSpPr>
          <p:cNvPr id="3" name="Content Placeholder 2">
            <a:extLst>
              <a:ext uri="{FF2B5EF4-FFF2-40B4-BE49-F238E27FC236}">
                <a16:creationId xmlns:a16="http://schemas.microsoft.com/office/drawing/2014/main" id="{288F8B83-E81D-43B2-A141-B3A951EBEDDA}"/>
              </a:ext>
            </a:extLst>
          </p:cNvPr>
          <p:cNvSpPr>
            <a:spLocks noGrp="1"/>
          </p:cNvSpPr>
          <p:nvPr>
            <p:ph idx="1"/>
          </p:nvPr>
        </p:nvSpPr>
        <p:spPr>
          <a:xfrm>
            <a:off x="699247" y="986118"/>
            <a:ext cx="10654553" cy="5190845"/>
          </a:xfrm>
        </p:spPr>
        <p:txBody>
          <a:bodyPr>
            <a:normAutofit/>
          </a:bodyPr>
          <a:lstStyle/>
          <a:p>
            <a:pPr>
              <a:buFont typeface="Wingdings" panose="05000000000000000000" pitchFamily="2" charset="2"/>
              <a:buChar char="ü"/>
            </a:pPr>
            <a:r>
              <a:rPr lang="en-US" sz="1800" dirty="0"/>
              <a:t>Like Amazon and Netflix, Uber, too, decided to shift away from its monolithic structure due to growth hurdles.</a:t>
            </a:r>
          </a:p>
          <a:p>
            <a:pPr>
              <a:buFont typeface="Wingdings" panose="05000000000000000000" pitchFamily="2" charset="2"/>
              <a:buChar char="ü"/>
            </a:pPr>
            <a:r>
              <a:rPr lang="en-US" sz="1800" dirty="0"/>
              <a:t>The challenges faced by the ride-sharing platform included inefficiency in the development and launch of new features, the inability to fix bugs quickly, and problems with integrating its fast growing global operations.</a:t>
            </a:r>
          </a:p>
          <a:p>
            <a:pPr>
              <a:buFont typeface="Wingdings" panose="05000000000000000000" pitchFamily="2" charset="2"/>
              <a:buChar char="ü"/>
            </a:pPr>
            <a:r>
              <a:rPr lang="en-US" sz="1800" dirty="0"/>
              <a:t>To conquer the challenges presented by its monolithic application, Uber broke it down into cloud-powered microservices.</a:t>
            </a:r>
          </a:p>
          <a:p>
            <a:pPr>
              <a:buFont typeface="Wingdings" panose="05000000000000000000" pitchFamily="2" charset="2"/>
              <a:buChar char="ü"/>
            </a:pPr>
            <a:r>
              <a:rPr lang="en-US" sz="1800" dirty="0"/>
              <a:t>Soon, individual microservices were developed for business functions such as trip management and passenger management. </a:t>
            </a:r>
            <a:endParaRPr lang="en-IN" sz="1800" dirty="0"/>
          </a:p>
        </p:txBody>
      </p:sp>
      <p:pic>
        <p:nvPicPr>
          <p:cNvPr id="4" name="Picture 3">
            <a:extLst>
              <a:ext uri="{FF2B5EF4-FFF2-40B4-BE49-F238E27FC236}">
                <a16:creationId xmlns:a16="http://schemas.microsoft.com/office/drawing/2014/main" id="{C98501C1-B4A5-4342-87B5-7BC1945739D5}"/>
              </a:ext>
            </a:extLst>
          </p:cNvPr>
          <p:cNvPicPr>
            <a:picLocks noChangeAspect="1"/>
          </p:cNvPicPr>
          <p:nvPr/>
        </p:nvPicPr>
        <p:blipFill>
          <a:blip r:embed="rId2"/>
          <a:stretch>
            <a:fillRect/>
          </a:stretch>
        </p:blipFill>
        <p:spPr>
          <a:xfrm>
            <a:off x="4234422" y="3647515"/>
            <a:ext cx="3188354" cy="2060596"/>
          </a:xfrm>
          <a:prstGeom prst="rect">
            <a:avLst/>
          </a:prstGeom>
        </p:spPr>
      </p:pic>
    </p:spTree>
    <p:extLst>
      <p:ext uri="{BB962C8B-B14F-4D97-AF65-F5344CB8AC3E}">
        <p14:creationId xmlns:p14="http://schemas.microsoft.com/office/powerpoint/2010/main" val="27020075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38E4A-F071-46F4-BAAC-EF92E6D7C992}"/>
              </a:ext>
            </a:extLst>
          </p:cNvPr>
          <p:cNvSpPr>
            <a:spLocks noGrp="1"/>
          </p:cNvSpPr>
          <p:nvPr>
            <p:ph type="title"/>
          </p:nvPr>
        </p:nvSpPr>
        <p:spPr>
          <a:xfrm>
            <a:off x="753035" y="365125"/>
            <a:ext cx="10600765" cy="468593"/>
          </a:xfrm>
        </p:spPr>
        <p:txBody>
          <a:bodyPr>
            <a:normAutofit/>
          </a:bodyPr>
          <a:lstStyle/>
          <a:p>
            <a:r>
              <a:rPr lang="en-IN" sz="2400" b="1" dirty="0"/>
              <a:t>Complete Working Example (Amazon)</a:t>
            </a:r>
          </a:p>
        </p:txBody>
      </p:sp>
      <p:sp>
        <p:nvSpPr>
          <p:cNvPr id="3" name="Content Placeholder 2">
            <a:extLst>
              <a:ext uri="{FF2B5EF4-FFF2-40B4-BE49-F238E27FC236}">
                <a16:creationId xmlns:a16="http://schemas.microsoft.com/office/drawing/2014/main" id="{18CA9C01-CADD-442E-BFE8-A581D5437E5B}"/>
              </a:ext>
            </a:extLst>
          </p:cNvPr>
          <p:cNvSpPr>
            <a:spLocks noGrp="1"/>
          </p:cNvSpPr>
          <p:nvPr>
            <p:ph idx="1"/>
          </p:nvPr>
        </p:nvSpPr>
        <p:spPr>
          <a:xfrm>
            <a:off x="564777" y="923366"/>
            <a:ext cx="10789024" cy="5253598"/>
          </a:xfrm>
        </p:spPr>
        <p:txBody>
          <a:bodyPr>
            <a:normAutofit lnSpcReduction="10000"/>
          </a:bodyPr>
          <a:lstStyle/>
          <a:p>
            <a:pPr marL="0" indent="0">
              <a:buNone/>
            </a:pPr>
            <a:r>
              <a:rPr lang="en-US" sz="2000" dirty="0"/>
              <a:t>Suppose a customer purchases a mobile phone.</a:t>
            </a:r>
          </a:p>
          <a:p>
            <a:pPr marL="0" indent="0">
              <a:buNone/>
            </a:pPr>
            <a:r>
              <a:rPr lang="en-US" sz="2000" b="1" dirty="0"/>
              <a:t>Step 1</a:t>
            </a:r>
          </a:p>
          <a:p>
            <a:pPr marL="0" indent="0">
              <a:buNone/>
            </a:pPr>
            <a:r>
              <a:rPr lang="en-US" sz="2000" dirty="0"/>
              <a:t>Customer clicks </a:t>
            </a:r>
            <a:r>
              <a:rPr lang="en-US" sz="2000" b="1" dirty="0"/>
              <a:t>Buy Now</a:t>
            </a:r>
            <a:r>
              <a:rPr lang="en-US" sz="2000" dirty="0"/>
              <a:t>.</a:t>
            </a:r>
          </a:p>
          <a:p>
            <a:pPr marL="0" indent="0">
              <a:buNone/>
            </a:pPr>
            <a:r>
              <a:rPr lang="en-US" sz="2000" dirty="0"/>
              <a:t>     Customer</a:t>
            </a:r>
          </a:p>
          <a:p>
            <a:pPr marL="0" indent="0">
              <a:buNone/>
            </a:pPr>
            <a:r>
              <a:rPr lang="en-US" sz="2000" dirty="0"/>
              <a:t>          │</a:t>
            </a:r>
          </a:p>
          <a:p>
            <a:pPr marL="0" indent="0">
              <a:buNone/>
            </a:pPr>
            <a:r>
              <a:rPr lang="en-US" sz="2000" dirty="0"/>
              <a:t>         ▼</a:t>
            </a:r>
          </a:p>
          <a:p>
            <a:pPr marL="0" indent="0">
              <a:buNone/>
            </a:pPr>
            <a:r>
              <a:rPr lang="en-US" sz="2000" dirty="0"/>
              <a:t>    API Gateway</a:t>
            </a:r>
          </a:p>
          <a:p>
            <a:pPr marL="0" indent="0">
              <a:buNone/>
            </a:pPr>
            <a:r>
              <a:rPr lang="en-US" sz="2000" b="1" dirty="0"/>
              <a:t> </a:t>
            </a:r>
          </a:p>
          <a:p>
            <a:pPr marL="0" indent="0">
              <a:buNone/>
            </a:pPr>
            <a:r>
              <a:rPr lang="en-US" sz="2000" b="1" dirty="0"/>
              <a:t>Step 2</a:t>
            </a:r>
          </a:p>
          <a:p>
            <a:pPr marL="0" indent="0">
              <a:buNone/>
            </a:pPr>
            <a:r>
              <a:rPr lang="en-US" sz="2000" dirty="0"/>
              <a:t>The API Gateway forwards the request to the Order Service.</a:t>
            </a:r>
          </a:p>
          <a:p>
            <a:pPr marL="0" indent="0">
              <a:buNone/>
            </a:pPr>
            <a:r>
              <a:rPr lang="en-IN" sz="2000" dirty="0"/>
              <a:t>    API Gateway</a:t>
            </a:r>
          </a:p>
          <a:p>
            <a:pPr marL="0" indent="0">
              <a:buNone/>
            </a:pPr>
            <a:r>
              <a:rPr lang="en-IN" sz="2000" dirty="0"/>
              <a:t>          │</a:t>
            </a:r>
          </a:p>
          <a:p>
            <a:pPr marL="0" indent="0">
              <a:buNone/>
            </a:pPr>
            <a:r>
              <a:rPr lang="en-IN" sz="2000" dirty="0"/>
              <a:t>         ▼</a:t>
            </a:r>
          </a:p>
          <a:p>
            <a:pPr marL="0" indent="0">
              <a:buNone/>
            </a:pPr>
            <a:r>
              <a:rPr lang="en-IN" sz="2000" dirty="0"/>
              <a:t>   Order Service</a:t>
            </a:r>
          </a:p>
        </p:txBody>
      </p:sp>
    </p:spTree>
    <p:extLst>
      <p:ext uri="{BB962C8B-B14F-4D97-AF65-F5344CB8AC3E}">
        <p14:creationId xmlns:p14="http://schemas.microsoft.com/office/powerpoint/2010/main" val="10178796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A4134-14F3-44E6-BCFF-BEEB57B3094C}"/>
              </a:ext>
            </a:extLst>
          </p:cNvPr>
          <p:cNvSpPr>
            <a:spLocks noGrp="1"/>
          </p:cNvSpPr>
          <p:nvPr>
            <p:ph type="title"/>
          </p:nvPr>
        </p:nvSpPr>
        <p:spPr>
          <a:xfrm>
            <a:off x="681318" y="365126"/>
            <a:ext cx="10672482" cy="315912"/>
          </a:xfrm>
        </p:spPr>
        <p:txBody>
          <a:bodyPr>
            <a:normAutofit/>
          </a:bodyPr>
          <a:lstStyle/>
          <a:p>
            <a:r>
              <a:rPr lang="en-US" sz="1200" dirty="0"/>
              <a:t>Continued…</a:t>
            </a:r>
            <a:endParaRPr lang="en-IN" sz="1200" dirty="0"/>
          </a:p>
        </p:txBody>
      </p:sp>
      <p:sp>
        <p:nvSpPr>
          <p:cNvPr id="3" name="Content Placeholder 2">
            <a:extLst>
              <a:ext uri="{FF2B5EF4-FFF2-40B4-BE49-F238E27FC236}">
                <a16:creationId xmlns:a16="http://schemas.microsoft.com/office/drawing/2014/main" id="{F056C943-84FA-430F-85B2-C65E2DAED8F5}"/>
              </a:ext>
            </a:extLst>
          </p:cNvPr>
          <p:cNvSpPr>
            <a:spLocks noGrp="1"/>
          </p:cNvSpPr>
          <p:nvPr>
            <p:ph idx="1"/>
          </p:nvPr>
        </p:nvSpPr>
        <p:spPr>
          <a:xfrm>
            <a:off x="681318" y="797859"/>
            <a:ext cx="10672482" cy="5379104"/>
          </a:xfrm>
        </p:spPr>
        <p:txBody>
          <a:bodyPr>
            <a:normAutofit/>
          </a:bodyPr>
          <a:lstStyle/>
          <a:p>
            <a:pPr marL="0" indent="0">
              <a:buNone/>
            </a:pPr>
            <a:r>
              <a:rPr lang="en-US" sz="2200" b="1" dirty="0"/>
              <a:t>Step 3</a:t>
            </a:r>
          </a:p>
          <a:p>
            <a:pPr marL="0" indent="0">
              <a:buNone/>
            </a:pPr>
            <a:r>
              <a:rPr lang="en-US" sz="2200" dirty="0"/>
              <a:t>The Order Service checks the Inventory Service.</a:t>
            </a:r>
          </a:p>
          <a:p>
            <a:pPr marL="0" indent="0">
              <a:buNone/>
            </a:pPr>
            <a:r>
              <a:rPr lang="en-IN" sz="2200" dirty="0"/>
              <a:t>Order Service</a:t>
            </a:r>
          </a:p>
          <a:p>
            <a:pPr marL="0" indent="0">
              <a:buNone/>
            </a:pPr>
            <a:r>
              <a:rPr lang="en-IN" sz="2200" dirty="0"/>
              <a:t>       │</a:t>
            </a:r>
          </a:p>
          <a:p>
            <a:pPr marL="0" indent="0">
              <a:buNone/>
            </a:pPr>
            <a:r>
              <a:rPr lang="en-IN" sz="2200" dirty="0"/>
              <a:t>      ▼</a:t>
            </a:r>
          </a:p>
          <a:p>
            <a:pPr marL="0" indent="0">
              <a:buNone/>
            </a:pPr>
            <a:r>
              <a:rPr lang="en-IN" sz="2200" dirty="0"/>
              <a:t>Inventory Service</a:t>
            </a:r>
          </a:p>
          <a:p>
            <a:pPr marL="0" indent="0">
              <a:buNone/>
            </a:pPr>
            <a:r>
              <a:rPr lang="en-US" sz="2200" b="1" dirty="0"/>
              <a:t>Step 4</a:t>
            </a:r>
          </a:p>
          <a:p>
            <a:pPr marL="0" indent="0">
              <a:buNone/>
            </a:pPr>
            <a:r>
              <a:rPr lang="en-US" sz="2200" dirty="0"/>
              <a:t>The Order Service contacts the Payment Service.</a:t>
            </a:r>
          </a:p>
          <a:p>
            <a:pPr marL="0" indent="0">
              <a:buNone/>
            </a:pPr>
            <a:r>
              <a:rPr lang="en-US" sz="2200" dirty="0"/>
              <a:t>Order Service</a:t>
            </a:r>
          </a:p>
          <a:p>
            <a:pPr marL="0" indent="0">
              <a:buNone/>
            </a:pPr>
            <a:r>
              <a:rPr lang="en-US" sz="2200" dirty="0"/>
              <a:t>       │</a:t>
            </a:r>
          </a:p>
          <a:p>
            <a:pPr marL="0" indent="0">
              <a:buNone/>
            </a:pPr>
            <a:r>
              <a:rPr lang="en-US" sz="2200" dirty="0"/>
              <a:t>      ▼</a:t>
            </a:r>
          </a:p>
          <a:p>
            <a:pPr marL="0" indent="0">
              <a:buNone/>
            </a:pPr>
            <a:r>
              <a:rPr lang="en-US" sz="2200" dirty="0"/>
              <a:t>Payment Service</a:t>
            </a:r>
          </a:p>
          <a:p>
            <a:pPr marL="0" indent="0">
              <a:buNone/>
            </a:pPr>
            <a:endParaRPr lang="en-IN" dirty="0"/>
          </a:p>
        </p:txBody>
      </p:sp>
    </p:spTree>
    <p:extLst>
      <p:ext uri="{BB962C8B-B14F-4D97-AF65-F5344CB8AC3E}">
        <p14:creationId xmlns:p14="http://schemas.microsoft.com/office/powerpoint/2010/main" val="17478386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3CD34-104F-4BB3-B030-55FAB6D5F577}"/>
              </a:ext>
            </a:extLst>
          </p:cNvPr>
          <p:cNvSpPr>
            <a:spLocks noGrp="1"/>
          </p:cNvSpPr>
          <p:nvPr>
            <p:ph type="title"/>
          </p:nvPr>
        </p:nvSpPr>
        <p:spPr>
          <a:xfrm>
            <a:off x="838200" y="365126"/>
            <a:ext cx="10515600" cy="432734"/>
          </a:xfrm>
        </p:spPr>
        <p:txBody>
          <a:bodyPr>
            <a:normAutofit/>
          </a:bodyPr>
          <a:lstStyle/>
          <a:p>
            <a:r>
              <a:rPr lang="en-US" sz="1200" dirty="0"/>
              <a:t>Continued…</a:t>
            </a:r>
            <a:endParaRPr lang="en-IN" sz="1200" dirty="0"/>
          </a:p>
        </p:txBody>
      </p:sp>
      <p:sp>
        <p:nvSpPr>
          <p:cNvPr id="3" name="Content Placeholder 2">
            <a:extLst>
              <a:ext uri="{FF2B5EF4-FFF2-40B4-BE49-F238E27FC236}">
                <a16:creationId xmlns:a16="http://schemas.microsoft.com/office/drawing/2014/main" id="{4F729335-079F-48F2-81A1-565CAB5D94EF}"/>
              </a:ext>
            </a:extLst>
          </p:cNvPr>
          <p:cNvSpPr>
            <a:spLocks noGrp="1"/>
          </p:cNvSpPr>
          <p:nvPr>
            <p:ph idx="1"/>
          </p:nvPr>
        </p:nvSpPr>
        <p:spPr>
          <a:xfrm>
            <a:off x="770965" y="869576"/>
            <a:ext cx="10582835" cy="5307387"/>
          </a:xfrm>
        </p:spPr>
        <p:txBody>
          <a:bodyPr>
            <a:normAutofit fontScale="77500" lnSpcReduction="20000"/>
          </a:bodyPr>
          <a:lstStyle/>
          <a:p>
            <a:pPr marL="0" indent="0">
              <a:buNone/>
            </a:pPr>
            <a:r>
              <a:rPr lang="en-US" sz="1900" b="1" dirty="0"/>
              <a:t>Step 5</a:t>
            </a:r>
          </a:p>
          <a:p>
            <a:pPr marL="0" indent="0">
              <a:buNone/>
            </a:pPr>
            <a:r>
              <a:rPr lang="en-US" sz="1900" dirty="0"/>
              <a:t>After successful </a:t>
            </a:r>
            <a:r>
              <a:rPr lang="en-US" sz="1900" dirty="0" err="1"/>
              <a:t>payment,the</a:t>
            </a:r>
            <a:r>
              <a:rPr lang="en-US" sz="1900" dirty="0"/>
              <a:t> Order Service sends a message to the Messaging Broker.</a:t>
            </a:r>
          </a:p>
          <a:p>
            <a:pPr marL="0" indent="0">
              <a:buNone/>
            </a:pPr>
            <a:r>
              <a:rPr lang="en-US" sz="1900" dirty="0"/>
              <a:t>Order Service</a:t>
            </a:r>
          </a:p>
          <a:p>
            <a:pPr marL="0" indent="0">
              <a:buNone/>
            </a:pPr>
            <a:r>
              <a:rPr lang="en-US" sz="1900" dirty="0"/>
              <a:t>       │</a:t>
            </a:r>
          </a:p>
          <a:p>
            <a:pPr marL="0" indent="0">
              <a:buNone/>
            </a:pPr>
            <a:r>
              <a:rPr lang="en-US" sz="1900" dirty="0"/>
              <a:t>      ▼</a:t>
            </a:r>
          </a:p>
          <a:p>
            <a:pPr marL="0" indent="0">
              <a:buNone/>
            </a:pPr>
            <a:r>
              <a:rPr lang="en-US" sz="1900" dirty="0"/>
              <a:t>Messaging Broker</a:t>
            </a:r>
          </a:p>
          <a:p>
            <a:pPr marL="0" indent="0">
              <a:buNone/>
            </a:pPr>
            <a:r>
              <a:rPr lang="en-US" sz="1900" b="1" dirty="0"/>
              <a:t>Step 6</a:t>
            </a:r>
          </a:p>
          <a:p>
            <a:pPr marL="0" indent="0">
              <a:buNone/>
            </a:pPr>
            <a:r>
              <a:rPr lang="en-US" sz="1900" dirty="0"/>
              <a:t>The Messaging Broker sends the message to:</a:t>
            </a:r>
          </a:p>
          <a:p>
            <a:pPr marL="0" indent="0">
              <a:buNone/>
            </a:pPr>
            <a:r>
              <a:rPr lang="en-US" sz="1900" dirty="0"/>
              <a:t>Email Service </a:t>
            </a:r>
          </a:p>
          <a:p>
            <a:pPr marL="0" indent="0">
              <a:buNone/>
            </a:pPr>
            <a:r>
              <a:rPr lang="en-US" sz="1900" dirty="0"/>
              <a:t>SMS Service </a:t>
            </a:r>
          </a:p>
          <a:p>
            <a:pPr marL="0" indent="0">
              <a:buNone/>
            </a:pPr>
            <a:r>
              <a:rPr lang="en-US" sz="1900" dirty="0"/>
              <a:t>Shipping Service</a:t>
            </a:r>
          </a:p>
          <a:p>
            <a:pPr marL="0" indent="0">
              <a:buNone/>
            </a:pPr>
            <a:r>
              <a:rPr lang="en-US" sz="1900" dirty="0"/>
              <a:t>             Messaging Broker</a:t>
            </a:r>
          </a:p>
          <a:p>
            <a:pPr marL="0" indent="0">
              <a:buNone/>
            </a:pPr>
            <a:r>
              <a:rPr lang="en-US" sz="1900" dirty="0"/>
              <a:t>                         │</a:t>
            </a:r>
          </a:p>
          <a:p>
            <a:pPr marL="0" indent="0">
              <a:buNone/>
            </a:pPr>
            <a:r>
              <a:rPr lang="en-US" sz="1900" dirty="0"/>
              <a:t>             ┌────┼────┐</a:t>
            </a:r>
          </a:p>
          <a:p>
            <a:pPr marL="0" indent="0">
              <a:buNone/>
            </a:pPr>
            <a:r>
              <a:rPr lang="en-US" sz="1900" dirty="0"/>
              <a:t>               ▼    ▼    ▼</a:t>
            </a:r>
          </a:p>
          <a:p>
            <a:pPr marL="0" indent="0">
              <a:buNone/>
            </a:pPr>
            <a:r>
              <a:rPr lang="en-US" sz="1900" dirty="0"/>
              <a:t>        Email SMS Shipping</a:t>
            </a:r>
          </a:p>
          <a:p>
            <a:pPr marL="0" indent="0">
              <a:buNone/>
            </a:pPr>
            <a:endParaRPr lang="en-US" sz="2000" dirty="0"/>
          </a:p>
          <a:p>
            <a:pPr marL="0" indent="0">
              <a:buNone/>
            </a:pPr>
            <a:r>
              <a:rPr lang="en-US" sz="2000" dirty="0"/>
              <a:t>The customer receives an email and SMS while the shipping process begins.</a:t>
            </a:r>
          </a:p>
          <a:p>
            <a:pPr marL="0" indent="0">
              <a:buNone/>
            </a:pPr>
            <a:endParaRPr lang="en-US" sz="2000" dirty="0"/>
          </a:p>
          <a:p>
            <a:pPr marL="0" indent="0">
              <a:buNone/>
            </a:pPr>
            <a:endParaRPr lang="en-IN" dirty="0"/>
          </a:p>
        </p:txBody>
      </p:sp>
    </p:spTree>
    <p:extLst>
      <p:ext uri="{BB962C8B-B14F-4D97-AF65-F5344CB8AC3E}">
        <p14:creationId xmlns:p14="http://schemas.microsoft.com/office/powerpoint/2010/main" val="18422200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8DD43-B5A9-4C99-9A2E-F839FBDB0B9D}"/>
              </a:ext>
            </a:extLst>
          </p:cNvPr>
          <p:cNvSpPr>
            <a:spLocks noGrp="1"/>
          </p:cNvSpPr>
          <p:nvPr>
            <p:ph type="title"/>
          </p:nvPr>
        </p:nvSpPr>
        <p:spPr>
          <a:xfrm>
            <a:off x="838200" y="463737"/>
            <a:ext cx="10515600" cy="638922"/>
          </a:xfrm>
        </p:spPr>
        <p:txBody>
          <a:bodyPr>
            <a:normAutofit/>
          </a:bodyPr>
          <a:lstStyle/>
          <a:p>
            <a:r>
              <a:rPr lang="en-IN" sz="3200" dirty="0"/>
              <a:t>B. </a:t>
            </a:r>
            <a:r>
              <a:rPr lang="en-IN" sz="3200" b="1" dirty="0"/>
              <a:t>Processes Communicating</a:t>
            </a:r>
            <a:r>
              <a:rPr lang="en-IN" sz="3200" dirty="0"/>
              <a:t> </a:t>
            </a:r>
          </a:p>
        </p:txBody>
      </p:sp>
      <p:sp>
        <p:nvSpPr>
          <p:cNvPr id="3" name="Content Placeholder 2">
            <a:extLst>
              <a:ext uri="{FF2B5EF4-FFF2-40B4-BE49-F238E27FC236}">
                <a16:creationId xmlns:a16="http://schemas.microsoft.com/office/drawing/2014/main" id="{96AB338A-DFA6-4378-BE2D-8C8BA5150C4D}"/>
              </a:ext>
            </a:extLst>
          </p:cNvPr>
          <p:cNvSpPr>
            <a:spLocks noGrp="1"/>
          </p:cNvSpPr>
          <p:nvPr>
            <p:ph idx="1"/>
          </p:nvPr>
        </p:nvSpPr>
        <p:spPr>
          <a:xfrm>
            <a:off x="690282" y="1102659"/>
            <a:ext cx="10663518" cy="5074304"/>
          </a:xfrm>
        </p:spPr>
        <p:txBody>
          <a:bodyPr>
            <a:normAutofit/>
          </a:bodyPr>
          <a:lstStyle/>
          <a:p>
            <a:pPr algn="just" fontAlgn="base"/>
            <a:r>
              <a:rPr lang="en-IN" sz="1900" b="1" dirty="0"/>
              <a:t>Processes Communicating</a:t>
            </a:r>
            <a:r>
              <a:rPr lang="en-IN" sz="1900" dirty="0"/>
              <a:t> refers to the communication between multiple processes in a computer network. Processes can be thought of as individual programs or tasks running on a device, and they may be located on the same device or on different devices connected to the network.</a:t>
            </a:r>
          </a:p>
          <a:p>
            <a:pPr lvl="0" algn="just" fontAlgn="base"/>
            <a:r>
              <a:rPr lang="en-IN" sz="1900" dirty="0"/>
              <a:t>Communication between processes is facilitated by the use of protocols, which define the rules and formats for exchanging data. The communication between processes can be either synchronous or asynchronous, meaning that either both processes must be available to communicate at the same time or the communication can occur at different times.</a:t>
            </a:r>
          </a:p>
          <a:p>
            <a:pPr lvl="0" algn="just" fontAlgn="base"/>
            <a:r>
              <a:rPr lang="en-IN" sz="1900" dirty="0"/>
              <a:t>It's important to consider the communication between processes when designing a network application. Factors such as the reliability of communication, the security of communication, and the performance of the communication must be taken into account. The choice of protocols used for communication will depend on the requirements of the application and the network infrastructure.</a:t>
            </a:r>
          </a:p>
          <a:p>
            <a:pPr fontAlgn="base"/>
            <a:endParaRPr lang="en-IN" dirty="0"/>
          </a:p>
        </p:txBody>
      </p:sp>
    </p:spTree>
    <p:extLst>
      <p:ext uri="{BB962C8B-B14F-4D97-AF65-F5344CB8AC3E}">
        <p14:creationId xmlns:p14="http://schemas.microsoft.com/office/powerpoint/2010/main" val="14835759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B88BD-7D63-41F8-8BA2-50753F4DB685}"/>
              </a:ext>
            </a:extLst>
          </p:cNvPr>
          <p:cNvSpPr>
            <a:spLocks noGrp="1"/>
          </p:cNvSpPr>
          <p:nvPr>
            <p:ph type="title"/>
          </p:nvPr>
        </p:nvSpPr>
        <p:spPr>
          <a:xfrm>
            <a:off x="708212" y="-161365"/>
            <a:ext cx="10645588" cy="1852053"/>
          </a:xfrm>
        </p:spPr>
        <p:txBody>
          <a:bodyPr>
            <a:normAutofit/>
          </a:bodyPr>
          <a:lstStyle/>
          <a:p>
            <a:r>
              <a:rPr lang="en-IN" sz="2800" b="1" dirty="0"/>
              <a:t>C. The Interface between the Process and the Computer Network </a:t>
            </a:r>
          </a:p>
        </p:txBody>
      </p:sp>
      <p:sp>
        <p:nvSpPr>
          <p:cNvPr id="3" name="Content Placeholder 2">
            <a:extLst>
              <a:ext uri="{FF2B5EF4-FFF2-40B4-BE49-F238E27FC236}">
                <a16:creationId xmlns:a16="http://schemas.microsoft.com/office/drawing/2014/main" id="{7995A2A1-1212-4343-AC8F-29589B140281}"/>
              </a:ext>
            </a:extLst>
          </p:cNvPr>
          <p:cNvSpPr>
            <a:spLocks noGrp="1"/>
          </p:cNvSpPr>
          <p:nvPr>
            <p:ph idx="1"/>
          </p:nvPr>
        </p:nvSpPr>
        <p:spPr>
          <a:xfrm>
            <a:off x="636494" y="1228165"/>
            <a:ext cx="11026588" cy="5262282"/>
          </a:xfrm>
        </p:spPr>
        <p:txBody>
          <a:bodyPr/>
          <a:lstStyle/>
          <a:p>
            <a:r>
              <a:rPr lang="en-IN" sz="2000" b="1" dirty="0"/>
              <a:t>The Interface between the Process and the Computer Network</a:t>
            </a:r>
            <a:r>
              <a:rPr lang="en-IN" sz="2000" dirty="0"/>
              <a:t> refers to the connection between a process running on a device and the underlying computer network.</a:t>
            </a:r>
          </a:p>
          <a:p>
            <a:r>
              <a:rPr lang="en-IN" sz="2000" dirty="0"/>
              <a:t> This interface determines how the process communicates with other processes and with the network itself.</a:t>
            </a:r>
          </a:p>
          <a:p>
            <a:r>
              <a:rPr lang="en-IN" sz="2000" dirty="0"/>
              <a:t>The interface between a process and the computer network is usually provided by a network stack, which is a collection of protocols and services that handle the communication between the process and the network.</a:t>
            </a:r>
          </a:p>
          <a:p>
            <a:r>
              <a:rPr lang="en-IN" sz="2000" dirty="0"/>
              <a:t> The network stack translates the process's requests and data into the appropriate network protocols, and vice versa, allowing the process to communicate over the network.</a:t>
            </a:r>
          </a:p>
          <a:p>
            <a:endParaRPr lang="en-IN" dirty="0"/>
          </a:p>
        </p:txBody>
      </p:sp>
    </p:spTree>
    <p:extLst>
      <p:ext uri="{BB962C8B-B14F-4D97-AF65-F5344CB8AC3E}">
        <p14:creationId xmlns:p14="http://schemas.microsoft.com/office/powerpoint/2010/main" val="8919284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F009E-4F50-4333-97BB-DB0B870428CD}"/>
              </a:ext>
            </a:extLst>
          </p:cNvPr>
          <p:cNvSpPr>
            <a:spLocks noGrp="1"/>
          </p:cNvSpPr>
          <p:nvPr>
            <p:ph type="title"/>
          </p:nvPr>
        </p:nvSpPr>
        <p:spPr>
          <a:xfrm>
            <a:off x="838200" y="365126"/>
            <a:ext cx="10515600" cy="486522"/>
          </a:xfrm>
        </p:spPr>
        <p:txBody>
          <a:bodyPr>
            <a:noAutofit/>
          </a:bodyPr>
          <a:lstStyle/>
          <a:p>
            <a:r>
              <a:rPr lang="en-IN" sz="3200" b="1" dirty="0"/>
              <a:t>Real-Life Analogy</a:t>
            </a:r>
          </a:p>
        </p:txBody>
      </p:sp>
      <p:sp>
        <p:nvSpPr>
          <p:cNvPr id="3" name="Content Placeholder 2">
            <a:extLst>
              <a:ext uri="{FF2B5EF4-FFF2-40B4-BE49-F238E27FC236}">
                <a16:creationId xmlns:a16="http://schemas.microsoft.com/office/drawing/2014/main" id="{6DD4FE9C-A9FB-482B-B8E8-8E3B5A912DA1}"/>
              </a:ext>
            </a:extLst>
          </p:cNvPr>
          <p:cNvSpPr>
            <a:spLocks noGrp="1"/>
          </p:cNvSpPr>
          <p:nvPr>
            <p:ph idx="1"/>
          </p:nvPr>
        </p:nvSpPr>
        <p:spPr>
          <a:xfrm>
            <a:off x="838200" y="1237129"/>
            <a:ext cx="10515600" cy="4939834"/>
          </a:xfrm>
        </p:spPr>
        <p:txBody>
          <a:bodyPr/>
          <a:lstStyle/>
          <a:p>
            <a:pPr marL="0" indent="0">
              <a:buNone/>
            </a:pPr>
            <a:r>
              <a:rPr lang="en-US" sz="2400" dirty="0"/>
              <a:t>Imagine sending a </a:t>
            </a:r>
            <a:r>
              <a:rPr lang="en-US" sz="2400" b="1" dirty="0"/>
              <a:t>courier package</a:t>
            </a:r>
            <a:r>
              <a:rPr lang="en-US" sz="2400" dirty="0"/>
              <a:t>.</a:t>
            </a:r>
          </a:p>
          <a:p>
            <a:pPr marL="0" indent="0">
              <a:buNone/>
            </a:pPr>
            <a:r>
              <a:rPr lang="en-US" sz="2400" b="1" dirty="0"/>
              <a:t>You</a:t>
            </a:r>
            <a:r>
              <a:rPr lang="en-US" sz="2400" dirty="0"/>
              <a:t> = Process (Application) </a:t>
            </a:r>
          </a:p>
          <a:p>
            <a:pPr marL="0" indent="0">
              <a:buNone/>
            </a:pPr>
            <a:r>
              <a:rPr lang="en-US" sz="2400" b="1" dirty="0"/>
              <a:t>Courier Office</a:t>
            </a:r>
            <a:r>
              <a:rPr lang="en-US" sz="2400" dirty="0"/>
              <a:t> = Interface (Socket/API) </a:t>
            </a:r>
          </a:p>
          <a:p>
            <a:pPr marL="0" indent="0">
              <a:buNone/>
            </a:pPr>
            <a:r>
              <a:rPr lang="en-US" sz="2400" b="1" dirty="0"/>
              <a:t>Courier Company</a:t>
            </a:r>
            <a:r>
              <a:rPr lang="en-US" sz="2400" dirty="0"/>
              <a:t> = Network Stack </a:t>
            </a:r>
          </a:p>
          <a:p>
            <a:pPr marL="0" indent="0">
              <a:buNone/>
            </a:pPr>
            <a:r>
              <a:rPr lang="en-US" sz="2400" b="1" dirty="0"/>
              <a:t>Road Network</a:t>
            </a:r>
            <a:r>
              <a:rPr lang="en-US" sz="2400" dirty="0"/>
              <a:t> = Internet </a:t>
            </a:r>
          </a:p>
          <a:p>
            <a:pPr marL="0" indent="0">
              <a:buNone/>
            </a:pPr>
            <a:r>
              <a:rPr lang="en-US" sz="2400" b="1" dirty="0"/>
              <a:t>Receiver</a:t>
            </a:r>
            <a:r>
              <a:rPr lang="en-US" sz="2400" dirty="0"/>
              <a:t> = Another Process </a:t>
            </a:r>
          </a:p>
          <a:p>
            <a:pPr marL="0" indent="0">
              <a:buNone/>
            </a:pPr>
            <a:r>
              <a:rPr lang="en-US" sz="2400" dirty="0"/>
              <a:t>You don't drive the package yourself. Instead, you hand it to the courier office, which takes care of packaging, routing, and delivery.</a:t>
            </a:r>
          </a:p>
          <a:p>
            <a:endParaRPr lang="en-IN" dirty="0"/>
          </a:p>
        </p:txBody>
      </p:sp>
    </p:spTree>
    <p:extLst>
      <p:ext uri="{BB962C8B-B14F-4D97-AF65-F5344CB8AC3E}">
        <p14:creationId xmlns:p14="http://schemas.microsoft.com/office/powerpoint/2010/main" val="7222405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A6B27-1A37-4C2E-8F4A-0CEA69E588D5}"/>
              </a:ext>
            </a:extLst>
          </p:cNvPr>
          <p:cNvSpPr>
            <a:spLocks noGrp="1"/>
          </p:cNvSpPr>
          <p:nvPr>
            <p:ph type="title"/>
          </p:nvPr>
        </p:nvSpPr>
        <p:spPr>
          <a:xfrm>
            <a:off x="838200" y="365126"/>
            <a:ext cx="10515600" cy="558240"/>
          </a:xfrm>
        </p:spPr>
        <p:txBody>
          <a:bodyPr>
            <a:normAutofit/>
          </a:bodyPr>
          <a:lstStyle/>
          <a:p>
            <a:r>
              <a:rPr lang="en-IN" sz="3200" dirty="0"/>
              <a:t>Example: Opening a Website</a:t>
            </a:r>
          </a:p>
        </p:txBody>
      </p:sp>
      <p:sp>
        <p:nvSpPr>
          <p:cNvPr id="3" name="Content Placeholder 2">
            <a:extLst>
              <a:ext uri="{FF2B5EF4-FFF2-40B4-BE49-F238E27FC236}">
                <a16:creationId xmlns:a16="http://schemas.microsoft.com/office/drawing/2014/main" id="{301264F2-4C5A-4EA9-963E-EF97D65AD11C}"/>
              </a:ext>
            </a:extLst>
          </p:cNvPr>
          <p:cNvSpPr>
            <a:spLocks noGrp="1"/>
          </p:cNvSpPr>
          <p:nvPr>
            <p:ph idx="1"/>
          </p:nvPr>
        </p:nvSpPr>
        <p:spPr>
          <a:xfrm>
            <a:off x="838200" y="1048870"/>
            <a:ext cx="11174506" cy="5576047"/>
          </a:xfrm>
        </p:spPr>
        <p:txBody>
          <a:bodyPr>
            <a:normAutofit fontScale="92500" lnSpcReduction="10000"/>
          </a:bodyPr>
          <a:lstStyle/>
          <a:p>
            <a:pPr marL="0" indent="0">
              <a:buNone/>
            </a:pPr>
            <a:r>
              <a:rPr lang="en-IN" sz="1600" dirty="0"/>
              <a:t>Suppose you open:</a:t>
            </a:r>
          </a:p>
          <a:p>
            <a:pPr marL="0" indent="0">
              <a:buNone/>
            </a:pPr>
            <a:r>
              <a:rPr lang="en-IN" sz="1600" dirty="0">
                <a:hlinkClick r:id="rId2"/>
              </a:rPr>
              <a:t>www.youtube.com</a:t>
            </a:r>
            <a:endParaRPr lang="en-IN" sz="1600" dirty="0"/>
          </a:p>
          <a:p>
            <a:pPr marL="0" indent="0">
              <a:buNone/>
            </a:pPr>
            <a:r>
              <a:rPr lang="en-US" sz="1600" b="1" dirty="0"/>
              <a:t>Step 1</a:t>
            </a:r>
          </a:p>
          <a:p>
            <a:r>
              <a:rPr lang="en-US" sz="1600" dirty="0"/>
              <a:t>Chrome (process) creates an HTTP request.</a:t>
            </a:r>
          </a:p>
          <a:p>
            <a:pPr marL="0" indent="0">
              <a:buNone/>
            </a:pPr>
            <a:r>
              <a:rPr lang="en-US" sz="1600" b="1" dirty="0"/>
              <a:t>Step 2</a:t>
            </a:r>
          </a:p>
          <a:p>
            <a:pPr marL="0" indent="0">
              <a:buNone/>
            </a:pPr>
            <a:r>
              <a:rPr lang="en-US" sz="1600" dirty="0"/>
              <a:t>The request is passed to the </a:t>
            </a:r>
            <a:r>
              <a:rPr lang="en-US" sz="1600" b="1" dirty="0"/>
              <a:t>Socket Interface</a:t>
            </a:r>
            <a:r>
              <a:rPr lang="en-US" sz="1600" dirty="0"/>
              <a:t>.</a:t>
            </a:r>
          </a:p>
          <a:p>
            <a:pPr marL="0" indent="0">
              <a:buNone/>
            </a:pPr>
            <a:r>
              <a:rPr lang="en-US" sz="1600" b="1" dirty="0"/>
              <a:t>Step 3</a:t>
            </a:r>
          </a:p>
          <a:p>
            <a:pPr marL="0" indent="0">
              <a:buNone/>
            </a:pPr>
            <a:r>
              <a:rPr lang="en-US" sz="1600" dirty="0"/>
              <a:t>The TCP/IP stack adds protocol information:</a:t>
            </a:r>
          </a:p>
          <a:p>
            <a:r>
              <a:rPr lang="en-US" sz="1600" dirty="0"/>
              <a:t>TCP Header </a:t>
            </a:r>
          </a:p>
          <a:p>
            <a:r>
              <a:rPr lang="en-US" sz="1600" dirty="0"/>
              <a:t>IP Header </a:t>
            </a:r>
          </a:p>
          <a:p>
            <a:r>
              <a:rPr lang="en-US" sz="1600" dirty="0"/>
              <a:t>MAC Header</a:t>
            </a:r>
          </a:p>
          <a:p>
            <a:pPr marL="0" indent="0">
              <a:buNone/>
            </a:pPr>
            <a:r>
              <a:rPr lang="en-US" sz="1600" b="1" dirty="0"/>
              <a:t>Step 4</a:t>
            </a:r>
          </a:p>
          <a:p>
            <a:r>
              <a:rPr lang="en-US" sz="1600" dirty="0"/>
              <a:t>The data is transmitted over the Internet.</a:t>
            </a:r>
          </a:p>
          <a:p>
            <a:pPr marL="0" indent="0">
              <a:buNone/>
            </a:pPr>
            <a:r>
              <a:rPr lang="en-US" sz="1600" b="1" dirty="0"/>
              <a:t>Step 5</a:t>
            </a:r>
          </a:p>
          <a:p>
            <a:r>
              <a:rPr lang="en-US" sz="1600" dirty="0"/>
              <a:t>The YouTube server receives the request.</a:t>
            </a:r>
          </a:p>
          <a:p>
            <a:pPr marL="0" indent="0">
              <a:buNone/>
            </a:pPr>
            <a:r>
              <a:rPr lang="en-US" sz="1600" b="1" dirty="0"/>
              <a:t>Step 6</a:t>
            </a:r>
          </a:p>
          <a:p>
            <a:r>
              <a:rPr lang="en-US" sz="1600" dirty="0"/>
              <a:t>The server sends the webpage back through the same interface.</a:t>
            </a:r>
          </a:p>
          <a:p>
            <a:endParaRPr lang="en-US" sz="1600" dirty="0"/>
          </a:p>
          <a:p>
            <a:endParaRPr lang="en-US" sz="2000" dirty="0"/>
          </a:p>
          <a:p>
            <a:pPr marL="0" indent="0">
              <a:buNone/>
            </a:pPr>
            <a:endParaRPr lang="en-US" sz="2000" dirty="0"/>
          </a:p>
          <a:p>
            <a:endParaRPr lang="en-US" sz="2000" dirty="0"/>
          </a:p>
          <a:p>
            <a:pPr marL="0" indent="0">
              <a:buNone/>
            </a:pPr>
            <a:endParaRPr lang="en-IN" dirty="0"/>
          </a:p>
        </p:txBody>
      </p:sp>
    </p:spTree>
    <p:extLst>
      <p:ext uri="{BB962C8B-B14F-4D97-AF65-F5344CB8AC3E}">
        <p14:creationId xmlns:p14="http://schemas.microsoft.com/office/powerpoint/2010/main" val="7781774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EE119-02D4-46E0-9259-14EBAA90600F}"/>
              </a:ext>
            </a:extLst>
          </p:cNvPr>
          <p:cNvSpPr>
            <a:spLocks noGrp="1"/>
          </p:cNvSpPr>
          <p:nvPr>
            <p:ph type="title"/>
          </p:nvPr>
        </p:nvSpPr>
        <p:spPr>
          <a:xfrm>
            <a:off x="770965" y="107577"/>
            <a:ext cx="10582835" cy="1583112"/>
          </a:xfrm>
        </p:spPr>
        <p:txBody>
          <a:bodyPr>
            <a:normAutofit/>
          </a:bodyPr>
          <a:lstStyle/>
          <a:p>
            <a:r>
              <a:rPr lang="en-IN" sz="2800" b="1" dirty="0"/>
              <a:t>D. Transport Services Available to Applications </a:t>
            </a:r>
          </a:p>
        </p:txBody>
      </p:sp>
      <p:sp>
        <p:nvSpPr>
          <p:cNvPr id="3" name="Content Placeholder 2">
            <a:extLst>
              <a:ext uri="{FF2B5EF4-FFF2-40B4-BE49-F238E27FC236}">
                <a16:creationId xmlns:a16="http://schemas.microsoft.com/office/drawing/2014/main" id="{F0FE84E8-9414-47DD-AE11-5F6194D5DAD1}"/>
              </a:ext>
            </a:extLst>
          </p:cNvPr>
          <p:cNvSpPr>
            <a:spLocks noGrp="1"/>
          </p:cNvSpPr>
          <p:nvPr>
            <p:ph idx="1"/>
          </p:nvPr>
        </p:nvSpPr>
        <p:spPr>
          <a:xfrm>
            <a:off x="838200" y="1317812"/>
            <a:ext cx="10923494" cy="5175063"/>
          </a:xfrm>
        </p:spPr>
        <p:txBody>
          <a:bodyPr>
            <a:normAutofit/>
          </a:bodyPr>
          <a:lstStyle/>
          <a:p>
            <a:pPr fontAlgn="base"/>
            <a:r>
              <a:rPr lang="en-IN" sz="1800" b="1" dirty="0"/>
              <a:t>Transport Services Available to Applications</a:t>
            </a:r>
            <a:r>
              <a:rPr lang="en-IN" sz="1800" dirty="0"/>
              <a:t> are the services provided by the network stack that enable applications to communicate with each other over a computer network. These services are responsible for ensuring that data is reliably delivered between applications, and they provide the underlying communication infrastructure for the application.</a:t>
            </a:r>
          </a:p>
          <a:p>
            <a:pPr fontAlgn="base"/>
            <a:r>
              <a:rPr lang="en-IN" sz="1800" dirty="0"/>
              <a:t>There are several transport services available to applications, including:</a:t>
            </a:r>
          </a:p>
          <a:p>
            <a:pPr lvl="0" fontAlgn="base">
              <a:buFont typeface="Wingdings" panose="05000000000000000000" pitchFamily="2" charset="2"/>
              <a:buChar char="ü"/>
            </a:pPr>
            <a:r>
              <a:rPr lang="en-IN" sz="1800" b="1" dirty="0"/>
              <a:t>TCP (Transmission Control Protocol)</a:t>
            </a:r>
            <a:r>
              <a:rPr lang="en-IN" sz="1800" dirty="0"/>
              <a:t>: TCP is a reliable, connection-oriented transport service that provides error-checking and flows control to ensure that data is delivered accurately. Applications that require reliable data delivery, such as email or file transfer, typically use TCP.</a:t>
            </a:r>
          </a:p>
          <a:p>
            <a:pPr lvl="0" fontAlgn="base">
              <a:buFont typeface="Wingdings" panose="05000000000000000000" pitchFamily="2" charset="2"/>
              <a:buChar char="ü"/>
            </a:pPr>
            <a:r>
              <a:rPr lang="en-IN" sz="1800" b="1" dirty="0"/>
              <a:t>UDP (User Datagram Protocol)</a:t>
            </a:r>
            <a:r>
              <a:rPr lang="en-IN" sz="1800" dirty="0"/>
              <a:t>: UDP is an unreliable, connectionless transport service that does not provide error checking or flow control. Applications that require low latency or high speed, such as video streaming or online gaming, typically use UDP.</a:t>
            </a:r>
          </a:p>
          <a:p>
            <a:pPr lvl="0" fontAlgn="base">
              <a:buFont typeface="Wingdings" panose="05000000000000000000" pitchFamily="2" charset="2"/>
              <a:buChar char="ü"/>
            </a:pPr>
            <a:r>
              <a:rPr lang="en-IN" sz="1800" b="1" dirty="0"/>
              <a:t>SCTP (Stream Control Transmission Protocol)</a:t>
            </a:r>
            <a:r>
              <a:rPr lang="en-IN" sz="1800" dirty="0"/>
              <a:t>: SCTP is a reliable, multi-homed transport service that provides error checking and flow control. SCTP can handle multiple streams of data between applications, allowing for efficient communication between applications.</a:t>
            </a:r>
          </a:p>
          <a:p>
            <a:pPr lvl="0" fontAlgn="base">
              <a:buFont typeface="Wingdings" panose="05000000000000000000" pitchFamily="2" charset="2"/>
              <a:buChar char="ü"/>
            </a:pPr>
            <a:r>
              <a:rPr lang="en-IN" sz="1800" b="1" dirty="0"/>
              <a:t>DCCP (Datagram Congestion Control Protocol)</a:t>
            </a:r>
            <a:r>
              <a:rPr lang="en-IN" sz="1800" dirty="0"/>
              <a:t>: DCCP is a transport service that provides congestion control for applications that do not require reliable data delivery.</a:t>
            </a:r>
          </a:p>
          <a:p>
            <a:endParaRPr lang="en-IN" dirty="0"/>
          </a:p>
          <a:p>
            <a:pPr>
              <a:buFont typeface="Wingdings" panose="05000000000000000000" pitchFamily="2" charset="2"/>
              <a:buChar char="ü"/>
            </a:pPr>
            <a:endParaRPr lang="en-IN" dirty="0"/>
          </a:p>
        </p:txBody>
      </p:sp>
    </p:spTree>
    <p:extLst>
      <p:ext uri="{BB962C8B-B14F-4D97-AF65-F5344CB8AC3E}">
        <p14:creationId xmlns:p14="http://schemas.microsoft.com/office/powerpoint/2010/main" val="21220266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B4F29-8F30-454D-A439-7C214B02CAD6}"/>
              </a:ext>
            </a:extLst>
          </p:cNvPr>
          <p:cNvSpPr>
            <a:spLocks noGrp="1"/>
          </p:cNvSpPr>
          <p:nvPr>
            <p:ph type="title"/>
          </p:nvPr>
        </p:nvSpPr>
        <p:spPr>
          <a:xfrm>
            <a:off x="838200" y="1"/>
            <a:ext cx="10515600" cy="1690688"/>
          </a:xfrm>
        </p:spPr>
        <p:txBody>
          <a:bodyPr>
            <a:normAutofit/>
          </a:bodyPr>
          <a:lstStyle/>
          <a:p>
            <a:r>
              <a:rPr lang="en-IN" sz="3200" b="1" dirty="0"/>
              <a:t>E. Transport Services Provided by the Internet</a:t>
            </a:r>
          </a:p>
        </p:txBody>
      </p:sp>
      <p:sp>
        <p:nvSpPr>
          <p:cNvPr id="3" name="Content Placeholder 2">
            <a:extLst>
              <a:ext uri="{FF2B5EF4-FFF2-40B4-BE49-F238E27FC236}">
                <a16:creationId xmlns:a16="http://schemas.microsoft.com/office/drawing/2014/main" id="{B82D126E-7B1D-4DAC-87B6-9D0F07BE38FD}"/>
              </a:ext>
            </a:extLst>
          </p:cNvPr>
          <p:cNvSpPr>
            <a:spLocks noGrp="1"/>
          </p:cNvSpPr>
          <p:nvPr>
            <p:ph idx="1"/>
          </p:nvPr>
        </p:nvSpPr>
        <p:spPr>
          <a:xfrm>
            <a:off x="838200" y="1201271"/>
            <a:ext cx="10869706" cy="5414682"/>
          </a:xfrm>
        </p:spPr>
        <p:txBody>
          <a:bodyPr>
            <a:normAutofit/>
          </a:bodyPr>
          <a:lstStyle/>
          <a:p>
            <a:pPr marL="0" indent="0" fontAlgn="base">
              <a:buNone/>
            </a:pPr>
            <a:r>
              <a:rPr lang="en-IN" sz="1800" dirty="0"/>
              <a:t>The Internet provides two primary transport services for applications: TCP (Transmission Control Protocol) and UDP (User Datagram Protocol).</a:t>
            </a:r>
          </a:p>
          <a:p>
            <a:pPr marL="0" lvl="0" indent="0" fontAlgn="base">
              <a:buNone/>
            </a:pPr>
            <a:r>
              <a:rPr lang="en-IN" sz="1800" b="1" dirty="0"/>
              <a:t>1. TCP</a:t>
            </a:r>
            <a:r>
              <a:rPr lang="en-IN" sz="1800" dirty="0"/>
              <a:t>: </a:t>
            </a:r>
          </a:p>
          <a:p>
            <a:pPr lvl="0" fontAlgn="base">
              <a:buFont typeface="Wingdings" panose="05000000000000000000" pitchFamily="2" charset="2"/>
              <a:buChar char="ü"/>
            </a:pPr>
            <a:r>
              <a:rPr lang="en-IN" sz="1800" dirty="0"/>
              <a:t>TCP is a reliable, connection-oriented transport service that provides error-checking and flows control to ensure that data is delivered accurately. </a:t>
            </a:r>
          </a:p>
          <a:p>
            <a:pPr lvl="0" fontAlgn="base">
              <a:buFont typeface="Wingdings" panose="05000000000000000000" pitchFamily="2" charset="2"/>
              <a:buChar char="ü"/>
            </a:pPr>
            <a:r>
              <a:rPr lang="en-IN" sz="1800" dirty="0"/>
              <a:t>Applications that require reliable data delivery, such as email or file transfer, typically use TCP. </a:t>
            </a:r>
          </a:p>
          <a:p>
            <a:pPr lvl="0" fontAlgn="base">
              <a:buFont typeface="Wingdings" panose="05000000000000000000" pitchFamily="2" charset="2"/>
              <a:buChar char="ü"/>
            </a:pPr>
            <a:r>
              <a:rPr lang="en-IN" sz="1800" dirty="0"/>
              <a:t>TCP establishes a reliable connection between two devices and ensures that data is transmitted in the correct order and without errors.</a:t>
            </a:r>
          </a:p>
          <a:p>
            <a:pPr marL="0" lvl="0" indent="0" fontAlgn="base">
              <a:buNone/>
            </a:pPr>
            <a:r>
              <a:rPr lang="en-IN" sz="1800" b="1" dirty="0"/>
              <a:t>2. UDP</a:t>
            </a:r>
            <a:r>
              <a:rPr lang="en-IN" sz="1800" dirty="0"/>
              <a:t>: </a:t>
            </a:r>
          </a:p>
          <a:p>
            <a:pPr lvl="0" fontAlgn="base">
              <a:buFont typeface="Wingdings" panose="05000000000000000000" pitchFamily="2" charset="2"/>
              <a:buChar char="ü"/>
            </a:pPr>
            <a:r>
              <a:rPr lang="en-IN" sz="1800" dirty="0"/>
              <a:t>UDP is an unreliable, connectionless transport service that does not provide error checking or flow control.</a:t>
            </a:r>
          </a:p>
          <a:p>
            <a:pPr lvl="0" fontAlgn="base">
              <a:buFont typeface="Wingdings" panose="05000000000000000000" pitchFamily="2" charset="2"/>
              <a:buChar char="ü"/>
            </a:pPr>
            <a:r>
              <a:rPr lang="en-IN" sz="1800" dirty="0"/>
              <a:t> Applications that require low latency or high speed, such as video streaming or online gaming, typically use UDP. </a:t>
            </a:r>
          </a:p>
          <a:p>
            <a:pPr lvl="0" fontAlgn="base">
              <a:buFont typeface="Wingdings" panose="05000000000000000000" pitchFamily="2" charset="2"/>
              <a:buChar char="ü"/>
            </a:pPr>
            <a:r>
              <a:rPr lang="en-IN" sz="1800" dirty="0"/>
              <a:t>As UDP does not provide error checking or flow control, it is faster and more efficient than TCP, but it may not be suitable for applications that require reliable data delivery.</a:t>
            </a:r>
          </a:p>
          <a:p>
            <a:pPr marL="0" indent="0">
              <a:buNone/>
            </a:pPr>
            <a:endParaRPr lang="en-IN" dirty="0"/>
          </a:p>
        </p:txBody>
      </p:sp>
    </p:spTree>
    <p:extLst>
      <p:ext uri="{BB962C8B-B14F-4D97-AF65-F5344CB8AC3E}">
        <p14:creationId xmlns:p14="http://schemas.microsoft.com/office/powerpoint/2010/main" val="7841011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BC8D2-3036-403C-B59C-57E9B82144CA}"/>
              </a:ext>
            </a:extLst>
          </p:cNvPr>
          <p:cNvSpPr>
            <a:spLocks noGrp="1"/>
          </p:cNvSpPr>
          <p:nvPr>
            <p:ph type="title"/>
          </p:nvPr>
        </p:nvSpPr>
        <p:spPr>
          <a:xfrm>
            <a:off x="838200" y="365125"/>
            <a:ext cx="10515600" cy="594099"/>
          </a:xfrm>
        </p:spPr>
        <p:txBody>
          <a:bodyPr>
            <a:normAutofit/>
          </a:bodyPr>
          <a:lstStyle/>
          <a:p>
            <a:r>
              <a:rPr lang="en-IN" sz="2800" b="1" dirty="0"/>
              <a:t>Application-layer protocols </a:t>
            </a:r>
          </a:p>
        </p:txBody>
      </p:sp>
      <p:sp>
        <p:nvSpPr>
          <p:cNvPr id="3" name="Content Placeholder 2">
            <a:extLst>
              <a:ext uri="{FF2B5EF4-FFF2-40B4-BE49-F238E27FC236}">
                <a16:creationId xmlns:a16="http://schemas.microsoft.com/office/drawing/2014/main" id="{1C32DE83-C74A-490E-9FB8-B1198805D058}"/>
              </a:ext>
            </a:extLst>
          </p:cNvPr>
          <p:cNvSpPr>
            <a:spLocks noGrp="1"/>
          </p:cNvSpPr>
          <p:nvPr>
            <p:ph idx="1"/>
          </p:nvPr>
        </p:nvSpPr>
        <p:spPr>
          <a:xfrm>
            <a:off x="663389" y="1237129"/>
            <a:ext cx="10690412" cy="4939834"/>
          </a:xfrm>
        </p:spPr>
        <p:txBody>
          <a:bodyPr/>
          <a:lstStyle/>
          <a:p>
            <a:r>
              <a:rPr lang="en-IN" sz="1800" b="1" dirty="0"/>
              <a:t>Application-layer protocols</a:t>
            </a:r>
            <a:r>
              <a:rPr lang="en-IN" sz="1800" dirty="0"/>
              <a:t> are data exchange protocols used to allow communication between applications on different devices. </a:t>
            </a:r>
          </a:p>
          <a:p>
            <a:r>
              <a:rPr lang="en-IN" sz="1800" dirty="0"/>
              <a:t>They operate at the highest layer of the OSI (Open Systems Interconnection) model, which is the application layer. </a:t>
            </a:r>
          </a:p>
          <a:p>
            <a:r>
              <a:rPr lang="en-IN" sz="1800" dirty="0"/>
              <a:t>Application-layer protocols define the rules for exchanging data between applications, such as formatting, error detection and correction, and security. </a:t>
            </a:r>
          </a:p>
          <a:p>
            <a:r>
              <a:rPr lang="en-IN" sz="1800" dirty="0"/>
              <a:t>Examples of application-layer protocols include HTTP, HTTPS, FTP, SMTP, POP3, IMAP, and many others. They are used in various applications such as web browsing, email, file transfer, and more.</a:t>
            </a:r>
          </a:p>
          <a:p>
            <a:pPr marL="0" indent="0">
              <a:buNone/>
            </a:pPr>
            <a:endParaRPr lang="en-IN" dirty="0"/>
          </a:p>
        </p:txBody>
      </p:sp>
      <p:pic>
        <p:nvPicPr>
          <p:cNvPr id="4" name="Picture 3">
            <a:extLst>
              <a:ext uri="{FF2B5EF4-FFF2-40B4-BE49-F238E27FC236}">
                <a16:creationId xmlns:a16="http://schemas.microsoft.com/office/drawing/2014/main" id="{F3B43D35-C2BF-43BF-A2F7-01ACD07F67B2}"/>
              </a:ext>
            </a:extLst>
          </p:cNvPr>
          <p:cNvPicPr>
            <a:picLocks noChangeAspect="1"/>
          </p:cNvPicPr>
          <p:nvPr/>
        </p:nvPicPr>
        <p:blipFill>
          <a:blip r:embed="rId2"/>
          <a:stretch>
            <a:fillRect/>
          </a:stretch>
        </p:blipFill>
        <p:spPr>
          <a:xfrm>
            <a:off x="3964360" y="3886760"/>
            <a:ext cx="3485311" cy="2498902"/>
          </a:xfrm>
          <a:prstGeom prst="rect">
            <a:avLst/>
          </a:prstGeom>
        </p:spPr>
      </p:pic>
    </p:spTree>
    <p:extLst>
      <p:ext uri="{BB962C8B-B14F-4D97-AF65-F5344CB8AC3E}">
        <p14:creationId xmlns:p14="http://schemas.microsoft.com/office/powerpoint/2010/main" val="30084536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15D40-5666-44D9-B742-B1467D16FA8A}"/>
              </a:ext>
            </a:extLst>
          </p:cNvPr>
          <p:cNvSpPr>
            <a:spLocks noGrp="1"/>
          </p:cNvSpPr>
          <p:nvPr>
            <p:ph type="title"/>
          </p:nvPr>
        </p:nvSpPr>
        <p:spPr>
          <a:xfrm>
            <a:off x="672353" y="365126"/>
            <a:ext cx="10681447" cy="531346"/>
          </a:xfrm>
        </p:spPr>
        <p:txBody>
          <a:bodyPr>
            <a:normAutofit fontScale="90000"/>
          </a:bodyPr>
          <a:lstStyle/>
          <a:p>
            <a:r>
              <a:rPr lang="en-US" dirty="0"/>
              <a:t>HTTP</a:t>
            </a:r>
            <a:endParaRPr lang="en-IN" dirty="0"/>
          </a:p>
        </p:txBody>
      </p:sp>
      <p:sp>
        <p:nvSpPr>
          <p:cNvPr id="3" name="Content Placeholder 2">
            <a:extLst>
              <a:ext uri="{FF2B5EF4-FFF2-40B4-BE49-F238E27FC236}">
                <a16:creationId xmlns:a16="http://schemas.microsoft.com/office/drawing/2014/main" id="{4AC4FA25-9149-4392-B9A1-51D92FFEF88E}"/>
              </a:ext>
            </a:extLst>
          </p:cNvPr>
          <p:cNvSpPr>
            <a:spLocks noGrp="1"/>
          </p:cNvSpPr>
          <p:nvPr>
            <p:ph idx="1"/>
          </p:nvPr>
        </p:nvSpPr>
        <p:spPr>
          <a:xfrm>
            <a:off x="672353" y="896472"/>
            <a:ext cx="10681447" cy="5280491"/>
          </a:xfrm>
        </p:spPr>
        <p:txBody>
          <a:bodyPr>
            <a:normAutofit/>
          </a:bodyPr>
          <a:lstStyle/>
          <a:p>
            <a:r>
              <a:rPr lang="en-US" sz="1800" dirty="0"/>
              <a:t>HTTP (Hypertext Transfer Protocol) is a set of rules that govern how information will be transferred between networked devices, specifically web servers and client browsers.</a:t>
            </a:r>
            <a:r>
              <a:rPr lang="en-IN" dirty="0"/>
              <a:t> </a:t>
            </a:r>
            <a:r>
              <a:rPr lang="en-IN" sz="1800" dirty="0"/>
              <a:t>HTTP was released in 1991 by Tim Berners-Lee, with the launch of the World Wide Web. Since then, it has evolved and improved for faster and more secure web experiences.</a:t>
            </a:r>
          </a:p>
          <a:p>
            <a:pPr marL="0" indent="0">
              <a:buNone/>
            </a:pPr>
            <a:endParaRPr lang="en-IN" sz="1800" dirty="0"/>
          </a:p>
          <a:p>
            <a:r>
              <a:rPr lang="en-US" sz="1800" dirty="0"/>
              <a:t>E</a:t>
            </a:r>
            <a:r>
              <a:rPr lang="en-IN" sz="1800" dirty="0" err="1"/>
              <a:t>volution</a:t>
            </a:r>
            <a:r>
              <a:rPr lang="en-IN" sz="1800" dirty="0"/>
              <a:t> of HTTP over the years:-</a:t>
            </a:r>
          </a:p>
          <a:p>
            <a:pPr lvl="1">
              <a:buFont typeface="Wingdings" panose="05000000000000000000" pitchFamily="2" charset="2"/>
              <a:buChar char="ü"/>
            </a:pPr>
            <a:r>
              <a:rPr lang="en-IN" sz="1400" b="1" dirty="0"/>
              <a:t> </a:t>
            </a:r>
            <a:r>
              <a:rPr lang="en-IN" sz="1600" b="1" dirty="0"/>
              <a:t>HTTP/0.9 (1991):</a:t>
            </a:r>
            <a:r>
              <a:rPr lang="en-IN" sz="1600" dirty="0"/>
              <a:t> HTTP was first released in 1991 by Tim Berners-Lee and supported only GET method.</a:t>
            </a:r>
          </a:p>
          <a:p>
            <a:pPr lvl="1">
              <a:buFont typeface="Wingdings" panose="05000000000000000000" pitchFamily="2" charset="2"/>
              <a:buChar char="ü"/>
            </a:pPr>
            <a:r>
              <a:rPr lang="en-IN" sz="1600" b="1" dirty="0"/>
              <a:t>HTTP/1.0 (1996):</a:t>
            </a:r>
            <a:r>
              <a:rPr lang="en-IN" sz="1600" dirty="0"/>
              <a:t> It was released in 1996 and supported many other request methods such as POST, PUT, DELETE, etc. and allowed more complex interaction.</a:t>
            </a:r>
          </a:p>
          <a:p>
            <a:pPr lvl="1">
              <a:buFont typeface="Wingdings" panose="05000000000000000000" pitchFamily="2" charset="2"/>
              <a:buChar char="ü"/>
            </a:pPr>
            <a:r>
              <a:rPr lang="en-IN" sz="1600" b="1" dirty="0"/>
              <a:t>HTTP/1.1 (1997):</a:t>
            </a:r>
            <a:r>
              <a:rPr lang="en-IN" sz="1600" dirty="0"/>
              <a:t> HTTP/1.1 was released in 1997 and offered various new improvements such as pipelining, persistent connections, efficient caching and additional header fields to improve performance and better control.</a:t>
            </a:r>
          </a:p>
          <a:p>
            <a:pPr lvl="1">
              <a:buFont typeface="Wingdings" panose="05000000000000000000" pitchFamily="2" charset="2"/>
              <a:buChar char="ü"/>
            </a:pPr>
            <a:r>
              <a:rPr lang="en-IN" sz="1600" b="1" dirty="0"/>
              <a:t>HTTP/2 (2015):</a:t>
            </a:r>
            <a:r>
              <a:rPr lang="en-IN" sz="1600" dirty="0"/>
              <a:t> HTTP/2 introduced various performance improvements, like, header compression, multiplexing, and server push which helped in reducing the latency.</a:t>
            </a:r>
          </a:p>
          <a:p>
            <a:pPr lvl="1">
              <a:buFont typeface="Wingdings" panose="05000000000000000000" pitchFamily="2" charset="2"/>
              <a:buChar char="ü"/>
            </a:pPr>
            <a:r>
              <a:rPr lang="en-IN" sz="1600" b="1" dirty="0"/>
              <a:t>HTTP/3 (2020):</a:t>
            </a:r>
            <a:r>
              <a:rPr lang="en-IN" sz="1600" dirty="0"/>
              <a:t> HTTP/3 is the latest and currently most used version of HTTP. It aims to improve the performance on unreliable networks. It is based on QUIC protocol and reduces the latency, provides better security and offers faster connection establishment</a:t>
            </a:r>
            <a:r>
              <a:rPr lang="en-US" sz="1600" dirty="0"/>
              <a:t>	</a:t>
            </a:r>
            <a:endParaRPr lang="en-IN" sz="1600" dirty="0"/>
          </a:p>
        </p:txBody>
      </p:sp>
    </p:spTree>
    <p:extLst>
      <p:ext uri="{BB962C8B-B14F-4D97-AF65-F5344CB8AC3E}">
        <p14:creationId xmlns:p14="http://schemas.microsoft.com/office/powerpoint/2010/main" val="31655083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6061A-F0E0-4FD0-994E-CB52AE8D4C62}"/>
              </a:ext>
            </a:extLst>
          </p:cNvPr>
          <p:cNvSpPr>
            <a:spLocks noGrp="1"/>
          </p:cNvSpPr>
          <p:nvPr>
            <p:ph type="title"/>
          </p:nvPr>
        </p:nvSpPr>
        <p:spPr>
          <a:xfrm>
            <a:off x="838200" y="365125"/>
            <a:ext cx="10515600" cy="549275"/>
          </a:xfrm>
        </p:spPr>
        <p:txBody>
          <a:bodyPr>
            <a:normAutofit/>
          </a:bodyPr>
          <a:lstStyle/>
          <a:p>
            <a:r>
              <a:rPr lang="en-IN" sz="3200" b="1" dirty="0"/>
              <a:t>Evolution of HTTP</a:t>
            </a:r>
          </a:p>
        </p:txBody>
      </p:sp>
      <p:sp>
        <p:nvSpPr>
          <p:cNvPr id="3" name="Content Placeholder 2">
            <a:extLst>
              <a:ext uri="{FF2B5EF4-FFF2-40B4-BE49-F238E27FC236}">
                <a16:creationId xmlns:a16="http://schemas.microsoft.com/office/drawing/2014/main" id="{2E7EE7E5-B492-4093-9ECF-4CD67E0663BB}"/>
              </a:ext>
            </a:extLst>
          </p:cNvPr>
          <p:cNvSpPr>
            <a:spLocks noGrp="1"/>
          </p:cNvSpPr>
          <p:nvPr>
            <p:ph idx="1"/>
          </p:nvPr>
        </p:nvSpPr>
        <p:spPr>
          <a:xfrm>
            <a:off x="726141" y="914400"/>
            <a:ext cx="10627659" cy="5262563"/>
          </a:xfrm>
        </p:spPr>
        <p:txBody>
          <a:bodyPr>
            <a:normAutofit fontScale="62500" lnSpcReduction="20000"/>
          </a:bodyPr>
          <a:lstStyle/>
          <a:p>
            <a:pPr marL="0" indent="0">
              <a:buNone/>
            </a:pPr>
            <a:r>
              <a:rPr lang="en-US" sz="2600" b="1" dirty="0"/>
              <a:t>1. HTTP/0.9 (1991)</a:t>
            </a:r>
          </a:p>
          <a:p>
            <a:r>
              <a:rPr lang="en-US" sz="2600" dirty="0"/>
              <a:t>This was the </a:t>
            </a:r>
            <a:r>
              <a:rPr lang="en-US" sz="2600" b="1" dirty="0"/>
              <a:t>first version</a:t>
            </a:r>
            <a:r>
              <a:rPr lang="en-US" sz="2600" dirty="0"/>
              <a:t> of HTTP.</a:t>
            </a:r>
          </a:p>
          <a:p>
            <a:pPr marL="0" indent="0">
              <a:buNone/>
            </a:pPr>
            <a:r>
              <a:rPr lang="en-US" sz="2600" b="1" dirty="0"/>
              <a:t>Features</a:t>
            </a:r>
          </a:p>
          <a:p>
            <a:r>
              <a:rPr lang="en-US" sz="2600" dirty="0"/>
              <a:t>Supported only the </a:t>
            </a:r>
            <a:r>
              <a:rPr lang="en-US" sz="2600" b="1" dirty="0"/>
              <a:t>GET</a:t>
            </a:r>
            <a:r>
              <a:rPr lang="en-US" sz="2600" dirty="0"/>
              <a:t> request method. </a:t>
            </a:r>
          </a:p>
          <a:p>
            <a:r>
              <a:rPr lang="en-US" sz="2600" dirty="0"/>
              <a:t>Could retrieve only HTML documents. </a:t>
            </a:r>
          </a:p>
          <a:p>
            <a:r>
              <a:rPr lang="en-US" sz="2600" dirty="0"/>
              <a:t>No response headers. </a:t>
            </a:r>
          </a:p>
          <a:p>
            <a:r>
              <a:rPr lang="en-US" sz="2600" dirty="0"/>
              <a:t>Very simple protocol. </a:t>
            </a:r>
          </a:p>
          <a:p>
            <a:r>
              <a:rPr lang="en-US" sz="2600" dirty="0"/>
              <a:t>Example:</a:t>
            </a:r>
          </a:p>
          <a:p>
            <a:pPr marL="0" indent="0">
              <a:buNone/>
            </a:pPr>
            <a:r>
              <a:rPr lang="en-IN" sz="2600" dirty="0"/>
              <a:t>	</a:t>
            </a:r>
            <a:r>
              <a:rPr lang="en-IN" sz="2600" dirty="0">
                <a:solidFill>
                  <a:schemeClr val="accent1"/>
                </a:solidFill>
              </a:rPr>
              <a:t>GET /index.html</a:t>
            </a:r>
          </a:p>
          <a:p>
            <a:r>
              <a:rPr lang="en-US" sz="2600" dirty="0"/>
              <a:t>The server simply returned the HTML page.</a:t>
            </a:r>
          </a:p>
          <a:p>
            <a:r>
              <a:rPr lang="en-US" sz="2600" b="1" dirty="0"/>
              <a:t>Limitations</a:t>
            </a:r>
          </a:p>
          <a:p>
            <a:r>
              <a:rPr lang="en-US" sz="2600" dirty="0"/>
              <a:t>No POST method </a:t>
            </a:r>
          </a:p>
          <a:p>
            <a:r>
              <a:rPr lang="en-US" sz="2600" dirty="0"/>
              <a:t>No images </a:t>
            </a:r>
          </a:p>
          <a:p>
            <a:r>
              <a:rPr lang="en-US" sz="2600" dirty="0"/>
              <a:t>No videos </a:t>
            </a:r>
          </a:p>
          <a:p>
            <a:r>
              <a:rPr lang="en-US" sz="2600" dirty="0"/>
              <a:t>No status codes </a:t>
            </a:r>
          </a:p>
          <a:p>
            <a:r>
              <a:rPr lang="en-US" sz="2600" dirty="0"/>
              <a:t>No error handling </a:t>
            </a:r>
          </a:p>
          <a:p>
            <a:r>
              <a:rPr lang="en-US" sz="2600" dirty="0"/>
              <a:t>It was sufficient only for the very early web.</a:t>
            </a:r>
          </a:p>
          <a:p>
            <a:pPr marL="0" indent="0">
              <a:buNone/>
            </a:pPr>
            <a:endParaRPr lang="en-IN" dirty="0"/>
          </a:p>
        </p:txBody>
      </p:sp>
    </p:spTree>
    <p:extLst>
      <p:ext uri="{BB962C8B-B14F-4D97-AF65-F5344CB8AC3E}">
        <p14:creationId xmlns:p14="http://schemas.microsoft.com/office/powerpoint/2010/main" val="31135866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8079A-4768-4DD3-8B59-CBF0F29AA0AB}"/>
              </a:ext>
            </a:extLst>
          </p:cNvPr>
          <p:cNvSpPr>
            <a:spLocks noGrp="1"/>
          </p:cNvSpPr>
          <p:nvPr>
            <p:ph type="title"/>
          </p:nvPr>
        </p:nvSpPr>
        <p:spPr>
          <a:xfrm>
            <a:off x="744071" y="365126"/>
            <a:ext cx="10609729" cy="315912"/>
          </a:xfrm>
        </p:spPr>
        <p:txBody>
          <a:bodyPr>
            <a:normAutofit/>
          </a:bodyPr>
          <a:lstStyle/>
          <a:p>
            <a:r>
              <a:rPr lang="en-US" sz="1400" dirty="0"/>
              <a:t>Continued…</a:t>
            </a:r>
            <a:endParaRPr lang="en-IN" sz="1400" dirty="0"/>
          </a:p>
        </p:txBody>
      </p:sp>
      <p:sp>
        <p:nvSpPr>
          <p:cNvPr id="3" name="Content Placeholder 2">
            <a:extLst>
              <a:ext uri="{FF2B5EF4-FFF2-40B4-BE49-F238E27FC236}">
                <a16:creationId xmlns:a16="http://schemas.microsoft.com/office/drawing/2014/main" id="{41B6D82D-D34B-40A6-8A4C-5DF92ED458F5}"/>
              </a:ext>
            </a:extLst>
          </p:cNvPr>
          <p:cNvSpPr>
            <a:spLocks noGrp="1"/>
          </p:cNvSpPr>
          <p:nvPr>
            <p:ph idx="1"/>
          </p:nvPr>
        </p:nvSpPr>
        <p:spPr>
          <a:xfrm>
            <a:off x="744071" y="779929"/>
            <a:ext cx="10609729" cy="5397034"/>
          </a:xfrm>
        </p:spPr>
        <p:txBody>
          <a:bodyPr>
            <a:normAutofit/>
          </a:bodyPr>
          <a:lstStyle/>
          <a:p>
            <a:pPr marL="0" indent="0">
              <a:buNone/>
            </a:pPr>
            <a:r>
              <a:rPr lang="en-US" sz="1700" b="1" dirty="0"/>
              <a:t>2. HTTP/1.0 (1996)</a:t>
            </a:r>
          </a:p>
          <a:p>
            <a:r>
              <a:rPr lang="en-US" sz="1700" dirty="0"/>
              <a:t>HTTP/1.0 made the web much more useful.</a:t>
            </a:r>
          </a:p>
          <a:p>
            <a:pPr marL="0" indent="0">
              <a:buNone/>
            </a:pPr>
            <a:r>
              <a:rPr lang="en-US" sz="1700" b="1" dirty="0"/>
              <a:t>New Features</a:t>
            </a:r>
          </a:p>
          <a:p>
            <a:pPr marL="0" indent="0">
              <a:buNone/>
            </a:pPr>
            <a:r>
              <a:rPr lang="en-US" sz="1700" dirty="0"/>
              <a:t>It introduced multiple request methods:</a:t>
            </a:r>
          </a:p>
          <a:p>
            <a:r>
              <a:rPr lang="en-US" sz="1700" dirty="0"/>
              <a:t>GET </a:t>
            </a:r>
          </a:p>
          <a:p>
            <a:r>
              <a:rPr lang="en-US" sz="1700" dirty="0"/>
              <a:t>POST </a:t>
            </a:r>
          </a:p>
          <a:p>
            <a:r>
              <a:rPr lang="en-US" sz="1700" dirty="0"/>
              <a:t>PUT </a:t>
            </a:r>
          </a:p>
          <a:p>
            <a:r>
              <a:rPr lang="en-US" sz="1700" dirty="0"/>
              <a:t>DELETE </a:t>
            </a:r>
          </a:p>
          <a:p>
            <a:r>
              <a:rPr lang="en-US" sz="1700" dirty="0"/>
              <a:t>HEAD </a:t>
            </a:r>
          </a:p>
          <a:p>
            <a:pPr marL="0" indent="0">
              <a:buNone/>
            </a:pPr>
            <a:r>
              <a:rPr lang="en-US" sz="1700" dirty="0"/>
              <a:t>It also added:</a:t>
            </a:r>
          </a:p>
          <a:p>
            <a:r>
              <a:rPr lang="en-US" sz="1700" dirty="0"/>
              <a:t>HTTP headers </a:t>
            </a:r>
          </a:p>
          <a:p>
            <a:r>
              <a:rPr lang="en-US" sz="1700" dirty="0"/>
              <a:t>Status codes </a:t>
            </a:r>
          </a:p>
          <a:p>
            <a:r>
              <a:rPr lang="en-US" sz="1700" dirty="0"/>
              <a:t>MIME types (to transfer images, PDFs, videos) </a:t>
            </a:r>
          </a:p>
          <a:p>
            <a:r>
              <a:rPr lang="en-US" sz="1700" dirty="0"/>
              <a:t>Error messages </a:t>
            </a:r>
          </a:p>
          <a:p>
            <a:pPr marL="0" indent="0">
              <a:buNone/>
            </a:pPr>
            <a:endParaRPr lang="en-IN" dirty="0"/>
          </a:p>
        </p:txBody>
      </p:sp>
    </p:spTree>
    <p:extLst>
      <p:ext uri="{BB962C8B-B14F-4D97-AF65-F5344CB8AC3E}">
        <p14:creationId xmlns:p14="http://schemas.microsoft.com/office/powerpoint/2010/main" val="36949621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C3A2B-E6F7-4914-87A7-B709CC94AD63}"/>
              </a:ext>
            </a:extLst>
          </p:cNvPr>
          <p:cNvSpPr>
            <a:spLocks noGrp="1"/>
          </p:cNvSpPr>
          <p:nvPr>
            <p:ph type="title"/>
          </p:nvPr>
        </p:nvSpPr>
        <p:spPr>
          <a:xfrm>
            <a:off x="838200" y="365126"/>
            <a:ext cx="10515600" cy="414804"/>
          </a:xfrm>
        </p:spPr>
        <p:txBody>
          <a:bodyPr>
            <a:normAutofit/>
          </a:bodyPr>
          <a:lstStyle/>
          <a:p>
            <a:r>
              <a:rPr lang="en-US" sz="1200" dirty="0"/>
              <a:t>Continued…</a:t>
            </a:r>
            <a:endParaRPr lang="en-IN" sz="1200" dirty="0"/>
          </a:p>
        </p:txBody>
      </p:sp>
      <p:sp>
        <p:nvSpPr>
          <p:cNvPr id="3" name="Content Placeholder 2">
            <a:extLst>
              <a:ext uri="{FF2B5EF4-FFF2-40B4-BE49-F238E27FC236}">
                <a16:creationId xmlns:a16="http://schemas.microsoft.com/office/drawing/2014/main" id="{A1B4BC2C-8828-421E-BCC2-149330723F30}"/>
              </a:ext>
            </a:extLst>
          </p:cNvPr>
          <p:cNvSpPr>
            <a:spLocks noGrp="1"/>
          </p:cNvSpPr>
          <p:nvPr>
            <p:ph idx="1"/>
          </p:nvPr>
        </p:nvSpPr>
        <p:spPr>
          <a:xfrm>
            <a:off x="838200" y="717176"/>
            <a:ext cx="10515600" cy="5459787"/>
          </a:xfrm>
        </p:spPr>
        <p:txBody>
          <a:bodyPr/>
          <a:lstStyle/>
          <a:p>
            <a:pPr marL="0" indent="0">
              <a:buNone/>
            </a:pPr>
            <a:r>
              <a:rPr lang="en-US" sz="2000" dirty="0"/>
              <a:t>Example response:</a:t>
            </a:r>
          </a:p>
          <a:p>
            <a:pPr marL="0" indent="0">
              <a:buNone/>
            </a:pPr>
            <a:r>
              <a:rPr lang="en-US" sz="2000" dirty="0"/>
              <a:t>HTTP/1.0 200 OK</a:t>
            </a:r>
          </a:p>
          <a:p>
            <a:pPr marL="0" indent="0">
              <a:buNone/>
            </a:pPr>
            <a:r>
              <a:rPr lang="en-US" sz="2000" dirty="0"/>
              <a:t>Content-Type: text/html</a:t>
            </a:r>
          </a:p>
          <a:p>
            <a:pPr marL="0" indent="0">
              <a:buNone/>
            </a:pPr>
            <a:r>
              <a:rPr lang="en-US" sz="2000" b="1" dirty="0"/>
              <a:t>Advantages</a:t>
            </a:r>
          </a:p>
          <a:p>
            <a:r>
              <a:rPr lang="en-US" sz="2000" dirty="0"/>
              <a:t>Could transfer different file types </a:t>
            </a:r>
          </a:p>
          <a:p>
            <a:r>
              <a:rPr lang="en-US" sz="2000" dirty="0"/>
              <a:t>Better interaction between client and server </a:t>
            </a:r>
          </a:p>
          <a:p>
            <a:r>
              <a:rPr lang="en-US" sz="2000" dirty="0"/>
              <a:t>Standard response format </a:t>
            </a:r>
          </a:p>
          <a:p>
            <a:pPr marL="0" indent="0">
              <a:buNone/>
            </a:pPr>
            <a:r>
              <a:rPr lang="en-US" sz="2000" b="1" dirty="0"/>
              <a:t>Limitation</a:t>
            </a:r>
          </a:p>
          <a:p>
            <a:r>
              <a:rPr lang="en-US" sz="2000" dirty="0"/>
              <a:t>Each request required opening a </a:t>
            </a:r>
            <a:r>
              <a:rPr lang="en-US" sz="2000" b="1" dirty="0"/>
              <a:t>new TCP connection</a:t>
            </a:r>
            <a:r>
              <a:rPr lang="en-US" sz="2000" dirty="0"/>
              <a:t>, which increased delay.</a:t>
            </a:r>
          </a:p>
          <a:p>
            <a:pPr marL="0" indent="0">
              <a:buNone/>
            </a:pPr>
            <a:endParaRPr lang="en-IN" dirty="0"/>
          </a:p>
        </p:txBody>
      </p:sp>
    </p:spTree>
    <p:extLst>
      <p:ext uri="{BB962C8B-B14F-4D97-AF65-F5344CB8AC3E}">
        <p14:creationId xmlns:p14="http://schemas.microsoft.com/office/powerpoint/2010/main" val="34116020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35380-7727-4507-B019-E2CCB86968FB}"/>
              </a:ext>
            </a:extLst>
          </p:cNvPr>
          <p:cNvSpPr>
            <a:spLocks noGrp="1"/>
          </p:cNvSpPr>
          <p:nvPr>
            <p:ph type="title"/>
          </p:nvPr>
        </p:nvSpPr>
        <p:spPr>
          <a:xfrm>
            <a:off x="770965" y="365126"/>
            <a:ext cx="10582835" cy="414804"/>
          </a:xfrm>
        </p:spPr>
        <p:txBody>
          <a:bodyPr>
            <a:normAutofit/>
          </a:bodyPr>
          <a:lstStyle/>
          <a:p>
            <a:r>
              <a:rPr lang="en-US" sz="1400" dirty="0"/>
              <a:t>Continued…</a:t>
            </a:r>
            <a:endParaRPr lang="en-IN" sz="1400" dirty="0"/>
          </a:p>
        </p:txBody>
      </p:sp>
      <p:sp>
        <p:nvSpPr>
          <p:cNvPr id="3" name="Content Placeholder 2">
            <a:extLst>
              <a:ext uri="{FF2B5EF4-FFF2-40B4-BE49-F238E27FC236}">
                <a16:creationId xmlns:a16="http://schemas.microsoft.com/office/drawing/2014/main" id="{58202CE1-1DF0-402D-AEAA-2C89073087E6}"/>
              </a:ext>
            </a:extLst>
          </p:cNvPr>
          <p:cNvSpPr>
            <a:spLocks noGrp="1"/>
          </p:cNvSpPr>
          <p:nvPr>
            <p:ph idx="1"/>
          </p:nvPr>
        </p:nvSpPr>
        <p:spPr>
          <a:xfrm>
            <a:off x="770965" y="779930"/>
            <a:ext cx="10582835" cy="5397033"/>
          </a:xfrm>
        </p:spPr>
        <p:txBody>
          <a:bodyPr>
            <a:normAutofit/>
          </a:bodyPr>
          <a:lstStyle/>
          <a:p>
            <a:pPr marL="0" indent="0">
              <a:buNone/>
            </a:pPr>
            <a:r>
              <a:rPr lang="en-US" sz="1800" b="1" dirty="0"/>
              <a:t>3. HTTP/1.1 (1997)</a:t>
            </a:r>
          </a:p>
          <a:p>
            <a:r>
              <a:rPr lang="en-US" sz="1800" dirty="0"/>
              <a:t>HTTP/1.1 became the most widely used version for many years.</a:t>
            </a:r>
          </a:p>
          <a:p>
            <a:pPr marL="0" indent="0">
              <a:buNone/>
            </a:pPr>
            <a:r>
              <a:rPr lang="en-US" sz="1800" b="1" dirty="0"/>
              <a:t>Major Improvements</a:t>
            </a:r>
          </a:p>
          <a:p>
            <a:pPr>
              <a:buFont typeface="Wingdings" panose="05000000000000000000" pitchFamily="2" charset="2"/>
              <a:buChar char="Ø"/>
            </a:pPr>
            <a:r>
              <a:rPr lang="en-US" sz="1800" b="1" dirty="0"/>
              <a:t>Persistent Connections (Keep Alive)</a:t>
            </a:r>
          </a:p>
          <a:p>
            <a:pPr marL="0" indent="0">
              <a:buNone/>
            </a:pPr>
            <a:r>
              <a:rPr lang="en-US" sz="1800" dirty="0"/>
              <a:t>Instead of opening a new TCP connection for every request, one connection could be reused.</a:t>
            </a:r>
          </a:p>
          <a:p>
            <a:pPr marL="0" indent="0">
              <a:buNone/>
            </a:pPr>
            <a:r>
              <a:rPr lang="en-US" sz="1800" dirty="0"/>
              <a:t>Earlier:</a:t>
            </a:r>
          </a:p>
          <a:p>
            <a:pPr marL="0" indent="0">
              <a:buNone/>
            </a:pPr>
            <a:r>
              <a:rPr lang="en-US" sz="1800" dirty="0"/>
              <a:t>Request 1 → New Connection</a:t>
            </a:r>
          </a:p>
          <a:p>
            <a:pPr marL="0" indent="0">
              <a:buNone/>
            </a:pPr>
            <a:r>
              <a:rPr lang="en-US" sz="1800" dirty="0"/>
              <a:t>Request 2 → New Connection</a:t>
            </a:r>
          </a:p>
          <a:p>
            <a:pPr marL="0" indent="0">
              <a:buNone/>
            </a:pPr>
            <a:r>
              <a:rPr lang="en-US" sz="1800" dirty="0"/>
              <a:t>Request 3 → New Connection</a:t>
            </a:r>
          </a:p>
          <a:p>
            <a:pPr marL="0" indent="0">
              <a:buNone/>
            </a:pPr>
            <a:r>
              <a:rPr lang="en-IN" sz="1800" dirty="0"/>
              <a:t>HTTP/1.1:</a:t>
            </a:r>
          </a:p>
          <a:p>
            <a:pPr marL="0" indent="0">
              <a:buNone/>
            </a:pPr>
            <a:r>
              <a:rPr lang="en-IN" sz="1800" dirty="0"/>
              <a:t>One Connection</a:t>
            </a:r>
          </a:p>
          <a:p>
            <a:pPr marL="0" indent="0">
              <a:buNone/>
            </a:pPr>
            <a:r>
              <a:rPr lang="en-IN" sz="1800" dirty="0"/>
              <a:t>↓</a:t>
            </a:r>
          </a:p>
          <a:p>
            <a:pPr marL="0" indent="0">
              <a:buNone/>
            </a:pPr>
            <a:r>
              <a:rPr lang="en-IN" sz="1800" dirty="0"/>
              <a:t>Many Requests</a:t>
            </a:r>
          </a:p>
          <a:p>
            <a:pPr marL="0" indent="0">
              <a:buNone/>
            </a:pPr>
            <a:r>
              <a:rPr lang="en-IN" sz="1800" dirty="0"/>
              <a:t>This reduced overhead.</a:t>
            </a:r>
          </a:p>
          <a:p>
            <a:pPr marL="0" indent="0">
              <a:buNone/>
            </a:pPr>
            <a:endParaRPr lang="en-IN" sz="1400" dirty="0"/>
          </a:p>
        </p:txBody>
      </p:sp>
    </p:spTree>
    <p:extLst>
      <p:ext uri="{BB962C8B-B14F-4D97-AF65-F5344CB8AC3E}">
        <p14:creationId xmlns:p14="http://schemas.microsoft.com/office/powerpoint/2010/main" val="24791496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01ADB-8BEC-40F4-A911-D6E4FCB09F5D}"/>
              </a:ext>
            </a:extLst>
          </p:cNvPr>
          <p:cNvSpPr>
            <a:spLocks noGrp="1"/>
          </p:cNvSpPr>
          <p:nvPr>
            <p:ph type="title"/>
          </p:nvPr>
        </p:nvSpPr>
        <p:spPr>
          <a:xfrm>
            <a:off x="838200" y="365125"/>
            <a:ext cx="10515600" cy="396875"/>
          </a:xfrm>
        </p:spPr>
        <p:txBody>
          <a:bodyPr>
            <a:normAutofit/>
          </a:bodyPr>
          <a:lstStyle/>
          <a:p>
            <a:r>
              <a:rPr lang="en-US" sz="1200" dirty="0"/>
              <a:t>Continued…</a:t>
            </a:r>
            <a:endParaRPr lang="en-IN" sz="1200" dirty="0"/>
          </a:p>
        </p:txBody>
      </p:sp>
      <p:sp>
        <p:nvSpPr>
          <p:cNvPr id="3" name="Content Placeholder 2">
            <a:extLst>
              <a:ext uri="{FF2B5EF4-FFF2-40B4-BE49-F238E27FC236}">
                <a16:creationId xmlns:a16="http://schemas.microsoft.com/office/drawing/2014/main" id="{47318CA6-E33B-40A6-AA54-13EBFD9B1437}"/>
              </a:ext>
            </a:extLst>
          </p:cNvPr>
          <p:cNvSpPr>
            <a:spLocks noGrp="1"/>
          </p:cNvSpPr>
          <p:nvPr>
            <p:ph idx="1"/>
          </p:nvPr>
        </p:nvSpPr>
        <p:spPr>
          <a:xfrm>
            <a:off x="681318" y="762000"/>
            <a:ext cx="10672482" cy="5414963"/>
          </a:xfrm>
        </p:spPr>
        <p:txBody>
          <a:bodyPr>
            <a:normAutofit/>
          </a:bodyPr>
          <a:lstStyle/>
          <a:p>
            <a:pPr>
              <a:buFont typeface="Wingdings" panose="05000000000000000000" pitchFamily="2" charset="2"/>
              <a:buChar char="Ø"/>
            </a:pPr>
            <a:r>
              <a:rPr lang="en-US" sz="2000" b="1" dirty="0"/>
              <a:t>Pipelining</a:t>
            </a:r>
          </a:p>
          <a:p>
            <a:pPr marL="0" indent="0">
              <a:buNone/>
            </a:pPr>
            <a:r>
              <a:rPr lang="en-US" sz="2000" dirty="0"/>
              <a:t>The client could send multiple requests without waiting for previous responses.</a:t>
            </a:r>
          </a:p>
          <a:p>
            <a:pPr marL="0" indent="0">
              <a:buNone/>
            </a:pPr>
            <a:r>
              <a:rPr lang="en-US" sz="2000" dirty="0"/>
              <a:t>Example:</a:t>
            </a:r>
          </a:p>
          <a:p>
            <a:r>
              <a:rPr lang="en-US" sz="2000" dirty="0"/>
              <a:t>GET image1</a:t>
            </a:r>
          </a:p>
          <a:p>
            <a:r>
              <a:rPr lang="en-US" sz="2000" dirty="0"/>
              <a:t>GET image2</a:t>
            </a:r>
          </a:p>
          <a:p>
            <a:r>
              <a:rPr lang="en-US" sz="2000" dirty="0"/>
              <a:t>GET image3</a:t>
            </a:r>
          </a:p>
          <a:p>
            <a:pPr marL="0" indent="0">
              <a:buNone/>
            </a:pPr>
            <a:endParaRPr lang="en-US" sz="2000" dirty="0"/>
          </a:p>
          <a:p>
            <a:pPr>
              <a:buFont typeface="Wingdings" panose="05000000000000000000" pitchFamily="2" charset="2"/>
              <a:buChar char="Ø"/>
            </a:pPr>
            <a:r>
              <a:rPr lang="en-US" sz="2000" b="1" dirty="0"/>
              <a:t>Caching</a:t>
            </a:r>
          </a:p>
          <a:p>
            <a:r>
              <a:rPr lang="en-US" sz="2000" dirty="0"/>
              <a:t>Frequently accessed webpages could be stored locally.</a:t>
            </a:r>
          </a:p>
          <a:p>
            <a:r>
              <a:rPr lang="en-US" sz="2000" dirty="0"/>
              <a:t>Example</a:t>
            </a:r>
          </a:p>
          <a:p>
            <a:r>
              <a:rPr lang="en-US" sz="2000" dirty="0"/>
              <a:t>If you revisit a webpage, the browser may load images from its cache instead of downloading them again, reducing bandwidth usage and improving speed.</a:t>
            </a:r>
          </a:p>
          <a:p>
            <a:pPr marL="0" indent="0">
              <a:buNone/>
            </a:pPr>
            <a:endParaRPr lang="en-US" sz="2000" dirty="0"/>
          </a:p>
          <a:p>
            <a:pPr marL="0" indent="0">
              <a:buNone/>
            </a:pPr>
            <a:endParaRPr lang="en-IN" dirty="0"/>
          </a:p>
        </p:txBody>
      </p:sp>
    </p:spTree>
    <p:extLst>
      <p:ext uri="{BB962C8B-B14F-4D97-AF65-F5344CB8AC3E}">
        <p14:creationId xmlns:p14="http://schemas.microsoft.com/office/powerpoint/2010/main" val="25438051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B7CAC-2A9D-4F58-8194-696326FC41FB}"/>
              </a:ext>
            </a:extLst>
          </p:cNvPr>
          <p:cNvSpPr>
            <a:spLocks noGrp="1"/>
          </p:cNvSpPr>
          <p:nvPr>
            <p:ph type="title"/>
          </p:nvPr>
        </p:nvSpPr>
        <p:spPr>
          <a:xfrm>
            <a:off x="753035" y="365126"/>
            <a:ext cx="10600765" cy="315912"/>
          </a:xfrm>
        </p:spPr>
        <p:txBody>
          <a:bodyPr>
            <a:normAutofit/>
          </a:bodyPr>
          <a:lstStyle/>
          <a:p>
            <a:r>
              <a:rPr lang="en-US" sz="1400" dirty="0"/>
              <a:t>Continued…</a:t>
            </a:r>
            <a:endParaRPr lang="en-IN" sz="1400" dirty="0"/>
          </a:p>
        </p:txBody>
      </p:sp>
      <p:sp>
        <p:nvSpPr>
          <p:cNvPr id="3" name="Content Placeholder 2">
            <a:extLst>
              <a:ext uri="{FF2B5EF4-FFF2-40B4-BE49-F238E27FC236}">
                <a16:creationId xmlns:a16="http://schemas.microsoft.com/office/drawing/2014/main" id="{CA84755D-3604-4AA3-AC4C-19475F5E4A7B}"/>
              </a:ext>
            </a:extLst>
          </p:cNvPr>
          <p:cNvSpPr>
            <a:spLocks noGrp="1"/>
          </p:cNvSpPr>
          <p:nvPr>
            <p:ph idx="1"/>
          </p:nvPr>
        </p:nvSpPr>
        <p:spPr>
          <a:xfrm>
            <a:off x="753035" y="681038"/>
            <a:ext cx="10600765" cy="5495925"/>
          </a:xfrm>
        </p:spPr>
        <p:txBody>
          <a:bodyPr/>
          <a:lstStyle/>
          <a:p>
            <a:pPr marL="0" indent="0">
              <a:buNone/>
            </a:pPr>
            <a:r>
              <a:rPr lang="en-US" sz="1600" b="1" dirty="0"/>
              <a:t>4. HTTP/2 (2015)</a:t>
            </a:r>
          </a:p>
          <a:p>
            <a:r>
              <a:rPr lang="en-US" sz="1600" dirty="0"/>
              <a:t>HTTP/2 focused mainly on performance improvements without changing the basic HTTP semantics.</a:t>
            </a:r>
          </a:p>
          <a:p>
            <a:pPr marL="0" indent="0">
              <a:buNone/>
            </a:pPr>
            <a:r>
              <a:rPr lang="en-US" sz="1600" b="1" dirty="0"/>
              <a:t>Major Features:</a:t>
            </a:r>
          </a:p>
          <a:p>
            <a:pPr marL="0" indent="0">
              <a:buNone/>
            </a:pPr>
            <a:endParaRPr lang="en-US" sz="1600" b="1" dirty="0"/>
          </a:p>
          <a:p>
            <a:pPr>
              <a:buFont typeface="Wingdings" panose="05000000000000000000" pitchFamily="2" charset="2"/>
              <a:buChar char="Ø"/>
            </a:pPr>
            <a:r>
              <a:rPr lang="en-US" sz="1600" b="1" dirty="0"/>
              <a:t>Multiplexing</a:t>
            </a:r>
          </a:p>
          <a:p>
            <a:r>
              <a:rPr lang="en-US" sz="1600" dirty="0"/>
              <a:t>Multiple requests and responses can travel simultaneously over a </a:t>
            </a:r>
            <a:r>
              <a:rPr lang="en-US" sz="1600" b="1" dirty="0"/>
              <a:t>single TCP connection</a:t>
            </a:r>
            <a:r>
              <a:rPr lang="en-US" sz="1600" dirty="0"/>
              <a:t>.</a:t>
            </a:r>
          </a:p>
          <a:p>
            <a:r>
              <a:rPr lang="en-US" sz="1600" dirty="0"/>
              <a:t>Instead of waiting for one response before sending the next, many streams are interleaved.</a:t>
            </a:r>
          </a:p>
          <a:p>
            <a:r>
              <a:rPr lang="en-US" sz="1600" dirty="0"/>
              <a:t>This significantly reduces page loading time.</a:t>
            </a:r>
          </a:p>
          <a:p>
            <a:pPr marL="0" indent="0">
              <a:buNone/>
            </a:pPr>
            <a:endParaRPr lang="en-US" sz="1600" dirty="0"/>
          </a:p>
          <a:p>
            <a:pPr>
              <a:buFont typeface="Wingdings" panose="05000000000000000000" pitchFamily="2" charset="2"/>
              <a:buChar char="Ø"/>
            </a:pPr>
            <a:r>
              <a:rPr lang="en-US" sz="1600" b="1" dirty="0"/>
              <a:t>Header Compression</a:t>
            </a:r>
          </a:p>
          <a:p>
            <a:r>
              <a:rPr lang="en-US" sz="1600" dirty="0"/>
              <a:t>HTTP headers often contain repetitive information.</a:t>
            </a:r>
          </a:p>
          <a:p>
            <a:r>
              <a:rPr lang="en-US" sz="1600" dirty="0"/>
              <a:t>HTTP/2 uses the </a:t>
            </a:r>
            <a:r>
              <a:rPr lang="en-US" sz="1600" b="1" dirty="0"/>
              <a:t>HPACK</a:t>
            </a:r>
            <a:r>
              <a:rPr lang="en-US" sz="1600" dirty="0"/>
              <a:t> compression algorithm to reduce the size of headers, saving bandwidth.</a:t>
            </a:r>
          </a:p>
          <a:p>
            <a:pPr>
              <a:buFont typeface="Wingdings" panose="05000000000000000000" pitchFamily="2" charset="2"/>
              <a:buChar char="Ø"/>
            </a:pPr>
            <a:endParaRPr lang="en-US" sz="1600" dirty="0"/>
          </a:p>
          <a:p>
            <a:pPr>
              <a:buFont typeface="Wingdings" panose="05000000000000000000" pitchFamily="2" charset="2"/>
              <a:buChar char="Ø"/>
            </a:pPr>
            <a:r>
              <a:rPr lang="en-US" sz="1600" b="1" dirty="0"/>
              <a:t>Server Push</a:t>
            </a:r>
          </a:p>
          <a:p>
            <a:r>
              <a:rPr lang="en-US" sz="1600" dirty="0"/>
              <a:t>The server can proactively send resources before the browser explicitly requests them.</a:t>
            </a:r>
          </a:p>
          <a:p>
            <a:pPr marL="0" indent="0">
              <a:buNone/>
            </a:pPr>
            <a:endParaRPr lang="en-IN" dirty="0"/>
          </a:p>
        </p:txBody>
      </p:sp>
    </p:spTree>
    <p:extLst>
      <p:ext uri="{BB962C8B-B14F-4D97-AF65-F5344CB8AC3E}">
        <p14:creationId xmlns:p14="http://schemas.microsoft.com/office/powerpoint/2010/main" val="3005755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5B977-067A-4831-A18D-3EABDA582AE8}"/>
              </a:ext>
            </a:extLst>
          </p:cNvPr>
          <p:cNvSpPr>
            <a:spLocks noGrp="1"/>
          </p:cNvSpPr>
          <p:nvPr>
            <p:ph type="title"/>
          </p:nvPr>
        </p:nvSpPr>
        <p:spPr>
          <a:xfrm>
            <a:off x="838200" y="365126"/>
            <a:ext cx="10515600" cy="405840"/>
          </a:xfrm>
        </p:spPr>
        <p:txBody>
          <a:bodyPr>
            <a:normAutofit/>
          </a:bodyPr>
          <a:lstStyle/>
          <a:p>
            <a:r>
              <a:rPr lang="en-US" sz="1200" dirty="0"/>
              <a:t>Continued…</a:t>
            </a:r>
            <a:endParaRPr lang="en-IN" sz="1200" dirty="0"/>
          </a:p>
        </p:txBody>
      </p:sp>
      <p:sp>
        <p:nvSpPr>
          <p:cNvPr id="3" name="Content Placeholder 2">
            <a:extLst>
              <a:ext uri="{FF2B5EF4-FFF2-40B4-BE49-F238E27FC236}">
                <a16:creationId xmlns:a16="http://schemas.microsoft.com/office/drawing/2014/main" id="{47F4F2E1-6AD6-4A25-8681-98007B1324A0}"/>
              </a:ext>
            </a:extLst>
          </p:cNvPr>
          <p:cNvSpPr>
            <a:spLocks noGrp="1"/>
          </p:cNvSpPr>
          <p:nvPr>
            <p:ph idx="1"/>
          </p:nvPr>
        </p:nvSpPr>
        <p:spPr>
          <a:xfrm>
            <a:off x="838200" y="770966"/>
            <a:ext cx="10515600" cy="5405997"/>
          </a:xfrm>
        </p:spPr>
        <p:txBody>
          <a:bodyPr>
            <a:normAutofit fontScale="62500" lnSpcReduction="20000"/>
          </a:bodyPr>
          <a:lstStyle/>
          <a:p>
            <a:pPr marL="0" indent="0">
              <a:buNone/>
            </a:pPr>
            <a:r>
              <a:rPr lang="en-US" b="1" dirty="0"/>
              <a:t>5. HTTP/3 (2020)</a:t>
            </a:r>
          </a:p>
          <a:p>
            <a:r>
              <a:rPr lang="en-US" dirty="0"/>
              <a:t>HTTP/3 is the latest version and uses </a:t>
            </a:r>
            <a:r>
              <a:rPr lang="en-US" b="1" dirty="0"/>
              <a:t>QUIC</a:t>
            </a:r>
            <a:r>
              <a:rPr lang="en-US" dirty="0"/>
              <a:t> instead of TCP.</a:t>
            </a:r>
          </a:p>
          <a:p>
            <a:pPr marL="0" indent="0">
              <a:buNone/>
            </a:pPr>
            <a:r>
              <a:rPr lang="en-US" b="1" dirty="0"/>
              <a:t>What is QUIC?</a:t>
            </a:r>
          </a:p>
          <a:p>
            <a:r>
              <a:rPr lang="en-US" dirty="0"/>
              <a:t>QUIC is a transport protocol developed by Google that runs over </a:t>
            </a:r>
            <a:r>
              <a:rPr lang="en-US" b="1" dirty="0"/>
              <a:t>UDP</a:t>
            </a:r>
            <a:r>
              <a:rPr lang="en-US" dirty="0"/>
              <a:t> and incorporates features such as reliability, congestion control, and encryption.</a:t>
            </a:r>
          </a:p>
          <a:p>
            <a:pPr marL="0" indent="0">
              <a:buNone/>
            </a:pPr>
            <a:r>
              <a:rPr lang="en-US" b="1" dirty="0"/>
              <a:t>Advantages</a:t>
            </a:r>
          </a:p>
          <a:p>
            <a:pPr>
              <a:buFont typeface="Wingdings" panose="05000000000000000000" pitchFamily="2" charset="2"/>
              <a:buChar char="Ø"/>
            </a:pPr>
            <a:r>
              <a:rPr lang="en-US" b="1" dirty="0"/>
              <a:t>Faster Connection Establishment</a:t>
            </a:r>
          </a:p>
          <a:p>
            <a:pPr marL="0" indent="0">
              <a:buNone/>
            </a:pPr>
            <a:r>
              <a:rPr lang="en-US" dirty="0"/>
              <a:t>	HTTP/3 combines connection setup and encryption, reducing handshake time.</a:t>
            </a:r>
          </a:p>
          <a:p>
            <a:pPr>
              <a:buFont typeface="Wingdings" panose="05000000000000000000" pitchFamily="2" charset="2"/>
              <a:buChar char="Ø"/>
            </a:pPr>
            <a:r>
              <a:rPr lang="en-US" b="1" dirty="0"/>
              <a:t>Better Performance on Unstable Networks</a:t>
            </a:r>
          </a:p>
          <a:p>
            <a:pPr marL="0" indent="0">
              <a:buNone/>
            </a:pPr>
            <a:r>
              <a:rPr lang="en-US" dirty="0"/>
              <a:t>	On Wi-Fi or mobile networks, packet loss has less impact compared to TCP.</a:t>
            </a:r>
          </a:p>
          <a:p>
            <a:pPr>
              <a:buFont typeface="Wingdings" panose="05000000000000000000" pitchFamily="2" charset="2"/>
              <a:buChar char="Ø"/>
            </a:pPr>
            <a:r>
              <a:rPr lang="en-US" b="1" dirty="0"/>
              <a:t>Reduced Latency</a:t>
            </a:r>
          </a:p>
          <a:p>
            <a:pPr marL="0" indent="0">
              <a:buNone/>
            </a:pPr>
            <a:r>
              <a:rPr lang="en-US" dirty="0"/>
              <a:t>	Lower delays make web pages load faster.</a:t>
            </a:r>
          </a:p>
          <a:p>
            <a:pPr>
              <a:buFont typeface="Wingdings" panose="05000000000000000000" pitchFamily="2" charset="2"/>
              <a:buChar char="Ø"/>
            </a:pPr>
            <a:r>
              <a:rPr lang="en-US" b="1" dirty="0"/>
              <a:t>Improved Security</a:t>
            </a:r>
          </a:p>
          <a:p>
            <a:pPr marL="0" indent="0">
              <a:buNone/>
            </a:pPr>
            <a:r>
              <a:rPr lang="en-US" dirty="0"/>
              <a:t>	Encryption is built in through TLS 1.3.</a:t>
            </a:r>
          </a:p>
          <a:p>
            <a:pPr>
              <a:buFont typeface="Wingdings" panose="05000000000000000000" pitchFamily="2" charset="2"/>
              <a:buChar char="Ø"/>
            </a:pPr>
            <a:r>
              <a:rPr lang="en-US" b="1" dirty="0"/>
              <a:t>No Head-of-Line Blocking</a:t>
            </a:r>
          </a:p>
          <a:p>
            <a:pPr marL="0" indent="0">
              <a:buNone/>
            </a:pPr>
            <a:r>
              <a:rPr lang="en-US" dirty="0"/>
              <a:t>	In HTTP/2, if one packet is lost, all streams are delayed because TCP delivers data in order.</a:t>
            </a:r>
          </a:p>
          <a:p>
            <a:pPr marL="0" indent="0">
              <a:buNone/>
            </a:pPr>
            <a:r>
              <a:rPr lang="en-US" dirty="0"/>
              <a:t>	In HTTP/3, streams are independent, so packet loss in one stream does not block others.</a:t>
            </a:r>
          </a:p>
          <a:p>
            <a:pPr marL="0" indent="0">
              <a:buNone/>
            </a:pPr>
            <a:endParaRPr lang="en-IN" dirty="0"/>
          </a:p>
        </p:txBody>
      </p:sp>
    </p:spTree>
    <p:extLst>
      <p:ext uri="{BB962C8B-B14F-4D97-AF65-F5344CB8AC3E}">
        <p14:creationId xmlns:p14="http://schemas.microsoft.com/office/powerpoint/2010/main" val="16529859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C170CE5-B8B7-460D-A772-DACB0325C125}"/>
              </a:ext>
            </a:extLst>
          </p:cNvPr>
          <p:cNvGraphicFramePr>
            <a:graphicFrameLocks noGrp="1"/>
          </p:cNvGraphicFramePr>
          <p:nvPr>
            <p:extLst>
              <p:ext uri="{D42A27DB-BD31-4B8C-83A1-F6EECF244321}">
                <p14:modId xmlns:p14="http://schemas.microsoft.com/office/powerpoint/2010/main" val="1789103991"/>
              </p:ext>
            </p:extLst>
          </p:nvPr>
        </p:nvGraphicFramePr>
        <p:xfrm>
          <a:off x="735106" y="744071"/>
          <a:ext cx="10618696" cy="5345104"/>
        </p:xfrm>
        <a:graphic>
          <a:graphicData uri="http://schemas.openxmlformats.org/drawingml/2006/table">
            <a:tbl>
              <a:tblPr/>
              <a:tblGrid>
                <a:gridCol w="2654674">
                  <a:extLst>
                    <a:ext uri="{9D8B030D-6E8A-4147-A177-3AD203B41FA5}">
                      <a16:colId xmlns:a16="http://schemas.microsoft.com/office/drawing/2014/main" val="3627165193"/>
                    </a:ext>
                  </a:extLst>
                </a:gridCol>
                <a:gridCol w="2654674">
                  <a:extLst>
                    <a:ext uri="{9D8B030D-6E8A-4147-A177-3AD203B41FA5}">
                      <a16:colId xmlns:a16="http://schemas.microsoft.com/office/drawing/2014/main" val="2587374865"/>
                    </a:ext>
                  </a:extLst>
                </a:gridCol>
                <a:gridCol w="2654674">
                  <a:extLst>
                    <a:ext uri="{9D8B030D-6E8A-4147-A177-3AD203B41FA5}">
                      <a16:colId xmlns:a16="http://schemas.microsoft.com/office/drawing/2014/main" val="4257309678"/>
                    </a:ext>
                  </a:extLst>
                </a:gridCol>
                <a:gridCol w="2654674">
                  <a:extLst>
                    <a:ext uri="{9D8B030D-6E8A-4147-A177-3AD203B41FA5}">
                      <a16:colId xmlns:a16="http://schemas.microsoft.com/office/drawing/2014/main" val="3264674589"/>
                    </a:ext>
                  </a:extLst>
                </a:gridCol>
              </a:tblGrid>
              <a:tr h="510929">
                <a:tc>
                  <a:txBody>
                    <a:bodyPr/>
                    <a:lstStyle/>
                    <a:p>
                      <a:r>
                        <a:rPr lang="en-IN" sz="2000" b="1" dirty="0">
                          <a:solidFill>
                            <a:schemeClr val="tx1"/>
                          </a:solidFill>
                        </a:rPr>
                        <a:t>Version</a:t>
                      </a:r>
                    </a:p>
                  </a:txBody>
                  <a:tcPr anchor="ctr">
                    <a:lnL>
                      <a:noFill/>
                    </a:lnL>
                    <a:lnR>
                      <a:noFill/>
                    </a:lnR>
                    <a:lnT>
                      <a:noFill/>
                    </a:lnT>
                    <a:lnB>
                      <a:noFill/>
                    </a:lnB>
                  </a:tcPr>
                </a:tc>
                <a:tc>
                  <a:txBody>
                    <a:bodyPr/>
                    <a:lstStyle/>
                    <a:p>
                      <a:r>
                        <a:rPr lang="en-IN" sz="2000" b="1" dirty="0">
                          <a:solidFill>
                            <a:schemeClr val="tx1"/>
                          </a:solidFill>
                        </a:rPr>
                        <a:t>Year</a:t>
                      </a:r>
                    </a:p>
                  </a:txBody>
                  <a:tcPr anchor="ctr">
                    <a:lnL>
                      <a:noFill/>
                    </a:lnL>
                    <a:lnR>
                      <a:noFill/>
                    </a:lnR>
                    <a:lnT>
                      <a:noFill/>
                    </a:lnT>
                    <a:lnB>
                      <a:noFill/>
                    </a:lnB>
                  </a:tcPr>
                </a:tc>
                <a:tc>
                  <a:txBody>
                    <a:bodyPr/>
                    <a:lstStyle/>
                    <a:p>
                      <a:r>
                        <a:rPr lang="en-IN" sz="2000" b="1" dirty="0">
                          <a:solidFill>
                            <a:schemeClr val="tx1"/>
                          </a:solidFill>
                        </a:rPr>
                        <a:t>Major Features</a:t>
                      </a:r>
                    </a:p>
                  </a:txBody>
                  <a:tcPr anchor="ctr">
                    <a:lnL>
                      <a:noFill/>
                    </a:lnL>
                    <a:lnR>
                      <a:noFill/>
                    </a:lnR>
                    <a:lnT>
                      <a:noFill/>
                    </a:lnT>
                    <a:lnB>
                      <a:noFill/>
                    </a:lnB>
                  </a:tcPr>
                </a:tc>
                <a:tc>
                  <a:txBody>
                    <a:bodyPr/>
                    <a:lstStyle/>
                    <a:p>
                      <a:r>
                        <a:rPr lang="en-IN" sz="2000" b="1" dirty="0">
                          <a:solidFill>
                            <a:schemeClr val="tx1"/>
                          </a:solidFill>
                        </a:rPr>
                        <a:t>Limitation Solved</a:t>
                      </a:r>
                    </a:p>
                  </a:txBody>
                  <a:tcPr anchor="ctr">
                    <a:lnL>
                      <a:noFill/>
                    </a:lnL>
                    <a:lnR>
                      <a:noFill/>
                    </a:lnR>
                    <a:lnT>
                      <a:noFill/>
                    </a:lnT>
                    <a:lnB>
                      <a:noFill/>
                    </a:lnB>
                  </a:tcPr>
                </a:tc>
                <a:extLst>
                  <a:ext uri="{0D108BD9-81ED-4DB2-BD59-A6C34878D82A}">
                    <a16:rowId xmlns:a16="http://schemas.microsoft.com/office/drawing/2014/main" val="1913916540"/>
                  </a:ext>
                </a:extLst>
              </a:tr>
              <a:tr h="471627">
                <a:tc>
                  <a:txBody>
                    <a:bodyPr/>
                    <a:lstStyle/>
                    <a:p>
                      <a:r>
                        <a:rPr lang="en-IN" dirty="0"/>
                        <a:t>HTTP/0.9</a:t>
                      </a:r>
                    </a:p>
                  </a:txBody>
                  <a:tcPr anchor="ctr">
                    <a:lnL>
                      <a:noFill/>
                    </a:lnL>
                    <a:lnR>
                      <a:noFill/>
                    </a:lnR>
                    <a:lnT>
                      <a:noFill/>
                    </a:lnT>
                    <a:lnB>
                      <a:noFill/>
                    </a:lnB>
                  </a:tcPr>
                </a:tc>
                <a:tc>
                  <a:txBody>
                    <a:bodyPr/>
                    <a:lstStyle/>
                    <a:p>
                      <a:r>
                        <a:rPr lang="en-IN" dirty="0"/>
                        <a:t>1991</a:t>
                      </a:r>
                    </a:p>
                  </a:txBody>
                  <a:tcPr anchor="ctr">
                    <a:lnL>
                      <a:noFill/>
                    </a:lnL>
                    <a:lnR>
                      <a:noFill/>
                    </a:lnR>
                    <a:lnT>
                      <a:noFill/>
                    </a:lnT>
                    <a:lnB>
                      <a:noFill/>
                    </a:lnB>
                  </a:tcPr>
                </a:tc>
                <a:tc>
                  <a:txBody>
                    <a:bodyPr/>
                    <a:lstStyle/>
                    <a:p>
                      <a:r>
                        <a:rPr lang="en-IN" dirty="0"/>
                        <a:t>Only GET method</a:t>
                      </a:r>
                    </a:p>
                  </a:txBody>
                  <a:tcPr anchor="ctr">
                    <a:lnL>
                      <a:noFill/>
                    </a:lnL>
                    <a:lnR>
                      <a:noFill/>
                    </a:lnR>
                    <a:lnT>
                      <a:noFill/>
                    </a:lnT>
                    <a:lnB>
                      <a:noFill/>
                    </a:lnB>
                  </a:tcPr>
                </a:tc>
                <a:tc>
                  <a:txBody>
                    <a:bodyPr/>
                    <a:lstStyle/>
                    <a:p>
                      <a:r>
                        <a:rPr lang="en-IN" dirty="0"/>
                        <a:t>Basic web communication</a:t>
                      </a:r>
                    </a:p>
                  </a:txBody>
                  <a:tcPr anchor="ctr">
                    <a:lnL>
                      <a:noFill/>
                    </a:lnL>
                    <a:lnR>
                      <a:noFill/>
                    </a:lnR>
                    <a:lnT>
                      <a:noFill/>
                    </a:lnT>
                    <a:lnB>
                      <a:noFill/>
                    </a:lnB>
                  </a:tcPr>
                </a:tc>
                <a:extLst>
                  <a:ext uri="{0D108BD9-81ED-4DB2-BD59-A6C34878D82A}">
                    <a16:rowId xmlns:a16="http://schemas.microsoft.com/office/drawing/2014/main" val="869755004"/>
                  </a:ext>
                </a:extLst>
              </a:tr>
              <a:tr h="825347">
                <a:tc>
                  <a:txBody>
                    <a:bodyPr/>
                    <a:lstStyle/>
                    <a:p>
                      <a:r>
                        <a:rPr lang="en-IN" dirty="0"/>
                        <a:t>HTTP/1.0</a:t>
                      </a:r>
                    </a:p>
                  </a:txBody>
                  <a:tcPr anchor="ctr">
                    <a:lnL>
                      <a:noFill/>
                    </a:lnL>
                    <a:lnR>
                      <a:noFill/>
                    </a:lnR>
                    <a:lnT>
                      <a:noFill/>
                    </a:lnT>
                    <a:lnB>
                      <a:noFill/>
                    </a:lnB>
                  </a:tcPr>
                </a:tc>
                <a:tc>
                  <a:txBody>
                    <a:bodyPr/>
                    <a:lstStyle/>
                    <a:p>
                      <a:r>
                        <a:rPr lang="en-IN" dirty="0"/>
                        <a:t>1996</a:t>
                      </a:r>
                    </a:p>
                  </a:txBody>
                  <a:tcPr anchor="ctr">
                    <a:lnL>
                      <a:noFill/>
                    </a:lnL>
                    <a:lnR>
                      <a:noFill/>
                    </a:lnR>
                    <a:lnT>
                      <a:noFill/>
                    </a:lnT>
                    <a:lnB>
                      <a:noFill/>
                    </a:lnB>
                  </a:tcPr>
                </a:tc>
                <a:tc>
                  <a:txBody>
                    <a:bodyPr/>
                    <a:lstStyle/>
                    <a:p>
                      <a:r>
                        <a:rPr lang="en-US" dirty="0"/>
                        <a:t>POST, PUT, DELETE, headers, status codes</a:t>
                      </a:r>
                    </a:p>
                  </a:txBody>
                  <a:tcPr anchor="ctr">
                    <a:lnL>
                      <a:noFill/>
                    </a:lnL>
                    <a:lnR>
                      <a:noFill/>
                    </a:lnR>
                    <a:lnT>
                      <a:noFill/>
                    </a:lnT>
                    <a:lnB>
                      <a:noFill/>
                    </a:lnB>
                  </a:tcPr>
                </a:tc>
                <a:tc>
                  <a:txBody>
                    <a:bodyPr/>
                    <a:lstStyle/>
                    <a:p>
                      <a:r>
                        <a:rPr lang="en-IN"/>
                        <a:t>Richer client-server communication</a:t>
                      </a:r>
                    </a:p>
                  </a:txBody>
                  <a:tcPr anchor="ctr">
                    <a:lnL>
                      <a:noFill/>
                    </a:lnL>
                    <a:lnR>
                      <a:noFill/>
                    </a:lnR>
                    <a:lnT>
                      <a:noFill/>
                    </a:lnT>
                    <a:lnB>
                      <a:noFill/>
                    </a:lnB>
                  </a:tcPr>
                </a:tc>
                <a:extLst>
                  <a:ext uri="{0D108BD9-81ED-4DB2-BD59-A6C34878D82A}">
                    <a16:rowId xmlns:a16="http://schemas.microsoft.com/office/drawing/2014/main" val="4194306606"/>
                  </a:ext>
                </a:extLst>
              </a:tr>
              <a:tr h="825347">
                <a:tc>
                  <a:txBody>
                    <a:bodyPr/>
                    <a:lstStyle/>
                    <a:p>
                      <a:r>
                        <a:rPr lang="en-IN"/>
                        <a:t>HTTP/1.1</a:t>
                      </a:r>
                    </a:p>
                  </a:txBody>
                  <a:tcPr anchor="ctr">
                    <a:lnL>
                      <a:noFill/>
                    </a:lnL>
                    <a:lnR>
                      <a:noFill/>
                    </a:lnR>
                    <a:lnT>
                      <a:noFill/>
                    </a:lnT>
                    <a:lnB>
                      <a:noFill/>
                    </a:lnB>
                  </a:tcPr>
                </a:tc>
                <a:tc>
                  <a:txBody>
                    <a:bodyPr/>
                    <a:lstStyle/>
                    <a:p>
                      <a:r>
                        <a:rPr lang="en-IN" dirty="0"/>
                        <a:t>1997</a:t>
                      </a:r>
                    </a:p>
                  </a:txBody>
                  <a:tcPr anchor="ctr">
                    <a:lnL>
                      <a:noFill/>
                    </a:lnL>
                    <a:lnR>
                      <a:noFill/>
                    </a:lnR>
                    <a:lnT>
                      <a:noFill/>
                    </a:lnT>
                    <a:lnB>
                      <a:noFill/>
                    </a:lnB>
                  </a:tcPr>
                </a:tc>
                <a:tc>
                  <a:txBody>
                    <a:bodyPr/>
                    <a:lstStyle/>
                    <a:p>
                      <a:r>
                        <a:rPr lang="en-IN" dirty="0"/>
                        <a:t>Persistent connections, pipelining, caching</a:t>
                      </a:r>
                    </a:p>
                  </a:txBody>
                  <a:tcPr anchor="ctr">
                    <a:lnL>
                      <a:noFill/>
                    </a:lnL>
                    <a:lnR>
                      <a:noFill/>
                    </a:lnR>
                    <a:lnT>
                      <a:noFill/>
                    </a:lnT>
                    <a:lnB>
                      <a:noFill/>
                    </a:lnB>
                  </a:tcPr>
                </a:tc>
                <a:tc>
                  <a:txBody>
                    <a:bodyPr/>
                    <a:lstStyle/>
                    <a:p>
                      <a:r>
                        <a:rPr lang="en-IN" dirty="0"/>
                        <a:t>Reduced connection overhead</a:t>
                      </a:r>
                    </a:p>
                  </a:txBody>
                  <a:tcPr anchor="ctr">
                    <a:lnL>
                      <a:noFill/>
                    </a:lnL>
                    <a:lnR>
                      <a:noFill/>
                    </a:lnR>
                    <a:lnT>
                      <a:noFill/>
                    </a:lnT>
                    <a:lnB>
                      <a:noFill/>
                    </a:lnB>
                  </a:tcPr>
                </a:tc>
                <a:extLst>
                  <a:ext uri="{0D108BD9-81ED-4DB2-BD59-A6C34878D82A}">
                    <a16:rowId xmlns:a16="http://schemas.microsoft.com/office/drawing/2014/main" val="3439124039"/>
                  </a:ext>
                </a:extLst>
              </a:tr>
              <a:tr h="1179067">
                <a:tc>
                  <a:txBody>
                    <a:bodyPr/>
                    <a:lstStyle/>
                    <a:p>
                      <a:r>
                        <a:rPr lang="en-IN"/>
                        <a:t>HTTP/2</a:t>
                      </a:r>
                    </a:p>
                  </a:txBody>
                  <a:tcPr anchor="ctr">
                    <a:lnL>
                      <a:noFill/>
                    </a:lnL>
                    <a:lnR>
                      <a:noFill/>
                    </a:lnR>
                    <a:lnT>
                      <a:noFill/>
                    </a:lnT>
                    <a:lnB>
                      <a:noFill/>
                    </a:lnB>
                  </a:tcPr>
                </a:tc>
                <a:tc>
                  <a:txBody>
                    <a:bodyPr/>
                    <a:lstStyle/>
                    <a:p>
                      <a:r>
                        <a:rPr lang="en-IN" dirty="0"/>
                        <a:t>2015</a:t>
                      </a:r>
                    </a:p>
                  </a:txBody>
                  <a:tcPr anchor="ctr">
                    <a:lnL>
                      <a:noFill/>
                    </a:lnL>
                    <a:lnR>
                      <a:noFill/>
                    </a:lnR>
                    <a:lnT>
                      <a:noFill/>
                    </a:lnT>
                    <a:lnB>
                      <a:noFill/>
                    </a:lnB>
                  </a:tcPr>
                </a:tc>
                <a:tc>
                  <a:txBody>
                    <a:bodyPr/>
                    <a:lstStyle/>
                    <a:p>
                      <a:r>
                        <a:rPr lang="en-US" dirty="0"/>
                        <a:t>Multiplexing, header compression, server push</a:t>
                      </a:r>
                    </a:p>
                  </a:txBody>
                  <a:tcPr anchor="ctr">
                    <a:lnL>
                      <a:noFill/>
                    </a:lnL>
                    <a:lnR>
                      <a:noFill/>
                    </a:lnR>
                    <a:lnT>
                      <a:noFill/>
                    </a:lnT>
                    <a:lnB>
                      <a:noFill/>
                    </a:lnB>
                  </a:tcPr>
                </a:tc>
                <a:tc>
                  <a:txBody>
                    <a:bodyPr/>
                    <a:lstStyle/>
                    <a:p>
                      <a:r>
                        <a:rPr lang="en-US" dirty="0"/>
                        <a:t>Faster page loading and better bandwidth utilization</a:t>
                      </a:r>
                    </a:p>
                  </a:txBody>
                  <a:tcPr anchor="ctr">
                    <a:lnL>
                      <a:noFill/>
                    </a:lnL>
                    <a:lnR>
                      <a:noFill/>
                    </a:lnR>
                    <a:lnT>
                      <a:noFill/>
                    </a:lnT>
                    <a:lnB>
                      <a:noFill/>
                    </a:lnB>
                  </a:tcPr>
                </a:tc>
                <a:extLst>
                  <a:ext uri="{0D108BD9-81ED-4DB2-BD59-A6C34878D82A}">
                    <a16:rowId xmlns:a16="http://schemas.microsoft.com/office/drawing/2014/main" val="780165190"/>
                  </a:ext>
                </a:extLst>
              </a:tr>
              <a:tr h="1532787">
                <a:tc>
                  <a:txBody>
                    <a:bodyPr/>
                    <a:lstStyle/>
                    <a:p>
                      <a:r>
                        <a:rPr lang="en-IN" dirty="0"/>
                        <a:t>HTTP/3</a:t>
                      </a:r>
                    </a:p>
                  </a:txBody>
                  <a:tcPr anchor="ctr">
                    <a:lnL>
                      <a:noFill/>
                    </a:lnL>
                    <a:lnR>
                      <a:noFill/>
                    </a:lnR>
                    <a:lnT>
                      <a:noFill/>
                    </a:lnT>
                    <a:lnB>
                      <a:noFill/>
                    </a:lnB>
                  </a:tcPr>
                </a:tc>
                <a:tc>
                  <a:txBody>
                    <a:bodyPr/>
                    <a:lstStyle/>
                    <a:p>
                      <a:r>
                        <a:rPr lang="en-IN" dirty="0"/>
                        <a:t>2020</a:t>
                      </a:r>
                    </a:p>
                  </a:txBody>
                  <a:tcPr anchor="ctr">
                    <a:lnL>
                      <a:noFill/>
                    </a:lnL>
                    <a:lnR>
                      <a:noFill/>
                    </a:lnR>
                    <a:lnT>
                      <a:noFill/>
                    </a:lnT>
                    <a:lnB>
                      <a:noFill/>
                    </a:lnB>
                  </a:tcPr>
                </a:tc>
                <a:tc>
                  <a:txBody>
                    <a:bodyPr/>
                    <a:lstStyle/>
                    <a:p>
                      <a:r>
                        <a:rPr lang="en-US"/>
                        <a:t>QUIC over UDP, lower latency, improved security, no head-of-line blocking</a:t>
                      </a:r>
                    </a:p>
                  </a:txBody>
                  <a:tcPr anchor="ctr">
                    <a:lnL>
                      <a:noFill/>
                    </a:lnL>
                    <a:lnR>
                      <a:noFill/>
                    </a:lnR>
                    <a:lnT>
                      <a:noFill/>
                    </a:lnT>
                    <a:lnB>
                      <a:noFill/>
                    </a:lnB>
                  </a:tcPr>
                </a:tc>
                <a:tc>
                  <a:txBody>
                    <a:bodyPr/>
                    <a:lstStyle/>
                    <a:p>
                      <a:r>
                        <a:rPr lang="en-US" dirty="0"/>
                        <a:t>Better performance on unreliable networks</a:t>
                      </a:r>
                    </a:p>
                  </a:txBody>
                  <a:tcPr anchor="ctr">
                    <a:lnL>
                      <a:noFill/>
                    </a:lnL>
                    <a:lnR>
                      <a:noFill/>
                    </a:lnR>
                    <a:lnT>
                      <a:noFill/>
                    </a:lnT>
                    <a:lnB>
                      <a:noFill/>
                    </a:lnB>
                  </a:tcPr>
                </a:tc>
                <a:extLst>
                  <a:ext uri="{0D108BD9-81ED-4DB2-BD59-A6C34878D82A}">
                    <a16:rowId xmlns:a16="http://schemas.microsoft.com/office/drawing/2014/main" val="2374457495"/>
                  </a:ext>
                </a:extLst>
              </a:tr>
            </a:tbl>
          </a:graphicData>
        </a:graphic>
      </p:graphicFrame>
    </p:spTree>
    <p:extLst>
      <p:ext uri="{BB962C8B-B14F-4D97-AF65-F5344CB8AC3E}">
        <p14:creationId xmlns:p14="http://schemas.microsoft.com/office/powerpoint/2010/main" val="15791619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D3BF9-D038-4AE2-9298-2C505E323832}"/>
              </a:ext>
            </a:extLst>
          </p:cNvPr>
          <p:cNvSpPr>
            <a:spLocks noGrp="1"/>
          </p:cNvSpPr>
          <p:nvPr>
            <p:ph type="title"/>
          </p:nvPr>
        </p:nvSpPr>
        <p:spPr>
          <a:xfrm>
            <a:off x="717176" y="365125"/>
            <a:ext cx="10636624" cy="522381"/>
          </a:xfrm>
        </p:spPr>
        <p:txBody>
          <a:bodyPr>
            <a:normAutofit fontScale="90000"/>
          </a:bodyPr>
          <a:lstStyle/>
          <a:p>
            <a:br>
              <a:rPr lang="en-IN" dirty="0"/>
            </a:br>
            <a:r>
              <a:rPr lang="en-IN" sz="3100" b="1" dirty="0"/>
              <a:t>World Wide Web Communication</a:t>
            </a:r>
            <a:br>
              <a:rPr lang="en-IN" sz="3100" b="1" dirty="0"/>
            </a:br>
            <a:endParaRPr lang="en-IN" sz="3100" b="1" dirty="0"/>
          </a:p>
        </p:txBody>
      </p:sp>
      <p:sp>
        <p:nvSpPr>
          <p:cNvPr id="3" name="Content Placeholder 2">
            <a:extLst>
              <a:ext uri="{FF2B5EF4-FFF2-40B4-BE49-F238E27FC236}">
                <a16:creationId xmlns:a16="http://schemas.microsoft.com/office/drawing/2014/main" id="{4CF1221D-BEFB-4296-B346-7A8561CD44D3}"/>
              </a:ext>
            </a:extLst>
          </p:cNvPr>
          <p:cNvSpPr>
            <a:spLocks noGrp="1"/>
          </p:cNvSpPr>
          <p:nvPr>
            <p:ph idx="1"/>
          </p:nvPr>
        </p:nvSpPr>
        <p:spPr>
          <a:xfrm>
            <a:off x="717176" y="1039906"/>
            <a:ext cx="10636624" cy="5137057"/>
          </a:xfrm>
        </p:spPr>
        <p:txBody>
          <a:bodyPr/>
          <a:lstStyle/>
          <a:p>
            <a:r>
              <a:rPr lang="en-US" sz="1800" dirty="0"/>
              <a:t>The World Wide Web is about communication between web </a:t>
            </a:r>
            <a:r>
              <a:rPr lang="en-US" sz="1800" b="1" dirty="0"/>
              <a:t>clients</a:t>
            </a:r>
            <a:r>
              <a:rPr lang="en-US" sz="1800" dirty="0"/>
              <a:t> and web </a:t>
            </a:r>
            <a:r>
              <a:rPr lang="en-US" sz="1800" b="1" dirty="0"/>
              <a:t>servers</a:t>
            </a:r>
            <a:r>
              <a:rPr lang="en-US" sz="1800" dirty="0"/>
              <a:t>.</a:t>
            </a:r>
          </a:p>
          <a:p>
            <a:r>
              <a:rPr lang="en-US" sz="1800" b="1" dirty="0"/>
              <a:t>Clients</a:t>
            </a:r>
            <a:r>
              <a:rPr lang="en-US" sz="1800" dirty="0"/>
              <a:t> are often browsers (Chrome, Edge, Safari), but they can be any type of program or device.</a:t>
            </a:r>
          </a:p>
          <a:p>
            <a:r>
              <a:rPr lang="en-US" sz="1800" b="1" dirty="0"/>
              <a:t>Servers</a:t>
            </a:r>
            <a:r>
              <a:rPr lang="en-US" sz="1800" dirty="0"/>
              <a:t> are most often computers in the cloud.</a:t>
            </a:r>
          </a:p>
          <a:p>
            <a:endParaRPr lang="en-IN" dirty="0"/>
          </a:p>
        </p:txBody>
      </p:sp>
      <p:pic>
        <p:nvPicPr>
          <p:cNvPr id="4" name="Picture 3">
            <a:extLst>
              <a:ext uri="{FF2B5EF4-FFF2-40B4-BE49-F238E27FC236}">
                <a16:creationId xmlns:a16="http://schemas.microsoft.com/office/drawing/2014/main" id="{0F6E66A4-5BF1-46A7-879C-0CF0FA013F0A}"/>
              </a:ext>
            </a:extLst>
          </p:cNvPr>
          <p:cNvPicPr>
            <a:picLocks noChangeAspect="1"/>
          </p:cNvPicPr>
          <p:nvPr/>
        </p:nvPicPr>
        <p:blipFill>
          <a:blip r:embed="rId2"/>
          <a:stretch>
            <a:fillRect/>
          </a:stretch>
        </p:blipFill>
        <p:spPr>
          <a:xfrm>
            <a:off x="3245224" y="2628900"/>
            <a:ext cx="5737411" cy="2749924"/>
          </a:xfrm>
          <a:prstGeom prst="rect">
            <a:avLst/>
          </a:prstGeom>
        </p:spPr>
      </p:pic>
    </p:spTree>
    <p:extLst>
      <p:ext uri="{BB962C8B-B14F-4D97-AF65-F5344CB8AC3E}">
        <p14:creationId xmlns:p14="http://schemas.microsoft.com/office/powerpoint/2010/main" val="11363498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8FF3C-794D-4D85-8F6A-A654C4C403F4}"/>
              </a:ext>
            </a:extLst>
          </p:cNvPr>
          <p:cNvSpPr>
            <a:spLocks noGrp="1"/>
          </p:cNvSpPr>
          <p:nvPr>
            <p:ph type="title"/>
          </p:nvPr>
        </p:nvSpPr>
        <p:spPr>
          <a:xfrm>
            <a:off x="838200" y="365126"/>
            <a:ext cx="10515600" cy="540310"/>
          </a:xfrm>
        </p:spPr>
        <p:txBody>
          <a:bodyPr>
            <a:normAutofit fontScale="90000"/>
          </a:bodyPr>
          <a:lstStyle/>
          <a:p>
            <a:br>
              <a:rPr lang="en-IN" sz="3100" dirty="0"/>
            </a:br>
            <a:r>
              <a:rPr lang="en-IN" sz="3100" b="1" dirty="0"/>
              <a:t>HTTP Request / Response</a:t>
            </a:r>
            <a:br>
              <a:rPr lang="en-IN" dirty="0"/>
            </a:br>
            <a:endParaRPr lang="en-IN" dirty="0"/>
          </a:p>
        </p:txBody>
      </p:sp>
      <p:sp>
        <p:nvSpPr>
          <p:cNvPr id="3" name="Content Placeholder 2">
            <a:extLst>
              <a:ext uri="{FF2B5EF4-FFF2-40B4-BE49-F238E27FC236}">
                <a16:creationId xmlns:a16="http://schemas.microsoft.com/office/drawing/2014/main" id="{3084307C-DD5E-48E4-BC02-78E8C10A2CCD}"/>
              </a:ext>
            </a:extLst>
          </p:cNvPr>
          <p:cNvSpPr>
            <a:spLocks noGrp="1"/>
          </p:cNvSpPr>
          <p:nvPr>
            <p:ph idx="1"/>
          </p:nvPr>
        </p:nvSpPr>
        <p:spPr>
          <a:xfrm>
            <a:off x="762000" y="905436"/>
            <a:ext cx="10591800" cy="5271527"/>
          </a:xfrm>
        </p:spPr>
        <p:txBody>
          <a:bodyPr/>
          <a:lstStyle/>
          <a:p>
            <a:pPr marL="0" indent="0">
              <a:buNone/>
            </a:pPr>
            <a:endParaRPr lang="en-US" sz="1800" dirty="0"/>
          </a:p>
          <a:p>
            <a:pPr marL="0" indent="0">
              <a:buNone/>
            </a:pPr>
            <a:r>
              <a:rPr lang="en-US" sz="1800" dirty="0"/>
              <a:t>Communication between clients and servers is done by </a:t>
            </a:r>
            <a:r>
              <a:rPr lang="en-US" sz="1800" b="1" dirty="0"/>
              <a:t>requests</a:t>
            </a:r>
            <a:r>
              <a:rPr lang="en-US" sz="1800" dirty="0"/>
              <a:t> and </a:t>
            </a:r>
            <a:r>
              <a:rPr lang="en-US" sz="1800" b="1" dirty="0"/>
              <a:t>responses</a:t>
            </a:r>
            <a:r>
              <a:rPr lang="en-US" sz="1800" dirty="0"/>
              <a:t>:</a:t>
            </a:r>
          </a:p>
          <a:p>
            <a:pPr marL="0" indent="0">
              <a:buNone/>
            </a:pPr>
            <a:r>
              <a:rPr lang="en-US" sz="1800" dirty="0"/>
              <a:t>1. A client (a browser) sends an </a:t>
            </a:r>
            <a:r>
              <a:rPr lang="en-US" sz="1800" b="1" dirty="0"/>
              <a:t>HTTP request</a:t>
            </a:r>
            <a:r>
              <a:rPr lang="en-US" sz="1800" dirty="0"/>
              <a:t> to the web</a:t>
            </a:r>
          </a:p>
          <a:p>
            <a:pPr marL="0" indent="0">
              <a:buNone/>
            </a:pPr>
            <a:r>
              <a:rPr lang="en-US" sz="1800" dirty="0"/>
              <a:t>2. A web server receives the request</a:t>
            </a:r>
          </a:p>
          <a:p>
            <a:pPr marL="0" indent="0">
              <a:buNone/>
            </a:pPr>
            <a:r>
              <a:rPr lang="en-US" sz="1800" dirty="0"/>
              <a:t>3. The server runs an application to process the request</a:t>
            </a:r>
          </a:p>
          <a:p>
            <a:pPr marL="0" indent="0">
              <a:buNone/>
            </a:pPr>
            <a:r>
              <a:rPr lang="en-US" sz="1800" dirty="0"/>
              <a:t>4. The server returns an </a:t>
            </a:r>
            <a:r>
              <a:rPr lang="en-US" sz="1800" b="1" dirty="0"/>
              <a:t>HTTP response</a:t>
            </a:r>
            <a:r>
              <a:rPr lang="en-US" sz="1800" dirty="0"/>
              <a:t> (output) to the browser</a:t>
            </a:r>
          </a:p>
          <a:p>
            <a:pPr marL="0" indent="0">
              <a:buNone/>
            </a:pPr>
            <a:r>
              <a:rPr lang="en-US" sz="1800" dirty="0"/>
              <a:t>5. The client (the browser) receives the response</a:t>
            </a:r>
          </a:p>
          <a:p>
            <a:pPr marL="0" indent="0">
              <a:buNone/>
            </a:pPr>
            <a:endParaRPr lang="en-IN" dirty="0"/>
          </a:p>
        </p:txBody>
      </p:sp>
      <p:pic>
        <p:nvPicPr>
          <p:cNvPr id="4" name="Picture 3">
            <a:extLst>
              <a:ext uri="{FF2B5EF4-FFF2-40B4-BE49-F238E27FC236}">
                <a16:creationId xmlns:a16="http://schemas.microsoft.com/office/drawing/2014/main" id="{A7B2F780-6BF5-49AA-83E3-A47EC53AD0D9}"/>
              </a:ext>
            </a:extLst>
          </p:cNvPr>
          <p:cNvPicPr>
            <a:picLocks noChangeAspect="1"/>
          </p:cNvPicPr>
          <p:nvPr/>
        </p:nvPicPr>
        <p:blipFill>
          <a:blip r:embed="rId2"/>
          <a:stretch>
            <a:fillRect/>
          </a:stretch>
        </p:blipFill>
        <p:spPr>
          <a:xfrm>
            <a:off x="2456328" y="3693459"/>
            <a:ext cx="5387789" cy="2453321"/>
          </a:xfrm>
          <a:prstGeom prst="rect">
            <a:avLst/>
          </a:prstGeom>
        </p:spPr>
      </p:pic>
    </p:spTree>
    <p:extLst>
      <p:ext uri="{BB962C8B-B14F-4D97-AF65-F5344CB8AC3E}">
        <p14:creationId xmlns:p14="http://schemas.microsoft.com/office/powerpoint/2010/main" val="5398993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120AF-3F09-471E-9979-FF68EA4C3792}"/>
              </a:ext>
            </a:extLst>
          </p:cNvPr>
          <p:cNvSpPr>
            <a:spLocks noGrp="1"/>
          </p:cNvSpPr>
          <p:nvPr>
            <p:ph type="title"/>
          </p:nvPr>
        </p:nvSpPr>
        <p:spPr>
          <a:xfrm>
            <a:off x="748553" y="437776"/>
            <a:ext cx="10515600" cy="486522"/>
          </a:xfrm>
        </p:spPr>
        <p:txBody>
          <a:bodyPr>
            <a:noAutofit/>
          </a:bodyPr>
          <a:lstStyle/>
          <a:p>
            <a:br>
              <a:rPr lang="en-IN" sz="2800" b="1" dirty="0"/>
            </a:br>
            <a:r>
              <a:rPr lang="en-IN" sz="2800" b="1" dirty="0"/>
              <a:t>Basic Features of HTTP</a:t>
            </a:r>
            <a:br>
              <a:rPr lang="en-IN" sz="2800" b="1" dirty="0"/>
            </a:br>
            <a:endParaRPr lang="en-IN" sz="2800" dirty="0"/>
          </a:p>
        </p:txBody>
      </p:sp>
      <p:sp>
        <p:nvSpPr>
          <p:cNvPr id="3" name="Content Placeholder 2">
            <a:extLst>
              <a:ext uri="{FF2B5EF4-FFF2-40B4-BE49-F238E27FC236}">
                <a16:creationId xmlns:a16="http://schemas.microsoft.com/office/drawing/2014/main" id="{16CD8CE1-732A-41F3-B683-B4E99C086D3F}"/>
              </a:ext>
            </a:extLst>
          </p:cNvPr>
          <p:cNvSpPr>
            <a:spLocks noGrp="1"/>
          </p:cNvSpPr>
          <p:nvPr>
            <p:ph idx="1"/>
          </p:nvPr>
        </p:nvSpPr>
        <p:spPr>
          <a:xfrm>
            <a:off x="672353" y="1013012"/>
            <a:ext cx="10681447" cy="5163951"/>
          </a:xfrm>
        </p:spPr>
        <p:txBody>
          <a:bodyPr>
            <a:normAutofit/>
          </a:bodyPr>
          <a:lstStyle/>
          <a:p>
            <a:pPr lvl="0"/>
            <a:r>
              <a:rPr lang="en-IN" sz="1800" b="1" dirty="0"/>
              <a:t>Stateless:</a:t>
            </a:r>
            <a:r>
              <a:rPr lang="en-IN" sz="1800" dirty="0"/>
              <a:t> Each request is treated as a new request </a:t>
            </a:r>
            <a:r>
              <a:rPr lang="en-IN" sz="1800" dirty="0" err="1"/>
              <a:t>i.e</a:t>
            </a:r>
            <a:r>
              <a:rPr lang="en-IN" sz="1800" dirty="0"/>
              <a:t> both client and server forget about each other after completion of a request unless cookies, tokens or sessions are used.</a:t>
            </a:r>
          </a:p>
          <a:p>
            <a:pPr lvl="0"/>
            <a:r>
              <a:rPr lang="en-IN" sz="1800" b="1" dirty="0"/>
              <a:t>Connectionless:</a:t>
            </a:r>
            <a:r>
              <a:rPr lang="en-IN" sz="1800" dirty="0"/>
              <a:t> The connection between client and server is closed after the completion of each request making it a connectionless protocol.</a:t>
            </a:r>
          </a:p>
          <a:p>
            <a:pPr lvl="0"/>
            <a:r>
              <a:rPr lang="en-IN" sz="1800" b="1" dirty="0"/>
              <a:t>Media Independent:</a:t>
            </a:r>
            <a:r>
              <a:rPr lang="en-IN" sz="1800" dirty="0"/>
              <a:t> Any type of data can be transferred over web using HTTP protocol, as long as both the client and server specify the format using MIME types.</a:t>
            </a:r>
          </a:p>
          <a:p>
            <a:pPr lvl="0"/>
            <a:r>
              <a:rPr lang="en-IN" sz="1800" b="1" dirty="0"/>
              <a:t>HTTP Methods:</a:t>
            </a:r>
            <a:r>
              <a:rPr lang="en-IN" sz="1800" dirty="0"/>
              <a:t> HTTP defines various methods for different actions such as GET, POST, PUT and more.</a:t>
            </a:r>
          </a:p>
          <a:p>
            <a:r>
              <a:rPr lang="en-IN" sz="1800" b="1" dirty="0"/>
              <a:t>Caching Support:</a:t>
            </a:r>
            <a:r>
              <a:rPr lang="en-IN" sz="1800" dirty="0"/>
              <a:t> HTTP provides support for caching which improves the performance by storing the copies of responses and reusing them later</a:t>
            </a:r>
          </a:p>
        </p:txBody>
      </p:sp>
      <p:pic>
        <p:nvPicPr>
          <p:cNvPr id="4" name="Picture 3">
            <a:extLst>
              <a:ext uri="{FF2B5EF4-FFF2-40B4-BE49-F238E27FC236}">
                <a16:creationId xmlns:a16="http://schemas.microsoft.com/office/drawing/2014/main" id="{A6484A0E-4E35-4E70-AE53-190B38D9BB00}"/>
              </a:ext>
            </a:extLst>
          </p:cNvPr>
          <p:cNvPicPr>
            <a:picLocks noChangeAspect="1"/>
          </p:cNvPicPr>
          <p:nvPr/>
        </p:nvPicPr>
        <p:blipFill>
          <a:blip r:embed="rId2"/>
          <a:stretch>
            <a:fillRect/>
          </a:stretch>
        </p:blipFill>
        <p:spPr>
          <a:xfrm>
            <a:off x="3398464" y="4002649"/>
            <a:ext cx="4140854" cy="2297417"/>
          </a:xfrm>
          <a:prstGeom prst="rect">
            <a:avLst/>
          </a:prstGeom>
        </p:spPr>
      </p:pic>
    </p:spTree>
    <p:extLst>
      <p:ext uri="{BB962C8B-B14F-4D97-AF65-F5344CB8AC3E}">
        <p14:creationId xmlns:p14="http://schemas.microsoft.com/office/powerpoint/2010/main" val="22383783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AA2A0-AF8E-4B9F-AA04-07D2FFBBE600}"/>
              </a:ext>
            </a:extLst>
          </p:cNvPr>
          <p:cNvSpPr>
            <a:spLocks noGrp="1"/>
          </p:cNvSpPr>
          <p:nvPr>
            <p:ph type="title"/>
          </p:nvPr>
        </p:nvSpPr>
        <p:spPr>
          <a:xfrm>
            <a:off x="838200" y="365125"/>
            <a:ext cx="10515600" cy="818215"/>
          </a:xfrm>
        </p:spPr>
        <p:txBody>
          <a:bodyPr>
            <a:normAutofit fontScale="90000"/>
          </a:bodyPr>
          <a:lstStyle/>
          <a:p>
            <a:br>
              <a:rPr lang="en-IN" sz="3100" b="1" dirty="0"/>
            </a:br>
            <a:r>
              <a:rPr lang="en-IN" sz="3600" b="1" dirty="0"/>
              <a:t>How does HTTP work</a:t>
            </a:r>
            <a:br>
              <a:rPr lang="en-IN" sz="3600" b="1" dirty="0"/>
            </a:br>
            <a:endParaRPr lang="en-IN" sz="3600" dirty="0"/>
          </a:p>
        </p:txBody>
      </p:sp>
      <p:sp>
        <p:nvSpPr>
          <p:cNvPr id="3" name="Content Placeholder 2">
            <a:extLst>
              <a:ext uri="{FF2B5EF4-FFF2-40B4-BE49-F238E27FC236}">
                <a16:creationId xmlns:a16="http://schemas.microsoft.com/office/drawing/2014/main" id="{AB29C9AA-E30C-4300-8985-8AF79FB0BA6F}"/>
              </a:ext>
            </a:extLst>
          </p:cNvPr>
          <p:cNvSpPr>
            <a:spLocks noGrp="1"/>
          </p:cNvSpPr>
          <p:nvPr>
            <p:ph idx="1"/>
          </p:nvPr>
        </p:nvSpPr>
        <p:spPr>
          <a:xfrm>
            <a:off x="708212" y="878541"/>
            <a:ext cx="10645588" cy="5298422"/>
          </a:xfrm>
        </p:spPr>
        <p:txBody>
          <a:bodyPr>
            <a:normAutofit/>
          </a:bodyPr>
          <a:lstStyle/>
          <a:p>
            <a:endParaRPr lang="en-US" sz="1800" dirty="0"/>
          </a:p>
          <a:p>
            <a:endParaRPr lang="en-US" sz="1800" dirty="0"/>
          </a:p>
          <a:p>
            <a:endParaRPr lang="en-US" sz="1800" dirty="0"/>
          </a:p>
          <a:p>
            <a:r>
              <a:rPr lang="en-US" sz="1800" dirty="0"/>
              <a:t>The HTTP protocol transfers resources across the internet between the client devices and servers.</a:t>
            </a:r>
          </a:p>
          <a:p>
            <a:r>
              <a:rPr lang="en-US" sz="1800" dirty="0"/>
              <a:t> Client devices ask servers for the resources required to load a web page.</a:t>
            </a:r>
          </a:p>
          <a:p>
            <a:r>
              <a:rPr lang="en-US" sz="1800" dirty="0"/>
              <a:t>Then the servers respond by sending the client devices the requested resources. </a:t>
            </a:r>
          </a:p>
          <a:p>
            <a:r>
              <a:rPr lang="en-US" sz="1800" dirty="0"/>
              <a:t>Sub-documents, such as information on graphics, text, text layouts, etc., that are shared by requests and responses are put together using a client web browser for showing the entire web page file.</a:t>
            </a:r>
            <a:endParaRPr lang="en-IN" sz="1800" dirty="0"/>
          </a:p>
        </p:txBody>
      </p:sp>
    </p:spTree>
    <p:extLst>
      <p:ext uri="{BB962C8B-B14F-4D97-AF65-F5344CB8AC3E}">
        <p14:creationId xmlns:p14="http://schemas.microsoft.com/office/powerpoint/2010/main" val="32844795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6D9F5-0403-499C-B5FD-29CEC49D41DA}"/>
              </a:ext>
            </a:extLst>
          </p:cNvPr>
          <p:cNvSpPr>
            <a:spLocks noGrp="1"/>
          </p:cNvSpPr>
          <p:nvPr>
            <p:ph type="title"/>
          </p:nvPr>
        </p:nvSpPr>
        <p:spPr>
          <a:xfrm>
            <a:off x="770965" y="365126"/>
            <a:ext cx="10582835" cy="540310"/>
          </a:xfrm>
        </p:spPr>
        <p:txBody>
          <a:bodyPr>
            <a:normAutofit/>
          </a:bodyPr>
          <a:lstStyle/>
          <a:p>
            <a:r>
              <a:rPr lang="en-US" sz="2800" i="1" dirty="0"/>
              <a:t>Let us understand </a:t>
            </a:r>
            <a:r>
              <a:rPr lang="en-US" sz="2800" b="1" i="1" dirty="0"/>
              <a:t>How does HTTP work</a:t>
            </a:r>
            <a:r>
              <a:rPr lang="en-US" sz="2800" i="1" dirty="0"/>
              <a:t> with a scenario below:</a:t>
            </a:r>
            <a:endParaRPr lang="en-IN" sz="2800" dirty="0"/>
          </a:p>
        </p:txBody>
      </p:sp>
      <p:sp>
        <p:nvSpPr>
          <p:cNvPr id="3" name="Content Placeholder 2">
            <a:extLst>
              <a:ext uri="{FF2B5EF4-FFF2-40B4-BE49-F238E27FC236}">
                <a16:creationId xmlns:a16="http://schemas.microsoft.com/office/drawing/2014/main" id="{DD3BD4FB-4EDE-42E4-A7F1-C9E33A9E840E}"/>
              </a:ext>
            </a:extLst>
          </p:cNvPr>
          <p:cNvSpPr>
            <a:spLocks noGrp="1"/>
          </p:cNvSpPr>
          <p:nvPr>
            <p:ph idx="1"/>
          </p:nvPr>
        </p:nvSpPr>
        <p:spPr>
          <a:xfrm>
            <a:off x="770965" y="1048871"/>
            <a:ext cx="10582835" cy="5128092"/>
          </a:xfrm>
        </p:spPr>
        <p:txBody>
          <a:bodyPr>
            <a:normAutofit/>
          </a:bodyPr>
          <a:lstStyle/>
          <a:p>
            <a:pPr marL="0" indent="0">
              <a:buNone/>
            </a:pPr>
            <a:r>
              <a:rPr lang="en-US" sz="1800" dirty="0"/>
              <a:t>Consider the internet like a road. The client, or your home, is at one end of the street. The server, a store where you wish to make a purchase, is at the opposite end of the street. Let us understand the basic technicalities in the scenario now:</a:t>
            </a:r>
          </a:p>
          <a:p>
            <a:pPr>
              <a:buFont typeface="Wingdings" panose="05000000000000000000" pitchFamily="2" charset="2"/>
              <a:buChar char="v"/>
            </a:pPr>
            <a:r>
              <a:rPr lang="en-US" sz="1800" b="1" dirty="0"/>
              <a:t>The web connection:</a:t>
            </a:r>
            <a:r>
              <a:rPr lang="en-US" sz="1800" dirty="0"/>
              <a:t> It allows for online data transmission and reception. It is similar to the roadway between your home and the store.</a:t>
            </a:r>
          </a:p>
          <a:p>
            <a:pPr>
              <a:buFont typeface="Wingdings" panose="05000000000000000000" pitchFamily="2" charset="2"/>
              <a:buChar char="v"/>
            </a:pPr>
            <a:r>
              <a:rPr lang="en-US" sz="1800" b="1" dirty="0"/>
              <a:t>TCP/IP: </a:t>
            </a:r>
            <a:r>
              <a:rPr lang="en-US" sz="1800" dirty="0"/>
              <a:t>These are two simple communication protocols that specify how data should move through the Internet. They are comparable to the transit systems that allow you to place an order, visit the store, and purchase your items. In our scenario, they are comparable to a car or a bike or any commuter that helps you move around.</a:t>
            </a:r>
          </a:p>
          <a:p>
            <a:pPr>
              <a:buFont typeface="Wingdings" panose="05000000000000000000" pitchFamily="2" charset="2"/>
              <a:buChar char="v"/>
            </a:pPr>
            <a:r>
              <a:rPr lang="en-US" sz="1800" b="1" dirty="0"/>
              <a:t>Domain Name System:</a:t>
            </a:r>
            <a:r>
              <a:rPr lang="en-US" sz="1800" dirty="0"/>
              <a:t> A website’s address book is analogous to the DNS. When you enter a website address into your browser, it first searches the DNS to determine the IP address of the requested website before retrieving it. For the browser to send HTTP communications to the correct location, it has to determine which server the website is hosted. This is similar to moving around to search for a store’s address and find stuff. </a:t>
            </a:r>
          </a:p>
          <a:p>
            <a:pPr>
              <a:buFont typeface="Wingdings" panose="05000000000000000000" pitchFamily="2" charset="2"/>
              <a:buChar char="v"/>
            </a:pPr>
            <a:r>
              <a:rPr lang="en-US" sz="1800" b="1" dirty="0"/>
              <a:t>HTTP:</a:t>
            </a:r>
            <a:r>
              <a:rPr lang="en-US" sz="1800" dirty="0"/>
              <a:t> In the above scenario, it acts as a language for ordering the store’s stuff and for communicating between the server and the client.</a:t>
            </a:r>
          </a:p>
          <a:p>
            <a:pPr>
              <a:buFont typeface="Wingdings" panose="05000000000000000000" pitchFamily="2" charset="2"/>
              <a:buChar char="v"/>
            </a:pPr>
            <a:endParaRPr lang="en-IN" sz="1800" dirty="0"/>
          </a:p>
        </p:txBody>
      </p:sp>
    </p:spTree>
    <p:extLst>
      <p:ext uri="{BB962C8B-B14F-4D97-AF65-F5344CB8AC3E}">
        <p14:creationId xmlns:p14="http://schemas.microsoft.com/office/powerpoint/2010/main" val="15615944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3DC8202-1F43-422E-BEFB-5ED0F7D44FDA}"/>
              </a:ext>
            </a:extLst>
          </p:cNvPr>
          <p:cNvPicPr>
            <a:picLocks noChangeAspect="1"/>
          </p:cNvPicPr>
          <p:nvPr/>
        </p:nvPicPr>
        <p:blipFill>
          <a:blip r:embed="rId2"/>
          <a:stretch>
            <a:fillRect/>
          </a:stretch>
        </p:blipFill>
        <p:spPr>
          <a:xfrm>
            <a:off x="3307553" y="1900518"/>
            <a:ext cx="4074322" cy="2233332"/>
          </a:xfrm>
          <a:prstGeom prst="rect">
            <a:avLst/>
          </a:prstGeom>
        </p:spPr>
      </p:pic>
    </p:spTree>
    <p:extLst>
      <p:ext uri="{BB962C8B-B14F-4D97-AF65-F5344CB8AC3E}">
        <p14:creationId xmlns:p14="http://schemas.microsoft.com/office/powerpoint/2010/main" val="17632775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1143B-C7C4-436E-B220-99F9B38E744B}"/>
              </a:ext>
            </a:extLst>
          </p:cNvPr>
          <p:cNvSpPr>
            <a:spLocks noGrp="1"/>
          </p:cNvSpPr>
          <p:nvPr>
            <p:ph type="title"/>
          </p:nvPr>
        </p:nvSpPr>
        <p:spPr>
          <a:xfrm>
            <a:off x="838200" y="365126"/>
            <a:ext cx="10515600" cy="315912"/>
          </a:xfrm>
        </p:spPr>
        <p:txBody>
          <a:bodyPr>
            <a:noAutofit/>
          </a:bodyPr>
          <a:lstStyle/>
          <a:p>
            <a:r>
              <a:rPr lang="en-US" sz="2000" b="1" dirty="0">
                <a:solidFill>
                  <a:schemeClr val="accent1"/>
                </a:solidFill>
              </a:rPr>
              <a:t>Step-by-Step Process of Loading a Web Page</a:t>
            </a:r>
            <a:endParaRPr lang="en-IN" sz="2000" b="1" dirty="0">
              <a:solidFill>
                <a:schemeClr val="accent1"/>
              </a:solidFill>
            </a:endParaRPr>
          </a:p>
        </p:txBody>
      </p:sp>
      <p:sp>
        <p:nvSpPr>
          <p:cNvPr id="3" name="Content Placeholder 2">
            <a:extLst>
              <a:ext uri="{FF2B5EF4-FFF2-40B4-BE49-F238E27FC236}">
                <a16:creationId xmlns:a16="http://schemas.microsoft.com/office/drawing/2014/main" id="{746510E8-9CCC-405A-85F7-D577CB9EC053}"/>
              </a:ext>
            </a:extLst>
          </p:cNvPr>
          <p:cNvSpPr>
            <a:spLocks noGrp="1"/>
          </p:cNvSpPr>
          <p:nvPr>
            <p:ph idx="1"/>
          </p:nvPr>
        </p:nvSpPr>
        <p:spPr>
          <a:xfrm>
            <a:off x="672353" y="788894"/>
            <a:ext cx="10681447" cy="5388069"/>
          </a:xfrm>
        </p:spPr>
        <p:txBody>
          <a:bodyPr/>
          <a:lstStyle/>
          <a:p>
            <a:r>
              <a:rPr lang="en-US" sz="1800" dirty="0"/>
              <a:t>The user sends the “GET” request to the server that hosts the web address once the user fills in the address.</a:t>
            </a:r>
          </a:p>
          <a:p>
            <a:r>
              <a:rPr lang="en-US" sz="1800" dirty="0"/>
              <a:t> The GET request, which is made via HTTP, informs the server that the user is trying to find the HTML code that defines the structure and appearance of the login page. </a:t>
            </a:r>
          </a:p>
          <a:p>
            <a:r>
              <a:rPr lang="en-US" sz="1800" dirty="0"/>
              <a:t>The login page’s text is contained in the HTML response, while the page’s graphics and videos are requested through separate HTTP requests and the responses.</a:t>
            </a:r>
          </a:p>
          <a:p>
            <a:r>
              <a:rPr lang="en-US" sz="1800" dirty="0"/>
              <a:t> It will take longer for the server to answer queries and for the user’s system to load the page when more requests are made, such as when a page with many photos is called.</a:t>
            </a:r>
          </a:p>
          <a:p>
            <a:r>
              <a:rPr lang="en-US" sz="1800" dirty="0">
                <a:hlinkClick r:id="rId2"/>
              </a:rPr>
              <a:t>TCP/IP</a:t>
            </a:r>
            <a:r>
              <a:rPr lang="en-US" sz="1800" dirty="0"/>
              <a:t> is used to compress and transfer information into tiny elements of binary sequences of 1’s and 0’s when these requests and the response pairs are sent. Physical transmission of these packets occurs across electric and fiber-optic cables and wireless networks.</a:t>
            </a:r>
          </a:p>
          <a:p>
            <a:endParaRPr lang="en-IN" dirty="0"/>
          </a:p>
        </p:txBody>
      </p:sp>
    </p:spTree>
    <p:extLst>
      <p:ext uri="{BB962C8B-B14F-4D97-AF65-F5344CB8AC3E}">
        <p14:creationId xmlns:p14="http://schemas.microsoft.com/office/powerpoint/2010/main" val="32114087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7FF7A-080F-422E-BE5F-898CBF31D57C}"/>
              </a:ext>
            </a:extLst>
          </p:cNvPr>
          <p:cNvSpPr>
            <a:spLocks noGrp="1"/>
          </p:cNvSpPr>
          <p:nvPr>
            <p:ph type="title"/>
          </p:nvPr>
        </p:nvSpPr>
        <p:spPr>
          <a:xfrm>
            <a:off x="654424" y="365126"/>
            <a:ext cx="10699376" cy="378946"/>
          </a:xfrm>
        </p:spPr>
        <p:txBody>
          <a:bodyPr>
            <a:noAutofit/>
          </a:bodyPr>
          <a:lstStyle/>
          <a:p>
            <a:r>
              <a:rPr lang="en-US" sz="2400" b="1" dirty="0">
                <a:solidFill>
                  <a:schemeClr val="accent1"/>
                </a:solidFill>
              </a:rPr>
              <a:t>Step-by-Step Process of Loading a Web Page</a:t>
            </a:r>
            <a:endParaRPr lang="en-IN" sz="2400" dirty="0"/>
          </a:p>
        </p:txBody>
      </p:sp>
      <p:sp>
        <p:nvSpPr>
          <p:cNvPr id="3" name="Content Placeholder 2">
            <a:extLst>
              <a:ext uri="{FF2B5EF4-FFF2-40B4-BE49-F238E27FC236}">
                <a16:creationId xmlns:a16="http://schemas.microsoft.com/office/drawing/2014/main" id="{C226D039-6C8A-4074-B64B-7B5B2307A8BC}"/>
              </a:ext>
            </a:extLst>
          </p:cNvPr>
          <p:cNvSpPr>
            <a:spLocks noGrp="1"/>
          </p:cNvSpPr>
          <p:nvPr>
            <p:ph idx="1"/>
          </p:nvPr>
        </p:nvSpPr>
        <p:spPr>
          <a:xfrm>
            <a:off x="654424" y="977153"/>
            <a:ext cx="10699376" cy="5199810"/>
          </a:xfrm>
        </p:spPr>
        <p:txBody>
          <a:bodyPr>
            <a:normAutofit/>
          </a:bodyPr>
          <a:lstStyle/>
          <a:p>
            <a:pPr marL="0" indent="0">
              <a:buNone/>
            </a:pPr>
            <a:r>
              <a:rPr lang="en-US" sz="1800" b="1" dirty="0"/>
              <a:t>Step 1: User Enters a URL</a:t>
            </a:r>
          </a:p>
          <a:p>
            <a:pPr marL="0" indent="0">
              <a:buNone/>
            </a:pPr>
            <a:r>
              <a:rPr lang="en-US" sz="1800" dirty="0"/>
              <a:t>Suppose you type the following URL in your browser:</a:t>
            </a:r>
          </a:p>
          <a:p>
            <a:pPr marL="0" indent="0">
              <a:buNone/>
            </a:pPr>
            <a:r>
              <a:rPr lang="en-US" sz="1800" dirty="0">
                <a:hlinkClick r:id="rId2"/>
              </a:rPr>
              <a:t>https://www.facebook.com</a:t>
            </a:r>
            <a:endParaRPr lang="en-US" sz="1800" dirty="0"/>
          </a:p>
          <a:p>
            <a:pPr marL="0" indent="0">
              <a:buNone/>
            </a:pPr>
            <a:r>
              <a:rPr lang="en-US" sz="1800" dirty="0"/>
              <a:t>When you press </a:t>
            </a:r>
            <a:r>
              <a:rPr lang="en-US" sz="1800" b="1" dirty="0"/>
              <a:t>Enter</a:t>
            </a:r>
            <a:r>
              <a:rPr lang="en-US" sz="1800" dirty="0"/>
              <a:t>, your browser begins the process of requesting the webpage.</a:t>
            </a:r>
          </a:p>
          <a:p>
            <a:pPr marL="0" indent="0">
              <a:buNone/>
            </a:pPr>
            <a:endParaRPr lang="en-US" sz="1800" b="1" dirty="0"/>
          </a:p>
          <a:p>
            <a:pPr marL="0" indent="0">
              <a:buNone/>
            </a:pPr>
            <a:r>
              <a:rPr lang="en-US" sz="1800" b="1" dirty="0"/>
              <a:t>Step 2: Browser Sends an HTTP GET Request</a:t>
            </a:r>
          </a:p>
          <a:p>
            <a:pPr marL="0" indent="0">
              <a:buNone/>
            </a:pPr>
            <a:r>
              <a:rPr lang="en-US" sz="1800" dirty="0"/>
              <a:t>The browser sends an </a:t>
            </a:r>
            <a:r>
              <a:rPr lang="en-US" sz="1800" b="1" dirty="0"/>
              <a:t>HTTP GET request</a:t>
            </a:r>
            <a:r>
              <a:rPr lang="en-US" sz="1800" dirty="0"/>
              <a:t> to the web server.</a:t>
            </a:r>
          </a:p>
          <a:p>
            <a:pPr marL="0" indent="0">
              <a:buNone/>
            </a:pPr>
            <a:r>
              <a:rPr lang="en-US" sz="1800" dirty="0"/>
              <a:t>A </a:t>
            </a:r>
            <a:r>
              <a:rPr lang="en-US" sz="1800" b="1" dirty="0"/>
              <a:t>GET request</a:t>
            </a:r>
            <a:r>
              <a:rPr lang="en-US" sz="1800" dirty="0"/>
              <a:t> asks the server to send a specific web page or resource.</a:t>
            </a:r>
          </a:p>
          <a:p>
            <a:pPr marL="0" indent="0">
              <a:buNone/>
            </a:pPr>
            <a:r>
              <a:rPr lang="en-US" sz="1800" dirty="0"/>
              <a:t>GET / HTTP/1.1</a:t>
            </a:r>
          </a:p>
          <a:p>
            <a:pPr marL="0" indent="0">
              <a:buNone/>
            </a:pPr>
            <a:r>
              <a:rPr lang="en-US" sz="1800" dirty="0"/>
              <a:t>Host: </a:t>
            </a:r>
            <a:r>
              <a:rPr lang="en-US" sz="1800" dirty="0">
                <a:hlinkClick r:id="rId3"/>
              </a:rPr>
              <a:t>www.facebook.com</a:t>
            </a:r>
            <a:endParaRPr lang="en-US" sz="1800" dirty="0"/>
          </a:p>
          <a:p>
            <a:r>
              <a:rPr lang="en-US" sz="1800" b="1" dirty="0"/>
              <a:t>GET</a:t>
            </a:r>
            <a:r>
              <a:rPr lang="en-US" sz="1800" dirty="0"/>
              <a:t> → Request to retrieve data. </a:t>
            </a:r>
          </a:p>
          <a:p>
            <a:r>
              <a:rPr lang="en-US" sz="1800" b="1" dirty="0"/>
              <a:t>/</a:t>
            </a:r>
            <a:r>
              <a:rPr lang="en-US" sz="1800" dirty="0"/>
              <a:t> → Home page of the website. </a:t>
            </a:r>
          </a:p>
          <a:p>
            <a:r>
              <a:rPr lang="en-US" sz="1800" b="1" dirty="0"/>
              <a:t>Host</a:t>
            </a:r>
            <a:r>
              <a:rPr lang="en-US" sz="1800" dirty="0"/>
              <a:t> → Specifies which website is being requested. </a:t>
            </a:r>
          </a:p>
          <a:p>
            <a:pPr marL="0" indent="0">
              <a:buNone/>
            </a:pPr>
            <a:endParaRPr lang="en-US" sz="1800" dirty="0"/>
          </a:p>
        </p:txBody>
      </p:sp>
    </p:spTree>
    <p:extLst>
      <p:ext uri="{BB962C8B-B14F-4D97-AF65-F5344CB8AC3E}">
        <p14:creationId xmlns:p14="http://schemas.microsoft.com/office/powerpoint/2010/main" val="20847535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3DC3E-3248-4C88-A9FA-A8C9D3616B64}"/>
              </a:ext>
            </a:extLst>
          </p:cNvPr>
          <p:cNvSpPr>
            <a:spLocks noGrp="1"/>
          </p:cNvSpPr>
          <p:nvPr>
            <p:ph type="title"/>
          </p:nvPr>
        </p:nvSpPr>
        <p:spPr>
          <a:xfrm>
            <a:off x="838200" y="365126"/>
            <a:ext cx="10515600" cy="315912"/>
          </a:xfrm>
        </p:spPr>
        <p:txBody>
          <a:bodyPr>
            <a:normAutofit/>
          </a:bodyPr>
          <a:lstStyle/>
          <a:p>
            <a:r>
              <a:rPr lang="en-IN" sz="1400" dirty="0"/>
              <a:t>Continued…</a:t>
            </a:r>
          </a:p>
        </p:txBody>
      </p:sp>
      <p:sp>
        <p:nvSpPr>
          <p:cNvPr id="3" name="Content Placeholder 2">
            <a:extLst>
              <a:ext uri="{FF2B5EF4-FFF2-40B4-BE49-F238E27FC236}">
                <a16:creationId xmlns:a16="http://schemas.microsoft.com/office/drawing/2014/main" id="{DA09E823-3C0A-4DBC-96C3-D351CD14268B}"/>
              </a:ext>
            </a:extLst>
          </p:cNvPr>
          <p:cNvSpPr>
            <a:spLocks noGrp="1"/>
          </p:cNvSpPr>
          <p:nvPr>
            <p:ph idx="1"/>
          </p:nvPr>
        </p:nvSpPr>
        <p:spPr>
          <a:xfrm>
            <a:off x="753035" y="788894"/>
            <a:ext cx="10600765" cy="5388069"/>
          </a:xfrm>
        </p:spPr>
        <p:txBody>
          <a:bodyPr>
            <a:normAutofit fontScale="92500" lnSpcReduction="10000"/>
          </a:bodyPr>
          <a:lstStyle/>
          <a:p>
            <a:pPr marL="0" indent="0">
              <a:buNone/>
            </a:pPr>
            <a:r>
              <a:rPr lang="en-US" sz="2000" b="1" dirty="0"/>
              <a:t>Step 3: Server Processes the Request</a:t>
            </a:r>
          </a:p>
          <a:p>
            <a:r>
              <a:rPr lang="en-US" sz="2000" dirty="0"/>
              <a:t>The server receives the GET request.</a:t>
            </a:r>
          </a:p>
          <a:p>
            <a:r>
              <a:rPr lang="en-US" sz="2000" dirty="0"/>
              <a:t>It locates the requested webpage and prepares a response.</a:t>
            </a:r>
          </a:p>
          <a:p>
            <a:r>
              <a:rPr lang="en-US" sz="2000" dirty="0"/>
              <a:t>The response contains the </a:t>
            </a:r>
            <a:r>
              <a:rPr lang="en-US" sz="2000" b="1" dirty="0"/>
              <a:t>HTML document</a:t>
            </a:r>
            <a:r>
              <a:rPr lang="en-US" sz="2000" dirty="0"/>
              <a:t> that defines the structure of the webpage.</a:t>
            </a:r>
          </a:p>
          <a:p>
            <a:pPr marL="0" indent="0">
              <a:buNone/>
            </a:pPr>
            <a:r>
              <a:rPr lang="en-US" sz="2000" dirty="0"/>
              <a:t>Example:</a:t>
            </a:r>
          </a:p>
          <a:p>
            <a:pPr marL="0" indent="0" algn="just">
              <a:lnSpc>
                <a:spcPct val="100000"/>
              </a:lnSpc>
              <a:buNone/>
            </a:pPr>
            <a:r>
              <a:rPr lang="en-US" sz="2000" dirty="0"/>
              <a:t>&lt;html&gt;</a:t>
            </a:r>
          </a:p>
          <a:p>
            <a:pPr marL="0" indent="0" algn="just">
              <a:lnSpc>
                <a:spcPct val="100000"/>
              </a:lnSpc>
              <a:buNone/>
            </a:pPr>
            <a:r>
              <a:rPr lang="en-US" sz="2000" dirty="0"/>
              <a:t>&lt;head&gt;</a:t>
            </a:r>
          </a:p>
          <a:p>
            <a:pPr marL="0" indent="0" algn="just">
              <a:lnSpc>
                <a:spcPct val="100000"/>
              </a:lnSpc>
              <a:buNone/>
            </a:pPr>
            <a:r>
              <a:rPr lang="en-US" sz="2000" dirty="0"/>
              <a:t>&lt;title&gt;Facebook&lt;/title&gt;</a:t>
            </a:r>
          </a:p>
          <a:p>
            <a:pPr marL="0" indent="0" algn="just">
              <a:lnSpc>
                <a:spcPct val="100000"/>
              </a:lnSpc>
              <a:buNone/>
            </a:pPr>
            <a:r>
              <a:rPr lang="en-US" sz="2000" dirty="0"/>
              <a:t>&lt;/head&gt;</a:t>
            </a:r>
          </a:p>
          <a:p>
            <a:pPr marL="0" indent="0" algn="just">
              <a:lnSpc>
                <a:spcPct val="100000"/>
              </a:lnSpc>
              <a:buNone/>
            </a:pPr>
            <a:r>
              <a:rPr lang="en-US" sz="2000" dirty="0"/>
              <a:t>&lt;body&gt;</a:t>
            </a:r>
          </a:p>
          <a:p>
            <a:pPr marL="0" indent="0" algn="just">
              <a:lnSpc>
                <a:spcPct val="100000"/>
              </a:lnSpc>
              <a:buNone/>
            </a:pPr>
            <a:r>
              <a:rPr lang="en-US" sz="2000" dirty="0"/>
              <a:t>Login Page</a:t>
            </a:r>
          </a:p>
          <a:p>
            <a:pPr marL="0" indent="0" algn="just">
              <a:lnSpc>
                <a:spcPct val="100000"/>
              </a:lnSpc>
              <a:buNone/>
            </a:pPr>
            <a:r>
              <a:rPr lang="en-US" sz="2000" dirty="0"/>
              <a:t>&lt;/body&gt;</a:t>
            </a:r>
          </a:p>
          <a:p>
            <a:pPr marL="0" indent="0" algn="just">
              <a:lnSpc>
                <a:spcPct val="100000"/>
              </a:lnSpc>
              <a:buNone/>
            </a:pPr>
            <a:r>
              <a:rPr lang="en-US" sz="2000" dirty="0"/>
              <a:t>&lt;/html&gt;</a:t>
            </a:r>
          </a:p>
          <a:p>
            <a:pPr marL="0" indent="0">
              <a:buNone/>
            </a:pPr>
            <a:r>
              <a:rPr lang="en-US" sz="1900" dirty="0"/>
              <a:t>This HTML tells the browser how to display the page.</a:t>
            </a:r>
            <a:endParaRPr lang="en-IN" sz="1900" dirty="0"/>
          </a:p>
        </p:txBody>
      </p:sp>
    </p:spTree>
    <p:extLst>
      <p:ext uri="{BB962C8B-B14F-4D97-AF65-F5344CB8AC3E}">
        <p14:creationId xmlns:p14="http://schemas.microsoft.com/office/powerpoint/2010/main" val="34917116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E575C-009F-495F-9992-45CC717ED179}"/>
              </a:ext>
            </a:extLst>
          </p:cNvPr>
          <p:cNvSpPr>
            <a:spLocks noGrp="1"/>
          </p:cNvSpPr>
          <p:nvPr>
            <p:ph type="title"/>
          </p:nvPr>
        </p:nvSpPr>
        <p:spPr>
          <a:xfrm>
            <a:off x="654424" y="365126"/>
            <a:ext cx="10699376" cy="315912"/>
          </a:xfrm>
        </p:spPr>
        <p:txBody>
          <a:bodyPr>
            <a:normAutofit/>
          </a:bodyPr>
          <a:lstStyle/>
          <a:p>
            <a:r>
              <a:rPr lang="en-IN" sz="1400" dirty="0"/>
              <a:t>Continued…</a:t>
            </a:r>
          </a:p>
        </p:txBody>
      </p:sp>
      <p:sp>
        <p:nvSpPr>
          <p:cNvPr id="3" name="Content Placeholder 2">
            <a:extLst>
              <a:ext uri="{FF2B5EF4-FFF2-40B4-BE49-F238E27FC236}">
                <a16:creationId xmlns:a16="http://schemas.microsoft.com/office/drawing/2014/main" id="{2F81AC0E-0CD8-4466-A8B8-76E75C950FF9}"/>
              </a:ext>
            </a:extLst>
          </p:cNvPr>
          <p:cNvSpPr>
            <a:spLocks noGrp="1"/>
          </p:cNvSpPr>
          <p:nvPr>
            <p:ph idx="1"/>
          </p:nvPr>
        </p:nvSpPr>
        <p:spPr>
          <a:xfrm>
            <a:off x="726141" y="851647"/>
            <a:ext cx="10627659" cy="5325316"/>
          </a:xfrm>
        </p:spPr>
        <p:txBody>
          <a:bodyPr/>
          <a:lstStyle/>
          <a:p>
            <a:pPr marL="0" indent="0">
              <a:buNone/>
            </a:pPr>
            <a:r>
              <a:rPr lang="en-US" sz="1800" b="1" dirty="0"/>
              <a:t>Step 4: Browser Receives the HTML Response</a:t>
            </a:r>
          </a:p>
          <a:p>
            <a:pPr marL="0" indent="0">
              <a:buNone/>
            </a:pPr>
            <a:r>
              <a:rPr lang="en-US" sz="1800" dirty="0"/>
              <a:t>The browser downloads the HTML page.</a:t>
            </a:r>
          </a:p>
          <a:p>
            <a:pPr marL="0" indent="0">
              <a:buNone/>
            </a:pPr>
            <a:r>
              <a:rPr lang="en-US" sz="1800" dirty="0"/>
              <a:t>The HTML usually contains references to additional resources such as:</a:t>
            </a:r>
          </a:p>
          <a:p>
            <a:r>
              <a:rPr lang="en-US" sz="1800" dirty="0"/>
              <a:t>Images </a:t>
            </a:r>
          </a:p>
          <a:p>
            <a:r>
              <a:rPr lang="en-US" sz="1800" dirty="0"/>
              <a:t>CSS files </a:t>
            </a:r>
          </a:p>
          <a:p>
            <a:r>
              <a:rPr lang="en-US" sz="1800" dirty="0"/>
              <a:t>JavaScript files </a:t>
            </a:r>
          </a:p>
          <a:p>
            <a:r>
              <a:rPr lang="en-US" sz="1800" dirty="0"/>
              <a:t>Videos </a:t>
            </a:r>
          </a:p>
          <a:p>
            <a:r>
              <a:rPr lang="en-US" sz="1800" dirty="0"/>
              <a:t>Icons </a:t>
            </a:r>
          </a:p>
          <a:p>
            <a:r>
              <a:rPr lang="en-US" sz="1800" dirty="0"/>
              <a:t>Fonts </a:t>
            </a:r>
          </a:p>
          <a:p>
            <a:r>
              <a:rPr lang="en-US" sz="1800" dirty="0"/>
              <a:t>Example:</a:t>
            </a:r>
          </a:p>
          <a:p>
            <a:pPr marL="0" indent="0">
              <a:buNone/>
            </a:pPr>
            <a:endParaRPr lang="en-IN" dirty="0"/>
          </a:p>
        </p:txBody>
      </p:sp>
    </p:spTree>
    <p:extLst>
      <p:ext uri="{BB962C8B-B14F-4D97-AF65-F5344CB8AC3E}">
        <p14:creationId xmlns:p14="http://schemas.microsoft.com/office/powerpoint/2010/main" val="39350391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7ED28-2073-4B88-939E-4D5BB4DA7D60}"/>
              </a:ext>
            </a:extLst>
          </p:cNvPr>
          <p:cNvSpPr>
            <a:spLocks noGrp="1"/>
          </p:cNvSpPr>
          <p:nvPr>
            <p:ph type="title"/>
          </p:nvPr>
        </p:nvSpPr>
        <p:spPr>
          <a:xfrm>
            <a:off x="838200" y="365125"/>
            <a:ext cx="10515600" cy="629957"/>
          </a:xfrm>
        </p:spPr>
        <p:txBody>
          <a:bodyPr>
            <a:normAutofit/>
          </a:bodyPr>
          <a:lstStyle/>
          <a:p>
            <a:r>
              <a:rPr lang="en-IN" sz="1400" dirty="0"/>
              <a:t>Continued…</a:t>
            </a:r>
          </a:p>
        </p:txBody>
      </p:sp>
      <p:sp>
        <p:nvSpPr>
          <p:cNvPr id="3" name="Content Placeholder 2">
            <a:extLst>
              <a:ext uri="{FF2B5EF4-FFF2-40B4-BE49-F238E27FC236}">
                <a16:creationId xmlns:a16="http://schemas.microsoft.com/office/drawing/2014/main" id="{0EDE9CCA-48B9-4C44-A7E3-CBD71AD5A4FF}"/>
              </a:ext>
            </a:extLst>
          </p:cNvPr>
          <p:cNvSpPr>
            <a:spLocks noGrp="1"/>
          </p:cNvSpPr>
          <p:nvPr>
            <p:ph idx="1"/>
          </p:nvPr>
        </p:nvSpPr>
        <p:spPr>
          <a:xfrm>
            <a:off x="923364" y="1111624"/>
            <a:ext cx="10430435" cy="5065339"/>
          </a:xfrm>
        </p:spPr>
        <p:txBody>
          <a:bodyPr>
            <a:normAutofit/>
          </a:bodyPr>
          <a:lstStyle/>
          <a:p>
            <a:pPr marL="0" indent="0">
              <a:buNone/>
            </a:pPr>
            <a:r>
              <a:rPr lang="en-US" sz="2000" b="1" dirty="0"/>
              <a:t>Step 5: Browser Sends Additional HTTP Requests</a:t>
            </a:r>
          </a:p>
          <a:p>
            <a:r>
              <a:rPr lang="en-US" sz="2000" dirty="0"/>
              <a:t>For every referenced resource, the browser sends another </a:t>
            </a:r>
            <a:r>
              <a:rPr lang="en-US" sz="2000" b="1" dirty="0"/>
              <a:t>HTTP GET request</a:t>
            </a:r>
            <a:r>
              <a:rPr lang="en-US" sz="2000" dirty="0"/>
              <a:t>.</a:t>
            </a:r>
          </a:p>
          <a:p>
            <a:pPr marL="0" indent="0">
              <a:buNone/>
            </a:pPr>
            <a:r>
              <a:rPr lang="en-US" sz="2000" b="1" dirty="0"/>
              <a:t>Step 6: Browser Displays the Complete Web Page</a:t>
            </a:r>
          </a:p>
          <a:p>
            <a:pPr marL="0" indent="0">
              <a:buNone/>
            </a:pPr>
            <a:r>
              <a:rPr lang="en-US" sz="2200" dirty="0"/>
              <a:t>After receiving:</a:t>
            </a:r>
          </a:p>
          <a:p>
            <a:r>
              <a:rPr lang="en-US" sz="2200" dirty="0"/>
              <a:t>HTML </a:t>
            </a:r>
          </a:p>
          <a:p>
            <a:r>
              <a:rPr lang="en-US" sz="2200" dirty="0"/>
              <a:t>Images </a:t>
            </a:r>
          </a:p>
          <a:p>
            <a:r>
              <a:rPr lang="en-US" sz="2200" dirty="0"/>
              <a:t>CSS </a:t>
            </a:r>
          </a:p>
          <a:p>
            <a:r>
              <a:rPr lang="en-US" sz="2200" dirty="0"/>
              <a:t>JavaScript </a:t>
            </a:r>
          </a:p>
          <a:p>
            <a:r>
              <a:rPr lang="en-US" sz="2200" dirty="0"/>
              <a:t>Videos </a:t>
            </a:r>
          </a:p>
          <a:p>
            <a:pPr marL="0" indent="0">
              <a:buNone/>
            </a:pPr>
            <a:r>
              <a:rPr lang="en-US" sz="2200" dirty="0"/>
              <a:t>The browser combines all these resources and displays the complete webpage.</a:t>
            </a:r>
          </a:p>
          <a:p>
            <a:pPr marL="0" indent="0">
              <a:buNone/>
            </a:pPr>
            <a:endParaRPr lang="en-IN" dirty="0"/>
          </a:p>
        </p:txBody>
      </p:sp>
    </p:spTree>
    <p:extLst>
      <p:ext uri="{BB962C8B-B14F-4D97-AF65-F5344CB8AC3E}">
        <p14:creationId xmlns:p14="http://schemas.microsoft.com/office/powerpoint/2010/main" val="155281569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F8E19-6A90-4290-B2FB-62A865F06EC1}"/>
              </a:ext>
            </a:extLst>
          </p:cNvPr>
          <p:cNvSpPr>
            <a:spLocks noGrp="1"/>
          </p:cNvSpPr>
          <p:nvPr>
            <p:ph type="title"/>
          </p:nvPr>
        </p:nvSpPr>
        <p:spPr>
          <a:xfrm>
            <a:off x="726141" y="365125"/>
            <a:ext cx="10627659" cy="594099"/>
          </a:xfrm>
        </p:spPr>
        <p:txBody>
          <a:bodyPr>
            <a:normAutofit/>
          </a:bodyPr>
          <a:lstStyle/>
          <a:p>
            <a:r>
              <a:rPr lang="en-IN" sz="1400" dirty="0"/>
              <a:t>Continued…</a:t>
            </a:r>
          </a:p>
        </p:txBody>
      </p:sp>
      <p:sp>
        <p:nvSpPr>
          <p:cNvPr id="3" name="Content Placeholder 2">
            <a:extLst>
              <a:ext uri="{FF2B5EF4-FFF2-40B4-BE49-F238E27FC236}">
                <a16:creationId xmlns:a16="http://schemas.microsoft.com/office/drawing/2014/main" id="{ED49AAAB-BB41-4D32-8F8D-3BAFF957E2BE}"/>
              </a:ext>
            </a:extLst>
          </p:cNvPr>
          <p:cNvSpPr>
            <a:spLocks noGrp="1"/>
          </p:cNvSpPr>
          <p:nvPr>
            <p:ph idx="1"/>
          </p:nvPr>
        </p:nvSpPr>
        <p:spPr>
          <a:xfrm>
            <a:off x="726141" y="1057835"/>
            <a:ext cx="10627659" cy="5119128"/>
          </a:xfrm>
        </p:spPr>
        <p:txBody>
          <a:bodyPr>
            <a:normAutofit/>
          </a:bodyPr>
          <a:lstStyle/>
          <a:p>
            <a:pPr marL="0" indent="0">
              <a:buNone/>
            </a:pPr>
            <a:r>
              <a:rPr lang="en-IN" sz="1900" dirty="0"/>
              <a:t>The HTTP protocol is a request/response protocol based on the client/server based architecture where web browsers, robots and search engines, etc. act like HTTP clients, and the Web server acts as a server.</a:t>
            </a:r>
          </a:p>
          <a:p>
            <a:pPr marL="0" indent="0">
              <a:buNone/>
            </a:pPr>
            <a:r>
              <a:rPr lang="en-IN" sz="1900" b="1" dirty="0"/>
              <a:t>Client</a:t>
            </a:r>
          </a:p>
          <a:p>
            <a:r>
              <a:rPr lang="en-IN" sz="1900" dirty="0"/>
              <a:t>The HTTP client sends a request to the server in the form of a request method, URI, and protocol version, followed by a MIME-like message containing request modifiers, client information, and possible body content over a TCP/IP connection.</a:t>
            </a:r>
          </a:p>
          <a:p>
            <a:pPr marL="0" indent="0">
              <a:buNone/>
            </a:pPr>
            <a:r>
              <a:rPr lang="en-IN" sz="1900" b="1" dirty="0"/>
              <a:t>Server</a:t>
            </a:r>
          </a:p>
          <a:p>
            <a:r>
              <a:rPr lang="en-IN" sz="1900" dirty="0"/>
              <a:t>The HTTP server responds with a status line, including the message's protocol version and a success or error code, followed by a MIME-like message containing server information, entity meta information, and possible entity-body content.</a:t>
            </a:r>
          </a:p>
          <a:p>
            <a:endParaRPr lang="en-IN" dirty="0"/>
          </a:p>
        </p:txBody>
      </p:sp>
    </p:spTree>
    <p:extLst>
      <p:ext uri="{BB962C8B-B14F-4D97-AF65-F5344CB8AC3E}">
        <p14:creationId xmlns:p14="http://schemas.microsoft.com/office/powerpoint/2010/main" val="16501318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3BD4C-4FDF-4706-838A-BD28B6FAB0AA}"/>
              </a:ext>
            </a:extLst>
          </p:cNvPr>
          <p:cNvSpPr>
            <a:spLocks noGrp="1"/>
          </p:cNvSpPr>
          <p:nvPr>
            <p:ph type="title"/>
          </p:nvPr>
        </p:nvSpPr>
        <p:spPr>
          <a:xfrm>
            <a:off x="838200" y="365125"/>
            <a:ext cx="10515600" cy="576169"/>
          </a:xfrm>
        </p:spPr>
        <p:txBody>
          <a:bodyPr>
            <a:normAutofit fontScale="90000"/>
          </a:bodyPr>
          <a:lstStyle/>
          <a:p>
            <a:br>
              <a:rPr lang="en-IN" b="1" dirty="0"/>
            </a:br>
            <a:r>
              <a:rPr lang="en-IN" sz="3600" b="1" dirty="0"/>
              <a:t>HTTP - Messages</a:t>
            </a:r>
            <a:br>
              <a:rPr lang="en-IN" b="1" dirty="0"/>
            </a:br>
            <a:endParaRPr lang="en-IN" dirty="0"/>
          </a:p>
        </p:txBody>
      </p:sp>
      <p:sp>
        <p:nvSpPr>
          <p:cNvPr id="3" name="Content Placeholder 2">
            <a:extLst>
              <a:ext uri="{FF2B5EF4-FFF2-40B4-BE49-F238E27FC236}">
                <a16:creationId xmlns:a16="http://schemas.microsoft.com/office/drawing/2014/main" id="{DF27DC49-580D-4162-A681-05F45F7BF7D9}"/>
              </a:ext>
            </a:extLst>
          </p:cNvPr>
          <p:cNvSpPr>
            <a:spLocks noGrp="1"/>
          </p:cNvSpPr>
          <p:nvPr>
            <p:ph idx="1"/>
          </p:nvPr>
        </p:nvSpPr>
        <p:spPr>
          <a:xfrm>
            <a:off x="582706" y="941294"/>
            <a:ext cx="10771094" cy="5235669"/>
          </a:xfrm>
        </p:spPr>
        <p:txBody>
          <a:bodyPr>
            <a:normAutofit/>
          </a:bodyPr>
          <a:lstStyle/>
          <a:p>
            <a:endParaRPr lang="en-IN" sz="1800" dirty="0"/>
          </a:p>
          <a:p>
            <a:r>
              <a:rPr lang="en-IN" sz="1800" dirty="0"/>
              <a:t>HTTP Message provides a way for communication between a client and server. </a:t>
            </a:r>
          </a:p>
          <a:p>
            <a:r>
              <a:rPr lang="en-IN" sz="1800" dirty="0"/>
              <a:t>An HTTP message can be a </a:t>
            </a:r>
            <a:r>
              <a:rPr lang="en-IN" sz="1800" b="1" dirty="0"/>
              <a:t>request</a:t>
            </a:r>
            <a:r>
              <a:rPr lang="en-IN" sz="1800" dirty="0"/>
              <a:t> sent by the client to the server or a </a:t>
            </a:r>
            <a:r>
              <a:rPr lang="en-IN" sz="1800" b="1" dirty="0"/>
              <a:t>response</a:t>
            </a:r>
            <a:r>
              <a:rPr lang="en-IN" sz="1800" dirty="0"/>
              <a:t> sent by the server to the client. </a:t>
            </a:r>
          </a:p>
          <a:p>
            <a:r>
              <a:rPr lang="en-IN" sz="1800" dirty="0"/>
              <a:t>HTTP is based on the client-server architecture model and a stateless request/response protocol that operates by exchanging messages across a reliable TCP/IP connection.</a:t>
            </a:r>
          </a:p>
          <a:p>
            <a:r>
              <a:rPr lang="en-IN" sz="1800" dirty="0"/>
              <a:t>An HTTP "client" is a program (Web browser or any other client) that establishes a connection to a server for the purpose of sending one or more HTTP request messages. </a:t>
            </a:r>
          </a:p>
          <a:p>
            <a:r>
              <a:rPr lang="en-IN" sz="1800" dirty="0"/>
              <a:t>An HTTP "server" is a program ( generally a web server like Apache Web Server or Internet Information Services IIS, etc. ) that accepts connections in order to serve HTTP requests by sending HTTP response messages</a:t>
            </a:r>
          </a:p>
        </p:txBody>
      </p:sp>
    </p:spTree>
    <p:extLst>
      <p:ext uri="{BB962C8B-B14F-4D97-AF65-F5344CB8AC3E}">
        <p14:creationId xmlns:p14="http://schemas.microsoft.com/office/powerpoint/2010/main" val="38711146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 message example">
            <a:extLst>
              <a:ext uri="{FF2B5EF4-FFF2-40B4-BE49-F238E27FC236}">
                <a16:creationId xmlns:a16="http://schemas.microsoft.com/office/drawing/2014/main" id="{49EFBA5A-08EB-4612-850E-62FEA84178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6129" y="1219200"/>
            <a:ext cx="8785411" cy="38906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87729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314F6-C071-48F2-BA11-D23FF200C501}"/>
              </a:ext>
            </a:extLst>
          </p:cNvPr>
          <p:cNvSpPr>
            <a:spLocks noGrp="1"/>
          </p:cNvSpPr>
          <p:nvPr>
            <p:ph type="title"/>
          </p:nvPr>
        </p:nvSpPr>
        <p:spPr>
          <a:xfrm>
            <a:off x="838200" y="365126"/>
            <a:ext cx="10515600" cy="315912"/>
          </a:xfrm>
        </p:spPr>
        <p:txBody>
          <a:bodyPr>
            <a:normAutofit/>
          </a:bodyPr>
          <a:lstStyle/>
          <a:p>
            <a:r>
              <a:rPr lang="en-US" sz="1200" dirty="0"/>
              <a:t>Continued…</a:t>
            </a:r>
            <a:endParaRPr lang="en-IN" sz="1200" dirty="0"/>
          </a:p>
        </p:txBody>
      </p:sp>
      <p:sp>
        <p:nvSpPr>
          <p:cNvPr id="3" name="Content Placeholder 2">
            <a:extLst>
              <a:ext uri="{FF2B5EF4-FFF2-40B4-BE49-F238E27FC236}">
                <a16:creationId xmlns:a16="http://schemas.microsoft.com/office/drawing/2014/main" id="{807B6FE1-412C-45CF-B00F-80911D523D1E}"/>
              </a:ext>
            </a:extLst>
          </p:cNvPr>
          <p:cNvSpPr>
            <a:spLocks noGrp="1"/>
          </p:cNvSpPr>
          <p:nvPr>
            <p:ph idx="1"/>
          </p:nvPr>
        </p:nvSpPr>
        <p:spPr>
          <a:xfrm>
            <a:off x="838200" y="833718"/>
            <a:ext cx="10515600" cy="5343245"/>
          </a:xfrm>
        </p:spPr>
        <p:txBody>
          <a:bodyPr/>
          <a:lstStyle/>
          <a:p>
            <a:endParaRPr lang="en-US" sz="2000" dirty="0"/>
          </a:p>
          <a:p>
            <a:r>
              <a:rPr lang="en-US" sz="2000" dirty="0"/>
              <a:t>HTTP makes use of the Uniform Resource Identifier (URI) to identify a given resource and to establish a connection. </a:t>
            </a:r>
          </a:p>
          <a:p>
            <a:r>
              <a:rPr lang="en-US" sz="2000" dirty="0"/>
              <a:t>Once the connection is established, </a:t>
            </a:r>
            <a:r>
              <a:rPr lang="en-US" sz="2000" b="1" dirty="0"/>
              <a:t>HTTP messages</a:t>
            </a:r>
            <a:r>
              <a:rPr lang="en-US" sz="2000" dirty="0"/>
              <a:t> are passed in a format similar to that used by the Internet mail and the Multipurpose Internet Mail Extensions (MIME).</a:t>
            </a:r>
          </a:p>
          <a:p>
            <a:r>
              <a:rPr lang="en-US" sz="2000" dirty="0"/>
              <a:t>These messages include </a:t>
            </a:r>
            <a:r>
              <a:rPr lang="en-US" sz="2000" b="1" dirty="0"/>
              <a:t>requests</a:t>
            </a:r>
            <a:r>
              <a:rPr lang="en-US" sz="2000" dirty="0"/>
              <a:t> from client to server and </a:t>
            </a:r>
            <a:r>
              <a:rPr lang="en-US" sz="2000" b="1" dirty="0"/>
              <a:t>responses</a:t>
            </a:r>
            <a:r>
              <a:rPr lang="en-US" sz="2000" dirty="0"/>
              <a:t> from server to client which will have the following format:</a:t>
            </a:r>
          </a:p>
          <a:p>
            <a:pPr marL="0" indent="0">
              <a:buNone/>
            </a:pPr>
            <a:endParaRPr lang="en-US" sz="2000" dirty="0"/>
          </a:p>
          <a:p>
            <a:pPr marL="0" indent="0">
              <a:buNone/>
            </a:pPr>
            <a:r>
              <a:rPr lang="fr-FR" dirty="0"/>
              <a:t>HTTP-message = &lt;</a:t>
            </a:r>
            <a:r>
              <a:rPr lang="fr-FR" dirty="0" err="1"/>
              <a:t>Request</a:t>
            </a:r>
            <a:r>
              <a:rPr lang="fr-FR" dirty="0"/>
              <a:t>&gt; | &lt;</a:t>
            </a:r>
            <a:r>
              <a:rPr lang="fr-FR" dirty="0" err="1"/>
              <a:t>Response</a:t>
            </a:r>
            <a:r>
              <a:rPr lang="fr-FR" dirty="0"/>
              <a:t>&gt; ; HTTP/1.1 messages</a:t>
            </a:r>
            <a:endParaRPr lang="en-IN" dirty="0"/>
          </a:p>
        </p:txBody>
      </p:sp>
    </p:spTree>
    <p:extLst>
      <p:ext uri="{BB962C8B-B14F-4D97-AF65-F5344CB8AC3E}">
        <p14:creationId xmlns:p14="http://schemas.microsoft.com/office/powerpoint/2010/main" val="13058687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D413E-98DB-4A9E-A399-EA6810CD1E54}"/>
              </a:ext>
            </a:extLst>
          </p:cNvPr>
          <p:cNvSpPr>
            <a:spLocks noGrp="1"/>
          </p:cNvSpPr>
          <p:nvPr>
            <p:ph type="title"/>
          </p:nvPr>
        </p:nvSpPr>
        <p:spPr>
          <a:xfrm>
            <a:off x="838200" y="365126"/>
            <a:ext cx="10515600" cy="540310"/>
          </a:xfrm>
        </p:spPr>
        <p:txBody>
          <a:bodyPr>
            <a:normAutofit fontScale="90000"/>
          </a:bodyPr>
          <a:lstStyle/>
          <a:p>
            <a:br>
              <a:rPr lang="en-IN" dirty="0"/>
            </a:br>
            <a:r>
              <a:rPr lang="en-IN" sz="3100" b="1" dirty="0"/>
              <a:t>HTTP Message Components</a:t>
            </a:r>
            <a:br>
              <a:rPr lang="en-IN" dirty="0"/>
            </a:br>
            <a:endParaRPr lang="en-IN" dirty="0"/>
          </a:p>
        </p:txBody>
      </p:sp>
      <p:sp>
        <p:nvSpPr>
          <p:cNvPr id="3" name="Content Placeholder 2">
            <a:extLst>
              <a:ext uri="{FF2B5EF4-FFF2-40B4-BE49-F238E27FC236}">
                <a16:creationId xmlns:a16="http://schemas.microsoft.com/office/drawing/2014/main" id="{61BC6205-023F-4646-AFE9-EBBC56566237}"/>
              </a:ext>
            </a:extLst>
          </p:cNvPr>
          <p:cNvSpPr>
            <a:spLocks noGrp="1"/>
          </p:cNvSpPr>
          <p:nvPr>
            <p:ph idx="1"/>
          </p:nvPr>
        </p:nvSpPr>
        <p:spPr>
          <a:xfrm>
            <a:off x="753035" y="1039906"/>
            <a:ext cx="10600765" cy="5137057"/>
          </a:xfrm>
        </p:spPr>
        <p:txBody>
          <a:bodyPr/>
          <a:lstStyle/>
          <a:p>
            <a:pPr marL="0" indent="0">
              <a:buNone/>
            </a:pPr>
            <a:r>
              <a:rPr lang="en-US" sz="1800" dirty="0"/>
              <a:t>HTTP requests and HTTP responses use a generic message format of RFC 822 for transferring the required data. This generic message format consists of the following three items:</a:t>
            </a:r>
            <a:endParaRPr lang="en-IN" u="sng" dirty="0"/>
          </a:p>
          <a:p>
            <a:pPr marL="514350" lvl="0" indent="-514350">
              <a:buAutoNum type="arabicPeriod"/>
            </a:pPr>
            <a:r>
              <a:rPr lang="en-US" dirty="0"/>
              <a:t>Message Start Line</a:t>
            </a:r>
          </a:p>
          <a:p>
            <a:pPr marL="514350" lvl="0" indent="-514350">
              <a:buAutoNum type="arabicPeriod"/>
            </a:pPr>
            <a:r>
              <a:rPr lang="en-US" dirty="0"/>
              <a:t>Headers</a:t>
            </a:r>
          </a:p>
          <a:p>
            <a:pPr marL="514350" lvl="0" indent="-514350">
              <a:buAutoNum type="arabicPeriod"/>
            </a:pPr>
            <a:r>
              <a:rPr lang="en-US" dirty="0"/>
              <a:t>Message Body</a:t>
            </a:r>
          </a:p>
          <a:p>
            <a:pPr marL="0" lvl="0" indent="0">
              <a:buNone/>
            </a:pPr>
            <a:endParaRPr lang="en-IN" dirty="0"/>
          </a:p>
        </p:txBody>
      </p:sp>
    </p:spTree>
    <p:extLst>
      <p:ext uri="{BB962C8B-B14F-4D97-AF65-F5344CB8AC3E}">
        <p14:creationId xmlns:p14="http://schemas.microsoft.com/office/powerpoint/2010/main" val="15018675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4AD35-42AB-4995-A2CF-0764249DB1E2}"/>
              </a:ext>
            </a:extLst>
          </p:cNvPr>
          <p:cNvSpPr>
            <a:spLocks noGrp="1"/>
          </p:cNvSpPr>
          <p:nvPr>
            <p:ph type="title"/>
          </p:nvPr>
        </p:nvSpPr>
        <p:spPr>
          <a:xfrm>
            <a:off x="838200" y="365126"/>
            <a:ext cx="10515600" cy="315912"/>
          </a:xfrm>
        </p:spPr>
        <p:txBody>
          <a:bodyPr>
            <a:normAutofit/>
          </a:bodyPr>
          <a:lstStyle/>
          <a:p>
            <a:r>
              <a:rPr lang="en-US" sz="1200" dirty="0"/>
              <a:t>Continued…</a:t>
            </a:r>
            <a:endParaRPr lang="en-IN" sz="1200" dirty="0"/>
          </a:p>
        </p:txBody>
      </p:sp>
      <p:sp>
        <p:nvSpPr>
          <p:cNvPr id="3" name="Content Placeholder 2">
            <a:extLst>
              <a:ext uri="{FF2B5EF4-FFF2-40B4-BE49-F238E27FC236}">
                <a16:creationId xmlns:a16="http://schemas.microsoft.com/office/drawing/2014/main" id="{6F920669-3E22-48CB-A629-1A64B939ED2E}"/>
              </a:ext>
            </a:extLst>
          </p:cNvPr>
          <p:cNvSpPr>
            <a:spLocks noGrp="1"/>
          </p:cNvSpPr>
          <p:nvPr>
            <p:ph idx="1"/>
          </p:nvPr>
        </p:nvSpPr>
        <p:spPr>
          <a:xfrm>
            <a:off x="838200" y="753035"/>
            <a:ext cx="10515600" cy="5423928"/>
          </a:xfrm>
        </p:spPr>
        <p:txBody>
          <a:bodyPr/>
          <a:lstStyle/>
          <a:p>
            <a:pPr marL="514350" indent="-514350">
              <a:buAutoNum type="arabicPeriod"/>
            </a:pPr>
            <a:r>
              <a:rPr lang="en-IN" dirty="0"/>
              <a:t>Message Start Line</a:t>
            </a:r>
          </a:p>
          <a:p>
            <a:pPr marL="0" indent="0">
              <a:buNone/>
            </a:pPr>
            <a:endParaRPr lang="en-IN" dirty="0"/>
          </a:p>
          <a:p>
            <a:pPr marL="0" lvl="0" indent="0" eaLnBrk="0" fontAlgn="base" hangingPunct="0">
              <a:lnSpc>
                <a:spcPct val="100000"/>
              </a:lnSpc>
              <a:spcBef>
                <a:spcPct val="0"/>
              </a:spcBef>
              <a:spcAft>
                <a:spcPct val="0"/>
              </a:spcAft>
              <a:buNone/>
            </a:pPr>
            <a:r>
              <a:rPr lang="en-US" altLang="en-US" sz="1800" dirty="0">
                <a:solidFill>
                  <a:srgbClr val="000000"/>
                </a:solidFill>
                <a:latin typeface="Verdana" panose="020B0604030504040204" pitchFamily="34" charset="0"/>
              </a:rPr>
              <a:t>A start-line will have the following generic </a:t>
            </a:r>
            <a:r>
              <a:rPr lang="en-US" altLang="en-US" sz="1800" b="1" dirty="0">
                <a:solidFill>
                  <a:srgbClr val="000000"/>
                </a:solidFill>
                <a:latin typeface="inherit"/>
              </a:rPr>
              <a:t>syntax:</a:t>
            </a:r>
            <a:endParaRPr lang="en-US" altLang="en-US" sz="1800" dirty="0">
              <a:solidFill>
                <a:srgbClr val="000000"/>
              </a:solidFill>
              <a:latin typeface="ui-monospace"/>
            </a:endParaRPr>
          </a:p>
          <a:p>
            <a:pPr marL="0" lvl="0" indent="0" eaLnBrk="0" fontAlgn="base" hangingPunct="0">
              <a:lnSpc>
                <a:spcPct val="100000"/>
              </a:lnSpc>
              <a:spcBef>
                <a:spcPct val="0"/>
              </a:spcBef>
              <a:spcAft>
                <a:spcPct val="0"/>
              </a:spcAft>
              <a:buNone/>
            </a:pPr>
            <a:endParaRPr lang="en-US" altLang="en-US" sz="1800" dirty="0">
              <a:solidFill>
                <a:srgbClr val="000000"/>
              </a:solidFill>
              <a:latin typeface="ui-monospace"/>
            </a:endParaRPr>
          </a:p>
          <a:p>
            <a:pPr marL="0" lvl="0" indent="0" eaLnBrk="0" fontAlgn="base" hangingPunct="0">
              <a:lnSpc>
                <a:spcPct val="100000"/>
              </a:lnSpc>
              <a:spcBef>
                <a:spcPct val="0"/>
              </a:spcBef>
              <a:spcAft>
                <a:spcPct val="0"/>
              </a:spcAft>
              <a:buNone/>
            </a:pPr>
            <a:r>
              <a:rPr lang="en-US" altLang="en-US" sz="1800" dirty="0">
                <a:solidFill>
                  <a:schemeClr val="accent1"/>
                </a:solidFill>
                <a:latin typeface="ui-monospace"/>
              </a:rPr>
              <a:t>start-line = Request-Line | Status-Line</a:t>
            </a:r>
            <a:r>
              <a:rPr lang="en-US" altLang="en-US" sz="1800" dirty="0">
                <a:solidFill>
                  <a:schemeClr val="accent1"/>
                </a:solidFill>
              </a:rPr>
              <a:t> </a:t>
            </a:r>
          </a:p>
          <a:p>
            <a:pPr marL="0" lvl="0" indent="0" eaLnBrk="0" fontAlgn="base" hangingPunct="0">
              <a:lnSpc>
                <a:spcPct val="100000"/>
              </a:lnSpc>
              <a:spcBef>
                <a:spcPct val="0"/>
              </a:spcBef>
              <a:spcAft>
                <a:spcPct val="0"/>
              </a:spcAft>
              <a:buNone/>
            </a:pPr>
            <a:endParaRPr lang="en-US" altLang="en-US" sz="1800" dirty="0">
              <a:solidFill>
                <a:schemeClr val="accent1"/>
              </a:solidFill>
            </a:endParaRPr>
          </a:p>
          <a:p>
            <a:r>
              <a:rPr lang="en-IN" sz="2000" dirty="0"/>
              <a:t>For </a:t>
            </a:r>
            <a:r>
              <a:rPr lang="en-IN" sz="2000" b="1" dirty="0"/>
              <a:t>request</a:t>
            </a:r>
            <a:r>
              <a:rPr lang="en-IN" sz="2000" dirty="0"/>
              <a:t> message, start line contains HTTP method, request-target and HTTP version. Example: GET /hello.htm HTTP/1.1</a:t>
            </a:r>
          </a:p>
          <a:p>
            <a:r>
              <a:rPr lang="en-IN" sz="2000" dirty="0"/>
              <a:t>For </a:t>
            </a:r>
            <a:r>
              <a:rPr lang="en-IN" sz="2000" b="1" dirty="0"/>
              <a:t>response</a:t>
            </a:r>
            <a:r>
              <a:rPr lang="en-IN" sz="2000" dirty="0"/>
              <a:t> message, start line contains HTTP version, status code and status message. Example: HTTP/1.1 200 OK</a:t>
            </a:r>
          </a:p>
          <a:p>
            <a:pPr marL="0" lvl="0" indent="0" eaLnBrk="0" fontAlgn="base" hangingPunct="0">
              <a:lnSpc>
                <a:spcPct val="100000"/>
              </a:lnSpc>
              <a:spcBef>
                <a:spcPct val="0"/>
              </a:spcBef>
              <a:spcAft>
                <a:spcPct val="0"/>
              </a:spcAft>
              <a:buNone/>
            </a:pPr>
            <a:endParaRPr lang="en-US" altLang="en-US" sz="1800" dirty="0">
              <a:solidFill>
                <a:schemeClr val="accent1"/>
              </a:solidFill>
              <a:latin typeface="Arial" panose="020B0604020202020204" pitchFamily="34" charset="0"/>
            </a:endParaRPr>
          </a:p>
          <a:p>
            <a:pPr marL="0" indent="0">
              <a:buNone/>
            </a:pPr>
            <a:endParaRPr lang="en-IN" dirty="0"/>
          </a:p>
        </p:txBody>
      </p:sp>
      <p:sp>
        <p:nvSpPr>
          <p:cNvPr id="4" name="Rectangle 1">
            <a:extLst>
              <a:ext uri="{FF2B5EF4-FFF2-40B4-BE49-F238E27FC236}">
                <a16:creationId xmlns:a16="http://schemas.microsoft.com/office/drawing/2014/main" id="{74D0F395-28B8-4EAC-B8B3-8362FE209ADA}"/>
              </a:ext>
            </a:extLst>
          </p:cNvPr>
          <p:cNvSpPr>
            <a:spLocks noChangeArrowheads="1"/>
          </p:cNvSpPr>
          <p:nvPr/>
        </p:nvSpPr>
        <p:spPr bwMode="auto">
          <a:xfrm>
            <a:off x="0" y="90100"/>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679516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AF3EF-CBCB-47DB-8A55-13AF518C7F10}"/>
              </a:ext>
            </a:extLst>
          </p:cNvPr>
          <p:cNvSpPr>
            <a:spLocks noGrp="1"/>
          </p:cNvSpPr>
          <p:nvPr>
            <p:ph type="title"/>
          </p:nvPr>
        </p:nvSpPr>
        <p:spPr>
          <a:xfrm>
            <a:off x="838200" y="365125"/>
            <a:ext cx="10515600" cy="522381"/>
          </a:xfrm>
        </p:spPr>
        <p:txBody>
          <a:bodyPr>
            <a:normAutofit fontScale="90000"/>
          </a:bodyPr>
          <a:lstStyle/>
          <a:p>
            <a:br>
              <a:rPr lang="en-IN" dirty="0"/>
            </a:br>
            <a:r>
              <a:rPr lang="en-IN" dirty="0"/>
              <a:t>Headers</a:t>
            </a:r>
            <a:br>
              <a:rPr lang="en-IN" dirty="0"/>
            </a:br>
            <a:endParaRPr lang="en-IN" dirty="0"/>
          </a:p>
        </p:txBody>
      </p:sp>
      <p:sp>
        <p:nvSpPr>
          <p:cNvPr id="3" name="Content Placeholder 2">
            <a:extLst>
              <a:ext uri="{FF2B5EF4-FFF2-40B4-BE49-F238E27FC236}">
                <a16:creationId xmlns:a16="http://schemas.microsoft.com/office/drawing/2014/main" id="{CB10E8B6-F236-4AEE-ACD6-CEFAD50E633F}"/>
              </a:ext>
            </a:extLst>
          </p:cNvPr>
          <p:cNvSpPr>
            <a:spLocks noGrp="1"/>
          </p:cNvSpPr>
          <p:nvPr>
            <p:ph idx="1"/>
          </p:nvPr>
        </p:nvSpPr>
        <p:spPr>
          <a:xfrm>
            <a:off x="717176" y="977153"/>
            <a:ext cx="10636624" cy="5199810"/>
          </a:xfrm>
        </p:spPr>
        <p:txBody>
          <a:bodyPr>
            <a:normAutofit/>
          </a:bodyPr>
          <a:lstStyle/>
          <a:p>
            <a:pPr marL="0" indent="0">
              <a:buNone/>
            </a:pPr>
            <a:r>
              <a:rPr lang="en-US" sz="2000" dirty="0"/>
              <a:t>HTTP header fields provide required information about the request or response, or about the object sent in the message body. There are four types of HTTP message headers:</a:t>
            </a:r>
          </a:p>
          <a:p>
            <a:r>
              <a:rPr lang="en-US" sz="2000" b="1" dirty="0"/>
              <a:t>General-header:</a:t>
            </a:r>
            <a:r>
              <a:rPr lang="en-US" sz="2000" dirty="0"/>
              <a:t> These header fields have general applicability for both request and response messages.</a:t>
            </a:r>
          </a:p>
          <a:p>
            <a:r>
              <a:rPr lang="en-US" sz="2000" b="1" dirty="0"/>
              <a:t>Request-header:</a:t>
            </a:r>
            <a:r>
              <a:rPr lang="en-US" sz="2000" dirty="0"/>
              <a:t> These header fields have applicability only for request messages.</a:t>
            </a:r>
          </a:p>
          <a:p>
            <a:r>
              <a:rPr lang="en-US" sz="2000" b="1" dirty="0"/>
              <a:t>Response-header:</a:t>
            </a:r>
            <a:r>
              <a:rPr lang="en-US" sz="2000" dirty="0"/>
              <a:t> These header fields have applicability only for response messages.</a:t>
            </a:r>
          </a:p>
          <a:p>
            <a:r>
              <a:rPr lang="en-US" sz="2000" b="1" dirty="0"/>
              <a:t>Entity-header:</a:t>
            </a:r>
            <a:r>
              <a:rPr lang="en-US" sz="2000" dirty="0"/>
              <a:t> These header fields define meta information about the entity-body or, if no body is present, about the resource identified by the request.</a:t>
            </a:r>
          </a:p>
          <a:p>
            <a:pPr marL="0" indent="0">
              <a:buNone/>
            </a:pPr>
            <a:endParaRPr lang="en-IN" sz="2000" dirty="0"/>
          </a:p>
        </p:txBody>
      </p:sp>
    </p:spTree>
    <p:extLst>
      <p:ext uri="{BB962C8B-B14F-4D97-AF65-F5344CB8AC3E}">
        <p14:creationId xmlns:p14="http://schemas.microsoft.com/office/powerpoint/2010/main" val="182361259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AC24A-2609-4DD7-854C-CD19C4EE5B7C}"/>
              </a:ext>
            </a:extLst>
          </p:cNvPr>
          <p:cNvSpPr>
            <a:spLocks noGrp="1"/>
          </p:cNvSpPr>
          <p:nvPr>
            <p:ph type="title"/>
          </p:nvPr>
        </p:nvSpPr>
        <p:spPr>
          <a:xfrm>
            <a:off x="717176" y="365125"/>
            <a:ext cx="10636624" cy="603063"/>
          </a:xfrm>
        </p:spPr>
        <p:txBody>
          <a:bodyPr>
            <a:normAutofit fontScale="90000"/>
          </a:bodyPr>
          <a:lstStyle/>
          <a:p>
            <a:br>
              <a:rPr lang="en-IN" dirty="0"/>
            </a:br>
            <a:r>
              <a:rPr lang="en-IN" sz="3600" dirty="0"/>
              <a:t>Message Body</a:t>
            </a:r>
            <a:br>
              <a:rPr lang="en-IN" dirty="0"/>
            </a:br>
            <a:endParaRPr lang="en-IN" dirty="0"/>
          </a:p>
        </p:txBody>
      </p:sp>
      <p:sp>
        <p:nvSpPr>
          <p:cNvPr id="3" name="Content Placeholder 2">
            <a:extLst>
              <a:ext uri="{FF2B5EF4-FFF2-40B4-BE49-F238E27FC236}">
                <a16:creationId xmlns:a16="http://schemas.microsoft.com/office/drawing/2014/main" id="{58C94628-5DA4-4D66-BD8C-21E1F4BDF014}"/>
              </a:ext>
            </a:extLst>
          </p:cNvPr>
          <p:cNvSpPr>
            <a:spLocks noGrp="1"/>
          </p:cNvSpPr>
          <p:nvPr>
            <p:ph idx="1"/>
          </p:nvPr>
        </p:nvSpPr>
        <p:spPr>
          <a:xfrm>
            <a:off x="717176" y="1084729"/>
            <a:ext cx="10636624" cy="5092234"/>
          </a:xfrm>
        </p:spPr>
        <p:txBody>
          <a:bodyPr>
            <a:normAutofit/>
          </a:bodyPr>
          <a:lstStyle/>
          <a:p>
            <a:pPr marL="0" indent="0">
              <a:buNone/>
            </a:pPr>
            <a:r>
              <a:rPr lang="en-US" sz="2000" dirty="0"/>
              <a:t>A message body is the one which carries the actual HTTP request data (including form data and uploaded, etc.) and HTTP response data from the server ( including files, images, etc.). </a:t>
            </a:r>
          </a:p>
          <a:p>
            <a:pPr marL="0" indent="0">
              <a:buNone/>
            </a:pPr>
            <a:r>
              <a:rPr lang="en-US" sz="2000" dirty="0"/>
              <a:t>Shown below is the simple content of a message body:</a:t>
            </a:r>
          </a:p>
          <a:p>
            <a:pPr marL="0" indent="0">
              <a:buNone/>
            </a:pPr>
            <a:r>
              <a:rPr lang="en-US" dirty="0"/>
              <a:t>&lt;html&gt;</a:t>
            </a:r>
          </a:p>
          <a:p>
            <a:pPr marL="0" indent="0">
              <a:buNone/>
            </a:pPr>
            <a:r>
              <a:rPr lang="en-US" dirty="0"/>
              <a:t>    &lt;body&gt; </a:t>
            </a:r>
          </a:p>
          <a:p>
            <a:pPr marL="0" indent="0">
              <a:buNone/>
            </a:pPr>
            <a:r>
              <a:rPr lang="en-US" dirty="0"/>
              <a:t>	&lt;h1&gt;Hello, World!&lt;/h1&gt; </a:t>
            </a:r>
          </a:p>
          <a:p>
            <a:pPr marL="0" indent="0">
              <a:buNone/>
            </a:pPr>
            <a:r>
              <a:rPr lang="en-US" dirty="0"/>
              <a:t>    &lt;/body&gt;</a:t>
            </a:r>
          </a:p>
          <a:p>
            <a:pPr marL="0" indent="0">
              <a:buNone/>
            </a:pPr>
            <a:r>
              <a:rPr lang="en-US" dirty="0"/>
              <a:t> &lt;/html&gt;</a:t>
            </a:r>
            <a:endParaRPr lang="en-IN" sz="2000" dirty="0"/>
          </a:p>
        </p:txBody>
      </p:sp>
    </p:spTree>
    <p:extLst>
      <p:ext uri="{BB962C8B-B14F-4D97-AF65-F5344CB8AC3E}">
        <p14:creationId xmlns:p14="http://schemas.microsoft.com/office/powerpoint/2010/main" val="32868862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3A01E-24F1-4A28-A210-E1838706D2DB}"/>
              </a:ext>
            </a:extLst>
          </p:cNvPr>
          <p:cNvSpPr>
            <a:spLocks noGrp="1"/>
          </p:cNvSpPr>
          <p:nvPr>
            <p:ph type="title"/>
          </p:nvPr>
        </p:nvSpPr>
        <p:spPr>
          <a:xfrm>
            <a:off x="744071" y="365125"/>
            <a:ext cx="10609729" cy="549275"/>
          </a:xfrm>
        </p:spPr>
        <p:txBody>
          <a:bodyPr>
            <a:normAutofit fontScale="90000"/>
          </a:bodyPr>
          <a:lstStyle/>
          <a:p>
            <a:r>
              <a:rPr lang="en-US" dirty="0"/>
              <a:t>Web Caching</a:t>
            </a:r>
            <a:endParaRPr lang="en-IN" dirty="0"/>
          </a:p>
        </p:txBody>
      </p:sp>
      <p:sp>
        <p:nvSpPr>
          <p:cNvPr id="3" name="Content Placeholder 2">
            <a:extLst>
              <a:ext uri="{FF2B5EF4-FFF2-40B4-BE49-F238E27FC236}">
                <a16:creationId xmlns:a16="http://schemas.microsoft.com/office/drawing/2014/main" id="{AF6134B2-08B2-4E65-9E63-A9442400BDF6}"/>
              </a:ext>
            </a:extLst>
          </p:cNvPr>
          <p:cNvSpPr>
            <a:spLocks noGrp="1"/>
          </p:cNvSpPr>
          <p:nvPr>
            <p:ph idx="1"/>
          </p:nvPr>
        </p:nvSpPr>
        <p:spPr>
          <a:xfrm>
            <a:off x="744071" y="995082"/>
            <a:ext cx="10609729" cy="5181881"/>
          </a:xfrm>
        </p:spPr>
        <p:txBody>
          <a:bodyPr/>
          <a:lstStyle/>
          <a:p>
            <a:endParaRPr lang="en-US" dirty="0"/>
          </a:p>
          <a:p>
            <a:r>
              <a:rPr lang="en-US" sz="2000" dirty="0"/>
              <a:t>The activity of saving data for reuse, such as a copy of a web page supplied by a web server, is known as </a:t>
            </a:r>
            <a:r>
              <a:rPr lang="en-US" sz="2000" i="1" dirty="0"/>
              <a:t>web caching</a:t>
            </a:r>
            <a:r>
              <a:rPr lang="en-US" sz="2000" dirty="0"/>
              <a:t>.</a:t>
            </a:r>
          </a:p>
          <a:p>
            <a:r>
              <a:rPr lang="en-US" sz="2000" dirty="0"/>
              <a:t>It is cached or saved the first time a user accesses the page, and a cache will deliver the copy the next time a user requests the same page, preventing the origin server from becoming overwhelmed.</a:t>
            </a:r>
          </a:p>
          <a:p>
            <a:r>
              <a:rPr lang="en-US" sz="2000" dirty="0"/>
              <a:t>Web caching techniques dramatically improve page delivery speed and reduce the amount of work required of the backend server.</a:t>
            </a:r>
          </a:p>
          <a:p>
            <a:endParaRPr lang="en-IN" dirty="0"/>
          </a:p>
        </p:txBody>
      </p:sp>
    </p:spTree>
    <p:extLst>
      <p:ext uri="{BB962C8B-B14F-4D97-AF65-F5344CB8AC3E}">
        <p14:creationId xmlns:p14="http://schemas.microsoft.com/office/powerpoint/2010/main" val="240731251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2E212-299B-402B-BAF8-93D16036BAC6}"/>
              </a:ext>
            </a:extLst>
          </p:cNvPr>
          <p:cNvSpPr>
            <a:spLocks noGrp="1"/>
          </p:cNvSpPr>
          <p:nvPr>
            <p:ph type="title"/>
          </p:nvPr>
        </p:nvSpPr>
        <p:spPr>
          <a:xfrm>
            <a:off x="838200" y="365126"/>
            <a:ext cx="10515600" cy="378946"/>
          </a:xfrm>
        </p:spPr>
        <p:txBody>
          <a:bodyPr>
            <a:normAutofit fontScale="90000"/>
          </a:bodyPr>
          <a:lstStyle/>
          <a:p>
            <a:br>
              <a:rPr lang="en-IN" dirty="0"/>
            </a:br>
            <a:r>
              <a:rPr lang="en-IN" dirty="0"/>
              <a:t>Proxy Server</a:t>
            </a:r>
            <a:br>
              <a:rPr lang="en-IN" dirty="0"/>
            </a:br>
            <a:endParaRPr lang="en-IN" dirty="0"/>
          </a:p>
        </p:txBody>
      </p:sp>
      <p:sp>
        <p:nvSpPr>
          <p:cNvPr id="3" name="Content Placeholder 2">
            <a:extLst>
              <a:ext uri="{FF2B5EF4-FFF2-40B4-BE49-F238E27FC236}">
                <a16:creationId xmlns:a16="http://schemas.microsoft.com/office/drawing/2014/main" id="{65D58615-17BE-476B-9A53-9D3B81AECDC6}"/>
              </a:ext>
            </a:extLst>
          </p:cNvPr>
          <p:cNvSpPr>
            <a:spLocks noGrp="1"/>
          </p:cNvSpPr>
          <p:nvPr>
            <p:ph idx="1"/>
          </p:nvPr>
        </p:nvSpPr>
        <p:spPr>
          <a:xfrm>
            <a:off x="838200" y="995082"/>
            <a:ext cx="10515600" cy="5181881"/>
          </a:xfrm>
        </p:spPr>
        <p:txBody>
          <a:bodyPr>
            <a:normAutofit/>
          </a:bodyPr>
          <a:lstStyle/>
          <a:p>
            <a:pPr marL="0" indent="0">
              <a:buNone/>
            </a:pPr>
            <a:endParaRPr lang="en-US" sz="1800" dirty="0"/>
          </a:p>
          <a:p>
            <a:pPr marL="0" indent="0">
              <a:buNone/>
            </a:pPr>
            <a:endParaRPr lang="en-US" sz="1800" dirty="0"/>
          </a:p>
          <a:p>
            <a:pPr marL="0" indent="0">
              <a:buNone/>
            </a:pPr>
            <a:r>
              <a:rPr lang="en-US" sz="1800" dirty="0"/>
              <a:t>A Proxy Server – an intermediary between the source server and the client – performs web caching. When a client requests information (through an HTTP message), the request is routed through a proxy server, which does the following −</a:t>
            </a:r>
          </a:p>
          <a:p>
            <a:r>
              <a:rPr lang="en-US" sz="1800" dirty="0"/>
              <a:t>It first looks to see if the copy is stored locally.</a:t>
            </a:r>
          </a:p>
          <a:p>
            <a:r>
              <a:rPr lang="en-US" sz="1800" dirty="0"/>
              <a:t>If it has, it sends the result to the client directly.</a:t>
            </a:r>
          </a:p>
          <a:p>
            <a:r>
              <a:rPr lang="en-US" sz="1800" dirty="0"/>
              <a:t>Otherwise, it performs the query on behalf of the end host, saves a copy of the response locally, and sends it back to the end host.</a:t>
            </a:r>
          </a:p>
          <a:p>
            <a:pPr marL="0" indent="0">
              <a:buNone/>
            </a:pPr>
            <a:endParaRPr lang="en-IN" sz="1800" dirty="0"/>
          </a:p>
        </p:txBody>
      </p:sp>
    </p:spTree>
    <p:extLst>
      <p:ext uri="{BB962C8B-B14F-4D97-AF65-F5344CB8AC3E}">
        <p14:creationId xmlns:p14="http://schemas.microsoft.com/office/powerpoint/2010/main" val="101916718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BB9C4-019D-4F59-91B4-9DD11AB7050A}"/>
              </a:ext>
            </a:extLst>
          </p:cNvPr>
          <p:cNvSpPr>
            <a:spLocks noGrp="1"/>
          </p:cNvSpPr>
          <p:nvPr>
            <p:ph type="title"/>
          </p:nvPr>
        </p:nvSpPr>
        <p:spPr>
          <a:xfrm>
            <a:off x="838200" y="365126"/>
            <a:ext cx="10515600" cy="567204"/>
          </a:xfrm>
        </p:spPr>
        <p:txBody>
          <a:bodyPr>
            <a:normAutofit fontScale="90000"/>
          </a:bodyPr>
          <a:lstStyle/>
          <a:p>
            <a:br>
              <a:rPr lang="en-US" dirty="0"/>
            </a:br>
            <a:r>
              <a:rPr lang="en-US" dirty="0"/>
              <a:t>Advantages of Using a Proxy Server</a:t>
            </a:r>
            <a:br>
              <a:rPr lang="en-US" dirty="0"/>
            </a:br>
            <a:endParaRPr lang="en-IN" dirty="0"/>
          </a:p>
        </p:txBody>
      </p:sp>
      <p:sp>
        <p:nvSpPr>
          <p:cNvPr id="3" name="Content Placeholder 2">
            <a:extLst>
              <a:ext uri="{FF2B5EF4-FFF2-40B4-BE49-F238E27FC236}">
                <a16:creationId xmlns:a16="http://schemas.microsoft.com/office/drawing/2014/main" id="{74E2B0A5-B583-45E0-8DF6-A293A50FE2EA}"/>
              </a:ext>
            </a:extLst>
          </p:cNvPr>
          <p:cNvSpPr>
            <a:spLocks noGrp="1"/>
          </p:cNvSpPr>
          <p:nvPr>
            <p:ph idx="1"/>
          </p:nvPr>
        </p:nvSpPr>
        <p:spPr>
          <a:xfrm>
            <a:off x="838200" y="1344706"/>
            <a:ext cx="10515600" cy="4832257"/>
          </a:xfrm>
        </p:spPr>
        <p:txBody>
          <a:bodyPr/>
          <a:lstStyle/>
          <a:p>
            <a:endParaRPr lang="en-US" sz="2000" dirty="0"/>
          </a:p>
          <a:p>
            <a:endParaRPr lang="en-US" sz="2000" dirty="0"/>
          </a:p>
          <a:p>
            <a:r>
              <a:rPr lang="en-US" sz="2000" dirty="0"/>
              <a:t>It reduces the time it takes to answer repeated requests. (Especially if there is a more minor bottleneck between the original server and the recipient than between the proxy server and the receiver.)</a:t>
            </a:r>
          </a:p>
          <a:p>
            <a:r>
              <a:rPr lang="en-US" sz="2000" dirty="0"/>
              <a:t>It lowers the cost by reducing the access link bandwidth (at the institution or the office).</a:t>
            </a:r>
          </a:p>
          <a:p>
            <a:r>
              <a:rPr lang="en-US" sz="2000" dirty="0"/>
              <a:t>It reduces the overall amount of Internet traffic.</a:t>
            </a:r>
          </a:p>
          <a:p>
            <a:endParaRPr lang="en-IN" dirty="0"/>
          </a:p>
        </p:txBody>
      </p:sp>
    </p:spTree>
    <p:extLst>
      <p:ext uri="{BB962C8B-B14F-4D97-AF65-F5344CB8AC3E}">
        <p14:creationId xmlns:p14="http://schemas.microsoft.com/office/powerpoint/2010/main" val="13165451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31C88-1836-454A-AFAD-3F18A76D9691}"/>
              </a:ext>
            </a:extLst>
          </p:cNvPr>
          <p:cNvSpPr>
            <a:spLocks noGrp="1"/>
          </p:cNvSpPr>
          <p:nvPr>
            <p:ph type="title"/>
          </p:nvPr>
        </p:nvSpPr>
        <p:spPr>
          <a:xfrm>
            <a:off x="753035" y="383987"/>
            <a:ext cx="10878671" cy="594099"/>
          </a:xfrm>
        </p:spPr>
        <p:txBody>
          <a:bodyPr>
            <a:noAutofit/>
          </a:bodyPr>
          <a:lstStyle/>
          <a:p>
            <a:br>
              <a:rPr lang="en-IN" sz="3200" b="1" dirty="0"/>
            </a:br>
            <a:r>
              <a:rPr lang="en-IN" sz="3200" b="1" dirty="0"/>
              <a:t>File Transfer Protocol (FTP) in Application Layer</a:t>
            </a:r>
            <a:br>
              <a:rPr lang="en-IN" sz="3200" b="1" dirty="0"/>
            </a:br>
            <a:endParaRPr lang="en-IN" sz="3200" dirty="0"/>
          </a:p>
        </p:txBody>
      </p:sp>
      <p:sp>
        <p:nvSpPr>
          <p:cNvPr id="3" name="Content Placeholder 2">
            <a:extLst>
              <a:ext uri="{FF2B5EF4-FFF2-40B4-BE49-F238E27FC236}">
                <a16:creationId xmlns:a16="http://schemas.microsoft.com/office/drawing/2014/main" id="{78AFBB16-748B-400D-B7DD-699D625AAF74}"/>
              </a:ext>
            </a:extLst>
          </p:cNvPr>
          <p:cNvSpPr>
            <a:spLocks noGrp="1"/>
          </p:cNvSpPr>
          <p:nvPr>
            <p:ph idx="1"/>
          </p:nvPr>
        </p:nvSpPr>
        <p:spPr>
          <a:xfrm>
            <a:off x="753035" y="1174376"/>
            <a:ext cx="10600765" cy="5002587"/>
          </a:xfrm>
        </p:spPr>
        <p:txBody>
          <a:bodyPr>
            <a:normAutofit/>
          </a:bodyPr>
          <a:lstStyle/>
          <a:p>
            <a:r>
              <a:rPr lang="en-IN" sz="1800" dirty="0"/>
              <a:t>Located in the application layer of the OSI model, FTP is a basic system that helps in transferring files between a client and a server.</a:t>
            </a:r>
          </a:p>
          <a:p>
            <a:r>
              <a:rPr lang="en-IN" sz="1800" dirty="0"/>
              <a:t>FTP is a standard communication protocol. </a:t>
            </a:r>
          </a:p>
          <a:p>
            <a:r>
              <a:rPr lang="en-IN" sz="1800" dirty="0"/>
              <a:t>There are various other protocols like HTTP which are used to transfer files between computers, but they lack clarity and focus as compared to FTP.</a:t>
            </a:r>
          </a:p>
          <a:p>
            <a:r>
              <a:rPr lang="en-IN" sz="1800" dirty="0"/>
              <a:t> Moreover, the systems involved in connection are heterogeneous, i.e. they differ in operating systems, directories, structures, character sets, etc the FTP shields the user from these differences and transfers data efficiently and reliably. </a:t>
            </a:r>
          </a:p>
          <a:p>
            <a:r>
              <a:rPr lang="en-IN" sz="1800" dirty="0"/>
              <a:t>FTP can transfer ASCII, EBCDIC, or image files. </a:t>
            </a:r>
          </a:p>
        </p:txBody>
      </p:sp>
    </p:spTree>
    <p:extLst>
      <p:ext uri="{BB962C8B-B14F-4D97-AF65-F5344CB8AC3E}">
        <p14:creationId xmlns:p14="http://schemas.microsoft.com/office/powerpoint/2010/main" val="29517236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ile-Transfer-Protocol">
            <a:extLst>
              <a:ext uri="{FF2B5EF4-FFF2-40B4-BE49-F238E27FC236}">
                <a16:creationId xmlns:a16="http://schemas.microsoft.com/office/drawing/2014/main" id="{E58569CF-8BCC-4FD1-A3D4-69F6E45E4432}"/>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357718" y="1362636"/>
            <a:ext cx="6604037" cy="3499242"/>
          </a:xfrm>
          <a:prstGeom prst="rect">
            <a:avLst/>
          </a:prstGeom>
          <a:noFill/>
          <a:ln>
            <a:noFill/>
          </a:ln>
        </p:spPr>
      </p:pic>
    </p:spTree>
    <p:extLst>
      <p:ext uri="{BB962C8B-B14F-4D97-AF65-F5344CB8AC3E}">
        <p14:creationId xmlns:p14="http://schemas.microsoft.com/office/powerpoint/2010/main" val="88964694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29A9-2D2B-49B1-AD08-774594D4377D}"/>
              </a:ext>
            </a:extLst>
          </p:cNvPr>
          <p:cNvSpPr>
            <a:spLocks noGrp="1"/>
          </p:cNvSpPr>
          <p:nvPr>
            <p:ph type="title"/>
          </p:nvPr>
        </p:nvSpPr>
        <p:spPr>
          <a:xfrm>
            <a:off x="838200" y="365126"/>
            <a:ext cx="10515600" cy="791322"/>
          </a:xfrm>
        </p:spPr>
        <p:txBody>
          <a:bodyPr>
            <a:noAutofit/>
          </a:bodyPr>
          <a:lstStyle/>
          <a:p>
            <a:br>
              <a:rPr lang="en-IN" sz="2800" b="1" dirty="0"/>
            </a:br>
            <a:r>
              <a:rPr lang="en-IN" sz="2800" b="1" dirty="0"/>
              <a:t>There are different ways through which a server and a client do a file transfer using FTP. Some of them are mentioned below:</a:t>
            </a:r>
            <a:br>
              <a:rPr lang="en-IN" sz="2800" dirty="0"/>
            </a:br>
            <a:endParaRPr lang="en-IN" sz="2800" dirty="0"/>
          </a:p>
        </p:txBody>
      </p:sp>
      <p:sp>
        <p:nvSpPr>
          <p:cNvPr id="3" name="Content Placeholder 2">
            <a:extLst>
              <a:ext uri="{FF2B5EF4-FFF2-40B4-BE49-F238E27FC236}">
                <a16:creationId xmlns:a16="http://schemas.microsoft.com/office/drawing/2014/main" id="{ED083FF0-7F38-4367-8875-51001C4033A9}"/>
              </a:ext>
            </a:extLst>
          </p:cNvPr>
          <p:cNvSpPr>
            <a:spLocks noGrp="1"/>
          </p:cNvSpPr>
          <p:nvPr>
            <p:ph idx="1"/>
          </p:nvPr>
        </p:nvSpPr>
        <p:spPr/>
        <p:txBody>
          <a:bodyPr/>
          <a:lstStyle/>
          <a:p>
            <a:pPr>
              <a:buFont typeface="Wingdings" panose="05000000000000000000" pitchFamily="2" charset="2"/>
              <a:buChar char="ü"/>
            </a:pPr>
            <a:r>
              <a:rPr lang="en-IN" b="1" dirty="0"/>
              <a:t>Anonymous FTP</a:t>
            </a:r>
          </a:p>
          <a:p>
            <a:pPr>
              <a:buFont typeface="Wingdings" panose="05000000000000000000" pitchFamily="2" charset="2"/>
              <a:buChar char="ü"/>
            </a:pPr>
            <a:r>
              <a:rPr lang="en-IN" b="1" dirty="0"/>
              <a:t>Password Protected FTP</a:t>
            </a:r>
          </a:p>
          <a:p>
            <a:pPr>
              <a:buFont typeface="Wingdings" panose="05000000000000000000" pitchFamily="2" charset="2"/>
              <a:buChar char="ü"/>
            </a:pPr>
            <a:r>
              <a:rPr lang="en-IN" b="1" dirty="0"/>
              <a:t>FTP Secure (FTPS)</a:t>
            </a:r>
          </a:p>
          <a:p>
            <a:pPr>
              <a:buFont typeface="Wingdings" panose="05000000000000000000" pitchFamily="2" charset="2"/>
              <a:buChar char="ü"/>
            </a:pPr>
            <a:r>
              <a:rPr lang="en-IN" b="1" dirty="0"/>
              <a:t>FTP over Explicit SSL/TLS (FTPES)</a:t>
            </a:r>
          </a:p>
          <a:p>
            <a:pPr>
              <a:buFont typeface="Wingdings" panose="05000000000000000000" pitchFamily="2" charset="2"/>
              <a:buChar char="ü"/>
            </a:pPr>
            <a:r>
              <a:rPr lang="en-IN" b="1" dirty="0"/>
              <a:t>Secure FTP (SFTP)</a:t>
            </a:r>
            <a:endParaRPr lang="en-IN" dirty="0"/>
          </a:p>
        </p:txBody>
      </p:sp>
    </p:spTree>
    <p:extLst>
      <p:ext uri="{BB962C8B-B14F-4D97-AF65-F5344CB8AC3E}">
        <p14:creationId xmlns:p14="http://schemas.microsoft.com/office/powerpoint/2010/main" val="337274275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D6255-A758-4FAD-89CD-1D58396B223B}"/>
              </a:ext>
            </a:extLst>
          </p:cNvPr>
          <p:cNvSpPr>
            <a:spLocks noGrp="1"/>
          </p:cNvSpPr>
          <p:nvPr>
            <p:ph type="title"/>
          </p:nvPr>
        </p:nvSpPr>
        <p:spPr>
          <a:xfrm>
            <a:off x="838200" y="365126"/>
            <a:ext cx="10515600" cy="719604"/>
          </a:xfrm>
        </p:spPr>
        <p:txBody>
          <a:bodyPr>
            <a:normAutofit fontScale="90000"/>
          </a:bodyPr>
          <a:lstStyle/>
          <a:p>
            <a:br>
              <a:rPr lang="en-IN" sz="3600" b="1" dirty="0"/>
            </a:br>
            <a:r>
              <a:rPr lang="en-IN" sz="3600" b="1" dirty="0">
                <a:solidFill>
                  <a:schemeClr val="accent1">
                    <a:lumMod val="50000"/>
                  </a:schemeClr>
                </a:solidFill>
              </a:rPr>
              <a:t>Anonymous FTP</a:t>
            </a:r>
            <a:br>
              <a:rPr lang="en-IN" b="1" dirty="0"/>
            </a:br>
            <a:endParaRPr lang="en-IN" dirty="0"/>
          </a:p>
        </p:txBody>
      </p:sp>
      <p:sp>
        <p:nvSpPr>
          <p:cNvPr id="3" name="Content Placeholder 2">
            <a:extLst>
              <a:ext uri="{FF2B5EF4-FFF2-40B4-BE49-F238E27FC236}">
                <a16:creationId xmlns:a16="http://schemas.microsoft.com/office/drawing/2014/main" id="{ECF14A7B-42D2-4A37-9272-8E42E6E8E5A8}"/>
              </a:ext>
            </a:extLst>
          </p:cNvPr>
          <p:cNvSpPr>
            <a:spLocks noGrp="1"/>
          </p:cNvSpPr>
          <p:nvPr>
            <p:ph idx="1"/>
          </p:nvPr>
        </p:nvSpPr>
        <p:spPr/>
        <p:txBody>
          <a:bodyPr/>
          <a:lstStyle/>
          <a:p>
            <a:pPr>
              <a:buFont typeface="Wingdings" panose="05000000000000000000" pitchFamily="2" charset="2"/>
              <a:buChar char="v"/>
            </a:pPr>
            <a:r>
              <a:rPr lang="en-IN" dirty="0"/>
              <a:t>Anonymous FTP is enabled on some sites whose files are available for public access. </a:t>
            </a:r>
          </a:p>
          <a:p>
            <a:pPr>
              <a:buFont typeface="Wingdings" panose="05000000000000000000" pitchFamily="2" charset="2"/>
              <a:buChar char="v"/>
            </a:pPr>
            <a:r>
              <a:rPr lang="en-IN" dirty="0"/>
              <a:t>A user can access these files without having any username or password. </a:t>
            </a:r>
          </a:p>
          <a:p>
            <a:pPr>
              <a:buFont typeface="Wingdings" panose="05000000000000000000" pitchFamily="2" charset="2"/>
              <a:buChar char="v"/>
            </a:pPr>
            <a:r>
              <a:rPr lang="en-IN" dirty="0"/>
              <a:t>Instead, the username is set to anonymous, and the password is to the guest by default. </a:t>
            </a:r>
          </a:p>
          <a:p>
            <a:pPr>
              <a:buFont typeface="Wingdings" panose="05000000000000000000" pitchFamily="2" charset="2"/>
              <a:buChar char="v"/>
            </a:pPr>
            <a:r>
              <a:rPr lang="en-IN" dirty="0"/>
              <a:t>Here, user access is very limited. For example, the user can be allowed to copy the files but not to navigate through directories.</a:t>
            </a:r>
          </a:p>
        </p:txBody>
      </p:sp>
    </p:spTree>
    <p:extLst>
      <p:ext uri="{BB962C8B-B14F-4D97-AF65-F5344CB8AC3E}">
        <p14:creationId xmlns:p14="http://schemas.microsoft.com/office/powerpoint/2010/main" val="340310584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C96FD-FC6F-4530-809B-2D240154CB83}"/>
              </a:ext>
            </a:extLst>
          </p:cNvPr>
          <p:cNvSpPr>
            <a:spLocks noGrp="1"/>
          </p:cNvSpPr>
          <p:nvPr>
            <p:ph type="title"/>
          </p:nvPr>
        </p:nvSpPr>
        <p:spPr>
          <a:xfrm>
            <a:off x="838200" y="365125"/>
            <a:ext cx="10515600" cy="800287"/>
          </a:xfrm>
        </p:spPr>
        <p:txBody>
          <a:bodyPr/>
          <a:lstStyle/>
          <a:p>
            <a:r>
              <a:rPr lang="en-IN" b="1" dirty="0">
                <a:solidFill>
                  <a:schemeClr val="accent1">
                    <a:lumMod val="50000"/>
                  </a:schemeClr>
                </a:solidFill>
              </a:rPr>
              <a:t>Password Protected FTP</a:t>
            </a:r>
            <a:endParaRPr lang="en-IN" dirty="0">
              <a:solidFill>
                <a:schemeClr val="accent1">
                  <a:lumMod val="50000"/>
                </a:schemeClr>
              </a:solidFill>
            </a:endParaRPr>
          </a:p>
        </p:txBody>
      </p:sp>
      <p:sp>
        <p:nvSpPr>
          <p:cNvPr id="3" name="Content Placeholder 2">
            <a:extLst>
              <a:ext uri="{FF2B5EF4-FFF2-40B4-BE49-F238E27FC236}">
                <a16:creationId xmlns:a16="http://schemas.microsoft.com/office/drawing/2014/main" id="{FCE708A4-BBE4-46CF-B703-D3892B08EBD4}"/>
              </a:ext>
            </a:extLst>
          </p:cNvPr>
          <p:cNvSpPr>
            <a:spLocks noGrp="1"/>
          </p:cNvSpPr>
          <p:nvPr>
            <p:ph idx="1"/>
          </p:nvPr>
        </p:nvSpPr>
        <p:spPr>
          <a:xfrm>
            <a:off x="838200" y="1470212"/>
            <a:ext cx="10515600" cy="4706751"/>
          </a:xfrm>
        </p:spPr>
        <p:txBody>
          <a:bodyPr/>
          <a:lstStyle/>
          <a:p>
            <a:pPr>
              <a:buFont typeface="Wingdings" panose="05000000000000000000" pitchFamily="2" charset="2"/>
              <a:buChar char="v"/>
            </a:pPr>
            <a:r>
              <a:rPr lang="en-IN" dirty="0"/>
              <a:t>This type of FTP is similar to the previous one, but the change in it is the use of username and password</a:t>
            </a:r>
          </a:p>
        </p:txBody>
      </p:sp>
    </p:spTree>
    <p:extLst>
      <p:ext uri="{BB962C8B-B14F-4D97-AF65-F5344CB8AC3E}">
        <p14:creationId xmlns:p14="http://schemas.microsoft.com/office/powerpoint/2010/main" val="187762542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856C2-3C62-499C-8168-585883B2F59F}"/>
              </a:ext>
            </a:extLst>
          </p:cNvPr>
          <p:cNvSpPr>
            <a:spLocks noGrp="1"/>
          </p:cNvSpPr>
          <p:nvPr>
            <p:ph type="title"/>
          </p:nvPr>
        </p:nvSpPr>
        <p:spPr>
          <a:xfrm>
            <a:off x="918883" y="392019"/>
            <a:ext cx="10515600" cy="1325563"/>
          </a:xfrm>
        </p:spPr>
        <p:txBody>
          <a:bodyPr/>
          <a:lstStyle/>
          <a:p>
            <a:r>
              <a:rPr lang="en-IN" b="1" dirty="0">
                <a:solidFill>
                  <a:schemeClr val="accent1">
                    <a:lumMod val="50000"/>
                  </a:schemeClr>
                </a:solidFill>
              </a:rPr>
              <a:t>FTP Secure (FTPS)</a:t>
            </a:r>
            <a:endParaRPr lang="en-IN" dirty="0">
              <a:solidFill>
                <a:schemeClr val="accent1">
                  <a:lumMod val="50000"/>
                </a:schemeClr>
              </a:solidFill>
            </a:endParaRPr>
          </a:p>
        </p:txBody>
      </p:sp>
      <p:sp>
        <p:nvSpPr>
          <p:cNvPr id="3" name="Content Placeholder 2">
            <a:extLst>
              <a:ext uri="{FF2B5EF4-FFF2-40B4-BE49-F238E27FC236}">
                <a16:creationId xmlns:a16="http://schemas.microsoft.com/office/drawing/2014/main" id="{F653DC78-5D45-40DB-BECB-71764D750513}"/>
              </a:ext>
            </a:extLst>
          </p:cNvPr>
          <p:cNvSpPr>
            <a:spLocks noGrp="1"/>
          </p:cNvSpPr>
          <p:nvPr>
            <p:ph idx="1"/>
          </p:nvPr>
        </p:nvSpPr>
        <p:spPr/>
        <p:txBody>
          <a:bodyPr/>
          <a:lstStyle/>
          <a:p>
            <a:pPr>
              <a:buFont typeface="Wingdings" panose="05000000000000000000" pitchFamily="2" charset="2"/>
              <a:buChar char="v"/>
            </a:pPr>
            <a:r>
              <a:rPr lang="en-IN" dirty="0"/>
              <a:t>It is also called as FTP Secure Sockets Layer (FTP SSL).</a:t>
            </a:r>
          </a:p>
          <a:p>
            <a:pPr>
              <a:buFont typeface="Wingdings" panose="05000000000000000000" pitchFamily="2" charset="2"/>
              <a:buChar char="v"/>
            </a:pPr>
            <a:r>
              <a:rPr lang="en-IN" dirty="0"/>
              <a:t> It is a more secure version of FTP data transfer. </a:t>
            </a:r>
          </a:p>
          <a:p>
            <a:pPr>
              <a:buFont typeface="Wingdings" panose="05000000000000000000" pitchFamily="2" charset="2"/>
              <a:buChar char="v"/>
            </a:pPr>
            <a:r>
              <a:rPr lang="en-IN" dirty="0"/>
              <a:t>Whenever FTP connection is established, Transport Layer Security (TLS) is enabled.</a:t>
            </a:r>
          </a:p>
          <a:p>
            <a:pPr>
              <a:buFont typeface="Wingdings" panose="05000000000000000000" pitchFamily="2" charset="2"/>
              <a:buChar char="v"/>
            </a:pPr>
            <a:endParaRPr lang="en-IN" dirty="0"/>
          </a:p>
        </p:txBody>
      </p:sp>
    </p:spTree>
    <p:extLst>
      <p:ext uri="{BB962C8B-B14F-4D97-AF65-F5344CB8AC3E}">
        <p14:creationId xmlns:p14="http://schemas.microsoft.com/office/powerpoint/2010/main" val="289992232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47FF8-12D1-4EA9-B3E1-66214165B3EC}"/>
              </a:ext>
            </a:extLst>
          </p:cNvPr>
          <p:cNvSpPr>
            <a:spLocks noGrp="1"/>
          </p:cNvSpPr>
          <p:nvPr>
            <p:ph type="title"/>
          </p:nvPr>
        </p:nvSpPr>
        <p:spPr>
          <a:xfrm>
            <a:off x="838200" y="365125"/>
            <a:ext cx="10515600" cy="755463"/>
          </a:xfrm>
        </p:spPr>
        <p:txBody>
          <a:bodyPr/>
          <a:lstStyle/>
          <a:p>
            <a:r>
              <a:rPr lang="en-IN" b="1" dirty="0"/>
              <a:t>FTP over Explicit SSL/TLS (FTPES):</a:t>
            </a:r>
            <a:r>
              <a:rPr lang="en-IN" dirty="0"/>
              <a:t> </a:t>
            </a:r>
          </a:p>
        </p:txBody>
      </p:sp>
      <p:sp>
        <p:nvSpPr>
          <p:cNvPr id="3" name="Content Placeholder 2">
            <a:extLst>
              <a:ext uri="{FF2B5EF4-FFF2-40B4-BE49-F238E27FC236}">
                <a16:creationId xmlns:a16="http://schemas.microsoft.com/office/drawing/2014/main" id="{CAB42FAD-3E1E-4C53-B751-D8332B1B32D6}"/>
              </a:ext>
            </a:extLst>
          </p:cNvPr>
          <p:cNvSpPr>
            <a:spLocks noGrp="1"/>
          </p:cNvSpPr>
          <p:nvPr>
            <p:ph idx="1"/>
          </p:nvPr>
        </p:nvSpPr>
        <p:spPr/>
        <p:txBody>
          <a:bodyPr/>
          <a:lstStyle/>
          <a:p>
            <a:pPr>
              <a:buFont typeface="Wingdings" panose="05000000000000000000" pitchFamily="2" charset="2"/>
              <a:buChar char="v"/>
            </a:pPr>
            <a:r>
              <a:rPr lang="en-IN" dirty="0"/>
              <a:t>FTPES helps by upgrading FTP Connection from port 21 to an encrypted connection.</a:t>
            </a:r>
          </a:p>
        </p:txBody>
      </p:sp>
    </p:spTree>
    <p:extLst>
      <p:ext uri="{BB962C8B-B14F-4D97-AF65-F5344CB8AC3E}">
        <p14:creationId xmlns:p14="http://schemas.microsoft.com/office/powerpoint/2010/main" val="188954729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5B0E2-6271-4E4D-9BFE-234528354681}"/>
              </a:ext>
            </a:extLst>
          </p:cNvPr>
          <p:cNvSpPr>
            <a:spLocks noGrp="1"/>
          </p:cNvSpPr>
          <p:nvPr>
            <p:ph type="title"/>
          </p:nvPr>
        </p:nvSpPr>
        <p:spPr/>
        <p:txBody>
          <a:bodyPr/>
          <a:lstStyle/>
          <a:p>
            <a:r>
              <a:rPr lang="en-IN" b="1" dirty="0"/>
              <a:t>Secure FTP (SFTP):</a:t>
            </a:r>
            <a:r>
              <a:rPr lang="en-IN" dirty="0"/>
              <a:t> </a:t>
            </a:r>
          </a:p>
        </p:txBody>
      </p:sp>
      <p:sp>
        <p:nvSpPr>
          <p:cNvPr id="3" name="Content Placeholder 2">
            <a:extLst>
              <a:ext uri="{FF2B5EF4-FFF2-40B4-BE49-F238E27FC236}">
                <a16:creationId xmlns:a16="http://schemas.microsoft.com/office/drawing/2014/main" id="{D28C2D97-58EF-466D-BC5D-A7B15C1BE399}"/>
              </a:ext>
            </a:extLst>
          </p:cNvPr>
          <p:cNvSpPr>
            <a:spLocks noGrp="1"/>
          </p:cNvSpPr>
          <p:nvPr>
            <p:ph idx="1"/>
          </p:nvPr>
        </p:nvSpPr>
        <p:spPr/>
        <p:txBody>
          <a:bodyPr/>
          <a:lstStyle/>
          <a:p>
            <a:pPr>
              <a:buFont typeface="Wingdings" panose="05000000000000000000" pitchFamily="2" charset="2"/>
              <a:buChar char="v"/>
            </a:pPr>
            <a:r>
              <a:rPr lang="en-IN" dirty="0"/>
              <a:t>SFTP is not a FTP Protocol, but it is a subset of Secure Shell Protocol, as it works on port 22.</a:t>
            </a:r>
          </a:p>
          <a:p>
            <a:pPr>
              <a:buFont typeface="Wingdings" panose="05000000000000000000" pitchFamily="2" charset="2"/>
              <a:buChar char="v"/>
            </a:pPr>
            <a:endParaRPr lang="en-IN" dirty="0"/>
          </a:p>
        </p:txBody>
      </p:sp>
    </p:spTree>
    <p:extLst>
      <p:ext uri="{BB962C8B-B14F-4D97-AF65-F5344CB8AC3E}">
        <p14:creationId xmlns:p14="http://schemas.microsoft.com/office/powerpoint/2010/main" val="73765544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22DDD-9D7A-48E1-A73C-2A87CCD63261}"/>
              </a:ext>
            </a:extLst>
          </p:cNvPr>
          <p:cNvSpPr>
            <a:spLocks noGrp="1"/>
          </p:cNvSpPr>
          <p:nvPr>
            <p:ph type="title"/>
          </p:nvPr>
        </p:nvSpPr>
        <p:spPr>
          <a:xfrm>
            <a:off x="836612" y="215153"/>
            <a:ext cx="3935413" cy="1586753"/>
          </a:xfrm>
        </p:spPr>
        <p:txBody>
          <a:bodyPr>
            <a:normAutofit fontScale="90000"/>
          </a:bodyPr>
          <a:lstStyle/>
          <a:p>
            <a:br>
              <a:rPr lang="en-IN" b="1" dirty="0"/>
            </a:br>
            <a:br>
              <a:rPr lang="en-IN" b="1" dirty="0"/>
            </a:br>
            <a:br>
              <a:rPr lang="en-IN" b="1" dirty="0"/>
            </a:br>
            <a:br>
              <a:rPr lang="en-IN" b="1" dirty="0"/>
            </a:br>
            <a:br>
              <a:rPr lang="en-IN" b="1" dirty="0"/>
            </a:br>
            <a:r>
              <a:rPr lang="en-IN" b="1" dirty="0"/>
              <a:t>What is FTP Useful For?</a:t>
            </a:r>
            <a:br>
              <a:rPr lang="en-IN" b="1" dirty="0"/>
            </a:br>
            <a:endParaRPr lang="en-IN" dirty="0"/>
          </a:p>
        </p:txBody>
      </p:sp>
      <p:pic>
        <p:nvPicPr>
          <p:cNvPr id="5" name="Content Placeholder 4">
            <a:extLst>
              <a:ext uri="{FF2B5EF4-FFF2-40B4-BE49-F238E27FC236}">
                <a16:creationId xmlns:a16="http://schemas.microsoft.com/office/drawing/2014/main" id="{3E859B32-34E8-4371-B9B2-63E575767B90}"/>
              </a:ext>
            </a:extLst>
          </p:cNvPr>
          <p:cNvPicPr>
            <a:picLocks noGrp="1" noChangeAspect="1"/>
          </p:cNvPicPr>
          <p:nvPr>
            <p:ph idx="1"/>
          </p:nvPr>
        </p:nvPicPr>
        <p:blipFill>
          <a:blip r:embed="rId2"/>
          <a:stretch>
            <a:fillRect/>
          </a:stretch>
        </p:blipFill>
        <p:spPr>
          <a:xfrm>
            <a:off x="6416675" y="2809875"/>
            <a:ext cx="3705225" cy="1228725"/>
          </a:xfrm>
          <a:prstGeom prst="rect">
            <a:avLst/>
          </a:prstGeom>
        </p:spPr>
      </p:pic>
      <p:sp>
        <p:nvSpPr>
          <p:cNvPr id="4" name="Text Placeholder 3">
            <a:extLst>
              <a:ext uri="{FF2B5EF4-FFF2-40B4-BE49-F238E27FC236}">
                <a16:creationId xmlns:a16="http://schemas.microsoft.com/office/drawing/2014/main" id="{6CCCFAE1-3723-4092-83A1-C50138ECA541}"/>
              </a:ext>
            </a:extLst>
          </p:cNvPr>
          <p:cNvSpPr>
            <a:spLocks noGrp="1"/>
          </p:cNvSpPr>
          <p:nvPr>
            <p:ph type="body" sz="half" idx="2"/>
          </p:nvPr>
        </p:nvSpPr>
        <p:spPr>
          <a:xfrm>
            <a:off x="836612" y="1515034"/>
            <a:ext cx="5492470" cy="4353953"/>
          </a:xfrm>
        </p:spPr>
        <p:txBody>
          <a:bodyPr/>
          <a:lstStyle/>
          <a:p>
            <a:endParaRPr lang="en-US" b="1" dirty="0"/>
          </a:p>
          <a:p>
            <a:endParaRPr lang="en-US" b="1" dirty="0"/>
          </a:p>
          <a:p>
            <a:endParaRPr lang="en-US" b="1" dirty="0"/>
          </a:p>
          <a:p>
            <a:endParaRPr lang="en-IN" b="1" dirty="0"/>
          </a:p>
          <a:p>
            <a:pPr marL="285750" indent="-285750">
              <a:buFont typeface="Wingdings" panose="05000000000000000000" pitchFamily="2" charset="2"/>
              <a:buChar char="Ø"/>
            </a:pPr>
            <a:r>
              <a:rPr lang="en-IN" b="1" dirty="0"/>
              <a:t>Transferring Large Files</a:t>
            </a:r>
          </a:p>
          <a:p>
            <a:pPr marL="285750" indent="-285750">
              <a:buFont typeface="Wingdings" panose="05000000000000000000" pitchFamily="2" charset="2"/>
              <a:buChar char="Ø"/>
            </a:pPr>
            <a:r>
              <a:rPr lang="en-IN" b="1" dirty="0"/>
              <a:t>Remote File Management</a:t>
            </a:r>
          </a:p>
          <a:p>
            <a:pPr marL="285750" indent="-285750">
              <a:buFont typeface="Wingdings" panose="05000000000000000000" pitchFamily="2" charset="2"/>
              <a:buChar char="Ø"/>
            </a:pPr>
            <a:r>
              <a:rPr lang="en-IN" b="1" dirty="0"/>
              <a:t>Automating File Transfers</a:t>
            </a:r>
          </a:p>
          <a:p>
            <a:pPr marL="285750" indent="-285750">
              <a:buFont typeface="Wingdings" panose="05000000000000000000" pitchFamily="2" charset="2"/>
              <a:buChar char="Ø"/>
            </a:pPr>
            <a:r>
              <a:rPr lang="en-IN" b="1" dirty="0"/>
              <a:t>Accessing Public Files</a:t>
            </a:r>
            <a:endParaRPr lang="en-IN" dirty="0"/>
          </a:p>
        </p:txBody>
      </p:sp>
    </p:spTree>
    <p:extLst>
      <p:ext uri="{BB962C8B-B14F-4D97-AF65-F5344CB8AC3E}">
        <p14:creationId xmlns:p14="http://schemas.microsoft.com/office/powerpoint/2010/main" val="216497174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969BC-CEFF-4B42-92D1-39983651EA8C}"/>
              </a:ext>
            </a:extLst>
          </p:cNvPr>
          <p:cNvSpPr>
            <a:spLocks noGrp="1"/>
          </p:cNvSpPr>
          <p:nvPr>
            <p:ph type="title"/>
          </p:nvPr>
        </p:nvSpPr>
        <p:spPr>
          <a:xfrm>
            <a:off x="838200" y="365125"/>
            <a:ext cx="10515600" cy="629957"/>
          </a:xfrm>
        </p:spPr>
        <p:txBody>
          <a:bodyPr>
            <a:normAutofit fontScale="90000"/>
          </a:bodyPr>
          <a:lstStyle/>
          <a:p>
            <a:br>
              <a:rPr lang="en-IN" b="1" dirty="0"/>
            </a:br>
            <a:r>
              <a:rPr lang="en-IN" b="1" dirty="0"/>
              <a:t>How to Use FTP?</a:t>
            </a:r>
            <a:br>
              <a:rPr lang="en-IN" b="1" dirty="0"/>
            </a:br>
            <a:endParaRPr lang="en-IN" dirty="0"/>
          </a:p>
        </p:txBody>
      </p:sp>
      <p:sp>
        <p:nvSpPr>
          <p:cNvPr id="3" name="Content Placeholder 2">
            <a:extLst>
              <a:ext uri="{FF2B5EF4-FFF2-40B4-BE49-F238E27FC236}">
                <a16:creationId xmlns:a16="http://schemas.microsoft.com/office/drawing/2014/main" id="{5D2CE488-4A23-4098-A4A2-45F073D470AA}"/>
              </a:ext>
            </a:extLst>
          </p:cNvPr>
          <p:cNvSpPr>
            <a:spLocks noGrp="1"/>
          </p:cNvSpPr>
          <p:nvPr>
            <p:ph idx="1"/>
          </p:nvPr>
        </p:nvSpPr>
        <p:spPr>
          <a:xfrm>
            <a:off x="838200" y="1138518"/>
            <a:ext cx="10515600" cy="5038445"/>
          </a:xfrm>
        </p:spPr>
        <p:txBody>
          <a:bodyPr>
            <a:normAutofit/>
          </a:bodyPr>
          <a:lstStyle/>
          <a:p>
            <a:pPr marL="0" indent="0" fontAlgn="base">
              <a:buNone/>
            </a:pPr>
            <a:r>
              <a:rPr lang="en-IN" sz="2200" dirty="0"/>
              <a:t>To use FTP, follow these steps:</a:t>
            </a:r>
          </a:p>
          <a:p>
            <a:pPr lvl="0" fontAlgn="base"/>
            <a:r>
              <a:rPr lang="en-IN" sz="2200" b="1" dirty="0"/>
              <a:t>Connect to the FTP Server:</a:t>
            </a:r>
            <a:r>
              <a:rPr lang="en-IN" sz="2200" dirty="0"/>
              <a:t> One can connect to the server using the address, username and password through an FTP client or a command line interface. Anonymous Information may not need a username and password.</a:t>
            </a:r>
          </a:p>
          <a:p>
            <a:pPr lvl="0" fontAlgn="base"/>
            <a:r>
              <a:rPr lang="en-IN" sz="2200" b="1" dirty="0"/>
              <a:t>Navigate Directories:</a:t>
            </a:r>
            <a:r>
              <a:rPr lang="en-IN" sz="2200" dirty="0"/>
              <a:t> Some commands include ls that is used to list directories and cd that is used to change directories.</a:t>
            </a:r>
          </a:p>
          <a:p>
            <a:pPr lvl="0" fontAlgn="base"/>
            <a:r>
              <a:rPr lang="en-IN" sz="2200" b="1" dirty="0"/>
              <a:t>Transfer Files:</a:t>
            </a:r>
            <a:r>
              <a:rPr lang="en-IN" sz="2200" dirty="0"/>
              <a:t> File transfer may be done by using the commands such as get for downloading files, and put for uploading files.</a:t>
            </a:r>
          </a:p>
          <a:p>
            <a:pPr lvl="0" fontAlgn="base"/>
            <a:r>
              <a:rPr lang="en-IN" sz="2200" b="1" dirty="0"/>
              <a:t>Manage Files:</a:t>
            </a:r>
            <a:r>
              <a:rPr lang="en-IN" sz="2200" dirty="0"/>
              <a:t> Make operations like deletion (Delete), renaming (Rename) as well as copying (Copy) of files.</a:t>
            </a:r>
          </a:p>
          <a:p>
            <a:pPr lvl="0" fontAlgn="base"/>
            <a:r>
              <a:rPr lang="en-IN" sz="2200" b="1" dirty="0"/>
              <a:t>Close the Connection:</a:t>
            </a:r>
            <a:r>
              <a:rPr lang="en-IN" sz="2200" dirty="0"/>
              <a:t> Once file transfer has been accomplished, terminate the connection by giving the bye or quit command.</a:t>
            </a:r>
          </a:p>
          <a:p>
            <a:pPr marL="0" indent="0">
              <a:buNone/>
            </a:pPr>
            <a:endParaRPr lang="en-IN" dirty="0"/>
          </a:p>
        </p:txBody>
      </p:sp>
    </p:spTree>
    <p:extLst>
      <p:ext uri="{BB962C8B-B14F-4D97-AF65-F5344CB8AC3E}">
        <p14:creationId xmlns:p14="http://schemas.microsoft.com/office/powerpoint/2010/main" val="128931515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F6B03-73FE-494C-B0AF-232CE13D8015}"/>
              </a:ext>
            </a:extLst>
          </p:cNvPr>
          <p:cNvSpPr>
            <a:spLocks noGrp="1"/>
          </p:cNvSpPr>
          <p:nvPr>
            <p:ph type="title"/>
          </p:nvPr>
        </p:nvSpPr>
        <p:spPr>
          <a:xfrm>
            <a:off x="838200" y="365125"/>
            <a:ext cx="10515600" cy="620993"/>
          </a:xfrm>
        </p:spPr>
        <p:txBody>
          <a:bodyPr>
            <a:noAutofit/>
          </a:bodyPr>
          <a:lstStyle/>
          <a:p>
            <a:br>
              <a:rPr lang="en-IN" sz="3200" b="1" dirty="0"/>
            </a:br>
            <a:r>
              <a:rPr lang="en-IN" sz="3200" b="1" dirty="0"/>
              <a:t>Types of Connection in FTP</a:t>
            </a:r>
            <a:br>
              <a:rPr lang="en-IN" sz="3200" b="1" dirty="0"/>
            </a:br>
            <a:endParaRPr lang="en-IN" sz="3200" dirty="0"/>
          </a:p>
        </p:txBody>
      </p:sp>
      <p:sp>
        <p:nvSpPr>
          <p:cNvPr id="3" name="Content Placeholder 2">
            <a:extLst>
              <a:ext uri="{FF2B5EF4-FFF2-40B4-BE49-F238E27FC236}">
                <a16:creationId xmlns:a16="http://schemas.microsoft.com/office/drawing/2014/main" id="{EFFAE4A6-C2E6-4640-9D7E-4355A2C08A5A}"/>
              </a:ext>
            </a:extLst>
          </p:cNvPr>
          <p:cNvSpPr>
            <a:spLocks noGrp="1"/>
          </p:cNvSpPr>
          <p:nvPr>
            <p:ph idx="1"/>
          </p:nvPr>
        </p:nvSpPr>
        <p:spPr>
          <a:xfrm>
            <a:off x="838200" y="1281953"/>
            <a:ext cx="10515600" cy="4895010"/>
          </a:xfrm>
        </p:spPr>
        <p:txBody>
          <a:bodyPr>
            <a:normAutofit/>
          </a:bodyPr>
          <a:lstStyle/>
          <a:p>
            <a:pPr marL="0" lvl="0" indent="0" fontAlgn="base">
              <a:buNone/>
            </a:pPr>
            <a:r>
              <a:rPr lang="en-IN" dirty="0"/>
              <a:t>1. Control Connection</a:t>
            </a:r>
          </a:p>
          <a:p>
            <a:pPr marL="0" lvl="0" indent="0" fontAlgn="base">
              <a:buNone/>
            </a:pPr>
            <a:r>
              <a:rPr lang="en-IN" dirty="0"/>
              <a:t>2. Data Connection</a:t>
            </a:r>
          </a:p>
        </p:txBody>
      </p:sp>
      <p:pic>
        <p:nvPicPr>
          <p:cNvPr id="4" name="Picture 3">
            <a:extLst>
              <a:ext uri="{FF2B5EF4-FFF2-40B4-BE49-F238E27FC236}">
                <a16:creationId xmlns:a16="http://schemas.microsoft.com/office/drawing/2014/main" id="{2E991224-F07E-4AB3-897A-D761BBCA6615}"/>
              </a:ext>
            </a:extLst>
          </p:cNvPr>
          <p:cNvPicPr>
            <a:picLocks noChangeAspect="1"/>
          </p:cNvPicPr>
          <p:nvPr/>
        </p:nvPicPr>
        <p:blipFill>
          <a:blip r:embed="rId2"/>
          <a:stretch>
            <a:fillRect/>
          </a:stretch>
        </p:blipFill>
        <p:spPr>
          <a:xfrm>
            <a:off x="2217619" y="2408692"/>
            <a:ext cx="6271957" cy="3135978"/>
          </a:xfrm>
          <a:prstGeom prst="rect">
            <a:avLst/>
          </a:prstGeom>
        </p:spPr>
      </p:pic>
    </p:spTree>
    <p:extLst>
      <p:ext uri="{BB962C8B-B14F-4D97-AF65-F5344CB8AC3E}">
        <p14:creationId xmlns:p14="http://schemas.microsoft.com/office/powerpoint/2010/main" val="214047010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C39E63C-962A-4F57-B0FF-E03DC7297947}"/>
              </a:ext>
            </a:extLst>
          </p:cNvPr>
          <p:cNvSpPr/>
          <p:nvPr/>
        </p:nvSpPr>
        <p:spPr>
          <a:xfrm>
            <a:off x="860611" y="1057834"/>
            <a:ext cx="8758517" cy="2862322"/>
          </a:xfrm>
          <a:prstGeom prst="rect">
            <a:avLst/>
          </a:prstGeom>
        </p:spPr>
        <p:txBody>
          <a:bodyPr wrap="square">
            <a:spAutoFit/>
          </a:bodyPr>
          <a:lstStyle/>
          <a:p>
            <a:pPr fontAlgn="base"/>
            <a:r>
              <a:rPr lang="en-IN" b="1" dirty="0"/>
              <a:t>Control Connection</a:t>
            </a:r>
          </a:p>
          <a:p>
            <a:pPr fontAlgn="base">
              <a:buFont typeface="Wingdings" panose="05000000000000000000" pitchFamily="2" charset="2"/>
              <a:buChar char="Ø"/>
            </a:pPr>
            <a:r>
              <a:rPr lang="en-IN" dirty="0"/>
              <a:t>For sending control information like user identification, password, commands to change the remote directory, commands to retrieve and store files, etc.,</a:t>
            </a:r>
          </a:p>
          <a:p>
            <a:pPr fontAlgn="base">
              <a:buFont typeface="Wingdings" panose="05000000000000000000" pitchFamily="2" charset="2"/>
              <a:buChar char="Ø"/>
            </a:pPr>
            <a:r>
              <a:rPr lang="en-IN" dirty="0"/>
              <a:t> FTP makes use of a control connection. The control connection is initiated on port number 21. </a:t>
            </a:r>
          </a:p>
          <a:p>
            <a:pPr fontAlgn="base"/>
            <a:endParaRPr lang="en-IN" dirty="0"/>
          </a:p>
          <a:p>
            <a:pPr fontAlgn="base"/>
            <a:r>
              <a:rPr lang="en-IN" b="1" dirty="0"/>
              <a:t>Data connection</a:t>
            </a:r>
          </a:p>
          <a:p>
            <a:pPr>
              <a:buFont typeface="Wingdings" panose="05000000000000000000" pitchFamily="2" charset="2"/>
              <a:buChar char="Ø"/>
            </a:pPr>
            <a:r>
              <a:rPr lang="en-IN" dirty="0"/>
              <a:t>For sending the actual file, FTP makes use of a data connection. A data connection is initiated on port number 20. </a:t>
            </a:r>
          </a:p>
          <a:p>
            <a:pPr>
              <a:buFont typeface="Wingdings" panose="05000000000000000000" pitchFamily="2" charset="2"/>
              <a:buChar char="Ø"/>
            </a:pPr>
            <a:r>
              <a:rPr lang="en-IN" dirty="0"/>
              <a:t>FTP sends the control information out-of-band as it uses a separate control </a:t>
            </a:r>
          </a:p>
        </p:txBody>
      </p:sp>
    </p:spTree>
    <p:extLst>
      <p:ext uri="{BB962C8B-B14F-4D97-AF65-F5344CB8AC3E}">
        <p14:creationId xmlns:p14="http://schemas.microsoft.com/office/powerpoint/2010/main" val="83460614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5132B-962F-4AD3-A1D4-DC8527529E84}"/>
              </a:ext>
            </a:extLst>
          </p:cNvPr>
          <p:cNvSpPr>
            <a:spLocks noGrp="1"/>
          </p:cNvSpPr>
          <p:nvPr>
            <p:ph type="title"/>
          </p:nvPr>
        </p:nvSpPr>
        <p:spPr>
          <a:xfrm>
            <a:off x="838200" y="365126"/>
            <a:ext cx="10515600" cy="540310"/>
          </a:xfrm>
        </p:spPr>
        <p:txBody>
          <a:bodyPr>
            <a:normAutofit fontScale="90000"/>
          </a:bodyPr>
          <a:lstStyle/>
          <a:p>
            <a:br>
              <a:rPr lang="en-IN" sz="3200" b="1" dirty="0"/>
            </a:br>
            <a:r>
              <a:rPr lang="en-IN" sz="3200" b="1" dirty="0"/>
              <a:t>Characteristics of FTP </a:t>
            </a:r>
            <a:br>
              <a:rPr lang="en-IN" sz="3200" b="1" dirty="0"/>
            </a:br>
            <a:endParaRPr lang="en-IN" sz="3200" dirty="0"/>
          </a:p>
        </p:txBody>
      </p:sp>
      <p:sp>
        <p:nvSpPr>
          <p:cNvPr id="3" name="Content Placeholder 2">
            <a:extLst>
              <a:ext uri="{FF2B5EF4-FFF2-40B4-BE49-F238E27FC236}">
                <a16:creationId xmlns:a16="http://schemas.microsoft.com/office/drawing/2014/main" id="{48D0A8A9-77A6-404F-9748-9FE60227431E}"/>
              </a:ext>
            </a:extLst>
          </p:cNvPr>
          <p:cNvSpPr>
            <a:spLocks noGrp="1"/>
          </p:cNvSpPr>
          <p:nvPr>
            <p:ph idx="1"/>
          </p:nvPr>
        </p:nvSpPr>
        <p:spPr>
          <a:xfrm>
            <a:off x="699247" y="1102659"/>
            <a:ext cx="10654553" cy="5074304"/>
          </a:xfrm>
        </p:spPr>
        <p:txBody>
          <a:bodyPr/>
          <a:lstStyle/>
          <a:p>
            <a:pPr lvl="0" fontAlgn="base"/>
            <a:r>
              <a:rPr lang="en-IN" sz="2000" dirty="0"/>
              <a:t>FTP uses TCP as a transport layer protocol.</a:t>
            </a:r>
          </a:p>
          <a:p>
            <a:pPr lvl="0" fontAlgn="base"/>
            <a:r>
              <a:rPr lang="en-IN" sz="2000" dirty="0"/>
              <a:t>It is good for simple file transfers, such as during boot time.</a:t>
            </a:r>
          </a:p>
          <a:p>
            <a:pPr lvl="0" fontAlgn="base"/>
            <a:r>
              <a:rPr lang="en-IN" sz="2000" dirty="0"/>
              <a:t>Errors in the transmission (lost packets, checksum errors) must be handled by the TFTP server.</a:t>
            </a:r>
          </a:p>
          <a:p>
            <a:pPr lvl="0" fontAlgn="base"/>
            <a:r>
              <a:rPr lang="en-IN" sz="2000" dirty="0"/>
              <a:t>It uses only one connection through well-known port 69.</a:t>
            </a:r>
          </a:p>
          <a:p>
            <a:pPr lvl="0" fontAlgn="base"/>
            <a:r>
              <a:rPr lang="en-IN" sz="2000" u="sng" dirty="0">
                <a:hlinkClick r:id="rId2"/>
              </a:rPr>
              <a:t>TFTP</a:t>
            </a:r>
            <a:r>
              <a:rPr lang="en-IN" sz="2000" dirty="0"/>
              <a:t> uses a simple lock-step protocol (each data packet needs to be acknowledged). Thus the throughput is limited.</a:t>
            </a:r>
          </a:p>
          <a:p>
            <a:endParaRPr lang="en-IN" dirty="0"/>
          </a:p>
        </p:txBody>
      </p:sp>
    </p:spTree>
    <p:extLst>
      <p:ext uri="{BB962C8B-B14F-4D97-AF65-F5344CB8AC3E}">
        <p14:creationId xmlns:p14="http://schemas.microsoft.com/office/powerpoint/2010/main" val="383232200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898A3-A29B-4292-B84A-6AFD1A58276C}"/>
              </a:ext>
            </a:extLst>
          </p:cNvPr>
          <p:cNvSpPr>
            <a:spLocks noGrp="1"/>
          </p:cNvSpPr>
          <p:nvPr>
            <p:ph type="title"/>
          </p:nvPr>
        </p:nvSpPr>
        <p:spPr>
          <a:xfrm>
            <a:off x="838200" y="365125"/>
            <a:ext cx="10515600" cy="549275"/>
          </a:xfrm>
        </p:spPr>
        <p:txBody>
          <a:bodyPr>
            <a:normAutofit fontScale="90000"/>
          </a:bodyPr>
          <a:lstStyle/>
          <a:p>
            <a:r>
              <a:rPr lang="en-IN" dirty="0"/>
              <a:t>Advantages of FTP</a:t>
            </a:r>
          </a:p>
        </p:txBody>
      </p:sp>
      <p:sp>
        <p:nvSpPr>
          <p:cNvPr id="3" name="Content Placeholder 2">
            <a:extLst>
              <a:ext uri="{FF2B5EF4-FFF2-40B4-BE49-F238E27FC236}">
                <a16:creationId xmlns:a16="http://schemas.microsoft.com/office/drawing/2014/main" id="{550DB54C-57BD-4212-8CAC-97E133073844}"/>
              </a:ext>
            </a:extLst>
          </p:cNvPr>
          <p:cNvSpPr>
            <a:spLocks noGrp="1"/>
          </p:cNvSpPr>
          <p:nvPr>
            <p:ph idx="1"/>
          </p:nvPr>
        </p:nvSpPr>
        <p:spPr>
          <a:xfrm>
            <a:off x="932328" y="1039906"/>
            <a:ext cx="10421471" cy="5137057"/>
          </a:xfrm>
        </p:spPr>
        <p:txBody>
          <a:bodyPr>
            <a:normAutofit/>
          </a:bodyPr>
          <a:lstStyle/>
          <a:p>
            <a:pPr lvl="0" fontAlgn="base"/>
            <a:endParaRPr lang="en-IN" sz="2000" b="1" dirty="0"/>
          </a:p>
          <a:p>
            <a:pPr lvl="0" fontAlgn="base"/>
            <a:r>
              <a:rPr lang="en-IN" sz="2000" b="1" dirty="0"/>
              <a:t>Multiple transfers:</a:t>
            </a:r>
            <a:r>
              <a:rPr lang="en-IN" sz="2000" dirty="0"/>
              <a:t> FTP helps to transfer multiple large files in between the systems.</a:t>
            </a:r>
          </a:p>
          <a:p>
            <a:pPr lvl="0" fontAlgn="base"/>
            <a:r>
              <a:rPr lang="en-IN" sz="2000" b="1" dirty="0"/>
              <a:t>Efficiency: </a:t>
            </a:r>
            <a:r>
              <a:rPr lang="en-IN" sz="2000" dirty="0"/>
              <a:t>FTP helps to organize files in an efficient manner and transfer them efficiently over the network.</a:t>
            </a:r>
          </a:p>
          <a:p>
            <a:pPr lvl="0" fontAlgn="base"/>
            <a:r>
              <a:rPr lang="en-IN" sz="2000" b="1" dirty="0"/>
              <a:t>Security:</a:t>
            </a:r>
            <a:r>
              <a:rPr lang="en-IN" sz="2000" dirty="0"/>
              <a:t> FTP provides access to any user only through user ID and password. Moreover, the server can create multiple levels of access.</a:t>
            </a:r>
          </a:p>
          <a:p>
            <a:pPr lvl="0" fontAlgn="base"/>
            <a:r>
              <a:rPr lang="en-IN" sz="2000" b="1" dirty="0"/>
              <a:t>Continuous transfer:</a:t>
            </a:r>
            <a:r>
              <a:rPr lang="en-IN" sz="2000" dirty="0"/>
              <a:t> If the transfer of the file is interrupted by any means, then the user can resume the file transfer whenever the connection is established.</a:t>
            </a:r>
          </a:p>
          <a:p>
            <a:pPr lvl="0" fontAlgn="base"/>
            <a:r>
              <a:rPr lang="en-IN" sz="2000" b="1" dirty="0"/>
              <a:t>Simple: </a:t>
            </a:r>
            <a:r>
              <a:rPr lang="en-IN" sz="2000" dirty="0"/>
              <a:t>FTP is very simple to implement and use, thus it is a widely used connection.</a:t>
            </a:r>
          </a:p>
          <a:p>
            <a:r>
              <a:rPr lang="en-IN" sz="2000" b="1" dirty="0"/>
              <a:t>Speed:</a:t>
            </a:r>
            <a:r>
              <a:rPr lang="en-IN" sz="2000" dirty="0"/>
              <a:t> It is the fastest way to transfer files from one computer to another</a:t>
            </a:r>
          </a:p>
        </p:txBody>
      </p:sp>
    </p:spTree>
    <p:extLst>
      <p:ext uri="{BB962C8B-B14F-4D97-AF65-F5344CB8AC3E}">
        <p14:creationId xmlns:p14="http://schemas.microsoft.com/office/powerpoint/2010/main" val="71983957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A9226-B3FE-4B64-8CC2-E11C22675C27}"/>
              </a:ext>
            </a:extLst>
          </p:cNvPr>
          <p:cNvSpPr>
            <a:spLocks noGrp="1"/>
          </p:cNvSpPr>
          <p:nvPr>
            <p:ph type="title"/>
          </p:nvPr>
        </p:nvSpPr>
        <p:spPr>
          <a:xfrm>
            <a:off x="838200" y="365125"/>
            <a:ext cx="10515600" cy="647887"/>
          </a:xfrm>
        </p:spPr>
        <p:txBody>
          <a:bodyPr>
            <a:normAutofit fontScale="90000"/>
          </a:bodyPr>
          <a:lstStyle/>
          <a:p>
            <a:br>
              <a:rPr lang="en-IN" b="1" dirty="0"/>
            </a:br>
            <a:r>
              <a:rPr lang="en-IN" sz="3600" b="1" dirty="0"/>
              <a:t>Disadvantages of FTP</a:t>
            </a:r>
            <a:br>
              <a:rPr lang="en-IN" sz="3600" b="1" dirty="0"/>
            </a:br>
            <a:endParaRPr lang="en-IN" sz="3600" dirty="0"/>
          </a:p>
        </p:txBody>
      </p:sp>
      <p:sp>
        <p:nvSpPr>
          <p:cNvPr id="3" name="Content Placeholder 2">
            <a:extLst>
              <a:ext uri="{FF2B5EF4-FFF2-40B4-BE49-F238E27FC236}">
                <a16:creationId xmlns:a16="http://schemas.microsoft.com/office/drawing/2014/main" id="{C73502C3-D404-4D89-8DFB-A0CF40FF2A26}"/>
              </a:ext>
            </a:extLst>
          </p:cNvPr>
          <p:cNvSpPr>
            <a:spLocks noGrp="1"/>
          </p:cNvSpPr>
          <p:nvPr>
            <p:ph idx="1"/>
          </p:nvPr>
        </p:nvSpPr>
        <p:spPr>
          <a:xfrm>
            <a:off x="838200" y="1192306"/>
            <a:ext cx="10515600" cy="4984657"/>
          </a:xfrm>
        </p:spPr>
        <p:txBody>
          <a:bodyPr/>
          <a:lstStyle/>
          <a:p>
            <a:pPr lvl="0" fontAlgn="base"/>
            <a:r>
              <a:rPr lang="en-IN" sz="2000" b="1" dirty="0"/>
              <a:t>Less security:</a:t>
            </a:r>
            <a:r>
              <a:rPr lang="en-IN" sz="2000" dirty="0"/>
              <a:t> FTP does not provide an encryption facility when transferring files. Moreover, the username and passwords are in plain text and not a combination of symbols, digits, and alphabets, which makes it easier to be attacked by hackers.</a:t>
            </a:r>
          </a:p>
          <a:p>
            <a:pPr lvl="0" fontAlgn="base"/>
            <a:r>
              <a:rPr lang="en-IN" sz="2000" b="1" dirty="0"/>
              <a:t>Old technology: </a:t>
            </a:r>
            <a:r>
              <a:rPr lang="en-IN" sz="2000" dirty="0"/>
              <a:t>FTP is one of the oldest protocols and thus it uses multiple TCP/IP connections to transfer files. These connections are hindered by firewalls.</a:t>
            </a:r>
          </a:p>
          <a:p>
            <a:pPr lvl="0" fontAlgn="base"/>
            <a:r>
              <a:rPr lang="en-IN" sz="2000" b="1" dirty="0"/>
              <a:t>Virus: </a:t>
            </a:r>
            <a:r>
              <a:rPr lang="en-IN" sz="2000" dirty="0"/>
              <a:t>The FTP connection is difficult to be scanned for viruses, which again increases the risk of vulnerability.</a:t>
            </a:r>
          </a:p>
          <a:p>
            <a:pPr lvl="0" fontAlgn="base"/>
            <a:r>
              <a:rPr lang="en-IN" sz="2000" b="1" dirty="0"/>
              <a:t>Limited: </a:t>
            </a:r>
            <a:r>
              <a:rPr lang="en-IN" sz="2000" dirty="0"/>
              <a:t>The FTP provides very limited user permission and mobile device access</a:t>
            </a:r>
            <a:r>
              <a:rPr lang="en-IN" dirty="0"/>
              <a:t>.</a:t>
            </a:r>
          </a:p>
          <a:p>
            <a:pPr lvl="0" fontAlgn="base"/>
            <a:r>
              <a:rPr lang="en-IN" sz="2000" b="1" dirty="0"/>
              <a:t>Memory and programming:</a:t>
            </a:r>
            <a:r>
              <a:rPr lang="en-IN" sz="2000" dirty="0"/>
              <a:t> FTP requires more memory and programming efforts, as it is very difficult to find errors without the commands.</a:t>
            </a:r>
          </a:p>
          <a:p>
            <a:pPr fontAlgn="base"/>
            <a:endParaRPr lang="en-IN" sz="2000" dirty="0"/>
          </a:p>
          <a:p>
            <a:pPr lvl="0" fontAlgn="base"/>
            <a:endParaRPr lang="en-IN" dirty="0"/>
          </a:p>
          <a:p>
            <a:pPr marL="0" indent="0">
              <a:buNone/>
            </a:pPr>
            <a:endParaRPr lang="en-IN" dirty="0"/>
          </a:p>
        </p:txBody>
      </p:sp>
    </p:spTree>
    <p:extLst>
      <p:ext uri="{BB962C8B-B14F-4D97-AF65-F5344CB8AC3E}">
        <p14:creationId xmlns:p14="http://schemas.microsoft.com/office/powerpoint/2010/main" val="174300460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192C9-228E-4395-B6A9-F23222B5CB7A}"/>
              </a:ext>
            </a:extLst>
          </p:cNvPr>
          <p:cNvSpPr>
            <a:spLocks noGrp="1"/>
          </p:cNvSpPr>
          <p:nvPr>
            <p:ph type="title"/>
          </p:nvPr>
        </p:nvSpPr>
        <p:spPr>
          <a:xfrm>
            <a:off x="753035" y="365126"/>
            <a:ext cx="10600765" cy="531346"/>
          </a:xfrm>
        </p:spPr>
        <p:txBody>
          <a:bodyPr>
            <a:normAutofit fontScale="90000"/>
          </a:bodyPr>
          <a:lstStyle/>
          <a:p>
            <a:pPr fontAlgn="base"/>
            <a:br>
              <a:rPr lang="en-IN" b="1" dirty="0"/>
            </a:br>
            <a:br>
              <a:rPr lang="en-IN" b="1" dirty="0"/>
            </a:br>
            <a:r>
              <a:rPr lang="en-IN" sz="3600" b="1" dirty="0"/>
              <a:t>Simple Mail Transfer Protocol (SMTP)</a:t>
            </a:r>
            <a:br>
              <a:rPr lang="en-IN" sz="3600" b="1" dirty="0"/>
            </a:br>
            <a:r>
              <a:rPr lang="en-IN" dirty="0"/>
              <a:t> </a:t>
            </a:r>
            <a:br>
              <a:rPr lang="en-IN" dirty="0"/>
            </a:br>
            <a:endParaRPr lang="en-IN" dirty="0"/>
          </a:p>
        </p:txBody>
      </p:sp>
      <p:sp>
        <p:nvSpPr>
          <p:cNvPr id="3" name="Content Placeholder 2">
            <a:extLst>
              <a:ext uri="{FF2B5EF4-FFF2-40B4-BE49-F238E27FC236}">
                <a16:creationId xmlns:a16="http://schemas.microsoft.com/office/drawing/2014/main" id="{DF62300B-74F0-4F26-8F1E-F096778DDB37}"/>
              </a:ext>
            </a:extLst>
          </p:cNvPr>
          <p:cNvSpPr>
            <a:spLocks noGrp="1"/>
          </p:cNvSpPr>
          <p:nvPr>
            <p:ph idx="1"/>
          </p:nvPr>
        </p:nvSpPr>
        <p:spPr>
          <a:xfrm>
            <a:off x="645459" y="896472"/>
            <a:ext cx="10708341" cy="5280491"/>
          </a:xfrm>
        </p:spPr>
        <p:txBody>
          <a:bodyPr/>
          <a:lstStyle/>
          <a:p>
            <a:r>
              <a:rPr lang="en-IN" b="1" dirty="0"/>
              <a:t>Simple Mail Transfer Protocol (SMTP)</a:t>
            </a:r>
            <a:r>
              <a:rPr lang="en-IN" dirty="0"/>
              <a:t> is an application layer protocol used for exchanging email messages between servers. </a:t>
            </a:r>
          </a:p>
          <a:p>
            <a:r>
              <a:rPr lang="en-IN" dirty="0"/>
              <a:t>It is essential in the email communication process and operates at the application layer of the TCP/IP stack.</a:t>
            </a:r>
          </a:p>
          <a:p>
            <a:endParaRPr lang="en-IN" dirty="0"/>
          </a:p>
        </p:txBody>
      </p:sp>
    </p:spTree>
    <p:extLst>
      <p:ext uri="{BB962C8B-B14F-4D97-AF65-F5344CB8AC3E}">
        <p14:creationId xmlns:p14="http://schemas.microsoft.com/office/powerpoint/2010/main" val="268031845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44BE1-537D-446E-AB9D-B9F75E182965}"/>
              </a:ext>
            </a:extLst>
          </p:cNvPr>
          <p:cNvSpPr>
            <a:spLocks noGrp="1"/>
          </p:cNvSpPr>
          <p:nvPr>
            <p:ph type="title"/>
          </p:nvPr>
        </p:nvSpPr>
        <p:spPr>
          <a:xfrm>
            <a:off x="838200" y="571314"/>
            <a:ext cx="10910047" cy="298262"/>
          </a:xfrm>
        </p:spPr>
        <p:txBody>
          <a:bodyPr>
            <a:normAutofit/>
          </a:bodyPr>
          <a:lstStyle/>
          <a:p>
            <a:r>
              <a:rPr lang="en-US" sz="1200" dirty="0"/>
              <a:t>Continued…</a:t>
            </a:r>
            <a:endParaRPr lang="en-IN" sz="1200" dirty="0"/>
          </a:p>
        </p:txBody>
      </p:sp>
      <p:sp>
        <p:nvSpPr>
          <p:cNvPr id="3" name="Content Placeholder 2">
            <a:extLst>
              <a:ext uri="{FF2B5EF4-FFF2-40B4-BE49-F238E27FC236}">
                <a16:creationId xmlns:a16="http://schemas.microsoft.com/office/drawing/2014/main" id="{FC5A4008-094A-4B80-B6C5-51E358B0E41D}"/>
              </a:ext>
            </a:extLst>
          </p:cNvPr>
          <p:cNvSpPr>
            <a:spLocks noGrp="1"/>
          </p:cNvSpPr>
          <p:nvPr>
            <p:ph idx="1"/>
          </p:nvPr>
        </p:nvSpPr>
        <p:spPr>
          <a:xfrm>
            <a:off x="753035" y="986118"/>
            <a:ext cx="10600765" cy="5190845"/>
          </a:xfrm>
        </p:spPr>
        <p:txBody>
          <a:bodyPr/>
          <a:lstStyle/>
          <a:p>
            <a:r>
              <a:rPr lang="en-IN" sz="1800" dirty="0"/>
              <a:t>To send an email, the client opens a TCP connection to the SMTP server. </a:t>
            </a:r>
          </a:p>
          <a:p>
            <a:r>
              <a:rPr lang="en-IN" sz="1800" dirty="0"/>
              <a:t>The server, which is always listening on port 25, initiates the connection as soon as it detects a client. </a:t>
            </a:r>
          </a:p>
          <a:p>
            <a:r>
              <a:rPr lang="en-IN" sz="1800" dirty="0"/>
              <a:t>Once the TCP connection is established, the client sends the email across the connection.</a:t>
            </a:r>
          </a:p>
          <a:p>
            <a:endParaRPr lang="en-IN" dirty="0"/>
          </a:p>
        </p:txBody>
      </p:sp>
      <p:pic>
        <p:nvPicPr>
          <p:cNvPr id="4" name="Picture 3">
            <a:extLst>
              <a:ext uri="{FF2B5EF4-FFF2-40B4-BE49-F238E27FC236}">
                <a16:creationId xmlns:a16="http://schemas.microsoft.com/office/drawing/2014/main" id="{3CCDDFC6-1D08-4F57-8B86-97629BE6F64E}"/>
              </a:ext>
            </a:extLst>
          </p:cNvPr>
          <p:cNvPicPr>
            <a:picLocks noChangeAspect="1"/>
          </p:cNvPicPr>
          <p:nvPr/>
        </p:nvPicPr>
        <p:blipFill>
          <a:blip r:embed="rId2"/>
          <a:stretch>
            <a:fillRect/>
          </a:stretch>
        </p:blipFill>
        <p:spPr>
          <a:xfrm>
            <a:off x="2594137" y="2722457"/>
            <a:ext cx="5730737" cy="2865368"/>
          </a:xfrm>
          <a:prstGeom prst="rect">
            <a:avLst/>
          </a:prstGeom>
        </p:spPr>
      </p:pic>
    </p:spTree>
    <p:extLst>
      <p:ext uri="{BB962C8B-B14F-4D97-AF65-F5344CB8AC3E}">
        <p14:creationId xmlns:p14="http://schemas.microsoft.com/office/powerpoint/2010/main" val="38614540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A3C11-CB10-4A44-8E46-55909C79BE9F}"/>
              </a:ext>
            </a:extLst>
          </p:cNvPr>
          <p:cNvSpPr>
            <a:spLocks noGrp="1"/>
          </p:cNvSpPr>
          <p:nvPr>
            <p:ph type="title"/>
          </p:nvPr>
        </p:nvSpPr>
        <p:spPr>
          <a:xfrm>
            <a:off x="838200" y="365125"/>
            <a:ext cx="10515600" cy="620993"/>
          </a:xfrm>
        </p:spPr>
        <p:txBody>
          <a:bodyPr>
            <a:normAutofit fontScale="90000"/>
          </a:bodyPr>
          <a:lstStyle/>
          <a:p>
            <a:br>
              <a:rPr lang="en-IN" sz="3100" b="1" dirty="0"/>
            </a:br>
            <a:r>
              <a:rPr lang="en-IN" sz="3100" b="1" dirty="0"/>
              <a:t>Types of SMTP Protocol</a:t>
            </a:r>
            <a:br>
              <a:rPr lang="en-IN" b="1" dirty="0"/>
            </a:br>
            <a:endParaRPr lang="en-IN" dirty="0"/>
          </a:p>
        </p:txBody>
      </p:sp>
      <p:sp>
        <p:nvSpPr>
          <p:cNvPr id="3" name="Content Placeholder 2">
            <a:extLst>
              <a:ext uri="{FF2B5EF4-FFF2-40B4-BE49-F238E27FC236}">
                <a16:creationId xmlns:a16="http://schemas.microsoft.com/office/drawing/2014/main" id="{D6175B5B-E2D0-4A6F-9A6F-480E7343B6BE}"/>
              </a:ext>
            </a:extLst>
          </p:cNvPr>
          <p:cNvSpPr>
            <a:spLocks noGrp="1"/>
          </p:cNvSpPr>
          <p:nvPr>
            <p:ph idx="1"/>
          </p:nvPr>
        </p:nvSpPr>
        <p:spPr>
          <a:xfrm>
            <a:off x="838200" y="1156447"/>
            <a:ext cx="10515600" cy="5020516"/>
          </a:xfrm>
        </p:spPr>
        <p:txBody>
          <a:bodyPr/>
          <a:lstStyle/>
          <a:p>
            <a:pPr marL="0" indent="0" fontAlgn="base">
              <a:buNone/>
            </a:pPr>
            <a:r>
              <a:rPr lang="en-IN" sz="2400" dirty="0"/>
              <a:t>The </a:t>
            </a:r>
            <a:r>
              <a:rPr lang="en-IN" sz="2400" b="1" dirty="0"/>
              <a:t>SMTP model</a:t>
            </a:r>
            <a:r>
              <a:rPr lang="en-IN" sz="2400" dirty="0"/>
              <a:t> supports two types of email delivery methods: </a:t>
            </a:r>
            <a:r>
              <a:rPr lang="en-IN" sz="2400" b="1" dirty="0"/>
              <a:t>end-to-end</a:t>
            </a:r>
            <a:r>
              <a:rPr lang="en-IN" sz="2400" dirty="0"/>
              <a:t> and </a:t>
            </a:r>
            <a:r>
              <a:rPr lang="en-IN" sz="2400" b="1" dirty="0"/>
              <a:t>store-and-forward</a:t>
            </a:r>
            <a:r>
              <a:rPr lang="en-IN" sz="2400" dirty="0"/>
              <a:t>.</a:t>
            </a:r>
          </a:p>
          <a:p>
            <a:pPr lvl="0" fontAlgn="base"/>
            <a:r>
              <a:rPr lang="en-IN" sz="2400" b="1" dirty="0"/>
              <a:t>End-to-end</a:t>
            </a:r>
            <a:r>
              <a:rPr lang="en-IN" sz="2400" dirty="0"/>
              <a:t> delivery is used between organizations. In this method, the email is sent directly from the sender's SMTP client to the recipient's SMTP server without passing through intermediate servers.</a:t>
            </a:r>
          </a:p>
          <a:p>
            <a:pPr lvl="0" fontAlgn="base"/>
            <a:r>
              <a:rPr lang="en-IN" sz="2400" b="1" dirty="0"/>
              <a:t>Store-and-forward</a:t>
            </a:r>
            <a:r>
              <a:rPr lang="en-IN" sz="2400" dirty="0"/>
              <a:t> is used within organizations that have TCP/IP and SMTP-based networks. In this method, the email may pass through several intermediate servers (Message Transfer Agents, or MTAs) before reaching the recipient</a:t>
            </a:r>
            <a:r>
              <a:rPr lang="en-IN" dirty="0"/>
              <a:t>.</a:t>
            </a:r>
          </a:p>
          <a:p>
            <a:pPr marL="0" indent="0">
              <a:buNone/>
            </a:pPr>
            <a:endParaRPr lang="en-IN" dirty="0"/>
          </a:p>
        </p:txBody>
      </p:sp>
    </p:spTree>
    <p:extLst>
      <p:ext uri="{BB962C8B-B14F-4D97-AF65-F5344CB8AC3E}">
        <p14:creationId xmlns:p14="http://schemas.microsoft.com/office/powerpoint/2010/main" val="341225716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3EC5D-2F07-4426-88A5-B7AEDDBBE8CD}"/>
              </a:ext>
            </a:extLst>
          </p:cNvPr>
          <p:cNvSpPr>
            <a:spLocks noGrp="1"/>
          </p:cNvSpPr>
          <p:nvPr>
            <p:ph type="title"/>
          </p:nvPr>
        </p:nvSpPr>
        <p:spPr>
          <a:xfrm>
            <a:off x="770965" y="365125"/>
            <a:ext cx="10582835" cy="647887"/>
          </a:xfrm>
        </p:spPr>
        <p:txBody>
          <a:bodyPr>
            <a:normAutofit/>
          </a:bodyPr>
          <a:lstStyle/>
          <a:p>
            <a:r>
              <a:rPr lang="en-US" sz="1200" dirty="0"/>
              <a:t>CONTINUED…</a:t>
            </a:r>
            <a:endParaRPr lang="en-IN" sz="1200" dirty="0"/>
          </a:p>
        </p:txBody>
      </p:sp>
      <p:sp>
        <p:nvSpPr>
          <p:cNvPr id="3" name="Content Placeholder 2">
            <a:extLst>
              <a:ext uri="{FF2B5EF4-FFF2-40B4-BE49-F238E27FC236}">
                <a16:creationId xmlns:a16="http://schemas.microsoft.com/office/drawing/2014/main" id="{11EB7E7E-976D-482A-86D1-B56C2A8A0ACD}"/>
              </a:ext>
            </a:extLst>
          </p:cNvPr>
          <p:cNvSpPr>
            <a:spLocks noGrp="1"/>
          </p:cNvSpPr>
          <p:nvPr>
            <p:ph idx="1"/>
          </p:nvPr>
        </p:nvSpPr>
        <p:spPr>
          <a:xfrm>
            <a:off x="770965" y="1192306"/>
            <a:ext cx="10582835" cy="4984657"/>
          </a:xfrm>
        </p:spPr>
        <p:txBody>
          <a:bodyPr/>
          <a:lstStyle/>
          <a:p>
            <a:pPr>
              <a:buFont typeface="Wingdings" panose="05000000000000000000" pitchFamily="2" charset="2"/>
              <a:buChar char="Ø"/>
            </a:pPr>
            <a:r>
              <a:rPr lang="en-US" altLang="en-US" sz="2000" dirty="0">
                <a:solidFill>
                  <a:srgbClr val="273239"/>
                </a:solidFill>
                <a:latin typeface="Arial" panose="020B0604020202020204" pitchFamily="34" charset="0"/>
                <a:ea typeface="Times New Roman" panose="02020603050405020304" pitchFamily="18" charset="0"/>
                <a:cs typeface="Arial" panose="020B0604020202020204" pitchFamily="34" charset="0"/>
              </a:rPr>
              <a:t>With </a:t>
            </a:r>
            <a:r>
              <a:rPr lang="en-US" altLang="en-US" sz="2000" b="1" dirty="0">
                <a:solidFill>
                  <a:srgbClr val="273239"/>
                </a:solidFill>
                <a:latin typeface="Arial" panose="020B0604020202020204" pitchFamily="34" charset="0"/>
                <a:ea typeface="Times New Roman" panose="02020603050405020304" pitchFamily="18" charset="0"/>
                <a:cs typeface="Arial" panose="020B0604020202020204" pitchFamily="34" charset="0"/>
              </a:rPr>
              <a:t>end-to-end</a:t>
            </a:r>
            <a:r>
              <a:rPr lang="en-US" altLang="en-US" sz="2000" dirty="0">
                <a:solidFill>
                  <a:srgbClr val="273239"/>
                </a:solidFill>
                <a:latin typeface="Arial" panose="020B0604020202020204" pitchFamily="34" charset="0"/>
                <a:ea typeface="Times New Roman" panose="02020603050405020304" pitchFamily="18" charset="0"/>
                <a:cs typeface="Arial" panose="020B0604020202020204" pitchFamily="34" charset="0"/>
              </a:rPr>
              <a:t> delivery, the SMTP client waits until the email is successfully copied to the recipient's SMTP server before sending it. </a:t>
            </a:r>
          </a:p>
          <a:p>
            <a:pPr>
              <a:buFont typeface="Wingdings" panose="05000000000000000000" pitchFamily="2" charset="2"/>
              <a:buChar char="Ø"/>
            </a:pPr>
            <a:r>
              <a:rPr lang="en-US" altLang="en-US" sz="2000" dirty="0">
                <a:solidFill>
                  <a:srgbClr val="273239"/>
                </a:solidFill>
                <a:latin typeface="Arial" panose="020B0604020202020204" pitchFamily="34" charset="0"/>
                <a:ea typeface="Times New Roman" panose="02020603050405020304" pitchFamily="18" charset="0"/>
                <a:cs typeface="Arial" panose="020B0604020202020204" pitchFamily="34" charset="0"/>
              </a:rPr>
              <a:t>This is different from the </a:t>
            </a:r>
            <a:r>
              <a:rPr lang="en-US" altLang="en-US" sz="2000" b="1" dirty="0">
                <a:solidFill>
                  <a:srgbClr val="273239"/>
                </a:solidFill>
                <a:latin typeface="Arial" panose="020B0604020202020204" pitchFamily="34" charset="0"/>
                <a:ea typeface="Times New Roman" panose="02020603050405020304" pitchFamily="18" charset="0"/>
                <a:cs typeface="Arial" panose="020B0604020202020204" pitchFamily="34" charset="0"/>
              </a:rPr>
              <a:t>store-and-forward</a:t>
            </a:r>
            <a:r>
              <a:rPr lang="en-US" altLang="en-US" sz="2000" dirty="0">
                <a:solidFill>
                  <a:srgbClr val="273239"/>
                </a:solidFill>
                <a:latin typeface="Arial" panose="020B0604020202020204" pitchFamily="34" charset="0"/>
                <a:ea typeface="Times New Roman" panose="02020603050405020304" pitchFamily="18" charset="0"/>
                <a:cs typeface="Arial" panose="020B0604020202020204" pitchFamily="34" charset="0"/>
              </a:rPr>
              <a:t> method, where the email might stop at multiple intermediate servers before reaching its destination. </a:t>
            </a:r>
          </a:p>
          <a:p>
            <a:pPr>
              <a:buFont typeface="Wingdings" panose="05000000000000000000" pitchFamily="2" charset="2"/>
              <a:buChar char="Ø"/>
            </a:pPr>
            <a:r>
              <a:rPr lang="en-US" altLang="en-US" sz="2000" dirty="0">
                <a:solidFill>
                  <a:srgbClr val="273239"/>
                </a:solidFill>
                <a:latin typeface="Arial" panose="020B0604020202020204" pitchFamily="34" charset="0"/>
                <a:ea typeface="Times New Roman" panose="02020603050405020304" pitchFamily="18" charset="0"/>
                <a:cs typeface="Arial" panose="020B0604020202020204" pitchFamily="34" charset="0"/>
              </a:rPr>
              <a:t>In store-and-forward systems, the sender is notified as soon as the email reaches the first server, not the final destination.</a:t>
            </a:r>
            <a:endParaRPr lang="en-US" altLang="en-US" sz="2000" dirty="0">
              <a:ea typeface="Times New Roman" panose="02020603050405020304" pitchFamily="18" charset="0"/>
            </a:endParaRPr>
          </a:p>
          <a:p>
            <a:pPr marL="0" indent="0">
              <a:buNone/>
            </a:pPr>
            <a:endParaRPr lang="en-IN" dirty="0"/>
          </a:p>
        </p:txBody>
      </p:sp>
      <p:sp>
        <p:nvSpPr>
          <p:cNvPr id="11" name="Rectangle 10" descr="smtp-2">
            <a:extLst>
              <a:ext uri="{FF2B5EF4-FFF2-40B4-BE49-F238E27FC236}">
                <a16:creationId xmlns:a16="http://schemas.microsoft.com/office/drawing/2014/main" id="{BAEF654F-ADC7-4BA1-A801-AEEF414D334C}"/>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IN"/>
          </a:p>
        </p:txBody>
      </p:sp>
      <p:sp>
        <p:nvSpPr>
          <p:cNvPr id="12" name="Rectangle 9">
            <a:extLst>
              <a:ext uri="{FF2B5EF4-FFF2-40B4-BE49-F238E27FC236}">
                <a16:creationId xmlns:a16="http://schemas.microsoft.com/office/drawing/2014/main" id="{0D5317D3-13DD-4CFB-8D54-B01E3B99735D}"/>
              </a:ext>
            </a:extLst>
          </p:cNvPr>
          <p:cNvSpPr>
            <a:spLocks noChangeArrowheads="1"/>
          </p:cNvSpPr>
          <p:nvPr/>
        </p:nvSpPr>
        <p:spPr bwMode="auto">
          <a:xfrm>
            <a:off x="0" y="7620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123653379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DA8F9FD-2158-4ED4-BF8B-F0EE1CA031CD}"/>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563906" y="1290918"/>
            <a:ext cx="6660739" cy="3789399"/>
          </a:xfrm>
          <a:prstGeom prst="rect">
            <a:avLst/>
          </a:prstGeom>
          <a:noFill/>
        </p:spPr>
      </p:pic>
    </p:spTree>
    <p:extLst>
      <p:ext uri="{BB962C8B-B14F-4D97-AF65-F5344CB8AC3E}">
        <p14:creationId xmlns:p14="http://schemas.microsoft.com/office/powerpoint/2010/main" val="268016175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D6556-143C-4161-8115-ACD1F0748BEA}"/>
              </a:ext>
            </a:extLst>
          </p:cNvPr>
          <p:cNvSpPr>
            <a:spLocks noGrp="1"/>
          </p:cNvSpPr>
          <p:nvPr>
            <p:ph type="title"/>
          </p:nvPr>
        </p:nvSpPr>
        <p:spPr>
          <a:xfrm>
            <a:off x="838200" y="365125"/>
            <a:ext cx="10515600" cy="468593"/>
          </a:xfrm>
        </p:spPr>
        <p:txBody>
          <a:bodyPr>
            <a:normAutofit fontScale="90000"/>
          </a:bodyPr>
          <a:lstStyle/>
          <a:p>
            <a:br>
              <a:rPr lang="en-IN" b="1" dirty="0"/>
            </a:br>
            <a:r>
              <a:rPr lang="en-IN" sz="3600" b="1" dirty="0"/>
              <a:t>Model of SMTP System </a:t>
            </a:r>
            <a:br>
              <a:rPr lang="en-IN" sz="3600" b="1" dirty="0"/>
            </a:br>
            <a:endParaRPr lang="en-IN" sz="3600" dirty="0"/>
          </a:p>
        </p:txBody>
      </p:sp>
      <p:pic>
        <p:nvPicPr>
          <p:cNvPr id="4" name="Content Placeholder 3">
            <a:extLst>
              <a:ext uri="{FF2B5EF4-FFF2-40B4-BE49-F238E27FC236}">
                <a16:creationId xmlns:a16="http://schemas.microsoft.com/office/drawing/2014/main" id="{2C6FDC0F-3D67-4001-9320-19F1BCC3B716}"/>
              </a:ext>
            </a:extLst>
          </p:cNvPr>
          <p:cNvPicPr>
            <a:picLocks noGrp="1" noChangeAspect="1"/>
          </p:cNvPicPr>
          <p:nvPr>
            <p:ph idx="1"/>
          </p:nvPr>
        </p:nvPicPr>
        <p:blipFill>
          <a:blip r:embed="rId2"/>
          <a:stretch>
            <a:fillRect/>
          </a:stretch>
        </p:blipFill>
        <p:spPr>
          <a:xfrm>
            <a:off x="2043953" y="1048871"/>
            <a:ext cx="7020869" cy="4723304"/>
          </a:xfrm>
          <a:prstGeom prst="rect">
            <a:avLst/>
          </a:prstGeom>
        </p:spPr>
      </p:pic>
    </p:spTree>
    <p:extLst>
      <p:ext uri="{BB962C8B-B14F-4D97-AF65-F5344CB8AC3E}">
        <p14:creationId xmlns:p14="http://schemas.microsoft.com/office/powerpoint/2010/main" val="139251343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2D6E5-0B28-4847-BB7D-4C595C343910}"/>
              </a:ext>
            </a:extLst>
          </p:cNvPr>
          <p:cNvSpPr>
            <a:spLocks noGrp="1"/>
          </p:cNvSpPr>
          <p:nvPr>
            <p:ph type="title"/>
          </p:nvPr>
        </p:nvSpPr>
        <p:spPr>
          <a:xfrm>
            <a:off x="770965" y="365126"/>
            <a:ext cx="10582835" cy="405840"/>
          </a:xfrm>
        </p:spPr>
        <p:txBody>
          <a:bodyPr>
            <a:noAutofit/>
          </a:bodyPr>
          <a:lstStyle/>
          <a:p>
            <a:r>
              <a:rPr lang="en-IN" sz="3600" dirty="0"/>
              <a:t>SMTP Model – Step-by-Step</a:t>
            </a:r>
          </a:p>
        </p:txBody>
      </p:sp>
      <p:sp>
        <p:nvSpPr>
          <p:cNvPr id="3" name="Content Placeholder 2">
            <a:extLst>
              <a:ext uri="{FF2B5EF4-FFF2-40B4-BE49-F238E27FC236}">
                <a16:creationId xmlns:a16="http://schemas.microsoft.com/office/drawing/2014/main" id="{C1FCC5F7-D3F8-4C9C-BF39-B76887892A12}"/>
              </a:ext>
            </a:extLst>
          </p:cNvPr>
          <p:cNvSpPr>
            <a:spLocks noGrp="1"/>
          </p:cNvSpPr>
          <p:nvPr>
            <p:ph idx="1"/>
          </p:nvPr>
        </p:nvSpPr>
        <p:spPr>
          <a:xfrm>
            <a:off x="770965" y="959224"/>
            <a:ext cx="10582835" cy="5217739"/>
          </a:xfrm>
        </p:spPr>
        <p:txBody>
          <a:bodyPr>
            <a:normAutofit fontScale="85000" lnSpcReduction="20000"/>
          </a:bodyPr>
          <a:lstStyle/>
          <a:p>
            <a:pPr marL="0" indent="0">
              <a:buNone/>
            </a:pPr>
            <a:r>
              <a:rPr lang="en-US" b="1" dirty="0"/>
              <a:t>1. Sender writes an email</a:t>
            </a:r>
            <a:br>
              <a:rPr lang="en-US" dirty="0"/>
            </a:br>
            <a:r>
              <a:rPr lang="en-US" dirty="0"/>
              <a:t>The </a:t>
            </a:r>
            <a:r>
              <a:rPr lang="en-US" b="1" dirty="0"/>
              <a:t>User at a terminal (Sender)</a:t>
            </a:r>
            <a:r>
              <a:rPr lang="en-US" dirty="0"/>
              <a:t> creates an email using a </a:t>
            </a:r>
            <a:r>
              <a:rPr lang="en-US" b="1" dirty="0"/>
              <a:t>User Agent (UA)</a:t>
            </a:r>
            <a:r>
              <a:rPr lang="en-US" dirty="0"/>
              <a:t>.</a:t>
            </a:r>
          </a:p>
          <a:p>
            <a:r>
              <a:rPr lang="en-US" dirty="0"/>
              <a:t>A User Agent is an email application such as Gmail, Outlook, Apple Mail, etc. It allows the user to compose, send, read, and manage emails.</a:t>
            </a:r>
          </a:p>
          <a:p>
            <a:pPr marL="0" indent="0">
              <a:buNone/>
            </a:pPr>
            <a:r>
              <a:rPr lang="en-US" b="1" dirty="0"/>
              <a:t>2. Email is placed in the mail queue</a:t>
            </a:r>
            <a:br>
              <a:rPr lang="en-US" dirty="0"/>
            </a:br>
            <a:r>
              <a:rPr lang="en-US" dirty="0"/>
              <a:t>After the sender clicks </a:t>
            </a:r>
            <a:r>
              <a:rPr lang="en-US" b="1" dirty="0"/>
              <a:t>Send</a:t>
            </a:r>
            <a:r>
              <a:rPr lang="en-US" dirty="0"/>
              <a:t>, the message is placed in the </a:t>
            </a:r>
            <a:r>
              <a:rPr lang="en-US" b="1" dirty="0"/>
              <a:t>Queue of mail to be sent</a:t>
            </a:r>
            <a:r>
              <a:rPr lang="en-US" dirty="0"/>
              <a:t>.</a:t>
            </a:r>
          </a:p>
          <a:p>
            <a:r>
              <a:rPr lang="en-US" dirty="0"/>
              <a:t>The queue temporarily stores outgoing messages until the mail server is ready to transmit them.</a:t>
            </a:r>
          </a:p>
          <a:p>
            <a:pPr marL="0" indent="0">
              <a:buNone/>
            </a:pPr>
            <a:r>
              <a:rPr lang="en-US" b="1" dirty="0"/>
              <a:t>3. Client Message Transfer Agent (MTA)</a:t>
            </a:r>
            <a:br>
              <a:rPr lang="en-US" dirty="0"/>
            </a:br>
            <a:r>
              <a:rPr lang="en-US" dirty="0"/>
              <a:t>The email is taken from the queue by the </a:t>
            </a:r>
            <a:r>
              <a:rPr lang="en-US" b="1" dirty="0"/>
              <a:t>Message Transfer Agent (MTA)</a:t>
            </a:r>
            <a:r>
              <a:rPr lang="en-US" dirty="0"/>
              <a:t>.</a:t>
            </a:r>
          </a:p>
          <a:p>
            <a:r>
              <a:rPr lang="en-US" dirty="0"/>
              <a:t>The MTA is responsible for transferring email from one mail server to another.</a:t>
            </a:r>
          </a:p>
          <a:p>
            <a:r>
              <a:rPr lang="en-US" dirty="0"/>
              <a:t>Examples of mail-server software include Postfix, </a:t>
            </a:r>
            <a:r>
              <a:rPr lang="en-US" dirty="0" err="1"/>
              <a:t>Sendmail</a:t>
            </a:r>
            <a:r>
              <a:rPr lang="en-US" dirty="0"/>
              <a:t>, and Microsoft Exchange.</a:t>
            </a:r>
          </a:p>
          <a:p>
            <a:pPr marL="0" indent="0">
              <a:buNone/>
            </a:pPr>
            <a:r>
              <a:rPr lang="en-US" b="1" dirty="0"/>
              <a:t>4. SMTP communication takes place</a:t>
            </a:r>
            <a:br>
              <a:rPr lang="en-US" dirty="0"/>
            </a:br>
            <a:r>
              <a:rPr lang="en-US" dirty="0"/>
              <a:t>The sender's MTA acts as the </a:t>
            </a:r>
            <a:r>
              <a:rPr lang="en-US" b="1" dirty="0"/>
              <a:t>SMTP client</a:t>
            </a:r>
            <a:r>
              <a:rPr lang="en-US" dirty="0"/>
              <a:t>, while the receiver's MTA acts as the </a:t>
            </a:r>
            <a:r>
              <a:rPr lang="en-US" b="1" dirty="0"/>
              <a:t>SMTP server</a:t>
            </a:r>
            <a:r>
              <a:rPr lang="en-US" dirty="0"/>
              <a:t>.</a:t>
            </a:r>
          </a:p>
          <a:p>
            <a:endParaRPr lang="en-IN" dirty="0"/>
          </a:p>
        </p:txBody>
      </p:sp>
    </p:spTree>
    <p:extLst>
      <p:ext uri="{BB962C8B-B14F-4D97-AF65-F5344CB8AC3E}">
        <p14:creationId xmlns:p14="http://schemas.microsoft.com/office/powerpoint/2010/main" val="339115769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5C12E-0185-45E0-8D3B-A6B9C972F2F5}"/>
              </a:ext>
            </a:extLst>
          </p:cNvPr>
          <p:cNvSpPr>
            <a:spLocks noGrp="1"/>
          </p:cNvSpPr>
          <p:nvPr>
            <p:ph type="title"/>
          </p:nvPr>
        </p:nvSpPr>
        <p:spPr>
          <a:xfrm>
            <a:off x="838200" y="365125"/>
            <a:ext cx="10515600" cy="477557"/>
          </a:xfrm>
        </p:spPr>
        <p:txBody>
          <a:bodyPr>
            <a:normAutofit/>
          </a:bodyPr>
          <a:lstStyle/>
          <a:p>
            <a:r>
              <a:rPr lang="en-US" sz="1200" dirty="0" err="1"/>
              <a:t>Contined</a:t>
            </a:r>
            <a:r>
              <a:rPr lang="en-US" sz="1200" dirty="0"/>
              <a:t>..</a:t>
            </a:r>
            <a:endParaRPr lang="en-IN" sz="1200" dirty="0"/>
          </a:p>
        </p:txBody>
      </p:sp>
      <p:sp>
        <p:nvSpPr>
          <p:cNvPr id="3" name="Content Placeholder 2">
            <a:extLst>
              <a:ext uri="{FF2B5EF4-FFF2-40B4-BE49-F238E27FC236}">
                <a16:creationId xmlns:a16="http://schemas.microsoft.com/office/drawing/2014/main" id="{62911745-F3BD-4D6C-8B1F-9B00CD666BA4}"/>
              </a:ext>
            </a:extLst>
          </p:cNvPr>
          <p:cNvSpPr>
            <a:spLocks noGrp="1"/>
          </p:cNvSpPr>
          <p:nvPr>
            <p:ph idx="1"/>
          </p:nvPr>
        </p:nvSpPr>
        <p:spPr>
          <a:xfrm>
            <a:off x="770965" y="842682"/>
            <a:ext cx="10582835" cy="5334281"/>
          </a:xfrm>
        </p:spPr>
        <p:txBody>
          <a:bodyPr/>
          <a:lstStyle/>
          <a:p>
            <a:pPr marL="0" indent="0">
              <a:buNone/>
            </a:pPr>
            <a:r>
              <a:rPr lang="en-US" b="1" dirty="0"/>
              <a:t>5. Email reaches the receiver's mail server</a:t>
            </a:r>
            <a:br>
              <a:rPr lang="en-US" dirty="0"/>
            </a:br>
            <a:r>
              <a:rPr lang="en-US" dirty="0"/>
              <a:t>The receiver-side </a:t>
            </a:r>
            <a:r>
              <a:rPr lang="en-US" b="1" dirty="0"/>
              <a:t>Message Transfer Agent</a:t>
            </a:r>
            <a:r>
              <a:rPr lang="en-US" dirty="0"/>
              <a:t> accepts the email and stores it in the appropriate </a:t>
            </a:r>
            <a:r>
              <a:rPr lang="en-US" b="1" dirty="0"/>
              <a:t>User Mailbox</a:t>
            </a:r>
            <a:r>
              <a:rPr lang="en-US" dirty="0"/>
              <a:t>.</a:t>
            </a:r>
          </a:p>
          <a:p>
            <a:pPr marL="0" indent="0">
              <a:buNone/>
            </a:pPr>
            <a:r>
              <a:rPr lang="en-US" b="1" dirty="0"/>
              <a:t>6. Receiver reads the email</a:t>
            </a:r>
            <a:br>
              <a:rPr lang="en-US" dirty="0"/>
            </a:br>
            <a:r>
              <a:rPr lang="en-US" dirty="0"/>
              <a:t>The receiver accesses the mailbox through a </a:t>
            </a:r>
            <a:r>
              <a:rPr lang="en-US" b="1" dirty="0"/>
              <a:t>User Agent</a:t>
            </a:r>
            <a:r>
              <a:rPr lang="en-US" dirty="0"/>
              <a:t>.</a:t>
            </a:r>
          </a:p>
          <a:p>
            <a:pPr marL="0" indent="0">
              <a:buNone/>
            </a:pPr>
            <a:r>
              <a:rPr lang="en-US" dirty="0"/>
              <a:t>So the overall flow in your diagram is:</a:t>
            </a:r>
          </a:p>
          <a:p>
            <a:r>
              <a:rPr lang="en-US" b="1" dirty="0"/>
              <a:t>Sender → User Agent → Mail Queue → Client MTA → SMTP/TCP → Server MTA → User Mailbox → User Agent → Receiver</a:t>
            </a:r>
            <a:endParaRPr lang="en-US" dirty="0"/>
          </a:p>
          <a:p>
            <a:pPr marL="0" indent="0">
              <a:buNone/>
            </a:pPr>
            <a:endParaRPr lang="en-IN" dirty="0"/>
          </a:p>
        </p:txBody>
      </p:sp>
    </p:spTree>
    <p:extLst>
      <p:ext uri="{BB962C8B-B14F-4D97-AF65-F5344CB8AC3E}">
        <p14:creationId xmlns:p14="http://schemas.microsoft.com/office/powerpoint/2010/main" val="203539086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0A1E2-0A7A-4D1A-BB2B-BC5B8DDF50F8}"/>
              </a:ext>
            </a:extLst>
          </p:cNvPr>
          <p:cNvSpPr>
            <a:spLocks noGrp="1"/>
          </p:cNvSpPr>
          <p:nvPr>
            <p:ph type="title"/>
          </p:nvPr>
        </p:nvSpPr>
        <p:spPr>
          <a:xfrm>
            <a:off x="838200" y="365126"/>
            <a:ext cx="10515600" cy="692710"/>
          </a:xfrm>
        </p:spPr>
        <p:txBody>
          <a:bodyPr>
            <a:normAutofit/>
          </a:bodyPr>
          <a:lstStyle/>
          <a:p>
            <a:r>
              <a:rPr lang="en-US" sz="2800" b="1" dirty="0"/>
              <a:t>Features of SMTP</a:t>
            </a:r>
            <a:endParaRPr lang="en-IN" sz="2800" b="1" dirty="0"/>
          </a:p>
        </p:txBody>
      </p:sp>
      <p:sp>
        <p:nvSpPr>
          <p:cNvPr id="3" name="Content Placeholder 2">
            <a:extLst>
              <a:ext uri="{FF2B5EF4-FFF2-40B4-BE49-F238E27FC236}">
                <a16:creationId xmlns:a16="http://schemas.microsoft.com/office/drawing/2014/main" id="{5E525D82-BBA9-4C3A-BC7A-E560960B4EE3}"/>
              </a:ext>
            </a:extLst>
          </p:cNvPr>
          <p:cNvSpPr>
            <a:spLocks noGrp="1"/>
          </p:cNvSpPr>
          <p:nvPr>
            <p:ph idx="1"/>
          </p:nvPr>
        </p:nvSpPr>
        <p:spPr>
          <a:xfrm>
            <a:off x="838200" y="1174376"/>
            <a:ext cx="10515600" cy="5002587"/>
          </a:xfrm>
        </p:spPr>
        <p:txBody>
          <a:bodyPr>
            <a:normAutofit/>
          </a:bodyPr>
          <a:lstStyle/>
          <a:p>
            <a:pPr marL="514350" indent="-514350">
              <a:buAutoNum type="arabicPeriod"/>
            </a:pPr>
            <a:r>
              <a:rPr lang="en-IN" sz="2000" b="1" dirty="0"/>
              <a:t>Email API </a:t>
            </a:r>
          </a:p>
          <a:p>
            <a:pPr>
              <a:buFont typeface="Wingdings" panose="05000000000000000000" pitchFamily="2" charset="2"/>
              <a:buChar char="Ø"/>
            </a:pPr>
            <a:r>
              <a:rPr lang="en-IN" sz="2000" dirty="0"/>
              <a:t> Integrating SMTP.com with your business can be easy with the email API feature. </a:t>
            </a:r>
          </a:p>
          <a:p>
            <a:pPr lvl="0" fontAlgn="base">
              <a:buFont typeface="Wingdings" panose="05000000000000000000" pitchFamily="2" charset="2"/>
              <a:buChar char="Ø"/>
            </a:pPr>
            <a:r>
              <a:rPr lang="en-IN" sz="2000" dirty="0"/>
              <a:t>They have complete API documentation on their website that can help you integrate your business in just 5 minutes.</a:t>
            </a:r>
          </a:p>
          <a:p>
            <a:pPr marL="514350" indent="-514350">
              <a:buAutoNum type="arabicPeriod" startAt="2"/>
            </a:pPr>
            <a:r>
              <a:rPr lang="en-IN" sz="2000" b="1" dirty="0"/>
              <a:t>24x7 Customer Support</a:t>
            </a:r>
            <a:r>
              <a:rPr lang="en-IN" sz="2000" dirty="0"/>
              <a:t>:</a:t>
            </a:r>
          </a:p>
          <a:p>
            <a:pPr>
              <a:buFont typeface="Wingdings" panose="05000000000000000000" pitchFamily="2" charset="2"/>
              <a:buChar char="Ø"/>
            </a:pPr>
            <a:r>
              <a:rPr lang="en-IN" sz="2000" dirty="0"/>
              <a:t>  The round-the-clock support is one of the best features of SMTP.com.</a:t>
            </a:r>
          </a:p>
          <a:p>
            <a:pPr>
              <a:buFont typeface="Wingdings" panose="05000000000000000000" pitchFamily="2" charset="2"/>
              <a:buChar char="Ø"/>
            </a:pPr>
            <a:r>
              <a:rPr lang="en-IN" sz="2000" dirty="0"/>
              <a:t> Support is available both on the website and also for paid customers. 24x7, all human support is available for all customers across all plans. </a:t>
            </a:r>
          </a:p>
          <a:p>
            <a:pPr marL="0" indent="0">
              <a:buNone/>
            </a:pPr>
            <a:r>
              <a:rPr lang="en-US" sz="2000" b="1" dirty="0"/>
              <a:t>3</a:t>
            </a:r>
            <a:r>
              <a:rPr lang="en-IN" sz="2000" b="1" dirty="0"/>
              <a:t>. High Volume Sending Solutions</a:t>
            </a:r>
          </a:p>
          <a:p>
            <a:pPr>
              <a:buFont typeface="Wingdings" panose="05000000000000000000" pitchFamily="2" charset="2"/>
              <a:buChar char="Ø"/>
            </a:pPr>
            <a:r>
              <a:rPr lang="en-IN" sz="2000" dirty="0"/>
              <a:t>This newly launched feature is great for those businesses who want to send more than 250 million emails a month. </a:t>
            </a:r>
          </a:p>
          <a:p>
            <a:pPr>
              <a:buFont typeface="Wingdings" panose="05000000000000000000" pitchFamily="2" charset="2"/>
              <a:buChar char="Ø"/>
            </a:pPr>
            <a:r>
              <a:rPr lang="en-IN" sz="2000" dirty="0"/>
              <a:t>Customized quotations and solutions are available.</a:t>
            </a:r>
            <a:endParaRPr lang="en-IN" sz="2000" b="1" dirty="0"/>
          </a:p>
          <a:p>
            <a:pPr marL="0" indent="0">
              <a:buNone/>
            </a:pPr>
            <a:endParaRPr lang="en-IN" dirty="0"/>
          </a:p>
        </p:txBody>
      </p:sp>
    </p:spTree>
    <p:extLst>
      <p:ext uri="{BB962C8B-B14F-4D97-AF65-F5344CB8AC3E}">
        <p14:creationId xmlns:p14="http://schemas.microsoft.com/office/powerpoint/2010/main" val="121929710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09790-DE4E-449D-8A39-16C0C367C120}"/>
              </a:ext>
            </a:extLst>
          </p:cNvPr>
          <p:cNvSpPr>
            <a:spLocks noGrp="1"/>
          </p:cNvSpPr>
          <p:nvPr>
            <p:ph type="title"/>
          </p:nvPr>
        </p:nvSpPr>
        <p:spPr>
          <a:xfrm>
            <a:off x="762000" y="365125"/>
            <a:ext cx="10591800" cy="594099"/>
          </a:xfrm>
        </p:spPr>
        <p:txBody>
          <a:bodyPr>
            <a:normAutofit fontScale="90000"/>
          </a:bodyPr>
          <a:lstStyle/>
          <a:p>
            <a:br>
              <a:rPr lang="en-IN" b="1" dirty="0"/>
            </a:br>
            <a:r>
              <a:rPr lang="en-IN" sz="3100" b="1" dirty="0"/>
              <a:t>Components of SMTP</a:t>
            </a:r>
            <a:br>
              <a:rPr lang="en-IN" sz="3100" b="1" dirty="0"/>
            </a:br>
            <a:endParaRPr lang="en-IN" sz="3100" dirty="0"/>
          </a:p>
        </p:txBody>
      </p:sp>
      <p:sp>
        <p:nvSpPr>
          <p:cNvPr id="3" name="Content Placeholder 2">
            <a:extLst>
              <a:ext uri="{FF2B5EF4-FFF2-40B4-BE49-F238E27FC236}">
                <a16:creationId xmlns:a16="http://schemas.microsoft.com/office/drawing/2014/main" id="{41DDA9C1-4B64-4BE4-A5AD-A5C4DB921696}"/>
              </a:ext>
            </a:extLst>
          </p:cNvPr>
          <p:cNvSpPr>
            <a:spLocks noGrp="1"/>
          </p:cNvSpPr>
          <p:nvPr>
            <p:ph idx="1"/>
          </p:nvPr>
        </p:nvSpPr>
        <p:spPr>
          <a:xfrm>
            <a:off x="869576" y="1084729"/>
            <a:ext cx="10484224" cy="5092234"/>
          </a:xfrm>
        </p:spPr>
        <p:txBody>
          <a:bodyPr/>
          <a:lstStyle/>
          <a:p>
            <a:pPr lvl="0" fontAlgn="base"/>
            <a:endParaRPr lang="en-IN" sz="2000" b="1" dirty="0"/>
          </a:p>
          <a:p>
            <a:pPr lvl="0" fontAlgn="base"/>
            <a:r>
              <a:rPr lang="en-IN" sz="2000" b="1" dirty="0"/>
              <a:t>Mail User Agent (MUA):</a:t>
            </a:r>
            <a:r>
              <a:rPr lang="en-IN" sz="2000" dirty="0"/>
              <a:t> It is a computer application that helps you in sending and retrieving mail. It is responsible for creating email messages for transfer to the mail transfer agent(MTA).</a:t>
            </a:r>
          </a:p>
          <a:p>
            <a:pPr lvl="0" fontAlgn="base"/>
            <a:r>
              <a:rPr lang="en-IN" sz="2000" b="1" dirty="0"/>
              <a:t>Mail Submission Agent (MSA):</a:t>
            </a:r>
            <a:r>
              <a:rPr lang="en-IN" sz="2000" dirty="0"/>
              <a:t> It is a computer program that receives mail from a Mail User Agent(MUA) and interacts with the Mail Transfer Agent(MTA) for the transfer of the mail.</a:t>
            </a:r>
          </a:p>
          <a:p>
            <a:pPr lvl="0" fontAlgn="base"/>
            <a:r>
              <a:rPr lang="en-IN" sz="2000" b="1" dirty="0"/>
              <a:t>Mail Transfer Agent (MTA):</a:t>
            </a:r>
            <a:r>
              <a:rPr lang="en-IN" sz="2000" dirty="0"/>
              <a:t> It is software that has the work to transfer mail from one system to another with the help of SMTP.</a:t>
            </a:r>
          </a:p>
          <a:p>
            <a:pPr lvl="0" fontAlgn="base"/>
            <a:r>
              <a:rPr lang="en-IN" sz="2000" b="1" dirty="0"/>
              <a:t>Mail Delivery Agent (MDA):</a:t>
            </a:r>
            <a:r>
              <a:rPr lang="en-IN" sz="2000" dirty="0"/>
              <a:t> A mail Delivery agent or Local Delivery Agent is basically a system that helps in the delivery of mail to the local system. </a:t>
            </a:r>
          </a:p>
          <a:p>
            <a:pPr marL="0" indent="0">
              <a:buNone/>
            </a:pPr>
            <a:endParaRPr lang="en-IN" dirty="0"/>
          </a:p>
        </p:txBody>
      </p:sp>
    </p:spTree>
    <p:extLst>
      <p:ext uri="{BB962C8B-B14F-4D97-AF65-F5344CB8AC3E}">
        <p14:creationId xmlns:p14="http://schemas.microsoft.com/office/powerpoint/2010/main" val="289184790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D7990-7FB3-40AF-A751-01E301FBF071}"/>
              </a:ext>
            </a:extLst>
          </p:cNvPr>
          <p:cNvSpPr>
            <a:spLocks noGrp="1"/>
          </p:cNvSpPr>
          <p:nvPr>
            <p:ph type="title"/>
          </p:nvPr>
        </p:nvSpPr>
        <p:spPr>
          <a:xfrm>
            <a:off x="838200" y="365126"/>
            <a:ext cx="10515600" cy="531346"/>
          </a:xfrm>
        </p:spPr>
        <p:txBody>
          <a:bodyPr>
            <a:normAutofit fontScale="90000"/>
          </a:bodyPr>
          <a:lstStyle/>
          <a:p>
            <a:br>
              <a:rPr lang="en-IN" b="1" dirty="0"/>
            </a:br>
            <a:r>
              <a:rPr lang="en-IN" b="1" dirty="0"/>
              <a:t>How does SMTP Work?</a:t>
            </a:r>
            <a:br>
              <a:rPr lang="en-IN" b="1" dirty="0"/>
            </a:br>
            <a:endParaRPr lang="en-IN" dirty="0"/>
          </a:p>
        </p:txBody>
      </p:sp>
      <p:pic>
        <p:nvPicPr>
          <p:cNvPr id="4" name="Content Placeholder 3">
            <a:extLst>
              <a:ext uri="{FF2B5EF4-FFF2-40B4-BE49-F238E27FC236}">
                <a16:creationId xmlns:a16="http://schemas.microsoft.com/office/drawing/2014/main" id="{91552BCA-2529-4B1C-8EB3-CC52466495AB}"/>
              </a:ext>
            </a:extLst>
          </p:cNvPr>
          <p:cNvPicPr>
            <a:picLocks noGrp="1" noChangeAspect="1"/>
          </p:cNvPicPr>
          <p:nvPr>
            <p:ph idx="1"/>
          </p:nvPr>
        </p:nvPicPr>
        <p:blipFill>
          <a:blip r:embed="rId2"/>
          <a:stretch>
            <a:fillRect/>
          </a:stretch>
        </p:blipFill>
        <p:spPr>
          <a:xfrm>
            <a:off x="2124636" y="887660"/>
            <a:ext cx="7066880" cy="4832701"/>
          </a:xfrm>
          <a:prstGeom prst="rect">
            <a:avLst/>
          </a:prstGeom>
        </p:spPr>
      </p:pic>
    </p:spTree>
    <p:extLst>
      <p:ext uri="{BB962C8B-B14F-4D97-AF65-F5344CB8AC3E}">
        <p14:creationId xmlns:p14="http://schemas.microsoft.com/office/powerpoint/2010/main" val="351545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A253D-DF0B-46CD-BFAD-EE96ECC2D2A3}"/>
              </a:ext>
            </a:extLst>
          </p:cNvPr>
          <p:cNvSpPr>
            <a:spLocks noGrp="1"/>
          </p:cNvSpPr>
          <p:nvPr>
            <p:ph type="title"/>
          </p:nvPr>
        </p:nvSpPr>
        <p:spPr>
          <a:xfrm>
            <a:off x="753035" y="365126"/>
            <a:ext cx="10600765" cy="315912"/>
          </a:xfrm>
        </p:spPr>
        <p:txBody>
          <a:bodyPr>
            <a:normAutofit/>
          </a:bodyPr>
          <a:lstStyle/>
          <a:p>
            <a:r>
              <a:rPr lang="en-US" sz="1200" dirty="0"/>
              <a:t>Continued…</a:t>
            </a:r>
            <a:endParaRPr lang="en-IN" sz="1200" dirty="0"/>
          </a:p>
        </p:txBody>
      </p:sp>
      <p:sp>
        <p:nvSpPr>
          <p:cNvPr id="3" name="Content Placeholder 2">
            <a:extLst>
              <a:ext uri="{FF2B5EF4-FFF2-40B4-BE49-F238E27FC236}">
                <a16:creationId xmlns:a16="http://schemas.microsoft.com/office/drawing/2014/main" id="{EA91EB42-2515-4298-A681-A5A68A4AB581}"/>
              </a:ext>
            </a:extLst>
          </p:cNvPr>
          <p:cNvSpPr>
            <a:spLocks noGrp="1"/>
          </p:cNvSpPr>
          <p:nvPr>
            <p:ph idx="1"/>
          </p:nvPr>
        </p:nvSpPr>
        <p:spPr>
          <a:xfrm>
            <a:off x="654424" y="681038"/>
            <a:ext cx="10699376" cy="5495925"/>
          </a:xfrm>
        </p:spPr>
        <p:txBody>
          <a:bodyPr>
            <a:normAutofit/>
          </a:bodyPr>
          <a:lstStyle/>
          <a:p>
            <a:pPr marL="0" indent="0" fontAlgn="base">
              <a:buNone/>
            </a:pPr>
            <a:endParaRPr lang="en-IN" sz="2000" b="1" dirty="0"/>
          </a:p>
          <a:p>
            <a:pPr marL="0" indent="0" fontAlgn="base">
              <a:buNone/>
            </a:pPr>
            <a:r>
              <a:rPr lang="en-IN" sz="2000" b="1" dirty="0"/>
              <a:t>1. Sending Email</a:t>
            </a:r>
            <a:r>
              <a:rPr lang="en-IN" sz="2000" dirty="0"/>
              <a:t>:</a:t>
            </a:r>
          </a:p>
          <a:p>
            <a:pPr lvl="0" fontAlgn="base"/>
            <a:r>
              <a:rPr lang="en-IN" sz="2000" dirty="0"/>
              <a:t>When a user wants to send an email, they use a </a:t>
            </a:r>
            <a:r>
              <a:rPr lang="en-IN" sz="2000" b="1" dirty="0"/>
              <a:t>User Agent (UA)</a:t>
            </a:r>
            <a:r>
              <a:rPr lang="en-IN" sz="2000" dirty="0"/>
              <a:t>, like Outlook or Gmail.</a:t>
            </a:r>
          </a:p>
          <a:p>
            <a:pPr lvl="0" fontAlgn="base"/>
            <a:r>
              <a:rPr lang="en-IN" sz="2000" dirty="0"/>
              <a:t>The email is handed over to the </a:t>
            </a:r>
            <a:r>
              <a:rPr lang="en-IN" sz="2000" b="1" dirty="0"/>
              <a:t>MTA</a:t>
            </a:r>
            <a:r>
              <a:rPr lang="en-IN" sz="2000" dirty="0"/>
              <a:t>, which is responsible for transferring the email to the recipient’s mail server.</a:t>
            </a:r>
          </a:p>
          <a:p>
            <a:pPr marL="0" lvl="0" indent="0" fontAlgn="base">
              <a:buNone/>
            </a:pPr>
            <a:endParaRPr lang="en-IN" sz="2000" dirty="0"/>
          </a:p>
          <a:p>
            <a:pPr marL="0" indent="0" fontAlgn="base">
              <a:buNone/>
            </a:pPr>
            <a:r>
              <a:rPr lang="en-IN" sz="2000" b="1" dirty="0"/>
              <a:t>2. SMTP Client and Server</a:t>
            </a:r>
            <a:r>
              <a:rPr lang="en-IN" sz="2000" dirty="0"/>
              <a:t>:</a:t>
            </a:r>
          </a:p>
          <a:p>
            <a:pPr lvl="0" fontAlgn="base"/>
            <a:r>
              <a:rPr lang="en-IN" sz="2000" b="1" dirty="0"/>
              <a:t>Sender-SMTP (Client)</a:t>
            </a:r>
            <a:r>
              <a:rPr lang="en-IN" sz="2000" dirty="0"/>
              <a:t>: The email sender’s MTA initiates the connection to the recipient’s MTA (Receiver-SMTP).</a:t>
            </a:r>
          </a:p>
          <a:p>
            <a:pPr lvl="0" fontAlgn="base"/>
            <a:r>
              <a:rPr lang="en-IN" sz="2000" b="1" dirty="0"/>
              <a:t>Receiver-SMTP (Server)</a:t>
            </a:r>
            <a:r>
              <a:rPr lang="en-IN" sz="2000" dirty="0"/>
              <a:t>: The receiving MTA listens for incoming connections and receives the email from the sender-SMTP.</a:t>
            </a:r>
          </a:p>
          <a:p>
            <a:pPr lvl="0" fontAlgn="base"/>
            <a:r>
              <a:rPr lang="en-IN" sz="2000" dirty="0"/>
              <a:t>This communication happens over TCP</a:t>
            </a:r>
            <a:r>
              <a:rPr lang="en-IN" sz="2000" b="1" dirty="0"/>
              <a:t> port 25</a:t>
            </a:r>
            <a:r>
              <a:rPr lang="en-IN" sz="2000" dirty="0"/>
              <a:t>.</a:t>
            </a:r>
          </a:p>
          <a:p>
            <a:pPr marL="0" indent="0">
              <a:buNone/>
            </a:pPr>
            <a:endParaRPr lang="en-IN" dirty="0"/>
          </a:p>
        </p:txBody>
      </p:sp>
    </p:spTree>
    <p:extLst>
      <p:ext uri="{BB962C8B-B14F-4D97-AF65-F5344CB8AC3E}">
        <p14:creationId xmlns:p14="http://schemas.microsoft.com/office/powerpoint/2010/main" val="378276944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D5E45-C398-488B-9BFF-F82D4C139C38}"/>
              </a:ext>
            </a:extLst>
          </p:cNvPr>
          <p:cNvSpPr>
            <a:spLocks noGrp="1"/>
          </p:cNvSpPr>
          <p:nvPr>
            <p:ph type="title"/>
          </p:nvPr>
        </p:nvSpPr>
        <p:spPr>
          <a:xfrm>
            <a:off x="735106" y="365125"/>
            <a:ext cx="10618694" cy="450663"/>
          </a:xfrm>
        </p:spPr>
        <p:txBody>
          <a:bodyPr>
            <a:normAutofit/>
          </a:bodyPr>
          <a:lstStyle/>
          <a:p>
            <a:r>
              <a:rPr lang="en-US" sz="1200" dirty="0"/>
              <a:t>Continued…</a:t>
            </a:r>
            <a:endParaRPr lang="en-IN" sz="1200" dirty="0"/>
          </a:p>
        </p:txBody>
      </p:sp>
      <p:sp>
        <p:nvSpPr>
          <p:cNvPr id="3" name="Content Placeholder 2">
            <a:extLst>
              <a:ext uri="{FF2B5EF4-FFF2-40B4-BE49-F238E27FC236}">
                <a16:creationId xmlns:a16="http://schemas.microsoft.com/office/drawing/2014/main" id="{7F50A76D-964D-41BB-93D0-8DF63F6523BD}"/>
              </a:ext>
            </a:extLst>
          </p:cNvPr>
          <p:cNvSpPr>
            <a:spLocks noGrp="1"/>
          </p:cNvSpPr>
          <p:nvPr>
            <p:ph idx="1"/>
          </p:nvPr>
        </p:nvSpPr>
        <p:spPr>
          <a:xfrm>
            <a:off x="735106" y="950259"/>
            <a:ext cx="10618694" cy="5226704"/>
          </a:xfrm>
        </p:spPr>
        <p:txBody>
          <a:bodyPr/>
          <a:lstStyle/>
          <a:p>
            <a:pPr marL="0" indent="0" fontAlgn="base">
              <a:buNone/>
            </a:pPr>
            <a:r>
              <a:rPr lang="en-IN" sz="2000" b="1" dirty="0"/>
              <a:t>3. Relays and Gateways</a:t>
            </a:r>
            <a:r>
              <a:rPr lang="en-IN" sz="2000" dirty="0"/>
              <a:t>:</a:t>
            </a:r>
          </a:p>
          <a:p>
            <a:pPr lvl="0" fontAlgn="base"/>
            <a:r>
              <a:rPr lang="en-IN" sz="2000" b="1" dirty="0"/>
              <a:t>Relays</a:t>
            </a:r>
            <a:r>
              <a:rPr lang="en-IN" sz="2000" dirty="0"/>
              <a:t>: In some cases, the email may pass through several intermediate MTAs before reaching the destination server. These MTAs act as </a:t>
            </a:r>
            <a:r>
              <a:rPr lang="en-IN" sz="2000" b="1" dirty="0"/>
              <a:t>relays</a:t>
            </a:r>
            <a:r>
              <a:rPr lang="en-IN" sz="2000" dirty="0"/>
              <a:t>.</a:t>
            </a:r>
          </a:p>
          <a:p>
            <a:pPr lvl="0" fontAlgn="base"/>
            <a:r>
              <a:rPr lang="en-IN" sz="2000" b="1" dirty="0"/>
              <a:t>Gateways</a:t>
            </a:r>
            <a:r>
              <a:rPr lang="en-IN" sz="2000" dirty="0"/>
              <a:t>: If the sending and receiving systems use different email protocols (e.g., SMTP and non-SMTP), an </a:t>
            </a:r>
            <a:r>
              <a:rPr lang="en-IN" sz="2000" b="1" dirty="0"/>
              <a:t>email gateway</a:t>
            </a:r>
            <a:r>
              <a:rPr lang="en-IN" sz="2000" dirty="0"/>
              <a:t> can convert the email to the appropriate format for delivery.</a:t>
            </a:r>
          </a:p>
          <a:p>
            <a:pPr marL="0" indent="0" fontAlgn="base">
              <a:buNone/>
            </a:pPr>
            <a:endParaRPr lang="en-IN" sz="2000" b="1" dirty="0"/>
          </a:p>
          <a:p>
            <a:pPr marL="0" indent="0" fontAlgn="base">
              <a:buNone/>
            </a:pPr>
            <a:r>
              <a:rPr lang="en-IN" sz="2000" b="1" dirty="0"/>
              <a:t>4. Email Delivery</a:t>
            </a:r>
            <a:r>
              <a:rPr lang="en-IN" sz="2000" dirty="0"/>
              <a:t>:</a:t>
            </a:r>
          </a:p>
          <a:p>
            <a:pPr lvl="0" fontAlgn="base"/>
            <a:r>
              <a:rPr lang="en-IN" sz="2000" dirty="0"/>
              <a:t>The sender’s </a:t>
            </a:r>
            <a:r>
              <a:rPr lang="en-IN" sz="2000" b="1" dirty="0"/>
              <a:t>MTA</a:t>
            </a:r>
            <a:r>
              <a:rPr lang="en-IN" sz="2000" dirty="0"/>
              <a:t> sends the email to the </a:t>
            </a:r>
            <a:r>
              <a:rPr lang="en-IN" sz="2000" b="1" dirty="0"/>
              <a:t>receiver’s MTA</a:t>
            </a:r>
            <a:r>
              <a:rPr lang="en-IN" sz="2000" dirty="0"/>
              <a:t>, either directly or through relays.</a:t>
            </a:r>
          </a:p>
          <a:p>
            <a:pPr lvl="0" fontAlgn="base"/>
            <a:r>
              <a:rPr lang="en-IN" sz="2000" dirty="0"/>
              <a:t>The </a:t>
            </a:r>
            <a:r>
              <a:rPr lang="en-IN" sz="2000" b="1" dirty="0"/>
              <a:t>MTA</a:t>
            </a:r>
            <a:r>
              <a:rPr lang="en-IN" sz="2000" dirty="0"/>
              <a:t> uses the </a:t>
            </a:r>
            <a:r>
              <a:rPr lang="en-IN" sz="2000" b="1" dirty="0"/>
              <a:t>SMTP</a:t>
            </a:r>
            <a:r>
              <a:rPr lang="en-IN" sz="2000" dirty="0"/>
              <a:t> protocol to transfer the message. Once it’s delivered to the destination MTA, the email is placed in the recipient’s mailbox.</a:t>
            </a:r>
          </a:p>
          <a:p>
            <a:pPr lvl="0" fontAlgn="base"/>
            <a:r>
              <a:rPr lang="en-IN" sz="2000" dirty="0"/>
              <a:t>The recipient’s </a:t>
            </a:r>
            <a:r>
              <a:rPr lang="en-IN" sz="2000" b="1" dirty="0"/>
              <a:t>User Agent (UA)</a:t>
            </a:r>
            <a:r>
              <a:rPr lang="en-IN" sz="2000" dirty="0"/>
              <a:t> can then download the email.</a:t>
            </a:r>
          </a:p>
          <a:p>
            <a:pPr fontAlgn="base"/>
            <a:endParaRPr lang="en-IN" sz="2000" dirty="0"/>
          </a:p>
          <a:p>
            <a:pPr marL="0" indent="0">
              <a:buNone/>
            </a:pPr>
            <a:endParaRPr lang="en-IN" dirty="0"/>
          </a:p>
        </p:txBody>
      </p:sp>
    </p:spTree>
    <p:extLst>
      <p:ext uri="{BB962C8B-B14F-4D97-AF65-F5344CB8AC3E}">
        <p14:creationId xmlns:p14="http://schemas.microsoft.com/office/powerpoint/2010/main" val="126788675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E6644-8010-432C-B48E-F928F3239692}"/>
              </a:ext>
            </a:extLst>
          </p:cNvPr>
          <p:cNvSpPr>
            <a:spLocks noGrp="1"/>
          </p:cNvSpPr>
          <p:nvPr>
            <p:ph type="title"/>
          </p:nvPr>
        </p:nvSpPr>
        <p:spPr>
          <a:xfrm>
            <a:off x="838200" y="365125"/>
            <a:ext cx="10515600" cy="576169"/>
          </a:xfrm>
        </p:spPr>
        <p:txBody>
          <a:bodyPr>
            <a:noAutofit/>
          </a:bodyPr>
          <a:lstStyle/>
          <a:p>
            <a:pPr fontAlgn="base"/>
            <a:br>
              <a:rPr lang="en-IN" sz="2800" b="1" dirty="0"/>
            </a:br>
            <a:br>
              <a:rPr lang="en-IN" sz="2800" b="1" dirty="0"/>
            </a:br>
            <a:r>
              <a:rPr lang="en-IN" sz="2800" b="1" dirty="0"/>
              <a:t>SMTP Envelope</a:t>
            </a:r>
            <a:br>
              <a:rPr lang="en-IN" sz="2800" b="1" dirty="0"/>
            </a:br>
            <a:br>
              <a:rPr lang="en-IN" sz="2800" dirty="0"/>
            </a:br>
            <a:endParaRPr lang="en-IN" sz="2800" dirty="0"/>
          </a:p>
        </p:txBody>
      </p:sp>
      <p:sp>
        <p:nvSpPr>
          <p:cNvPr id="3" name="Content Placeholder 2">
            <a:extLst>
              <a:ext uri="{FF2B5EF4-FFF2-40B4-BE49-F238E27FC236}">
                <a16:creationId xmlns:a16="http://schemas.microsoft.com/office/drawing/2014/main" id="{A421F433-FF7C-4930-93AE-BAEFF8787D35}"/>
              </a:ext>
            </a:extLst>
          </p:cNvPr>
          <p:cNvSpPr>
            <a:spLocks noGrp="1"/>
          </p:cNvSpPr>
          <p:nvPr>
            <p:ph idx="1"/>
          </p:nvPr>
        </p:nvSpPr>
        <p:spPr>
          <a:xfrm>
            <a:off x="838200" y="941294"/>
            <a:ext cx="10515600" cy="5235669"/>
          </a:xfrm>
        </p:spPr>
        <p:txBody>
          <a:bodyPr>
            <a:normAutofit/>
          </a:bodyPr>
          <a:lstStyle/>
          <a:p>
            <a:pPr marL="0" indent="0">
              <a:buNone/>
            </a:pPr>
            <a:r>
              <a:rPr lang="en-IN" sz="2000" b="1" dirty="0"/>
              <a:t>Purpose</a:t>
            </a:r>
          </a:p>
          <a:p>
            <a:pPr lvl="0" fontAlgn="base"/>
            <a:r>
              <a:rPr lang="en-IN" sz="2000" dirty="0"/>
              <a:t>The SMTP envelope contains information that guides email delivery between servers.</a:t>
            </a:r>
          </a:p>
          <a:p>
            <a:pPr lvl="0" fontAlgn="base"/>
            <a:r>
              <a:rPr lang="en-IN" sz="2000" dirty="0"/>
              <a:t>It is distinct from the email headers and body and is not visible to the email recipient.</a:t>
            </a:r>
          </a:p>
          <a:p>
            <a:pPr marL="0" lvl="0" indent="0" fontAlgn="base">
              <a:buNone/>
            </a:pPr>
            <a:endParaRPr lang="en-IN" sz="2000" dirty="0"/>
          </a:p>
          <a:p>
            <a:pPr marL="0" indent="0" fontAlgn="base">
              <a:buNone/>
            </a:pPr>
            <a:r>
              <a:rPr lang="en-IN" sz="2000" b="1" dirty="0"/>
              <a:t>Contents of the SMTP Envelope</a:t>
            </a:r>
            <a:endParaRPr lang="en-IN" sz="2000" dirty="0"/>
          </a:p>
          <a:p>
            <a:pPr lvl="0" fontAlgn="base"/>
            <a:r>
              <a:rPr lang="en-IN" sz="2000" b="1" dirty="0"/>
              <a:t>Sender Address</a:t>
            </a:r>
            <a:r>
              <a:rPr lang="en-IN" sz="2000" dirty="0"/>
              <a:t>: Specifies where the email originates.</a:t>
            </a:r>
          </a:p>
          <a:p>
            <a:pPr lvl="0" fontAlgn="base"/>
            <a:r>
              <a:rPr lang="en-IN" sz="2000" b="1" dirty="0"/>
              <a:t>Recipient Addresses</a:t>
            </a:r>
            <a:r>
              <a:rPr lang="en-IN" sz="2000" dirty="0"/>
              <a:t>: Indicates where the email should be delivered.</a:t>
            </a:r>
          </a:p>
          <a:p>
            <a:r>
              <a:rPr lang="en-IN" sz="2000" b="1" dirty="0"/>
              <a:t>Routing Information</a:t>
            </a:r>
            <a:r>
              <a:rPr lang="en-IN" sz="2000" dirty="0"/>
              <a:t>: Helps servers determine the path for email delivery</a:t>
            </a:r>
          </a:p>
        </p:txBody>
      </p:sp>
    </p:spTree>
    <p:extLst>
      <p:ext uri="{BB962C8B-B14F-4D97-AF65-F5344CB8AC3E}">
        <p14:creationId xmlns:p14="http://schemas.microsoft.com/office/powerpoint/2010/main" val="277787700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F0945-6D8C-40B9-AC89-55B0E43A22FD}"/>
              </a:ext>
            </a:extLst>
          </p:cNvPr>
          <p:cNvSpPr>
            <a:spLocks noGrp="1"/>
          </p:cNvSpPr>
          <p:nvPr>
            <p:ph type="title"/>
          </p:nvPr>
        </p:nvSpPr>
        <p:spPr>
          <a:xfrm>
            <a:off x="712695" y="535456"/>
            <a:ext cx="10515600" cy="486522"/>
          </a:xfrm>
        </p:spPr>
        <p:txBody>
          <a:bodyPr>
            <a:normAutofit fontScale="90000"/>
          </a:bodyPr>
          <a:lstStyle/>
          <a:p>
            <a:br>
              <a:rPr lang="en-IN" sz="3100" b="1" dirty="0"/>
            </a:br>
            <a:r>
              <a:rPr lang="en-IN" sz="3100" b="1" dirty="0"/>
              <a:t>SMTP Ports</a:t>
            </a:r>
            <a:br>
              <a:rPr lang="en-IN" b="1" dirty="0"/>
            </a:br>
            <a:endParaRPr lang="en-IN" dirty="0"/>
          </a:p>
        </p:txBody>
      </p:sp>
      <p:sp>
        <p:nvSpPr>
          <p:cNvPr id="3" name="Content Placeholder 2">
            <a:extLst>
              <a:ext uri="{FF2B5EF4-FFF2-40B4-BE49-F238E27FC236}">
                <a16:creationId xmlns:a16="http://schemas.microsoft.com/office/drawing/2014/main" id="{49EB79C8-B0ED-41F1-B341-19E5B864C961}"/>
              </a:ext>
            </a:extLst>
          </p:cNvPr>
          <p:cNvSpPr>
            <a:spLocks noGrp="1"/>
          </p:cNvSpPr>
          <p:nvPr>
            <p:ph idx="1"/>
          </p:nvPr>
        </p:nvSpPr>
        <p:spPr>
          <a:xfrm>
            <a:off x="712695" y="1021978"/>
            <a:ext cx="10641105" cy="5154985"/>
          </a:xfrm>
        </p:spPr>
        <p:txBody>
          <a:bodyPr>
            <a:normAutofit/>
          </a:bodyPr>
          <a:lstStyle/>
          <a:p>
            <a:pPr lvl="0" fontAlgn="base"/>
            <a:endParaRPr lang="en-IN" sz="2200" b="1" dirty="0"/>
          </a:p>
          <a:p>
            <a:pPr lvl="0" fontAlgn="base"/>
            <a:r>
              <a:rPr lang="en-IN" sz="2000" b="1" dirty="0"/>
              <a:t>Port 587</a:t>
            </a:r>
            <a:r>
              <a:rPr lang="en-IN" sz="2000" dirty="0"/>
              <a:t>: This is the most commonly used port for </a:t>
            </a:r>
            <a:r>
              <a:rPr lang="en-IN" sz="2000" b="1" dirty="0"/>
              <a:t>secure SMTP submission</a:t>
            </a:r>
            <a:r>
              <a:rPr lang="en-IN" sz="2000" dirty="0"/>
              <a:t> using </a:t>
            </a:r>
            <a:r>
              <a:rPr lang="en-IN" sz="2000" b="1" dirty="0"/>
              <a:t>TLS (Transport Layer Security)</a:t>
            </a:r>
            <a:r>
              <a:rPr lang="en-IN" sz="2000" dirty="0"/>
              <a:t>. It is recommended for client-to-server communication, as it ensures the security of the email transmission.</a:t>
            </a:r>
          </a:p>
          <a:p>
            <a:pPr lvl="0" fontAlgn="base"/>
            <a:r>
              <a:rPr lang="en-IN" sz="2000" b="1" dirty="0"/>
              <a:t>Port 465</a:t>
            </a:r>
            <a:r>
              <a:rPr lang="en-IN" sz="2000" dirty="0"/>
              <a:t>: Previously used for </a:t>
            </a:r>
            <a:r>
              <a:rPr lang="en-IN" sz="2000" b="1" dirty="0"/>
              <a:t>secure SMTP</a:t>
            </a:r>
            <a:r>
              <a:rPr lang="en-IN" sz="2000" dirty="0"/>
              <a:t> (SMTPS), this port is </a:t>
            </a:r>
            <a:r>
              <a:rPr lang="en-IN" sz="2000" b="1" dirty="0"/>
              <a:t>no longer considered an official standard</a:t>
            </a:r>
            <a:r>
              <a:rPr lang="en-IN" sz="2000" dirty="0"/>
              <a:t> and is generally not recommended anymore. Many email providers have moved away from port 465 in favour of port 587.</a:t>
            </a:r>
          </a:p>
          <a:p>
            <a:pPr lvl="0" fontAlgn="base"/>
            <a:r>
              <a:rPr lang="en-IN" sz="2000" b="1" dirty="0"/>
              <a:t>Port 25</a:t>
            </a:r>
            <a:r>
              <a:rPr lang="en-IN" sz="2000" dirty="0"/>
              <a:t>: This port is traditionally used for </a:t>
            </a:r>
            <a:r>
              <a:rPr lang="en-IN" sz="2000" b="1" dirty="0"/>
              <a:t>SMTP relay</a:t>
            </a:r>
            <a:r>
              <a:rPr lang="en-IN" sz="2000" dirty="0"/>
              <a:t> between mail servers, not for email submission from clients. It is often blocked by ISPs for outgoing mail due to its frequent use for spam and malicious activities.</a:t>
            </a:r>
          </a:p>
          <a:p>
            <a:pPr lvl="0" fontAlgn="base"/>
            <a:r>
              <a:rPr lang="en-IN" sz="2000" b="1" dirty="0"/>
              <a:t>Port 2525</a:t>
            </a:r>
            <a:r>
              <a:rPr lang="en-IN" sz="2000" dirty="0"/>
              <a:t>: Although </a:t>
            </a:r>
            <a:r>
              <a:rPr lang="en-IN" sz="2000" b="1" dirty="0"/>
              <a:t>not an official SMTP port</a:t>
            </a:r>
            <a:r>
              <a:rPr lang="en-IN" sz="2000" dirty="0"/>
              <a:t>, it is sometimes used as an alternative for SMTP submission, especially in cases where port 25 is blocked or restricted. Many email providers support this port as an alternative for secure communication.</a:t>
            </a:r>
          </a:p>
          <a:p>
            <a:pPr fontAlgn="base"/>
            <a:endParaRPr lang="en-IN" sz="2000" dirty="0"/>
          </a:p>
          <a:p>
            <a:pPr marL="0" indent="0">
              <a:buNone/>
            </a:pPr>
            <a:endParaRPr lang="en-IN" dirty="0"/>
          </a:p>
        </p:txBody>
      </p:sp>
    </p:spTree>
    <p:extLst>
      <p:ext uri="{BB962C8B-B14F-4D97-AF65-F5344CB8AC3E}">
        <p14:creationId xmlns:p14="http://schemas.microsoft.com/office/powerpoint/2010/main" val="249325086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0B74B-0022-40F9-A7D9-5715F7338B12}"/>
              </a:ext>
            </a:extLst>
          </p:cNvPr>
          <p:cNvSpPr>
            <a:spLocks noGrp="1"/>
          </p:cNvSpPr>
          <p:nvPr>
            <p:ph type="title"/>
          </p:nvPr>
        </p:nvSpPr>
        <p:spPr>
          <a:xfrm>
            <a:off x="838200" y="365125"/>
            <a:ext cx="10515600" cy="647887"/>
          </a:xfrm>
        </p:spPr>
        <p:txBody>
          <a:bodyPr>
            <a:normAutofit/>
          </a:bodyPr>
          <a:lstStyle/>
          <a:p>
            <a:r>
              <a:rPr lang="en-US" sz="3200" b="1" dirty="0"/>
              <a:t>Domain Name System</a:t>
            </a:r>
            <a:endParaRPr lang="en-IN" sz="3200" b="1" dirty="0"/>
          </a:p>
        </p:txBody>
      </p:sp>
      <p:sp>
        <p:nvSpPr>
          <p:cNvPr id="3" name="Content Placeholder 2">
            <a:extLst>
              <a:ext uri="{FF2B5EF4-FFF2-40B4-BE49-F238E27FC236}">
                <a16:creationId xmlns:a16="http://schemas.microsoft.com/office/drawing/2014/main" id="{B91C242F-A945-4663-9B9E-EEAFCB27B3BA}"/>
              </a:ext>
            </a:extLst>
          </p:cNvPr>
          <p:cNvSpPr>
            <a:spLocks noGrp="1"/>
          </p:cNvSpPr>
          <p:nvPr>
            <p:ph idx="1"/>
          </p:nvPr>
        </p:nvSpPr>
        <p:spPr>
          <a:xfrm>
            <a:off x="838200" y="1102659"/>
            <a:ext cx="10515600" cy="5074304"/>
          </a:xfrm>
        </p:spPr>
        <p:txBody>
          <a:bodyPr>
            <a:normAutofit/>
          </a:bodyPr>
          <a:lstStyle/>
          <a:p>
            <a:pPr fontAlgn="base"/>
            <a:r>
              <a:rPr lang="en-IN" sz="2000" dirty="0"/>
              <a:t>The Domain Name System (DNS) translates human-readable domain names (e.g., www.google.com) into machine-readable IP addresses (e.g., 142.250.190.14), enabling internet communication</a:t>
            </a:r>
          </a:p>
          <a:p>
            <a:pPr lvl="0" fontAlgn="base"/>
            <a:r>
              <a:rPr lang="en-IN" sz="2000" dirty="0"/>
              <a:t>It enables computers to locate and communicate with each other on the internet.</a:t>
            </a:r>
          </a:p>
          <a:p>
            <a:pPr lvl="0" fontAlgn="base"/>
            <a:r>
              <a:rPr lang="en-IN" sz="2000" dirty="0"/>
              <a:t>Functions as a </a:t>
            </a:r>
            <a:r>
              <a:rPr lang="en-IN" sz="2000" b="1" dirty="0"/>
              <a:t>hierarchical, distributed database</a:t>
            </a:r>
            <a:r>
              <a:rPr lang="en-IN" sz="2000" dirty="0"/>
              <a:t>.</a:t>
            </a:r>
          </a:p>
          <a:p>
            <a:pPr lvl="0" fontAlgn="base"/>
            <a:r>
              <a:rPr lang="en-IN" sz="2000" dirty="0"/>
              <a:t>Queries pass through multiple levels:</a:t>
            </a:r>
          </a:p>
          <a:p>
            <a:pPr lvl="1" fontAlgn="base"/>
            <a:r>
              <a:rPr lang="en-IN" sz="2000" b="1" dirty="0"/>
              <a:t>Root server</a:t>
            </a:r>
            <a:endParaRPr lang="en-IN" sz="2000" dirty="0"/>
          </a:p>
          <a:p>
            <a:pPr lvl="1" fontAlgn="base"/>
            <a:r>
              <a:rPr lang="en-IN" sz="2000" b="1" dirty="0"/>
              <a:t>Top-Level Domain (TLD) server</a:t>
            </a:r>
            <a:endParaRPr lang="en-IN" sz="2000" dirty="0"/>
          </a:p>
          <a:p>
            <a:pPr lvl="1" fontAlgn="base"/>
            <a:r>
              <a:rPr lang="en-IN" sz="2000" b="1" dirty="0"/>
              <a:t>Authoritative server</a:t>
            </a:r>
            <a:r>
              <a:rPr lang="en-IN" sz="2000" dirty="0"/>
              <a:t> (stores the specific IP address).</a:t>
            </a:r>
          </a:p>
          <a:p>
            <a:pPr lvl="0" fontAlgn="base"/>
            <a:r>
              <a:rPr lang="en-IN" sz="2000" dirty="0"/>
              <a:t>Ensures seamless website access using easy-to-remember names instead of numerical IP addresses.</a:t>
            </a:r>
          </a:p>
          <a:p>
            <a:pPr marL="0" indent="0">
              <a:buNone/>
            </a:pPr>
            <a:endParaRPr lang="en-IN" dirty="0"/>
          </a:p>
        </p:txBody>
      </p:sp>
    </p:spTree>
    <p:extLst>
      <p:ext uri="{BB962C8B-B14F-4D97-AF65-F5344CB8AC3E}">
        <p14:creationId xmlns:p14="http://schemas.microsoft.com/office/powerpoint/2010/main" val="108795974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How-DNS-Works-gif-ezgifcom-optimize-1">
            <a:extLst>
              <a:ext uri="{FF2B5EF4-FFF2-40B4-BE49-F238E27FC236}">
                <a16:creationId xmlns:a16="http://schemas.microsoft.com/office/drawing/2014/main" id="{1D3C3727-10A1-41FE-944E-6FA121E8DE70}"/>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608729" y="563245"/>
            <a:ext cx="6353026" cy="5731510"/>
          </a:xfrm>
          <a:prstGeom prst="rect">
            <a:avLst/>
          </a:prstGeom>
          <a:noFill/>
          <a:ln>
            <a:noFill/>
          </a:ln>
        </p:spPr>
      </p:pic>
    </p:spTree>
    <p:extLst>
      <p:ext uri="{BB962C8B-B14F-4D97-AF65-F5344CB8AC3E}">
        <p14:creationId xmlns:p14="http://schemas.microsoft.com/office/powerpoint/2010/main" val="104735267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1A87E-33EF-4D1F-8093-1BC16B234547}"/>
              </a:ext>
            </a:extLst>
          </p:cNvPr>
          <p:cNvSpPr>
            <a:spLocks noGrp="1"/>
          </p:cNvSpPr>
          <p:nvPr>
            <p:ph type="title"/>
          </p:nvPr>
        </p:nvSpPr>
        <p:spPr>
          <a:xfrm>
            <a:off x="717176" y="365125"/>
            <a:ext cx="10636624" cy="504451"/>
          </a:xfrm>
        </p:spPr>
        <p:txBody>
          <a:bodyPr>
            <a:normAutofit fontScale="90000"/>
          </a:bodyPr>
          <a:lstStyle/>
          <a:p>
            <a:br>
              <a:rPr lang="en-IN" b="1" dirty="0"/>
            </a:br>
            <a:r>
              <a:rPr lang="en-IN" b="1" dirty="0"/>
              <a:t>How Does DNS Work?</a:t>
            </a:r>
            <a:br>
              <a:rPr lang="en-IN" b="1" dirty="0"/>
            </a:br>
            <a:endParaRPr lang="en-IN" dirty="0"/>
          </a:p>
        </p:txBody>
      </p:sp>
      <p:sp>
        <p:nvSpPr>
          <p:cNvPr id="3" name="Content Placeholder 2">
            <a:extLst>
              <a:ext uri="{FF2B5EF4-FFF2-40B4-BE49-F238E27FC236}">
                <a16:creationId xmlns:a16="http://schemas.microsoft.com/office/drawing/2014/main" id="{D0ECB2E1-FAAA-42DE-B305-4BDFFC5041D4}"/>
              </a:ext>
            </a:extLst>
          </p:cNvPr>
          <p:cNvSpPr>
            <a:spLocks noGrp="1"/>
          </p:cNvSpPr>
          <p:nvPr>
            <p:ph idx="1"/>
          </p:nvPr>
        </p:nvSpPr>
        <p:spPr>
          <a:xfrm>
            <a:off x="618565" y="869576"/>
            <a:ext cx="10735235" cy="5307387"/>
          </a:xfrm>
        </p:spPr>
        <p:txBody>
          <a:bodyPr>
            <a:normAutofit/>
          </a:bodyPr>
          <a:lstStyle/>
          <a:p>
            <a:pPr lvl="0" fontAlgn="base"/>
            <a:r>
              <a:rPr lang="en-IN" sz="2000" dirty="0"/>
              <a:t>When we type a website like </a:t>
            </a:r>
            <a:r>
              <a:rPr lang="en-IN" sz="2000" u="sng" dirty="0">
                <a:solidFill>
                  <a:schemeClr val="accent1"/>
                </a:solidFill>
                <a:hlinkClick r:id="rId2">
                  <a:extLst>
                    <a:ext uri="{A12FA001-AC4F-418D-AE19-62706E023703}">
                      <ahyp:hlinkClr xmlns:ahyp="http://schemas.microsoft.com/office/drawing/2018/hyperlinkcolor" val="tx"/>
                    </a:ext>
                  </a:extLst>
                </a:hlinkClick>
              </a:rPr>
              <a:t>https://www.</a:t>
            </a:r>
            <a:r>
              <a:rPr lang="en-IN" sz="2000" u="sng" dirty="0">
                <a:solidFill>
                  <a:schemeClr val="accent1"/>
                </a:solidFill>
              </a:rPr>
              <a:t>sitpune.edu.in</a:t>
            </a:r>
            <a:r>
              <a:rPr lang="en-IN" sz="2000" dirty="0"/>
              <a:t> in our browser, our computer tries to find the IP address.</a:t>
            </a:r>
          </a:p>
          <a:p>
            <a:pPr lvl="0" fontAlgn="base"/>
            <a:r>
              <a:rPr lang="en-IN" sz="2000" dirty="0"/>
              <a:t>First, it checks the local cache (our browser, operating system, or router) to see if it already knows the IP address.</a:t>
            </a:r>
          </a:p>
          <a:p>
            <a:pPr lvl="0" fontAlgn="base"/>
            <a:r>
              <a:rPr lang="en-IN" sz="2000" dirty="0"/>
              <a:t>If the local cache doesn’t have the IP, the query is sent to a DNS resolver to find it.</a:t>
            </a:r>
          </a:p>
          <a:p>
            <a:pPr lvl="0" fontAlgn="base"/>
            <a:r>
              <a:rPr lang="en-IN" sz="2000" dirty="0"/>
              <a:t>DNS resolver may check host files (used for specific manual mappings), but usually, it moves on.</a:t>
            </a:r>
          </a:p>
          <a:p>
            <a:pPr lvl="0" fontAlgn="base"/>
            <a:r>
              <a:rPr lang="en-IN" sz="2000" dirty="0"/>
              <a:t>Resolver sends the query to a Root DNS server, which doesn't know the exact IP address but points to the TLD server (e.g., .org server for this example).</a:t>
            </a:r>
          </a:p>
          <a:p>
            <a:pPr lvl="0" fontAlgn="base"/>
            <a:r>
              <a:rPr lang="en-IN" sz="2000" dirty="0"/>
              <a:t>TLD server then directs the resolver to the authoritative nameserver for </a:t>
            </a:r>
            <a:r>
              <a:rPr lang="en-IN" sz="2000" u="sng" dirty="0">
                <a:solidFill>
                  <a:schemeClr val="accent1"/>
                </a:solidFill>
                <a:hlinkClick r:id="rId2">
                  <a:extLst>
                    <a:ext uri="{A12FA001-AC4F-418D-AE19-62706E023703}">
                      <ahyp:hlinkClr xmlns:ahyp="http://schemas.microsoft.com/office/drawing/2018/hyperlinkcolor" val="tx"/>
                    </a:ext>
                  </a:extLst>
                </a:hlinkClick>
              </a:rPr>
              <a:t>www.</a:t>
            </a:r>
            <a:r>
              <a:rPr lang="en-IN" sz="2000" u="sng" dirty="0">
                <a:solidFill>
                  <a:schemeClr val="accent1"/>
                </a:solidFill>
              </a:rPr>
              <a:t>sitpune.edu.in</a:t>
            </a:r>
            <a:r>
              <a:rPr lang="en-IN" sz="2000" dirty="0"/>
              <a:t>.</a:t>
            </a:r>
          </a:p>
          <a:p>
            <a:pPr lvl="0" fontAlgn="base"/>
            <a:r>
              <a:rPr lang="en-IN" sz="2000" dirty="0"/>
              <a:t>Authoritative nameserver knows the exact IP address for </a:t>
            </a:r>
            <a:r>
              <a:rPr lang="en-IN" sz="2000" u="sng" dirty="0">
                <a:solidFill>
                  <a:schemeClr val="accent1"/>
                </a:solidFill>
                <a:hlinkClick r:id="rId2">
                  <a:extLst>
                    <a:ext uri="{A12FA001-AC4F-418D-AE19-62706E023703}">
                      <ahyp:hlinkClr xmlns:ahyp="http://schemas.microsoft.com/office/drawing/2018/hyperlinkcolor" val="tx"/>
                    </a:ext>
                  </a:extLst>
                </a:hlinkClick>
              </a:rPr>
              <a:t>www.</a:t>
            </a:r>
            <a:r>
              <a:rPr lang="en-IN" sz="2000" u="sng" dirty="0">
                <a:solidFill>
                  <a:schemeClr val="accent1"/>
                </a:solidFill>
              </a:rPr>
              <a:t>sitpune.edu.in </a:t>
            </a:r>
            <a:r>
              <a:rPr lang="en-IN" sz="2000" dirty="0"/>
              <a:t>and sends it back to the resolver.</a:t>
            </a:r>
          </a:p>
          <a:p>
            <a:pPr lvl="0" fontAlgn="base"/>
            <a:r>
              <a:rPr lang="en-IN" sz="2000" dirty="0"/>
              <a:t>Resolver passes the IP address to our computer.</a:t>
            </a:r>
          </a:p>
          <a:p>
            <a:pPr lvl="0" fontAlgn="base"/>
            <a:r>
              <a:rPr lang="en-IN" sz="2000" dirty="0"/>
              <a:t>Our computer uses the IP address to connect to the real server where the website is hosted.</a:t>
            </a:r>
          </a:p>
          <a:p>
            <a:pPr lvl="0" fontAlgn="base"/>
            <a:r>
              <a:rPr lang="en-IN" sz="2000" dirty="0"/>
              <a:t>The website loads in our browser.</a:t>
            </a:r>
          </a:p>
          <a:p>
            <a:pPr marL="0" indent="0">
              <a:buNone/>
            </a:pPr>
            <a:endParaRPr lang="en-IN" dirty="0"/>
          </a:p>
        </p:txBody>
      </p:sp>
    </p:spTree>
    <p:extLst>
      <p:ext uri="{BB962C8B-B14F-4D97-AF65-F5344CB8AC3E}">
        <p14:creationId xmlns:p14="http://schemas.microsoft.com/office/powerpoint/2010/main" val="262655527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C6820-ED42-42CE-9B13-2CE5FCCA26FA}"/>
              </a:ext>
            </a:extLst>
          </p:cNvPr>
          <p:cNvSpPr>
            <a:spLocks noGrp="1"/>
          </p:cNvSpPr>
          <p:nvPr>
            <p:ph type="title"/>
          </p:nvPr>
        </p:nvSpPr>
        <p:spPr>
          <a:xfrm>
            <a:off x="717176" y="365125"/>
            <a:ext cx="10636624" cy="549275"/>
          </a:xfrm>
        </p:spPr>
        <p:txBody>
          <a:bodyPr>
            <a:normAutofit fontScale="90000"/>
          </a:bodyPr>
          <a:lstStyle/>
          <a:p>
            <a:br>
              <a:rPr lang="en-IN" b="1" dirty="0"/>
            </a:br>
            <a:r>
              <a:rPr lang="en-IN" b="1" dirty="0"/>
              <a:t>Structure of DNS</a:t>
            </a:r>
            <a:br>
              <a:rPr lang="en-IN" b="1" dirty="0"/>
            </a:br>
            <a:endParaRPr lang="en-IN" dirty="0"/>
          </a:p>
        </p:txBody>
      </p:sp>
      <p:sp>
        <p:nvSpPr>
          <p:cNvPr id="3" name="Content Placeholder 2">
            <a:extLst>
              <a:ext uri="{FF2B5EF4-FFF2-40B4-BE49-F238E27FC236}">
                <a16:creationId xmlns:a16="http://schemas.microsoft.com/office/drawing/2014/main" id="{5FC1439C-CE29-4072-9206-E9A967B29BD3}"/>
              </a:ext>
            </a:extLst>
          </p:cNvPr>
          <p:cNvSpPr>
            <a:spLocks noGrp="1"/>
          </p:cNvSpPr>
          <p:nvPr>
            <p:ph idx="1"/>
          </p:nvPr>
        </p:nvSpPr>
        <p:spPr>
          <a:xfrm>
            <a:off x="788894" y="1021976"/>
            <a:ext cx="10564906" cy="5154987"/>
          </a:xfrm>
        </p:spPr>
        <p:txBody>
          <a:bodyPr/>
          <a:lstStyle/>
          <a:p>
            <a:pPr marL="0" indent="0">
              <a:buNone/>
            </a:pPr>
            <a:r>
              <a:rPr lang="en-IN" sz="2000" dirty="0"/>
              <a:t>It is very difficult to find out the</a:t>
            </a:r>
            <a:r>
              <a:rPr lang="en-IN" sz="2000" u="sng" dirty="0"/>
              <a:t> IP address </a:t>
            </a:r>
            <a:r>
              <a:rPr lang="en-IN" sz="2000" dirty="0"/>
              <a:t>associated with a website because there are millions of websites and with all those websites we should be able to generate the IP address immediately, there should not be a lot of delays for that to happen organization of the database is very important.</a:t>
            </a:r>
          </a:p>
          <a:p>
            <a:pPr marL="0" indent="0">
              <a:buNone/>
            </a:pPr>
            <a:endParaRPr lang="en-IN" dirty="0"/>
          </a:p>
        </p:txBody>
      </p:sp>
      <p:pic>
        <p:nvPicPr>
          <p:cNvPr id="4" name="Picture 3">
            <a:extLst>
              <a:ext uri="{FF2B5EF4-FFF2-40B4-BE49-F238E27FC236}">
                <a16:creationId xmlns:a16="http://schemas.microsoft.com/office/drawing/2014/main" id="{3FF5D53F-5A69-4220-A4B5-F9545F1654C0}"/>
              </a:ext>
            </a:extLst>
          </p:cNvPr>
          <p:cNvPicPr>
            <a:picLocks noChangeAspect="1"/>
          </p:cNvPicPr>
          <p:nvPr/>
        </p:nvPicPr>
        <p:blipFill>
          <a:blip r:embed="rId2"/>
          <a:stretch>
            <a:fillRect/>
          </a:stretch>
        </p:blipFill>
        <p:spPr>
          <a:xfrm>
            <a:off x="2540349" y="2751486"/>
            <a:ext cx="5730737" cy="3255546"/>
          </a:xfrm>
          <a:prstGeom prst="rect">
            <a:avLst/>
          </a:prstGeom>
        </p:spPr>
      </p:pic>
    </p:spTree>
    <p:extLst>
      <p:ext uri="{BB962C8B-B14F-4D97-AF65-F5344CB8AC3E}">
        <p14:creationId xmlns:p14="http://schemas.microsoft.com/office/powerpoint/2010/main" val="248144672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AE41F-2A21-4328-B181-8070FDCFAE86}"/>
              </a:ext>
            </a:extLst>
          </p:cNvPr>
          <p:cNvSpPr>
            <a:spLocks noGrp="1"/>
          </p:cNvSpPr>
          <p:nvPr>
            <p:ph type="title"/>
          </p:nvPr>
        </p:nvSpPr>
        <p:spPr>
          <a:xfrm>
            <a:off x="838200" y="365126"/>
            <a:ext cx="10515600" cy="486522"/>
          </a:xfrm>
        </p:spPr>
        <p:txBody>
          <a:bodyPr>
            <a:noAutofit/>
          </a:bodyPr>
          <a:lstStyle/>
          <a:p>
            <a:br>
              <a:rPr lang="en-IN" sz="2000" b="1" dirty="0"/>
            </a:br>
            <a:r>
              <a:rPr lang="en-IN" sz="2400" b="1" dirty="0"/>
              <a:t>There are various kinds of domains:</a:t>
            </a:r>
            <a:br>
              <a:rPr lang="en-IN" sz="2400" b="1" dirty="0"/>
            </a:br>
            <a:endParaRPr lang="en-IN" sz="2400" b="1" dirty="0"/>
          </a:p>
        </p:txBody>
      </p:sp>
      <p:sp>
        <p:nvSpPr>
          <p:cNvPr id="3" name="Content Placeholder 2">
            <a:extLst>
              <a:ext uri="{FF2B5EF4-FFF2-40B4-BE49-F238E27FC236}">
                <a16:creationId xmlns:a16="http://schemas.microsoft.com/office/drawing/2014/main" id="{1B04D21C-4CB9-41AE-B5FD-15DEAA3DAD14}"/>
              </a:ext>
            </a:extLst>
          </p:cNvPr>
          <p:cNvSpPr>
            <a:spLocks noGrp="1"/>
          </p:cNvSpPr>
          <p:nvPr>
            <p:ph idx="1"/>
          </p:nvPr>
        </p:nvSpPr>
        <p:spPr>
          <a:xfrm>
            <a:off x="690282" y="851648"/>
            <a:ext cx="10663518" cy="5325315"/>
          </a:xfrm>
        </p:spPr>
        <p:txBody>
          <a:bodyPr>
            <a:normAutofit/>
          </a:bodyPr>
          <a:lstStyle/>
          <a:p>
            <a:pPr lvl="0" fontAlgn="base"/>
            <a:endParaRPr lang="en-IN" sz="2000" b="1" dirty="0"/>
          </a:p>
          <a:p>
            <a:pPr lvl="0" fontAlgn="base"/>
            <a:endParaRPr lang="en-IN" sz="2000" b="1" dirty="0"/>
          </a:p>
          <a:p>
            <a:pPr lvl="0" fontAlgn="base"/>
            <a:r>
              <a:rPr lang="en-IN" sz="2000" b="1" dirty="0"/>
              <a:t>Generic Domains:</a:t>
            </a:r>
            <a:r>
              <a:rPr lang="en-IN" sz="2000" dirty="0"/>
              <a:t> .com(commercial), .</a:t>
            </a:r>
            <a:r>
              <a:rPr lang="en-IN" sz="2000" dirty="0" err="1"/>
              <a:t>edu</a:t>
            </a:r>
            <a:r>
              <a:rPr lang="en-IN" sz="2000" dirty="0"/>
              <a:t>(educational), .mil(military), .org(</a:t>
            </a:r>
            <a:r>
              <a:rPr lang="en-IN" sz="2000" dirty="0" err="1"/>
              <a:t>nonprofit</a:t>
            </a:r>
            <a:r>
              <a:rPr lang="en-IN" sz="2000" dirty="0"/>
              <a:t> organization), </a:t>
            </a:r>
            <a:r>
              <a:rPr lang="en-IN" sz="2000" dirty="0" err="1"/>
              <a:t>.net</a:t>
            </a:r>
            <a:r>
              <a:rPr lang="en-IN" sz="2000" dirty="0"/>
              <a:t>(similar to commercial) all these are generic domains.</a:t>
            </a:r>
          </a:p>
          <a:p>
            <a:pPr marL="0" lvl="0" indent="0" fontAlgn="base">
              <a:buNone/>
            </a:pPr>
            <a:endParaRPr lang="en-IN" sz="2000" dirty="0"/>
          </a:p>
          <a:p>
            <a:pPr lvl="0" fontAlgn="base"/>
            <a:r>
              <a:rPr lang="en-IN" sz="2000" b="1" dirty="0"/>
              <a:t>Country Domain:</a:t>
            </a:r>
            <a:r>
              <a:rPr lang="en-IN" sz="2000" dirty="0"/>
              <a:t> .in (India) .us .</a:t>
            </a:r>
            <a:r>
              <a:rPr lang="en-IN" sz="2000" dirty="0" err="1"/>
              <a:t>uk</a:t>
            </a:r>
            <a:endParaRPr lang="en-IN" sz="2000" dirty="0"/>
          </a:p>
          <a:p>
            <a:pPr marL="0" lvl="0" indent="0" fontAlgn="base">
              <a:buNone/>
            </a:pPr>
            <a:endParaRPr lang="en-IN" sz="2000" dirty="0"/>
          </a:p>
          <a:p>
            <a:r>
              <a:rPr lang="en-IN" sz="2000" b="1" dirty="0"/>
              <a:t>Inverse Domain:</a:t>
            </a:r>
            <a:r>
              <a:rPr lang="en-IN" sz="2000" dirty="0"/>
              <a:t> if we want to know what is the domain name of the website. IP to domain name mapping. So DNS can provide both the mapping for example to find the IP addresses of </a:t>
            </a:r>
            <a:r>
              <a:rPr lang="en-IN" sz="2000" i="1" dirty="0"/>
              <a:t>sitpune.edu.in </a:t>
            </a:r>
            <a:r>
              <a:rPr lang="en-IN" sz="2000" dirty="0"/>
              <a:t>then we have to type:</a:t>
            </a:r>
          </a:p>
          <a:p>
            <a:pPr marL="0" indent="0">
              <a:buNone/>
            </a:pPr>
            <a:r>
              <a:rPr lang="en-IN" sz="2000" b="1" dirty="0"/>
              <a:t>		</a:t>
            </a:r>
            <a:r>
              <a:rPr lang="en-IN" i="1" dirty="0"/>
              <a:t> </a:t>
            </a:r>
            <a:r>
              <a:rPr lang="en-IN" i="1" dirty="0" err="1"/>
              <a:t>nslookup</a:t>
            </a:r>
            <a:r>
              <a:rPr lang="en-IN" i="1" dirty="0"/>
              <a:t> www.sitpune.edu.in</a:t>
            </a:r>
            <a:endParaRPr lang="en-IN" sz="2000" b="1" dirty="0"/>
          </a:p>
        </p:txBody>
      </p:sp>
    </p:spTree>
    <p:extLst>
      <p:ext uri="{BB962C8B-B14F-4D97-AF65-F5344CB8AC3E}">
        <p14:creationId xmlns:p14="http://schemas.microsoft.com/office/powerpoint/2010/main" val="103621451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476C41A-E84D-45A3-BF63-1342A1372E1A}"/>
              </a:ext>
            </a:extLst>
          </p:cNvPr>
          <p:cNvPicPr>
            <a:picLocks noChangeAspect="1"/>
          </p:cNvPicPr>
          <p:nvPr/>
        </p:nvPicPr>
        <p:blipFill>
          <a:blip r:embed="rId2"/>
          <a:stretch>
            <a:fillRect/>
          </a:stretch>
        </p:blipFill>
        <p:spPr>
          <a:xfrm>
            <a:off x="1333500" y="1047750"/>
            <a:ext cx="9525000" cy="4762500"/>
          </a:xfrm>
          <a:prstGeom prst="rect">
            <a:avLst/>
          </a:prstGeom>
        </p:spPr>
      </p:pic>
    </p:spTree>
    <p:extLst>
      <p:ext uri="{BB962C8B-B14F-4D97-AF65-F5344CB8AC3E}">
        <p14:creationId xmlns:p14="http://schemas.microsoft.com/office/powerpoint/2010/main" val="149563867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CFCA0-0117-4336-BD5E-5665C475E608}"/>
              </a:ext>
            </a:extLst>
          </p:cNvPr>
          <p:cNvSpPr>
            <a:spLocks noGrp="1"/>
          </p:cNvSpPr>
          <p:nvPr>
            <p:ph type="title"/>
          </p:nvPr>
        </p:nvSpPr>
        <p:spPr>
          <a:xfrm>
            <a:off x="838200" y="365126"/>
            <a:ext cx="10515600" cy="513416"/>
          </a:xfrm>
        </p:spPr>
        <p:txBody>
          <a:bodyPr>
            <a:normAutofit fontScale="90000"/>
          </a:bodyPr>
          <a:lstStyle/>
          <a:p>
            <a:br>
              <a:rPr lang="en-IN" b="1" dirty="0"/>
            </a:br>
            <a:r>
              <a:rPr lang="en-IN" sz="3100" b="1" dirty="0"/>
              <a:t>Domain Name Server</a:t>
            </a:r>
            <a:br>
              <a:rPr lang="en-IN" sz="3100" b="1" dirty="0"/>
            </a:br>
            <a:endParaRPr lang="en-IN" sz="3100" dirty="0"/>
          </a:p>
        </p:txBody>
      </p:sp>
      <p:sp>
        <p:nvSpPr>
          <p:cNvPr id="3" name="Content Placeholder 2">
            <a:extLst>
              <a:ext uri="{FF2B5EF4-FFF2-40B4-BE49-F238E27FC236}">
                <a16:creationId xmlns:a16="http://schemas.microsoft.com/office/drawing/2014/main" id="{AD85BEEF-3693-4CDB-A4F2-904FDED7BFFF}"/>
              </a:ext>
            </a:extLst>
          </p:cNvPr>
          <p:cNvSpPr>
            <a:spLocks noGrp="1"/>
          </p:cNvSpPr>
          <p:nvPr>
            <p:ph idx="1"/>
          </p:nvPr>
        </p:nvSpPr>
        <p:spPr>
          <a:xfrm>
            <a:off x="838200" y="1138518"/>
            <a:ext cx="10515600" cy="5038445"/>
          </a:xfrm>
        </p:spPr>
        <p:txBody>
          <a:bodyPr>
            <a:normAutofit/>
          </a:bodyPr>
          <a:lstStyle/>
          <a:p>
            <a:endParaRPr lang="en-US" sz="2000" dirty="0"/>
          </a:p>
          <a:p>
            <a:endParaRPr lang="en-US" sz="2000" dirty="0"/>
          </a:p>
          <a:p>
            <a:r>
              <a:rPr lang="en-US" sz="2000" dirty="0"/>
              <a:t>The client machine sends a request to the local name server, which, if the root does not find the address in its database, sends a request to the root name server, which in turn, will route the query to a top-level domain (TLD) or authoritative name server. </a:t>
            </a:r>
          </a:p>
          <a:p>
            <a:r>
              <a:rPr lang="en-US" sz="2000" dirty="0"/>
              <a:t>The root name server can also contain some </a:t>
            </a:r>
            <a:r>
              <a:rPr lang="en-US" sz="2000" dirty="0" err="1"/>
              <a:t>hostName</a:t>
            </a:r>
            <a:r>
              <a:rPr lang="en-US" sz="2000" dirty="0"/>
              <a:t> to IP address mappings. </a:t>
            </a:r>
          </a:p>
          <a:p>
            <a:r>
              <a:rPr lang="en-US" sz="2000" dirty="0"/>
              <a:t>The Top-level domain (TLD) server always knows who the authoritative name server is.</a:t>
            </a:r>
          </a:p>
          <a:p>
            <a:r>
              <a:rPr lang="en-US" sz="2000" dirty="0"/>
              <a:t> So finally the IP address is returned to the local name server which in turn returns the IP address to the host.</a:t>
            </a:r>
            <a:endParaRPr lang="en-IN" sz="2000" dirty="0"/>
          </a:p>
        </p:txBody>
      </p:sp>
    </p:spTree>
    <p:extLst>
      <p:ext uri="{BB962C8B-B14F-4D97-AF65-F5344CB8AC3E}">
        <p14:creationId xmlns:p14="http://schemas.microsoft.com/office/powerpoint/2010/main" val="399728065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6ED8AD8-D2C6-4F7C-8231-16DEEE50D7FD}"/>
              </a:ext>
            </a:extLst>
          </p:cNvPr>
          <p:cNvPicPr>
            <a:picLocks noChangeAspect="1"/>
          </p:cNvPicPr>
          <p:nvPr/>
        </p:nvPicPr>
        <p:blipFill>
          <a:blip r:embed="rId2"/>
          <a:stretch>
            <a:fillRect/>
          </a:stretch>
        </p:blipFill>
        <p:spPr>
          <a:xfrm>
            <a:off x="2061881" y="846721"/>
            <a:ext cx="8722659" cy="4801604"/>
          </a:xfrm>
          <a:prstGeom prst="rect">
            <a:avLst/>
          </a:prstGeom>
        </p:spPr>
      </p:pic>
    </p:spTree>
    <p:extLst>
      <p:ext uri="{BB962C8B-B14F-4D97-AF65-F5344CB8AC3E}">
        <p14:creationId xmlns:p14="http://schemas.microsoft.com/office/powerpoint/2010/main" val="54626816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6467D-BC19-4A53-9182-60BB3EFABF5B}"/>
              </a:ext>
            </a:extLst>
          </p:cNvPr>
          <p:cNvSpPr>
            <a:spLocks noGrp="1"/>
          </p:cNvSpPr>
          <p:nvPr>
            <p:ph type="title"/>
          </p:nvPr>
        </p:nvSpPr>
        <p:spPr>
          <a:xfrm>
            <a:off x="838200" y="365125"/>
            <a:ext cx="10515600" cy="549275"/>
          </a:xfrm>
        </p:spPr>
        <p:txBody>
          <a:bodyPr>
            <a:normAutofit fontScale="90000"/>
          </a:bodyPr>
          <a:lstStyle/>
          <a:p>
            <a:br>
              <a:rPr lang="en-IN" b="1" dirty="0"/>
            </a:br>
            <a:r>
              <a:rPr lang="en-IN" sz="3600" b="1" dirty="0"/>
              <a:t>DNS Lookup</a:t>
            </a:r>
            <a:br>
              <a:rPr lang="en-IN" b="1" dirty="0"/>
            </a:br>
            <a:endParaRPr lang="en-IN" dirty="0"/>
          </a:p>
        </p:txBody>
      </p:sp>
      <p:sp>
        <p:nvSpPr>
          <p:cNvPr id="3" name="Content Placeholder 2">
            <a:extLst>
              <a:ext uri="{FF2B5EF4-FFF2-40B4-BE49-F238E27FC236}">
                <a16:creationId xmlns:a16="http://schemas.microsoft.com/office/drawing/2014/main" id="{6F71C1EB-90D0-4A84-833B-0E6DAA8A6FDF}"/>
              </a:ext>
            </a:extLst>
          </p:cNvPr>
          <p:cNvSpPr>
            <a:spLocks noGrp="1"/>
          </p:cNvSpPr>
          <p:nvPr>
            <p:ph idx="1"/>
          </p:nvPr>
        </p:nvSpPr>
        <p:spPr>
          <a:xfrm>
            <a:off x="838200" y="1039906"/>
            <a:ext cx="10515600" cy="5137057"/>
          </a:xfrm>
        </p:spPr>
        <p:txBody>
          <a:bodyPr>
            <a:normAutofit/>
          </a:bodyPr>
          <a:lstStyle/>
          <a:p>
            <a:pPr marL="0" indent="0" fontAlgn="base">
              <a:buNone/>
            </a:pPr>
            <a:r>
              <a:rPr lang="en-US" sz="2200" dirty="0"/>
              <a:t>DNS Look up also called DNS Resolution, is the process of translating a human-readable domain name (like www.example.com) into its corresponding IP address (like 192.0.2.1), which computers use to locate and communicate with each other on the internet. It allows users to access websites easily using names instead of remembering numeric IP addresses.</a:t>
            </a:r>
          </a:p>
          <a:p>
            <a:pPr fontAlgn="base"/>
            <a:r>
              <a:rPr lang="en-US" sz="2200" dirty="0"/>
              <a:t>DNS Lookup starts when a user types a domain name into their browser.</a:t>
            </a:r>
          </a:p>
          <a:p>
            <a:pPr fontAlgn="base"/>
            <a:r>
              <a:rPr lang="en-US" sz="2200" dirty="0"/>
              <a:t>The query goes through a series of servers: the DNS resolver, Root server, TLD server and authoritative server.</a:t>
            </a:r>
          </a:p>
          <a:p>
            <a:pPr fontAlgn="base"/>
            <a:r>
              <a:rPr lang="en-US" sz="2200" dirty="0"/>
              <a:t>Each server plays a role in finding the correct IP address for the domain.</a:t>
            </a:r>
          </a:p>
          <a:p>
            <a:pPr fontAlgn="base"/>
            <a:r>
              <a:rPr lang="en-US" sz="2200" dirty="0"/>
              <a:t>Once the IP address is found, the browser connects to the website’s server and loads the page.</a:t>
            </a:r>
          </a:p>
          <a:p>
            <a:endParaRPr lang="en-IN" dirty="0"/>
          </a:p>
        </p:txBody>
      </p:sp>
    </p:spTree>
    <p:extLst>
      <p:ext uri="{BB962C8B-B14F-4D97-AF65-F5344CB8AC3E}">
        <p14:creationId xmlns:p14="http://schemas.microsoft.com/office/powerpoint/2010/main" val="210058247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59942-B440-4553-8B84-656CD3B3C115}"/>
              </a:ext>
            </a:extLst>
          </p:cNvPr>
          <p:cNvSpPr>
            <a:spLocks noGrp="1"/>
          </p:cNvSpPr>
          <p:nvPr>
            <p:ph type="title"/>
          </p:nvPr>
        </p:nvSpPr>
        <p:spPr>
          <a:xfrm>
            <a:off x="838199" y="365126"/>
            <a:ext cx="10515601" cy="567204"/>
          </a:xfrm>
        </p:spPr>
        <p:txBody>
          <a:bodyPr>
            <a:normAutofit fontScale="90000"/>
          </a:bodyPr>
          <a:lstStyle/>
          <a:p>
            <a:br>
              <a:rPr lang="en-IN" b="1" dirty="0"/>
            </a:br>
            <a:r>
              <a:rPr lang="en-IN" sz="3100" b="1" dirty="0"/>
              <a:t>DNS Resolver</a:t>
            </a:r>
            <a:br>
              <a:rPr lang="en-IN" b="1" dirty="0"/>
            </a:br>
            <a:endParaRPr lang="en-IN" dirty="0"/>
          </a:p>
        </p:txBody>
      </p:sp>
      <p:sp>
        <p:nvSpPr>
          <p:cNvPr id="3" name="Content Placeholder 2">
            <a:extLst>
              <a:ext uri="{FF2B5EF4-FFF2-40B4-BE49-F238E27FC236}">
                <a16:creationId xmlns:a16="http://schemas.microsoft.com/office/drawing/2014/main" id="{3713438B-9361-457F-AA08-0D52385D6389}"/>
              </a:ext>
            </a:extLst>
          </p:cNvPr>
          <p:cNvSpPr>
            <a:spLocks noGrp="1"/>
          </p:cNvSpPr>
          <p:nvPr>
            <p:ph idx="1"/>
          </p:nvPr>
        </p:nvSpPr>
        <p:spPr/>
        <p:txBody>
          <a:bodyPr>
            <a:normAutofit/>
          </a:bodyPr>
          <a:lstStyle/>
          <a:p>
            <a:r>
              <a:rPr lang="en-US" sz="2000" dirty="0"/>
              <a:t>DNS Resolver is simply called a DNS Client and has the functionality for initiating the process of DNS Lookup which is also called DNS Resolution.</a:t>
            </a:r>
          </a:p>
          <a:p>
            <a:r>
              <a:rPr lang="en-US" sz="2000" dirty="0"/>
              <a:t> By using the DNS Resolver, applications can easily access different websites and services present on the Internet by using domain names that are very much friendly to the user and that also resolves the problem of remembering IP Address.</a:t>
            </a:r>
            <a:endParaRPr lang="en-IN" sz="2000" dirty="0"/>
          </a:p>
        </p:txBody>
      </p:sp>
    </p:spTree>
    <p:extLst>
      <p:ext uri="{BB962C8B-B14F-4D97-AF65-F5344CB8AC3E}">
        <p14:creationId xmlns:p14="http://schemas.microsoft.com/office/powerpoint/2010/main" val="387035802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CBDFE-7CDD-4CE4-B6D8-5A91ADBF1D17}"/>
              </a:ext>
            </a:extLst>
          </p:cNvPr>
          <p:cNvSpPr>
            <a:spLocks noGrp="1"/>
          </p:cNvSpPr>
          <p:nvPr>
            <p:ph type="title"/>
          </p:nvPr>
        </p:nvSpPr>
        <p:spPr>
          <a:xfrm>
            <a:off x="735106" y="365126"/>
            <a:ext cx="10618694" cy="585134"/>
          </a:xfrm>
        </p:spPr>
        <p:txBody>
          <a:bodyPr>
            <a:normAutofit fontScale="90000"/>
          </a:bodyPr>
          <a:lstStyle/>
          <a:p>
            <a:br>
              <a:rPr lang="en-IN" b="1" dirty="0"/>
            </a:br>
            <a:r>
              <a:rPr lang="en-IN" sz="3600" b="1" dirty="0"/>
              <a:t>Types of DNS Queries</a:t>
            </a:r>
            <a:br>
              <a:rPr lang="en-IN" b="1" dirty="0"/>
            </a:br>
            <a:endParaRPr lang="en-IN" dirty="0"/>
          </a:p>
        </p:txBody>
      </p:sp>
      <p:sp>
        <p:nvSpPr>
          <p:cNvPr id="3" name="Content Placeholder 2">
            <a:extLst>
              <a:ext uri="{FF2B5EF4-FFF2-40B4-BE49-F238E27FC236}">
                <a16:creationId xmlns:a16="http://schemas.microsoft.com/office/drawing/2014/main" id="{F9FDBEDC-1066-4446-AA9F-357E14976BEF}"/>
              </a:ext>
            </a:extLst>
          </p:cNvPr>
          <p:cNvSpPr>
            <a:spLocks noGrp="1"/>
          </p:cNvSpPr>
          <p:nvPr>
            <p:ph idx="1"/>
          </p:nvPr>
        </p:nvSpPr>
        <p:spPr>
          <a:xfrm>
            <a:off x="735106" y="1308847"/>
            <a:ext cx="10618694" cy="4868116"/>
          </a:xfrm>
        </p:spPr>
        <p:txBody>
          <a:bodyPr/>
          <a:lstStyle/>
          <a:p>
            <a:pPr marL="0" indent="0" fontAlgn="base">
              <a:buNone/>
            </a:pPr>
            <a:endParaRPr lang="en-US" sz="1800" dirty="0"/>
          </a:p>
          <a:p>
            <a:pPr marL="0" indent="0" fontAlgn="base">
              <a:buNone/>
            </a:pPr>
            <a:r>
              <a:rPr lang="en-US" sz="1800" dirty="0"/>
              <a:t>There are basically three types of DNS Queries that occur in DNS Lookup. These are stated below.</a:t>
            </a:r>
          </a:p>
          <a:p>
            <a:pPr marL="0" indent="0" fontAlgn="base">
              <a:buNone/>
            </a:pPr>
            <a:endParaRPr lang="en-US" sz="1800" dirty="0"/>
          </a:p>
          <a:p>
            <a:pPr fontAlgn="base"/>
            <a:r>
              <a:rPr lang="en-US" sz="1800" b="1" dirty="0"/>
              <a:t>Recursive Query:</a:t>
            </a:r>
            <a:r>
              <a:rPr lang="en-US" sz="1800" dirty="0"/>
              <a:t> In this query, if the resolver is unable to find the record, in that case, DNS client wants the DNS Server will respond to the client in any way like with the requested source record or an error message.</a:t>
            </a:r>
          </a:p>
          <a:p>
            <a:pPr fontAlgn="base"/>
            <a:r>
              <a:rPr lang="en-US" sz="1800" b="1" dirty="0"/>
              <a:t>Iterative Query:</a:t>
            </a:r>
            <a:r>
              <a:rPr lang="en-US" sz="1800" dirty="0"/>
              <a:t> Iterative Query is the query in which DNS Client wants the best answer possible from the DNS Server.</a:t>
            </a:r>
          </a:p>
          <a:p>
            <a:pPr fontAlgn="base"/>
            <a:r>
              <a:rPr lang="en-US" sz="1800" b="1" dirty="0"/>
              <a:t>Non-Recursive Query:</a:t>
            </a:r>
            <a:r>
              <a:rPr lang="en-US" sz="1800" dirty="0"/>
              <a:t> Non-Recursive Query is the query that occurs when a DNS Resolver queries a DNS Server for some record that has access to it because of the record that exists in its cache.</a:t>
            </a:r>
          </a:p>
          <a:p>
            <a:pPr marL="0" indent="0">
              <a:buNone/>
            </a:pPr>
            <a:endParaRPr lang="en-IN" dirty="0"/>
          </a:p>
        </p:txBody>
      </p:sp>
    </p:spTree>
    <p:extLst>
      <p:ext uri="{BB962C8B-B14F-4D97-AF65-F5344CB8AC3E}">
        <p14:creationId xmlns:p14="http://schemas.microsoft.com/office/powerpoint/2010/main" val="145934317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7A0D2-4359-4DA7-8EB6-E028513AB8FE}"/>
              </a:ext>
            </a:extLst>
          </p:cNvPr>
          <p:cNvSpPr>
            <a:spLocks noGrp="1"/>
          </p:cNvSpPr>
          <p:nvPr>
            <p:ph type="title"/>
          </p:nvPr>
        </p:nvSpPr>
        <p:spPr>
          <a:xfrm>
            <a:off x="838200" y="365126"/>
            <a:ext cx="10515600" cy="585134"/>
          </a:xfrm>
        </p:spPr>
        <p:txBody>
          <a:bodyPr>
            <a:normAutofit fontScale="90000"/>
          </a:bodyPr>
          <a:lstStyle/>
          <a:p>
            <a:br>
              <a:rPr lang="en-US" b="1" dirty="0"/>
            </a:br>
            <a:r>
              <a:rPr lang="en-US" sz="3600" b="1" dirty="0"/>
              <a:t>DNS Caching and TTL (Time-to-Live)</a:t>
            </a:r>
            <a:br>
              <a:rPr lang="en-US" sz="3600" b="1" dirty="0"/>
            </a:br>
            <a:endParaRPr lang="en-IN" sz="3600" dirty="0"/>
          </a:p>
        </p:txBody>
      </p:sp>
      <p:sp>
        <p:nvSpPr>
          <p:cNvPr id="3" name="Content Placeholder 2">
            <a:extLst>
              <a:ext uri="{FF2B5EF4-FFF2-40B4-BE49-F238E27FC236}">
                <a16:creationId xmlns:a16="http://schemas.microsoft.com/office/drawing/2014/main" id="{FB478180-41D3-41D1-B071-0E457BCA300B}"/>
              </a:ext>
            </a:extLst>
          </p:cNvPr>
          <p:cNvSpPr>
            <a:spLocks noGrp="1"/>
          </p:cNvSpPr>
          <p:nvPr>
            <p:ph idx="1"/>
          </p:nvPr>
        </p:nvSpPr>
        <p:spPr>
          <a:xfrm>
            <a:off x="770965" y="1452282"/>
            <a:ext cx="10582835" cy="4724681"/>
          </a:xfrm>
        </p:spPr>
        <p:txBody>
          <a:bodyPr>
            <a:normAutofit/>
          </a:bodyPr>
          <a:lstStyle/>
          <a:p>
            <a:pPr fontAlgn="base"/>
            <a:r>
              <a:rPr lang="en-US" sz="2000" b="1" dirty="0"/>
              <a:t>DNS Caching </a:t>
            </a:r>
            <a:r>
              <a:rPr lang="en-US" sz="2000" dirty="0"/>
              <a:t>is a mechanism that stores DNS records locally to avoid querying external DNS servers repeatedly for the same information. This speeds up the browsing experience and reduces network traffic.</a:t>
            </a:r>
          </a:p>
          <a:p>
            <a:pPr fontAlgn="base"/>
            <a:r>
              <a:rPr lang="en-US" sz="2000" dirty="0"/>
              <a:t>TTL (Time-to-Live) is the amount of time that a DNS record is cached before it expires. When the TTL expires, the cache is cleared and a fresh DNS query must be made. The TTL is defined by the authoritative DNS server, which can adjust this based on the nature of the domain.</a:t>
            </a:r>
          </a:p>
          <a:p>
            <a:pPr fontAlgn="base"/>
            <a:r>
              <a:rPr lang="en-US" sz="2000" b="1" dirty="0"/>
              <a:t>For example</a:t>
            </a:r>
            <a:r>
              <a:rPr lang="en-US" sz="2000" dirty="0"/>
              <a:t>, if the TTL for </a:t>
            </a:r>
            <a:r>
              <a:rPr lang="en-US" sz="2000" dirty="0">
                <a:hlinkClick r:id="rId2"/>
              </a:rPr>
              <a:t>www.sitpune.edu.in</a:t>
            </a:r>
            <a:r>
              <a:rPr lang="en-US" sz="2000" dirty="0"/>
              <a:t> is set to 3600 seconds (1 hour), then the DNS record will be stored in the cache for one hour before it expires and requires a new lookup.</a:t>
            </a:r>
          </a:p>
          <a:p>
            <a:pPr marL="0" indent="0" fontAlgn="base">
              <a:buNone/>
            </a:pPr>
            <a:endParaRPr lang="en-US" sz="2000" dirty="0"/>
          </a:p>
          <a:p>
            <a:endParaRPr lang="en-IN" dirty="0"/>
          </a:p>
        </p:txBody>
      </p:sp>
    </p:spTree>
    <p:extLst>
      <p:ext uri="{BB962C8B-B14F-4D97-AF65-F5344CB8AC3E}">
        <p14:creationId xmlns:p14="http://schemas.microsoft.com/office/powerpoint/2010/main" val="396552500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F69EB-2152-4F04-8220-8B61549E43C0}"/>
              </a:ext>
            </a:extLst>
          </p:cNvPr>
          <p:cNvSpPr>
            <a:spLocks noGrp="1"/>
          </p:cNvSpPr>
          <p:nvPr>
            <p:ph type="title"/>
          </p:nvPr>
        </p:nvSpPr>
        <p:spPr>
          <a:xfrm>
            <a:off x="838200" y="365125"/>
            <a:ext cx="10515600" cy="620993"/>
          </a:xfrm>
        </p:spPr>
        <p:txBody>
          <a:bodyPr>
            <a:normAutofit fontScale="90000"/>
          </a:bodyPr>
          <a:lstStyle/>
          <a:p>
            <a:br>
              <a:rPr lang="en-IN" b="1" dirty="0"/>
            </a:br>
            <a:br>
              <a:rPr lang="en-IN" b="1" dirty="0"/>
            </a:br>
            <a:r>
              <a:rPr lang="en-IN" b="1" dirty="0"/>
              <a:t>P2P (Peer To Peer) File Sharing</a:t>
            </a:r>
            <a:br>
              <a:rPr lang="en-IN" b="1" dirty="0"/>
            </a:br>
            <a:br>
              <a:rPr lang="en-IN" b="1" dirty="0"/>
            </a:br>
            <a:endParaRPr lang="en-IN" dirty="0"/>
          </a:p>
        </p:txBody>
      </p:sp>
      <p:sp>
        <p:nvSpPr>
          <p:cNvPr id="3" name="Content Placeholder 2">
            <a:extLst>
              <a:ext uri="{FF2B5EF4-FFF2-40B4-BE49-F238E27FC236}">
                <a16:creationId xmlns:a16="http://schemas.microsoft.com/office/drawing/2014/main" id="{DEE96231-EE49-44B3-BDED-BCB9FFAFB683}"/>
              </a:ext>
            </a:extLst>
          </p:cNvPr>
          <p:cNvSpPr>
            <a:spLocks noGrp="1"/>
          </p:cNvSpPr>
          <p:nvPr>
            <p:ph idx="1"/>
          </p:nvPr>
        </p:nvSpPr>
        <p:spPr>
          <a:xfrm>
            <a:off x="838200" y="1129553"/>
            <a:ext cx="10515600" cy="5047410"/>
          </a:xfrm>
        </p:spPr>
        <p:txBody>
          <a:bodyPr/>
          <a:lstStyle/>
          <a:p>
            <a:endParaRPr lang="en-IN" dirty="0"/>
          </a:p>
          <a:p>
            <a:r>
              <a:rPr lang="en-IN" sz="2400" dirty="0"/>
              <a:t>P2P (Peer-to-Peer) is a file-sharing technology, that allows users to access mainly the multimedia files like videos, music, e-books, games, etc. </a:t>
            </a:r>
          </a:p>
          <a:p>
            <a:pPr marL="0" indent="0">
              <a:buNone/>
            </a:pPr>
            <a:endParaRPr lang="en-IN" sz="2400" dirty="0"/>
          </a:p>
          <a:p>
            <a:r>
              <a:rPr lang="en-IN" sz="2400" dirty="0"/>
              <a:t>The individual users in this network are referred to as peers. The peers request files from other peers by establishing TCP or UDP connections. </a:t>
            </a:r>
          </a:p>
          <a:p>
            <a:endParaRPr lang="en-IN" dirty="0"/>
          </a:p>
        </p:txBody>
      </p:sp>
    </p:spTree>
    <p:extLst>
      <p:ext uri="{BB962C8B-B14F-4D97-AF65-F5344CB8AC3E}">
        <p14:creationId xmlns:p14="http://schemas.microsoft.com/office/powerpoint/2010/main" val="272803146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DFE14-4493-42D6-AFBA-D49C48CDDADD}"/>
              </a:ext>
            </a:extLst>
          </p:cNvPr>
          <p:cNvSpPr>
            <a:spLocks noGrp="1"/>
          </p:cNvSpPr>
          <p:nvPr>
            <p:ph type="title"/>
          </p:nvPr>
        </p:nvSpPr>
        <p:spPr>
          <a:xfrm>
            <a:off x="762000" y="365125"/>
            <a:ext cx="10591800" cy="576169"/>
          </a:xfrm>
        </p:spPr>
        <p:txBody>
          <a:bodyPr>
            <a:normAutofit fontScale="90000"/>
          </a:bodyPr>
          <a:lstStyle/>
          <a:p>
            <a:br>
              <a:rPr lang="en-IN" b="1" dirty="0"/>
            </a:br>
            <a:r>
              <a:rPr lang="en-IN" b="1" dirty="0"/>
              <a:t>How Does P2P (Peer-to-Peer) Work?</a:t>
            </a:r>
            <a:br>
              <a:rPr lang="en-IN" b="1" dirty="0"/>
            </a:br>
            <a:endParaRPr lang="en-IN" dirty="0"/>
          </a:p>
        </p:txBody>
      </p:sp>
      <p:sp>
        <p:nvSpPr>
          <p:cNvPr id="3" name="Content Placeholder 2">
            <a:extLst>
              <a:ext uri="{FF2B5EF4-FFF2-40B4-BE49-F238E27FC236}">
                <a16:creationId xmlns:a16="http://schemas.microsoft.com/office/drawing/2014/main" id="{3BB1F43C-86EB-449E-AA03-DBBFB53E3A83}"/>
              </a:ext>
            </a:extLst>
          </p:cNvPr>
          <p:cNvSpPr>
            <a:spLocks noGrp="1"/>
          </p:cNvSpPr>
          <p:nvPr>
            <p:ph idx="1"/>
          </p:nvPr>
        </p:nvSpPr>
        <p:spPr>
          <a:xfrm>
            <a:off x="762000" y="1174376"/>
            <a:ext cx="10591800" cy="5002587"/>
          </a:xfrm>
        </p:spPr>
        <p:txBody>
          <a:bodyPr>
            <a:normAutofit/>
          </a:bodyPr>
          <a:lstStyle/>
          <a:p>
            <a:pPr>
              <a:buFont typeface="Wingdings" panose="05000000000000000000" pitchFamily="2" charset="2"/>
              <a:buChar char="§"/>
            </a:pPr>
            <a:r>
              <a:rPr lang="en-IN" sz="2000" dirty="0"/>
              <a:t>A peer-to-peer network allows computer hardware and software to communicate without the need for a server. </a:t>
            </a:r>
          </a:p>
          <a:p>
            <a:pPr>
              <a:buFont typeface="Wingdings" panose="05000000000000000000" pitchFamily="2" charset="2"/>
              <a:buChar char="§"/>
            </a:pPr>
            <a:r>
              <a:rPr lang="en-IN" sz="2000" dirty="0"/>
              <a:t>Unlike client-server architecture, there is no central server for processing requests in a P2P architecture. The peers directly interact with one another without the requirement of a central server. </a:t>
            </a:r>
          </a:p>
          <a:p>
            <a:pPr>
              <a:buFont typeface="Wingdings" panose="05000000000000000000" pitchFamily="2" charset="2"/>
              <a:buChar char="§"/>
            </a:pPr>
            <a:r>
              <a:rPr lang="en-IN" sz="2000" dirty="0"/>
              <a:t>Now, when one peer makes a request, multiple peers may have a copy of that requested object.</a:t>
            </a:r>
          </a:p>
          <a:p>
            <a:pPr>
              <a:buFont typeface="Wingdings" panose="05000000000000000000" pitchFamily="2" charset="2"/>
              <a:buChar char="§"/>
            </a:pPr>
            <a:r>
              <a:rPr lang="en-IN" sz="2000" dirty="0"/>
              <a:t>Now the problem is how to get the IP addresses of all those peers. This is decided by the architecture supported by the P2P systems.</a:t>
            </a:r>
            <a:br>
              <a:rPr lang="en-IN" sz="2000" dirty="0"/>
            </a:br>
            <a:endParaRPr lang="en-IN" sz="2000" dirty="0"/>
          </a:p>
          <a:p>
            <a:pPr>
              <a:buFont typeface="Wingdings" panose="05000000000000000000" pitchFamily="2" charset="2"/>
              <a:buChar char="§"/>
            </a:pPr>
            <a:endParaRPr lang="en-IN" sz="2000" dirty="0"/>
          </a:p>
          <a:p>
            <a:pPr marL="0" indent="0">
              <a:buNone/>
            </a:pPr>
            <a:br>
              <a:rPr lang="en-IN" sz="2000" dirty="0"/>
            </a:br>
            <a:r>
              <a:rPr lang="en-IN" sz="2000" dirty="0"/>
              <a:t>Using one of these methods, the client peer can get to know all the peers which have the requested object/file and the file transfer takes place directly between these two peers.</a:t>
            </a:r>
          </a:p>
          <a:p>
            <a:pPr marL="0" indent="0">
              <a:buNone/>
            </a:pPr>
            <a:endParaRPr lang="en-IN" dirty="0"/>
          </a:p>
        </p:txBody>
      </p:sp>
    </p:spTree>
    <p:extLst>
      <p:ext uri="{BB962C8B-B14F-4D97-AF65-F5344CB8AC3E}">
        <p14:creationId xmlns:p14="http://schemas.microsoft.com/office/powerpoint/2010/main" val="418986346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7D1D2-3D18-4358-A7A2-5FE3390AD997}"/>
              </a:ext>
            </a:extLst>
          </p:cNvPr>
          <p:cNvSpPr>
            <a:spLocks noGrp="1"/>
          </p:cNvSpPr>
          <p:nvPr>
            <p:ph type="title"/>
          </p:nvPr>
        </p:nvSpPr>
        <p:spPr>
          <a:xfrm>
            <a:off x="838200" y="365125"/>
            <a:ext cx="10515600" cy="620993"/>
          </a:xfrm>
        </p:spPr>
        <p:txBody>
          <a:bodyPr>
            <a:normAutofit/>
          </a:bodyPr>
          <a:lstStyle/>
          <a:p>
            <a:r>
              <a:rPr lang="en-US" sz="3200" b="1" dirty="0"/>
              <a:t>Various methods in P2P Architecture</a:t>
            </a:r>
            <a:endParaRPr lang="en-IN" sz="3200" b="1" dirty="0"/>
          </a:p>
        </p:txBody>
      </p:sp>
      <p:sp>
        <p:nvSpPr>
          <p:cNvPr id="3" name="Content Placeholder 2">
            <a:extLst>
              <a:ext uri="{FF2B5EF4-FFF2-40B4-BE49-F238E27FC236}">
                <a16:creationId xmlns:a16="http://schemas.microsoft.com/office/drawing/2014/main" id="{FBF5A6CA-7D51-4F2C-BFBA-75D6B1099C81}"/>
              </a:ext>
            </a:extLst>
          </p:cNvPr>
          <p:cNvSpPr>
            <a:spLocks noGrp="1"/>
          </p:cNvSpPr>
          <p:nvPr>
            <p:ph idx="1"/>
          </p:nvPr>
        </p:nvSpPr>
        <p:spPr>
          <a:xfrm>
            <a:off x="914400" y="1066800"/>
            <a:ext cx="10439400" cy="5110163"/>
          </a:xfrm>
        </p:spPr>
        <p:txBody>
          <a:bodyPr>
            <a:normAutofit/>
          </a:bodyPr>
          <a:lstStyle/>
          <a:p>
            <a:r>
              <a:rPr lang="en-IN" sz="2400" b="1" dirty="0"/>
              <a:t>Centralized Directory</a:t>
            </a:r>
          </a:p>
          <a:p>
            <a:pPr lvl="1">
              <a:buFont typeface="Wingdings" panose="05000000000000000000" pitchFamily="2" charset="2"/>
              <a:buChar char="Ø"/>
            </a:pPr>
            <a:r>
              <a:rPr lang="en-IN" sz="2000" dirty="0"/>
              <a:t>A centralized Directory is somewhat similar to client-server architecture in the sense that it maintains a huge central server to provide directory service. </a:t>
            </a:r>
          </a:p>
          <a:p>
            <a:pPr lvl="1">
              <a:buFont typeface="Wingdings" panose="05000000000000000000" pitchFamily="2" charset="2"/>
              <a:buChar char="Ø"/>
            </a:pPr>
            <a:r>
              <a:rPr lang="en-IN" sz="2000" dirty="0"/>
              <a:t>All the peers inform this central server of their IP address and the files they are making available for sharing. </a:t>
            </a:r>
          </a:p>
          <a:p>
            <a:pPr lvl="1">
              <a:buFont typeface="Wingdings" panose="05000000000000000000" pitchFamily="2" charset="2"/>
              <a:buChar char="Ø"/>
            </a:pPr>
            <a:r>
              <a:rPr lang="en-IN" sz="2000" dirty="0"/>
              <a:t>The server queries the peers at regular intervals to make sure if the peers are still connected or not.</a:t>
            </a:r>
          </a:p>
          <a:p>
            <a:pPr lvl="1">
              <a:buFont typeface="Wingdings" panose="05000000000000000000" pitchFamily="2" charset="2"/>
              <a:buChar char="Ø"/>
            </a:pPr>
            <a:r>
              <a:rPr lang="en-IN" sz="2000" dirty="0"/>
              <a:t>So basically this server maintains a huge database regarding which file is present at which IP addresses. The first system which made use of this method was </a:t>
            </a:r>
            <a:r>
              <a:rPr lang="en-IN" sz="2000" b="1" dirty="0"/>
              <a:t>Napster</a:t>
            </a:r>
            <a:r>
              <a:rPr lang="en-IN" sz="2000" dirty="0"/>
              <a:t>, for Mp3 distribution.</a:t>
            </a:r>
          </a:p>
          <a:p>
            <a:pPr lvl="1">
              <a:buFont typeface="Wingdings" panose="05000000000000000000" pitchFamily="2" charset="2"/>
              <a:buChar char="Ø"/>
            </a:pPr>
            <a:r>
              <a:rPr lang="en-IN" sz="2000" dirty="0"/>
              <a:t>Now whenever a requesting peer comes in, it sends its query to the server.</a:t>
            </a:r>
          </a:p>
          <a:p>
            <a:pPr lvl="1">
              <a:buFont typeface="Wingdings" panose="05000000000000000000" pitchFamily="2" charset="2"/>
              <a:buChar char="Ø"/>
            </a:pPr>
            <a:r>
              <a:rPr lang="en-IN" sz="2000" dirty="0"/>
              <a:t>Since the server has all the information of its peers, so it returns the IP addresses of all the peers having the requested file to the peer.</a:t>
            </a:r>
          </a:p>
          <a:p>
            <a:pPr lvl="1">
              <a:buFont typeface="Wingdings" panose="05000000000000000000" pitchFamily="2" charset="2"/>
              <a:buChar char="Ø"/>
            </a:pPr>
            <a:r>
              <a:rPr lang="en-IN" sz="2000" dirty="0"/>
              <a:t>Now the file transfer takes place between these two peers.</a:t>
            </a:r>
          </a:p>
          <a:p>
            <a:pPr lvl="1">
              <a:buFont typeface="Wingdings" panose="05000000000000000000" pitchFamily="2" charset="2"/>
              <a:buChar char="Ø"/>
            </a:pPr>
            <a:endParaRPr lang="en-IN" sz="2000" dirty="0"/>
          </a:p>
          <a:p>
            <a:pPr lvl="1">
              <a:buFont typeface="Wingdings" panose="05000000000000000000" pitchFamily="2" charset="2"/>
              <a:buChar char="Ø"/>
            </a:pPr>
            <a:endParaRPr lang="en-IN" sz="2000" dirty="0"/>
          </a:p>
          <a:p>
            <a:pPr lvl="1">
              <a:buFont typeface="Wingdings" panose="05000000000000000000" pitchFamily="2" charset="2"/>
              <a:buChar char="Ø"/>
            </a:pPr>
            <a:endParaRPr lang="en-IN" sz="1900" dirty="0"/>
          </a:p>
          <a:p>
            <a:pPr lvl="1">
              <a:buFont typeface="Wingdings" panose="05000000000000000000" pitchFamily="2" charset="2"/>
              <a:buChar char="Ø"/>
            </a:pPr>
            <a:endParaRPr lang="en-IN" sz="1900" dirty="0"/>
          </a:p>
          <a:p>
            <a:pPr lvl="1">
              <a:buFont typeface="Wingdings" panose="05000000000000000000" pitchFamily="2" charset="2"/>
              <a:buChar char="Ø"/>
            </a:pPr>
            <a:endParaRPr lang="en-IN" dirty="0"/>
          </a:p>
          <a:p>
            <a:endParaRPr lang="en-IN" dirty="0"/>
          </a:p>
        </p:txBody>
      </p:sp>
    </p:spTree>
    <p:extLst>
      <p:ext uri="{BB962C8B-B14F-4D97-AF65-F5344CB8AC3E}">
        <p14:creationId xmlns:p14="http://schemas.microsoft.com/office/powerpoint/2010/main" val="55238697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96F8E95-0ADC-46CA-B69F-CEB046CC949A}"/>
              </a:ext>
            </a:extLst>
          </p:cNvPr>
          <p:cNvPicPr>
            <a:picLocks noChangeAspect="1"/>
          </p:cNvPicPr>
          <p:nvPr/>
        </p:nvPicPr>
        <p:blipFill>
          <a:blip r:embed="rId2"/>
          <a:stretch>
            <a:fillRect/>
          </a:stretch>
        </p:blipFill>
        <p:spPr>
          <a:xfrm>
            <a:off x="2061882" y="499661"/>
            <a:ext cx="7213132" cy="5237751"/>
          </a:xfrm>
          <a:prstGeom prst="rect">
            <a:avLst/>
          </a:prstGeom>
        </p:spPr>
      </p:pic>
    </p:spTree>
    <p:extLst>
      <p:ext uri="{BB962C8B-B14F-4D97-AF65-F5344CB8AC3E}">
        <p14:creationId xmlns:p14="http://schemas.microsoft.com/office/powerpoint/2010/main" val="127487833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02735-1DAE-40DF-8355-4A17E13CB2EE}"/>
              </a:ext>
            </a:extLst>
          </p:cNvPr>
          <p:cNvSpPr>
            <a:spLocks noGrp="1"/>
          </p:cNvSpPr>
          <p:nvPr>
            <p:ph type="title"/>
          </p:nvPr>
        </p:nvSpPr>
        <p:spPr>
          <a:xfrm>
            <a:off x="838200" y="365126"/>
            <a:ext cx="10515600" cy="513416"/>
          </a:xfrm>
        </p:spPr>
        <p:txBody>
          <a:bodyPr>
            <a:normAutofit/>
          </a:bodyPr>
          <a:lstStyle/>
          <a:p>
            <a:r>
              <a:rPr lang="en-US" sz="2800" b="1" dirty="0"/>
              <a:t>Problem in Centralized Directory</a:t>
            </a:r>
            <a:endParaRPr lang="en-IN" sz="2800" b="1" dirty="0"/>
          </a:p>
        </p:txBody>
      </p:sp>
      <p:sp>
        <p:nvSpPr>
          <p:cNvPr id="3" name="Content Placeholder 2">
            <a:extLst>
              <a:ext uri="{FF2B5EF4-FFF2-40B4-BE49-F238E27FC236}">
                <a16:creationId xmlns:a16="http://schemas.microsoft.com/office/drawing/2014/main" id="{754BEC98-8BB8-48C4-AAD5-473513724C01}"/>
              </a:ext>
            </a:extLst>
          </p:cNvPr>
          <p:cNvSpPr>
            <a:spLocks noGrp="1"/>
          </p:cNvSpPr>
          <p:nvPr>
            <p:ph idx="1"/>
          </p:nvPr>
        </p:nvSpPr>
        <p:spPr>
          <a:xfrm>
            <a:off x="838200" y="1246094"/>
            <a:ext cx="10515600" cy="4930869"/>
          </a:xfrm>
        </p:spPr>
        <p:txBody>
          <a:bodyPr/>
          <a:lstStyle/>
          <a:p>
            <a:endParaRPr lang="en-IN" sz="2400" dirty="0"/>
          </a:p>
          <a:p>
            <a:r>
              <a:rPr lang="en-IN" sz="2400" dirty="0"/>
              <a:t>The major problem with such an architecture is that there is a single point of failure. </a:t>
            </a:r>
          </a:p>
          <a:p>
            <a:r>
              <a:rPr lang="en-IN" sz="2400" dirty="0"/>
              <a:t>If the server crashes, the whole P2P network crashes. </a:t>
            </a:r>
          </a:p>
          <a:p>
            <a:r>
              <a:rPr lang="en-IN" sz="2400" dirty="0"/>
              <a:t>Also, since all of the processing is to be done by a single server so a huge amount of the database has to be maintained and regularly updated.</a:t>
            </a:r>
          </a:p>
          <a:p>
            <a:endParaRPr lang="en-IN" dirty="0"/>
          </a:p>
        </p:txBody>
      </p:sp>
    </p:spTree>
    <p:extLst>
      <p:ext uri="{BB962C8B-B14F-4D97-AF65-F5344CB8AC3E}">
        <p14:creationId xmlns:p14="http://schemas.microsoft.com/office/powerpoint/2010/main" val="190678065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C374F-522B-41F2-888B-036BB090D6EC}"/>
              </a:ext>
            </a:extLst>
          </p:cNvPr>
          <p:cNvSpPr>
            <a:spLocks noGrp="1"/>
          </p:cNvSpPr>
          <p:nvPr>
            <p:ph type="title"/>
          </p:nvPr>
        </p:nvSpPr>
        <p:spPr>
          <a:xfrm>
            <a:off x="672353" y="365125"/>
            <a:ext cx="10681447" cy="1293345"/>
          </a:xfrm>
        </p:spPr>
        <p:txBody>
          <a:bodyPr>
            <a:normAutofit fontScale="90000"/>
          </a:bodyPr>
          <a:lstStyle/>
          <a:p>
            <a:br>
              <a:rPr lang="en-IN" b="1" dirty="0"/>
            </a:br>
            <a:r>
              <a:rPr lang="en-IN" sz="3600" b="1" dirty="0"/>
              <a:t>2. Query Flooding</a:t>
            </a:r>
            <a:br>
              <a:rPr lang="en-IN" b="1" dirty="0"/>
            </a:br>
            <a:endParaRPr lang="en-IN" dirty="0"/>
          </a:p>
        </p:txBody>
      </p:sp>
      <p:sp>
        <p:nvSpPr>
          <p:cNvPr id="3" name="Content Placeholder 2">
            <a:extLst>
              <a:ext uri="{FF2B5EF4-FFF2-40B4-BE49-F238E27FC236}">
                <a16:creationId xmlns:a16="http://schemas.microsoft.com/office/drawing/2014/main" id="{03873AA9-BFB3-40F1-A238-BF1C6E400CF4}"/>
              </a:ext>
            </a:extLst>
          </p:cNvPr>
          <p:cNvSpPr>
            <a:spLocks noGrp="1"/>
          </p:cNvSpPr>
          <p:nvPr>
            <p:ph idx="1"/>
          </p:nvPr>
        </p:nvSpPr>
        <p:spPr>
          <a:xfrm>
            <a:off x="744071" y="1138518"/>
            <a:ext cx="10609729" cy="5038445"/>
          </a:xfrm>
        </p:spPr>
        <p:txBody>
          <a:bodyPr>
            <a:normAutofit/>
          </a:bodyPr>
          <a:lstStyle/>
          <a:p>
            <a:endParaRPr lang="en-US" sz="2000" dirty="0"/>
          </a:p>
          <a:p>
            <a:endParaRPr lang="en-US" sz="2000" dirty="0"/>
          </a:p>
          <a:p>
            <a:r>
              <a:rPr lang="en-US" sz="2000" dirty="0"/>
              <a:t>Unlike the centralized approach, this method makes use of distributed systems.</a:t>
            </a:r>
          </a:p>
          <a:p>
            <a:r>
              <a:rPr lang="en-US" sz="2000" dirty="0"/>
              <a:t> In this, the peers are supposed to be connected to an overlay network. </a:t>
            </a:r>
          </a:p>
          <a:p>
            <a:r>
              <a:rPr lang="en-US" sz="2000" dirty="0"/>
              <a:t>It means if a connection/path exists from one peer to another, it is a part of this overlay network. </a:t>
            </a:r>
          </a:p>
          <a:p>
            <a:r>
              <a:rPr lang="en-US" sz="2000" dirty="0"/>
              <a:t>In this overlay network, peers are called nodes, and the connection between peers is called an edge between the nodes, thus resulting in a graph-like structure. </a:t>
            </a:r>
          </a:p>
          <a:p>
            <a:r>
              <a:rPr lang="en-US" sz="2000" b="1" dirty="0"/>
              <a:t>Gnutella</a:t>
            </a:r>
            <a:r>
              <a:rPr lang="en-US" sz="2000" dirty="0"/>
              <a:t> was the first decentralized peer-to-peer network. </a:t>
            </a:r>
            <a:endParaRPr lang="en-IN" sz="2000" dirty="0"/>
          </a:p>
        </p:txBody>
      </p:sp>
    </p:spTree>
    <p:extLst>
      <p:ext uri="{BB962C8B-B14F-4D97-AF65-F5344CB8AC3E}">
        <p14:creationId xmlns:p14="http://schemas.microsoft.com/office/powerpoint/2010/main" val="326268736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3A238-079D-4475-9E5B-40EB7EECC465}"/>
              </a:ext>
            </a:extLst>
          </p:cNvPr>
          <p:cNvSpPr>
            <a:spLocks noGrp="1"/>
          </p:cNvSpPr>
          <p:nvPr>
            <p:ph type="title"/>
          </p:nvPr>
        </p:nvSpPr>
        <p:spPr>
          <a:xfrm>
            <a:off x="677334" y="609600"/>
            <a:ext cx="8596668" cy="528918"/>
          </a:xfrm>
        </p:spPr>
        <p:txBody>
          <a:bodyPr>
            <a:normAutofit fontScale="90000"/>
          </a:bodyPr>
          <a:lstStyle/>
          <a:p>
            <a:r>
              <a:rPr lang="en-IN" b="1" dirty="0"/>
              <a:t>Working</a:t>
            </a:r>
            <a:br>
              <a:rPr lang="en-IN" b="1" dirty="0"/>
            </a:br>
            <a:endParaRPr lang="en-IN" dirty="0"/>
          </a:p>
        </p:txBody>
      </p:sp>
      <p:sp>
        <p:nvSpPr>
          <p:cNvPr id="3" name="Content Placeholder 2">
            <a:extLst>
              <a:ext uri="{FF2B5EF4-FFF2-40B4-BE49-F238E27FC236}">
                <a16:creationId xmlns:a16="http://schemas.microsoft.com/office/drawing/2014/main" id="{9341283C-C30F-430B-97D1-C563AED86C27}"/>
              </a:ext>
            </a:extLst>
          </p:cNvPr>
          <p:cNvSpPr>
            <a:spLocks noGrp="1"/>
          </p:cNvSpPr>
          <p:nvPr>
            <p:ph idx="1"/>
          </p:nvPr>
        </p:nvSpPr>
        <p:spPr>
          <a:xfrm>
            <a:off x="609600" y="1470213"/>
            <a:ext cx="8664402" cy="4571150"/>
          </a:xfrm>
        </p:spPr>
        <p:txBody>
          <a:bodyPr>
            <a:normAutofit/>
          </a:bodyPr>
          <a:lstStyle/>
          <a:p>
            <a:pPr fontAlgn="base"/>
            <a:r>
              <a:rPr lang="en-US" sz="2000" dirty="0"/>
              <a:t>Now when one peer requests for some file, this request is sent to all its neighboring nodes i.e. to all nodes connected to this node. </a:t>
            </a:r>
          </a:p>
          <a:p>
            <a:pPr fontAlgn="base"/>
            <a:r>
              <a:rPr lang="en-US" sz="2000" dirty="0"/>
              <a:t>If those nodes don't have the required file, they pass on the query to their neighbors and so on. This is called query flooding.</a:t>
            </a:r>
          </a:p>
          <a:p>
            <a:pPr fontAlgn="base"/>
            <a:r>
              <a:rPr lang="en-US" sz="2000" dirty="0"/>
              <a:t>When the peer with the requested file is found (referred to as query hit), the query flooding stops and it sends back the file name and file size to the client, thus following the reverse path.</a:t>
            </a:r>
          </a:p>
          <a:p>
            <a:pPr fontAlgn="base"/>
            <a:r>
              <a:rPr lang="en-US" sz="2000" dirty="0"/>
              <a:t>If there are multiple query hits, the client selects from one of these peers.</a:t>
            </a:r>
          </a:p>
          <a:p>
            <a:endParaRPr lang="en-IN" dirty="0"/>
          </a:p>
        </p:txBody>
      </p:sp>
    </p:spTree>
    <p:extLst>
      <p:ext uri="{BB962C8B-B14F-4D97-AF65-F5344CB8AC3E}">
        <p14:creationId xmlns:p14="http://schemas.microsoft.com/office/powerpoint/2010/main" val="138698315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C960928-A043-4F50-A275-EC31FA1B3CBE}"/>
              </a:ext>
            </a:extLst>
          </p:cNvPr>
          <p:cNvPicPr>
            <a:picLocks noChangeAspect="1"/>
          </p:cNvPicPr>
          <p:nvPr/>
        </p:nvPicPr>
        <p:blipFill>
          <a:blip r:embed="rId2"/>
          <a:stretch>
            <a:fillRect/>
          </a:stretch>
        </p:blipFill>
        <p:spPr>
          <a:xfrm>
            <a:off x="1021976" y="950259"/>
            <a:ext cx="8410517" cy="4717116"/>
          </a:xfrm>
          <a:prstGeom prst="rect">
            <a:avLst/>
          </a:prstGeom>
        </p:spPr>
      </p:pic>
    </p:spTree>
    <p:extLst>
      <p:ext uri="{BB962C8B-B14F-4D97-AF65-F5344CB8AC3E}">
        <p14:creationId xmlns:p14="http://schemas.microsoft.com/office/powerpoint/2010/main" val="401044832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ED7C1-1A9A-4304-B4C3-F80322D5B4AC}"/>
              </a:ext>
            </a:extLst>
          </p:cNvPr>
          <p:cNvSpPr>
            <a:spLocks noGrp="1"/>
          </p:cNvSpPr>
          <p:nvPr>
            <p:ph type="title"/>
          </p:nvPr>
        </p:nvSpPr>
        <p:spPr>
          <a:xfrm>
            <a:off x="582706" y="609600"/>
            <a:ext cx="8691296" cy="546847"/>
          </a:xfrm>
        </p:spPr>
        <p:txBody>
          <a:bodyPr>
            <a:normAutofit fontScale="90000"/>
          </a:bodyPr>
          <a:lstStyle/>
          <a:p>
            <a:r>
              <a:rPr lang="en-IN" dirty="0"/>
              <a:t>Advantages</a:t>
            </a:r>
          </a:p>
        </p:txBody>
      </p:sp>
      <p:sp>
        <p:nvSpPr>
          <p:cNvPr id="3" name="Content Placeholder 2">
            <a:extLst>
              <a:ext uri="{FF2B5EF4-FFF2-40B4-BE49-F238E27FC236}">
                <a16:creationId xmlns:a16="http://schemas.microsoft.com/office/drawing/2014/main" id="{CB01942F-FFE6-45D8-93E9-715C99AA7140}"/>
              </a:ext>
            </a:extLst>
          </p:cNvPr>
          <p:cNvSpPr>
            <a:spLocks noGrp="1"/>
          </p:cNvSpPr>
          <p:nvPr>
            <p:ph idx="1"/>
          </p:nvPr>
        </p:nvSpPr>
        <p:spPr/>
        <p:txBody>
          <a:bodyPr>
            <a:normAutofit/>
          </a:bodyPr>
          <a:lstStyle/>
          <a:p>
            <a:r>
              <a:rPr lang="en-US" sz="2200" b="1" dirty="0"/>
              <a:t>Simple and deterministic</a:t>
            </a:r>
            <a:r>
              <a:rPr lang="en-US" sz="2200" dirty="0"/>
              <a:t>: If the resource exists within reach, flooding ensures discovery across reachable nodes .</a:t>
            </a:r>
          </a:p>
          <a:p>
            <a:endParaRPr lang="en-US" sz="2200" dirty="0"/>
          </a:p>
          <a:p>
            <a:r>
              <a:rPr lang="en-US" sz="2200" b="1" dirty="0"/>
              <a:t>No central coordination</a:t>
            </a:r>
            <a:r>
              <a:rPr lang="en-US" sz="2200" dirty="0"/>
              <a:t>: Fully decentralized, with no single point of failure </a:t>
            </a:r>
            <a:endParaRPr lang="en-IN" sz="2200" dirty="0"/>
          </a:p>
        </p:txBody>
      </p:sp>
    </p:spTree>
    <p:extLst>
      <p:ext uri="{BB962C8B-B14F-4D97-AF65-F5344CB8AC3E}">
        <p14:creationId xmlns:p14="http://schemas.microsoft.com/office/powerpoint/2010/main" val="427732533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3B659-21D0-4DA3-AE26-2CDBCAA00F29}"/>
              </a:ext>
            </a:extLst>
          </p:cNvPr>
          <p:cNvSpPr>
            <a:spLocks noGrp="1"/>
          </p:cNvSpPr>
          <p:nvPr>
            <p:ph type="title"/>
          </p:nvPr>
        </p:nvSpPr>
        <p:spPr>
          <a:xfrm>
            <a:off x="677334" y="609600"/>
            <a:ext cx="8596668" cy="510988"/>
          </a:xfrm>
        </p:spPr>
        <p:txBody>
          <a:bodyPr>
            <a:normAutofit fontScale="90000"/>
          </a:bodyPr>
          <a:lstStyle/>
          <a:p>
            <a:r>
              <a:rPr lang="en-IN" dirty="0"/>
              <a:t>Drawbacks</a:t>
            </a:r>
          </a:p>
        </p:txBody>
      </p:sp>
      <p:sp>
        <p:nvSpPr>
          <p:cNvPr id="3" name="Content Placeholder 2">
            <a:extLst>
              <a:ext uri="{FF2B5EF4-FFF2-40B4-BE49-F238E27FC236}">
                <a16:creationId xmlns:a16="http://schemas.microsoft.com/office/drawing/2014/main" id="{95664ED7-6845-45F9-9200-F331C3D83939}"/>
              </a:ext>
            </a:extLst>
          </p:cNvPr>
          <p:cNvSpPr>
            <a:spLocks noGrp="1"/>
          </p:cNvSpPr>
          <p:nvPr>
            <p:ph idx="1"/>
          </p:nvPr>
        </p:nvSpPr>
        <p:spPr/>
        <p:txBody>
          <a:bodyPr>
            <a:normAutofit/>
          </a:bodyPr>
          <a:lstStyle/>
          <a:p>
            <a:r>
              <a:rPr lang="en-US" sz="2200" b="1" dirty="0"/>
              <a:t>Highly inefficient and unscalable</a:t>
            </a:r>
            <a:r>
              <a:rPr lang="en-US" sz="2200" dirty="0"/>
              <a:t>: Each query propagates exponentially, overwhelming the network with traffic. As network size grows, cost balloons dramatically .</a:t>
            </a:r>
          </a:p>
          <a:p>
            <a:endParaRPr lang="en-US" sz="2200" dirty="0"/>
          </a:p>
          <a:p>
            <a:r>
              <a:rPr lang="en-US" sz="2200" b="1" dirty="0"/>
              <a:t>High resource consumption</a:t>
            </a:r>
            <a:r>
              <a:rPr lang="en-US" sz="2200" dirty="0"/>
              <a:t>: Every peer must process and forward every query, leading to bandwidth, CPU, and memory overload</a:t>
            </a:r>
            <a:endParaRPr lang="en-IN" sz="2200" dirty="0"/>
          </a:p>
        </p:txBody>
      </p:sp>
    </p:spTree>
    <p:extLst>
      <p:ext uri="{BB962C8B-B14F-4D97-AF65-F5344CB8AC3E}">
        <p14:creationId xmlns:p14="http://schemas.microsoft.com/office/powerpoint/2010/main" val="144145010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D7FB9-5CF5-4BD3-9EAC-D03780E91D7D}"/>
              </a:ext>
            </a:extLst>
          </p:cNvPr>
          <p:cNvSpPr>
            <a:spLocks noGrp="1"/>
          </p:cNvSpPr>
          <p:nvPr>
            <p:ph type="title"/>
          </p:nvPr>
        </p:nvSpPr>
        <p:spPr>
          <a:xfrm>
            <a:off x="869577" y="735106"/>
            <a:ext cx="8682331" cy="528918"/>
          </a:xfrm>
        </p:spPr>
        <p:txBody>
          <a:bodyPr>
            <a:normAutofit fontScale="90000"/>
          </a:bodyPr>
          <a:lstStyle/>
          <a:p>
            <a:br>
              <a:rPr lang="en-IN" b="1" dirty="0"/>
            </a:br>
            <a:r>
              <a:rPr lang="en-IN" sz="3600" b="1" dirty="0"/>
              <a:t>3. Exploiting Heterogeneity</a:t>
            </a:r>
            <a:br>
              <a:rPr lang="en-IN" b="1" dirty="0"/>
            </a:br>
            <a:endParaRPr lang="en-IN" dirty="0"/>
          </a:p>
        </p:txBody>
      </p:sp>
      <p:sp>
        <p:nvSpPr>
          <p:cNvPr id="3" name="Content Placeholder 2">
            <a:extLst>
              <a:ext uri="{FF2B5EF4-FFF2-40B4-BE49-F238E27FC236}">
                <a16:creationId xmlns:a16="http://schemas.microsoft.com/office/drawing/2014/main" id="{17D68B94-7304-45F3-BE21-0EB434223144}"/>
              </a:ext>
            </a:extLst>
          </p:cNvPr>
          <p:cNvSpPr>
            <a:spLocks noGrp="1"/>
          </p:cNvSpPr>
          <p:nvPr>
            <p:ph idx="1"/>
          </p:nvPr>
        </p:nvSpPr>
        <p:spPr>
          <a:xfrm>
            <a:off x="591671" y="1712259"/>
            <a:ext cx="8682331" cy="4329103"/>
          </a:xfrm>
        </p:spPr>
        <p:txBody>
          <a:bodyPr>
            <a:normAutofit/>
          </a:bodyPr>
          <a:lstStyle/>
          <a:p>
            <a:r>
              <a:rPr lang="en-US" sz="2000" dirty="0"/>
              <a:t>This P2P architecture makes use of both the above-discussed systems. </a:t>
            </a:r>
          </a:p>
          <a:p>
            <a:r>
              <a:rPr lang="en-US" sz="2000" dirty="0"/>
              <a:t>It resembles a distributed system like Gnutella because there is no central server for query processing.</a:t>
            </a:r>
          </a:p>
          <a:p>
            <a:r>
              <a:rPr lang="en-US" sz="2000" dirty="0"/>
              <a:t> But unlike Gnutella, it does not treat all its peers equally. </a:t>
            </a:r>
          </a:p>
          <a:p>
            <a:r>
              <a:rPr lang="en-US" sz="2000" dirty="0"/>
              <a:t>The peers with higher bandwidth and network connectivity are at a higher priority and are called </a:t>
            </a:r>
            <a:r>
              <a:rPr lang="en-US" sz="2000" b="1" dirty="0"/>
              <a:t>group leaders/</a:t>
            </a:r>
            <a:r>
              <a:rPr lang="en-US" sz="2000" b="1" dirty="0" err="1"/>
              <a:t>supernodes</a:t>
            </a:r>
            <a:r>
              <a:rPr lang="en-US" sz="2000" dirty="0"/>
              <a:t>. </a:t>
            </a:r>
          </a:p>
          <a:p>
            <a:r>
              <a:rPr lang="en-US" sz="2000" dirty="0"/>
              <a:t>The rest of the peers are assigned to these </a:t>
            </a:r>
            <a:r>
              <a:rPr lang="en-US" sz="2000" dirty="0" err="1"/>
              <a:t>supernodes</a:t>
            </a:r>
            <a:r>
              <a:rPr lang="en-US" sz="2000" dirty="0"/>
              <a:t>. </a:t>
            </a:r>
          </a:p>
          <a:p>
            <a:r>
              <a:rPr lang="en-US" sz="2000" dirty="0"/>
              <a:t>These </a:t>
            </a:r>
            <a:r>
              <a:rPr lang="en-US" sz="2000" dirty="0" err="1"/>
              <a:t>supernodes</a:t>
            </a:r>
            <a:r>
              <a:rPr lang="en-US" sz="2000" dirty="0"/>
              <a:t> are interconnected and the peers under these </a:t>
            </a:r>
            <a:r>
              <a:rPr lang="en-US" sz="2000" dirty="0" err="1"/>
              <a:t>supernodes</a:t>
            </a:r>
            <a:r>
              <a:rPr lang="en-US" sz="2000" dirty="0"/>
              <a:t> inform their respective leaders about their connectivity, IP address, and the files available for sharing.</a:t>
            </a:r>
          </a:p>
          <a:p>
            <a:r>
              <a:rPr lang="en-US" sz="2000" b="1" dirty="0" err="1"/>
              <a:t>KaZaA</a:t>
            </a:r>
            <a:r>
              <a:rPr lang="en-US" sz="2000" dirty="0"/>
              <a:t> technology is such an example that makes use of Napster and Gnutella</a:t>
            </a:r>
            <a:endParaRPr lang="en-IN" sz="2000" dirty="0"/>
          </a:p>
        </p:txBody>
      </p:sp>
    </p:spTree>
    <p:extLst>
      <p:ext uri="{BB962C8B-B14F-4D97-AF65-F5344CB8AC3E}">
        <p14:creationId xmlns:p14="http://schemas.microsoft.com/office/powerpoint/2010/main" val="406159346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34EB4-1AAA-411D-AEE8-A6FC1F81D9DA}"/>
              </a:ext>
            </a:extLst>
          </p:cNvPr>
          <p:cNvSpPr>
            <a:spLocks noGrp="1"/>
          </p:cNvSpPr>
          <p:nvPr>
            <p:ph type="title"/>
          </p:nvPr>
        </p:nvSpPr>
        <p:spPr>
          <a:xfrm>
            <a:off x="677334" y="609600"/>
            <a:ext cx="8596668" cy="510988"/>
          </a:xfrm>
        </p:spPr>
        <p:txBody>
          <a:bodyPr>
            <a:normAutofit fontScale="90000"/>
          </a:bodyPr>
          <a:lstStyle/>
          <a:p>
            <a:r>
              <a:rPr lang="en-IN" b="1" dirty="0"/>
              <a:t>Working</a:t>
            </a:r>
            <a:br>
              <a:rPr lang="en-IN" b="1" dirty="0"/>
            </a:br>
            <a:endParaRPr lang="en-IN" dirty="0"/>
          </a:p>
        </p:txBody>
      </p:sp>
      <p:sp>
        <p:nvSpPr>
          <p:cNvPr id="3" name="Content Placeholder 2">
            <a:extLst>
              <a:ext uri="{FF2B5EF4-FFF2-40B4-BE49-F238E27FC236}">
                <a16:creationId xmlns:a16="http://schemas.microsoft.com/office/drawing/2014/main" id="{28A90AF8-56D4-4986-9ABE-762108CDE7D2}"/>
              </a:ext>
            </a:extLst>
          </p:cNvPr>
          <p:cNvSpPr>
            <a:spLocks noGrp="1"/>
          </p:cNvSpPr>
          <p:nvPr>
            <p:ph idx="1"/>
          </p:nvPr>
        </p:nvSpPr>
        <p:spPr>
          <a:xfrm>
            <a:off x="677334" y="1703295"/>
            <a:ext cx="8596668" cy="4338068"/>
          </a:xfrm>
        </p:spPr>
        <p:txBody>
          <a:bodyPr>
            <a:normAutofit/>
          </a:bodyPr>
          <a:lstStyle/>
          <a:p>
            <a:pPr fontAlgn="base"/>
            <a:r>
              <a:rPr lang="en-US" sz="2200" dirty="0"/>
              <a:t>This structure can process the queries in two ways.</a:t>
            </a:r>
          </a:p>
          <a:p>
            <a:pPr fontAlgn="base"/>
            <a:r>
              <a:rPr lang="en-US" sz="2200" dirty="0"/>
              <a:t>The first one is that the </a:t>
            </a:r>
            <a:r>
              <a:rPr lang="en-US" sz="2200" dirty="0" err="1"/>
              <a:t>supernodes</a:t>
            </a:r>
            <a:r>
              <a:rPr lang="en-US" sz="2200" dirty="0"/>
              <a:t> could contact other </a:t>
            </a:r>
            <a:r>
              <a:rPr lang="en-US" sz="2200" dirty="0" err="1"/>
              <a:t>supernodes</a:t>
            </a:r>
            <a:r>
              <a:rPr lang="en-US" sz="2200" dirty="0"/>
              <a:t> and merge their databases with their database. Thus, this </a:t>
            </a:r>
            <a:r>
              <a:rPr lang="en-US" sz="2200" dirty="0" err="1"/>
              <a:t>supernode</a:t>
            </a:r>
            <a:r>
              <a:rPr lang="en-US" sz="2200" dirty="0"/>
              <a:t> now has information about a large number of peers.</a:t>
            </a:r>
          </a:p>
          <a:p>
            <a:pPr fontAlgn="base"/>
            <a:r>
              <a:rPr lang="en-US" sz="2200" dirty="0"/>
              <a:t>Another approach is that when a query comes in, it is forwarded to the neighboring super nodes until a match is found, just like in Gnutella. </a:t>
            </a:r>
          </a:p>
          <a:p>
            <a:pPr fontAlgn="base"/>
            <a:r>
              <a:rPr lang="en-US" sz="2200" dirty="0"/>
              <a:t>Thus query flooding exists but with limited scope as each </a:t>
            </a:r>
            <a:r>
              <a:rPr lang="en-US" sz="2200" dirty="0" err="1"/>
              <a:t>supernode</a:t>
            </a:r>
            <a:r>
              <a:rPr lang="en-US" sz="2200" dirty="0"/>
              <a:t> has many child peers. </a:t>
            </a:r>
          </a:p>
          <a:p>
            <a:pPr fontAlgn="base"/>
            <a:r>
              <a:rPr lang="en-US" sz="2200" dirty="0"/>
              <a:t>Hence, such a system exploits the heterogeneity of the peers by designating some of them as group leaders/</a:t>
            </a:r>
            <a:r>
              <a:rPr lang="en-US" sz="2200" dirty="0" err="1"/>
              <a:t>supernodes</a:t>
            </a:r>
            <a:r>
              <a:rPr lang="en-US" sz="2200" dirty="0"/>
              <a:t> and others as their child peers</a:t>
            </a:r>
          </a:p>
          <a:p>
            <a:endParaRPr lang="en-IN" dirty="0"/>
          </a:p>
        </p:txBody>
      </p:sp>
    </p:spTree>
    <p:extLst>
      <p:ext uri="{BB962C8B-B14F-4D97-AF65-F5344CB8AC3E}">
        <p14:creationId xmlns:p14="http://schemas.microsoft.com/office/powerpoint/2010/main" val="401036583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17DAD11-62EB-4256-83AF-8C5505B46E68}"/>
              </a:ext>
            </a:extLst>
          </p:cNvPr>
          <p:cNvPicPr>
            <a:picLocks noChangeAspect="1"/>
          </p:cNvPicPr>
          <p:nvPr/>
        </p:nvPicPr>
        <p:blipFill>
          <a:blip r:embed="rId2"/>
          <a:stretch>
            <a:fillRect/>
          </a:stretch>
        </p:blipFill>
        <p:spPr>
          <a:xfrm>
            <a:off x="2232212" y="896470"/>
            <a:ext cx="5902138" cy="4661648"/>
          </a:xfrm>
          <a:prstGeom prst="rect">
            <a:avLst/>
          </a:prstGeom>
        </p:spPr>
      </p:pic>
    </p:spTree>
    <p:extLst>
      <p:ext uri="{BB962C8B-B14F-4D97-AF65-F5344CB8AC3E}">
        <p14:creationId xmlns:p14="http://schemas.microsoft.com/office/powerpoint/2010/main" val="384796747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B1643-1C65-4783-A70A-CBD3F8A10397}"/>
              </a:ext>
            </a:extLst>
          </p:cNvPr>
          <p:cNvSpPr>
            <a:spLocks noGrp="1"/>
          </p:cNvSpPr>
          <p:nvPr>
            <p:ph type="title"/>
          </p:nvPr>
        </p:nvSpPr>
        <p:spPr>
          <a:xfrm>
            <a:off x="838200" y="365125"/>
            <a:ext cx="10515600" cy="441699"/>
          </a:xfrm>
        </p:spPr>
        <p:txBody>
          <a:bodyPr>
            <a:normAutofit fontScale="90000"/>
          </a:bodyPr>
          <a:lstStyle/>
          <a:p>
            <a:br>
              <a:rPr lang="en-IN" b="1" dirty="0"/>
            </a:br>
            <a:r>
              <a:rPr lang="en-IN" sz="3600" b="1" dirty="0"/>
              <a:t>Socket Programming in Computer Network</a:t>
            </a:r>
            <a:br>
              <a:rPr lang="en-IN" b="1" dirty="0"/>
            </a:br>
            <a:endParaRPr lang="en-IN" dirty="0"/>
          </a:p>
        </p:txBody>
      </p:sp>
      <p:sp>
        <p:nvSpPr>
          <p:cNvPr id="3" name="Content Placeholder 2">
            <a:extLst>
              <a:ext uri="{FF2B5EF4-FFF2-40B4-BE49-F238E27FC236}">
                <a16:creationId xmlns:a16="http://schemas.microsoft.com/office/drawing/2014/main" id="{7E37CDC5-838E-4ABE-BC0B-85189684C20A}"/>
              </a:ext>
            </a:extLst>
          </p:cNvPr>
          <p:cNvSpPr>
            <a:spLocks noGrp="1"/>
          </p:cNvSpPr>
          <p:nvPr>
            <p:ph idx="1"/>
          </p:nvPr>
        </p:nvSpPr>
        <p:spPr>
          <a:xfrm>
            <a:off x="838200" y="1120588"/>
            <a:ext cx="10515600" cy="5056375"/>
          </a:xfrm>
        </p:spPr>
        <p:txBody>
          <a:bodyPr/>
          <a:lstStyle/>
          <a:p>
            <a:endParaRPr lang="en-IN" sz="2000" b="1" dirty="0"/>
          </a:p>
          <a:p>
            <a:endParaRPr lang="en-IN" sz="2000" b="1" dirty="0"/>
          </a:p>
          <a:p>
            <a:r>
              <a:rPr lang="en-IN" sz="2000" b="1" dirty="0"/>
              <a:t>Sockets</a:t>
            </a:r>
            <a:r>
              <a:rPr lang="en-IN" sz="2000" dirty="0"/>
              <a:t> in computer networks are used for allowing the transmission of information between two processes of the same machines or different machines in the network.</a:t>
            </a:r>
          </a:p>
          <a:p>
            <a:r>
              <a:rPr lang="en-IN" sz="2000" dirty="0"/>
              <a:t> The socket is the combination of IP address and software port number used for communication between multiple processes. </a:t>
            </a:r>
          </a:p>
          <a:p>
            <a:r>
              <a:rPr lang="en-IN" sz="2000" dirty="0"/>
              <a:t>Socket helps to recognize the address of the application to which data is to be sent using the IP address and port number.</a:t>
            </a:r>
          </a:p>
          <a:p>
            <a:pPr marL="0" indent="0">
              <a:buNone/>
            </a:pPr>
            <a:endParaRPr lang="en-IN" dirty="0"/>
          </a:p>
        </p:txBody>
      </p:sp>
    </p:spTree>
    <p:extLst>
      <p:ext uri="{BB962C8B-B14F-4D97-AF65-F5344CB8AC3E}">
        <p14:creationId xmlns:p14="http://schemas.microsoft.com/office/powerpoint/2010/main" val="368765471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7B0A4-D74D-4013-B707-8F4D816B4CF3}"/>
              </a:ext>
            </a:extLst>
          </p:cNvPr>
          <p:cNvSpPr>
            <a:spLocks noGrp="1"/>
          </p:cNvSpPr>
          <p:nvPr>
            <p:ph type="title"/>
          </p:nvPr>
        </p:nvSpPr>
        <p:spPr>
          <a:xfrm>
            <a:off x="838200" y="365126"/>
            <a:ext cx="10515600" cy="414804"/>
          </a:xfrm>
        </p:spPr>
        <p:txBody>
          <a:bodyPr>
            <a:normAutofit/>
          </a:bodyPr>
          <a:lstStyle/>
          <a:p>
            <a:r>
              <a:rPr lang="en-US" sz="1200" dirty="0"/>
              <a:t>Continued…</a:t>
            </a:r>
            <a:endParaRPr lang="en-IN" sz="1200" dirty="0"/>
          </a:p>
        </p:txBody>
      </p:sp>
      <p:sp>
        <p:nvSpPr>
          <p:cNvPr id="3" name="Content Placeholder 2">
            <a:extLst>
              <a:ext uri="{FF2B5EF4-FFF2-40B4-BE49-F238E27FC236}">
                <a16:creationId xmlns:a16="http://schemas.microsoft.com/office/drawing/2014/main" id="{19E28103-C4CF-44FD-8194-234606DE0F6C}"/>
              </a:ext>
            </a:extLst>
          </p:cNvPr>
          <p:cNvSpPr>
            <a:spLocks noGrp="1"/>
          </p:cNvSpPr>
          <p:nvPr>
            <p:ph idx="1"/>
          </p:nvPr>
        </p:nvSpPr>
        <p:spPr>
          <a:xfrm>
            <a:off x="838200" y="860612"/>
            <a:ext cx="10515600" cy="5316351"/>
          </a:xfrm>
        </p:spPr>
        <p:txBody>
          <a:bodyPr/>
          <a:lstStyle/>
          <a:p>
            <a:pPr lvl="0"/>
            <a:r>
              <a:rPr lang="en-IN" sz="2000" dirty="0"/>
              <a:t>Sockets are mostly used in client-server architecture for communication between multiple applications.</a:t>
            </a:r>
          </a:p>
          <a:p>
            <a:pPr lvl="0"/>
            <a:r>
              <a:rPr lang="en-IN" sz="2000" dirty="0"/>
              <a:t>Socket programming tells us how we can use socket API for creating communication between local and remote processes.</a:t>
            </a:r>
          </a:p>
          <a:p>
            <a:pPr lvl="0"/>
            <a:r>
              <a:rPr lang="en-IN" sz="2000" dirty="0"/>
              <a:t>The socket is created by the combination of the IP address and port number of the software. With this combination, the process knows the system address and address of the application where data is to be sent.</a:t>
            </a:r>
          </a:p>
          <a:p>
            <a:pPr lvl="0"/>
            <a:r>
              <a:rPr lang="en-IN" sz="2000" b="1" dirty="0"/>
              <a:t>:</a:t>
            </a:r>
            <a:r>
              <a:rPr lang="en-IN" sz="2000" dirty="0"/>
              <a:t> is used to separate IP address and port number. For </a:t>
            </a:r>
            <a:r>
              <a:rPr lang="en-IN" sz="2000" dirty="0" err="1"/>
              <a:t>eg</a:t>
            </a:r>
            <a:r>
              <a:rPr lang="en-IN" sz="2000" dirty="0"/>
              <a:t>: 192.168.1.67:80, 155.2.12.23:77, etc.</a:t>
            </a:r>
          </a:p>
          <a:p>
            <a:pPr marL="0" indent="0">
              <a:buNone/>
            </a:pPr>
            <a:endParaRPr lang="en-IN" dirty="0"/>
          </a:p>
        </p:txBody>
      </p:sp>
    </p:spTree>
    <p:extLst>
      <p:ext uri="{BB962C8B-B14F-4D97-AF65-F5344CB8AC3E}">
        <p14:creationId xmlns:p14="http://schemas.microsoft.com/office/powerpoint/2010/main" val="26967471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4A70C-051A-456E-8186-9CAA71EA5A1E}"/>
              </a:ext>
            </a:extLst>
          </p:cNvPr>
          <p:cNvSpPr>
            <a:spLocks noGrp="1"/>
          </p:cNvSpPr>
          <p:nvPr>
            <p:ph type="title"/>
          </p:nvPr>
        </p:nvSpPr>
        <p:spPr>
          <a:xfrm>
            <a:off x="838200" y="365125"/>
            <a:ext cx="10515600" cy="522381"/>
          </a:xfrm>
        </p:spPr>
        <p:txBody>
          <a:bodyPr>
            <a:normAutofit fontScale="90000"/>
          </a:bodyPr>
          <a:lstStyle/>
          <a:p>
            <a:br>
              <a:rPr lang="en-IN" b="1" dirty="0"/>
            </a:br>
            <a:r>
              <a:rPr lang="en-IN" b="1" dirty="0"/>
              <a:t>Socket Types:</a:t>
            </a:r>
            <a:br>
              <a:rPr lang="en-IN" dirty="0"/>
            </a:br>
            <a:endParaRPr lang="en-IN" dirty="0"/>
          </a:p>
        </p:txBody>
      </p:sp>
      <p:sp>
        <p:nvSpPr>
          <p:cNvPr id="3" name="Content Placeholder 2">
            <a:extLst>
              <a:ext uri="{FF2B5EF4-FFF2-40B4-BE49-F238E27FC236}">
                <a16:creationId xmlns:a16="http://schemas.microsoft.com/office/drawing/2014/main" id="{E6221F9C-DA20-4564-8B42-CA660D2C11FD}"/>
              </a:ext>
            </a:extLst>
          </p:cNvPr>
          <p:cNvSpPr>
            <a:spLocks noGrp="1"/>
          </p:cNvSpPr>
          <p:nvPr>
            <p:ph idx="1"/>
          </p:nvPr>
        </p:nvSpPr>
        <p:spPr>
          <a:xfrm>
            <a:off x="838200" y="1246094"/>
            <a:ext cx="10515600" cy="4930869"/>
          </a:xfrm>
        </p:spPr>
        <p:txBody>
          <a:bodyPr/>
          <a:lstStyle/>
          <a:p>
            <a:pPr fontAlgn="base"/>
            <a:endParaRPr lang="en-IN" b="1" dirty="0"/>
          </a:p>
          <a:p>
            <a:pPr fontAlgn="base"/>
            <a:r>
              <a:rPr lang="en-IN" sz="2400" b="1" dirty="0"/>
              <a:t>TCP Socket (Stream Socket): </a:t>
            </a:r>
            <a:r>
              <a:rPr lang="en-IN" sz="2400" dirty="0"/>
              <a:t>Provides reliable, connection-based communication (i.e., TCP Protocol).</a:t>
            </a:r>
          </a:p>
          <a:p>
            <a:pPr fontAlgn="base"/>
            <a:r>
              <a:rPr lang="en-IN" sz="2400" b="1" dirty="0"/>
              <a:t>UDP Socket (Datagram Socket):</a:t>
            </a:r>
            <a:r>
              <a:rPr lang="en-IN" sz="2400" dirty="0"/>
              <a:t> Provides connectionless communication, faster but unreliable (i.e., UDP Protocol).</a:t>
            </a:r>
          </a:p>
          <a:p>
            <a:pPr marL="0" indent="0">
              <a:buNone/>
            </a:pPr>
            <a:endParaRPr lang="en-IN" dirty="0"/>
          </a:p>
        </p:txBody>
      </p:sp>
    </p:spTree>
    <p:extLst>
      <p:ext uri="{BB962C8B-B14F-4D97-AF65-F5344CB8AC3E}">
        <p14:creationId xmlns:p14="http://schemas.microsoft.com/office/powerpoint/2010/main" val="177770977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77E7F-6192-4CBF-B280-97D567400057}"/>
              </a:ext>
            </a:extLst>
          </p:cNvPr>
          <p:cNvSpPr>
            <a:spLocks noGrp="1"/>
          </p:cNvSpPr>
          <p:nvPr>
            <p:ph type="title"/>
          </p:nvPr>
        </p:nvSpPr>
        <p:spPr>
          <a:xfrm>
            <a:off x="836612" y="457200"/>
            <a:ext cx="3935413" cy="770965"/>
          </a:xfrm>
        </p:spPr>
        <p:txBody>
          <a:bodyPr>
            <a:normAutofit/>
          </a:bodyPr>
          <a:lstStyle/>
          <a:p>
            <a:r>
              <a:rPr lang="en-IN" sz="2800" b="1" dirty="0"/>
              <a:t>Client-Server Model</a:t>
            </a:r>
          </a:p>
        </p:txBody>
      </p:sp>
      <p:sp>
        <p:nvSpPr>
          <p:cNvPr id="4" name="Text Placeholder 3">
            <a:extLst>
              <a:ext uri="{FF2B5EF4-FFF2-40B4-BE49-F238E27FC236}">
                <a16:creationId xmlns:a16="http://schemas.microsoft.com/office/drawing/2014/main" id="{522DB6A4-322E-4E80-99E0-59BC2A51BB0B}"/>
              </a:ext>
            </a:extLst>
          </p:cNvPr>
          <p:cNvSpPr>
            <a:spLocks noGrp="1"/>
          </p:cNvSpPr>
          <p:nvPr>
            <p:ph type="body" sz="half" idx="2"/>
          </p:nvPr>
        </p:nvSpPr>
        <p:spPr>
          <a:xfrm>
            <a:off x="836612" y="1470212"/>
            <a:ext cx="8110164" cy="4390839"/>
          </a:xfrm>
        </p:spPr>
        <p:txBody>
          <a:bodyPr>
            <a:normAutofit/>
          </a:bodyPr>
          <a:lstStyle/>
          <a:p>
            <a:pPr marL="285750" indent="-285750">
              <a:buFont typeface="Wingdings" panose="05000000000000000000" pitchFamily="2" charset="2"/>
              <a:buChar char="Ø"/>
            </a:pPr>
            <a:r>
              <a:rPr lang="en-US" sz="2000" dirty="0"/>
              <a:t>The client- server model refers to the architecture used in socket programming, where a client and a server to interact with each other to exchange information or services. </a:t>
            </a:r>
          </a:p>
          <a:p>
            <a:pPr marL="285750" indent="-285750">
              <a:buFont typeface="Wingdings" panose="05000000000000000000" pitchFamily="2" charset="2"/>
              <a:buChar char="Ø"/>
            </a:pPr>
            <a:r>
              <a:rPr lang="en-US" sz="2000" dirty="0"/>
              <a:t>This architecture allows client to send service requests and the server to process and send response to those service requests.</a:t>
            </a:r>
            <a:endParaRPr lang="en-IN" sz="2000" dirty="0"/>
          </a:p>
        </p:txBody>
      </p:sp>
      <p:sp>
        <p:nvSpPr>
          <p:cNvPr id="6" name="Content Placeholder 5">
            <a:extLst>
              <a:ext uri="{FF2B5EF4-FFF2-40B4-BE49-F238E27FC236}">
                <a16:creationId xmlns:a16="http://schemas.microsoft.com/office/drawing/2014/main" id="{C3063935-00C3-49CE-9936-A843B36FB659}"/>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26157279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2391</TotalTime>
  <Words>9808</Words>
  <Application>Microsoft Office PowerPoint</Application>
  <PresentationFormat>Widescreen</PresentationFormat>
  <Paragraphs>774</Paragraphs>
  <Slides>114</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114</vt:i4>
      </vt:variant>
    </vt:vector>
  </HeadingPairs>
  <TitlesOfParts>
    <vt:vector size="123" baseType="lpstr">
      <vt:lpstr>Arial</vt:lpstr>
      <vt:lpstr>Calibri</vt:lpstr>
      <vt:lpstr>Calibri Light</vt:lpstr>
      <vt:lpstr>inherit</vt:lpstr>
      <vt:lpstr>Times New Roman</vt:lpstr>
      <vt:lpstr>ui-monospace</vt:lpstr>
      <vt:lpstr>Verdana</vt:lpstr>
      <vt:lpstr>Wingdings</vt:lpstr>
      <vt:lpstr>Office Theme</vt:lpstr>
      <vt:lpstr> Principles of Network Applications </vt:lpstr>
      <vt:lpstr>Continued…</vt:lpstr>
      <vt:lpstr>Network Application Architectures </vt:lpstr>
      <vt:lpstr>Client-Server Architecture</vt:lpstr>
      <vt:lpstr>Peer to Peer architecture </vt:lpstr>
      <vt:lpstr>Three-Tier Architecture</vt:lpstr>
      <vt:lpstr>Microservices Architecture </vt:lpstr>
      <vt:lpstr>PowerPoint Presentation</vt:lpstr>
      <vt:lpstr>PowerPoint Presentation</vt:lpstr>
      <vt:lpstr>Continued…</vt:lpstr>
      <vt:lpstr>Continued…</vt:lpstr>
      <vt:lpstr>Examples of Microservices</vt:lpstr>
      <vt:lpstr>Continued…</vt:lpstr>
      <vt:lpstr>3. Uber</vt:lpstr>
      <vt:lpstr>Complete Working Example (Amazon)</vt:lpstr>
      <vt:lpstr>Continued…</vt:lpstr>
      <vt:lpstr>Continued…</vt:lpstr>
      <vt:lpstr>B. Processes Communicating </vt:lpstr>
      <vt:lpstr>C. The Interface between the Process and the Computer Network </vt:lpstr>
      <vt:lpstr>Real-Life Analogy</vt:lpstr>
      <vt:lpstr>Example: Opening a Website</vt:lpstr>
      <vt:lpstr>D. Transport Services Available to Applications </vt:lpstr>
      <vt:lpstr>E. Transport Services Provided by the Internet</vt:lpstr>
      <vt:lpstr>Application-layer protocols </vt:lpstr>
      <vt:lpstr>HTTP</vt:lpstr>
      <vt:lpstr>Evolution of HTTP</vt:lpstr>
      <vt:lpstr>Continued…</vt:lpstr>
      <vt:lpstr>Continued…</vt:lpstr>
      <vt:lpstr>Continued…</vt:lpstr>
      <vt:lpstr>Continued…</vt:lpstr>
      <vt:lpstr>Continued…</vt:lpstr>
      <vt:lpstr>Continued…</vt:lpstr>
      <vt:lpstr>PowerPoint Presentation</vt:lpstr>
      <vt:lpstr> World Wide Web Communication </vt:lpstr>
      <vt:lpstr> HTTP Request / Response </vt:lpstr>
      <vt:lpstr> Basic Features of HTTP </vt:lpstr>
      <vt:lpstr> How does HTTP work </vt:lpstr>
      <vt:lpstr>Let us understand How does HTTP work with a scenario below:</vt:lpstr>
      <vt:lpstr>PowerPoint Presentation</vt:lpstr>
      <vt:lpstr>Step-by-Step Process of Loading a Web Page</vt:lpstr>
      <vt:lpstr>Step-by-Step Process of Loading a Web Page</vt:lpstr>
      <vt:lpstr>Continued…</vt:lpstr>
      <vt:lpstr>Continued…</vt:lpstr>
      <vt:lpstr>Continued…</vt:lpstr>
      <vt:lpstr>Continued…</vt:lpstr>
      <vt:lpstr> HTTP - Messages </vt:lpstr>
      <vt:lpstr>PowerPoint Presentation</vt:lpstr>
      <vt:lpstr>Continued…</vt:lpstr>
      <vt:lpstr> HTTP Message Components </vt:lpstr>
      <vt:lpstr>Continued…</vt:lpstr>
      <vt:lpstr> Headers </vt:lpstr>
      <vt:lpstr> Message Body </vt:lpstr>
      <vt:lpstr>Web Caching</vt:lpstr>
      <vt:lpstr> Proxy Server </vt:lpstr>
      <vt:lpstr> Advantages of Using a Proxy Server </vt:lpstr>
      <vt:lpstr> File Transfer Protocol (FTP) in Application Layer </vt:lpstr>
      <vt:lpstr>PowerPoint Presentation</vt:lpstr>
      <vt:lpstr> There are different ways through which a server and a client do a file transfer using FTP. Some of them are mentioned below: </vt:lpstr>
      <vt:lpstr> Anonymous FTP </vt:lpstr>
      <vt:lpstr>Password Protected FTP</vt:lpstr>
      <vt:lpstr>FTP Secure (FTPS)</vt:lpstr>
      <vt:lpstr>FTP over Explicit SSL/TLS (FTPES): </vt:lpstr>
      <vt:lpstr>Secure FTP (SFTP): </vt:lpstr>
      <vt:lpstr>     What is FTP Useful For? </vt:lpstr>
      <vt:lpstr> How to Use FTP? </vt:lpstr>
      <vt:lpstr> Types of Connection in FTP </vt:lpstr>
      <vt:lpstr>PowerPoint Presentation</vt:lpstr>
      <vt:lpstr> Characteristics of FTP  </vt:lpstr>
      <vt:lpstr>Advantages of FTP</vt:lpstr>
      <vt:lpstr> Disadvantages of FTP </vt:lpstr>
      <vt:lpstr>  Simple Mail Transfer Protocol (SMTP)   </vt:lpstr>
      <vt:lpstr>Continued…</vt:lpstr>
      <vt:lpstr> Types of SMTP Protocol </vt:lpstr>
      <vt:lpstr>CONTINUED…</vt:lpstr>
      <vt:lpstr>PowerPoint Presentation</vt:lpstr>
      <vt:lpstr> Model of SMTP System  </vt:lpstr>
      <vt:lpstr>SMTP Model – Step-by-Step</vt:lpstr>
      <vt:lpstr>Contined..</vt:lpstr>
      <vt:lpstr>Features of SMTP</vt:lpstr>
      <vt:lpstr> Components of SMTP </vt:lpstr>
      <vt:lpstr> How does SMTP Work? </vt:lpstr>
      <vt:lpstr>Continued…</vt:lpstr>
      <vt:lpstr>Continued…</vt:lpstr>
      <vt:lpstr>  SMTP Envelope  </vt:lpstr>
      <vt:lpstr> SMTP Ports </vt:lpstr>
      <vt:lpstr>Domain Name System</vt:lpstr>
      <vt:lpstr>PowerPoint Presentation</vt:lpstr>
      <vt:lpstr> How Does DNS Work? </vt:lpstr>
      <vt:lpstr> Structure of DNS </vt:lpstr>
      <vt:lpstr> There are various kinds of domains: </vt:lpstr>
      <vt:lpstr>PowerPoint Presentation</vt:lpstr>
      <vt:lpstr> Domain Name Server </vt:lpstr>
      <vt:lpstr>PowerPoint Presentation</vt:lpstr>
      <vt:lpstr> DNS Lookup </vt:lpstr>
      <vt:lpstr> DNS Resolver </vt:lpstr>
      <vt:lpstr> Types of DNS Queries </vt:lpstr>
      <vt:lpstr> DNS Caching and TTL (Time-to-Live) </vt:lpstr>
      <vt:lpstr>  P2P (Peer To Peer) File Sharing  </vt:lpstr>
      <vt:lpstr> How Does P2P (Peer-to-Peer) Work? </vt:lpstr>
      <vt:lpstr>Various methods in P2P Architecture</vt:lpstr>
      <vt:lpstr>PowerPoint Presentation</vt:lpstr>
      <vt:lpstr>Problem in Centralized Directory</vt:lpstr>
      <vt:lpstr> 2. Query Flooding </vt:lpstr>
      <vt:lpstr>Working </vt:lpstr>
      <vt:lpstr>PowerPoint Presentation</vt:lpstr>
      <vt:lpstr>Advantages</vt:lpstr>
      <vt:lpstr>Drawbacks</vt:lpstr>
      <vt:lpstr> 3. Exploiting Heterogeneity </vt:lpstr>
      <vt:lpstr>Working </vt:lpstr>
      <vt:lpstr>PowerPoint Presentation</vt:lpstr>
      <vt:lpstr> Socket Programming in Computer Network </vt:lpstr>
      <vt:lpstr>Continued…</vt:lpstr>
      <vt:lpstr> Socket Types: </vt:lpstr>
      <vt:lpstr>Client-Server Model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Principles of Network Applications </dc:title>
  <dc:creator>scaai5_601</dc:creator>
  <cp:lastModifiedBy>Geetanjali Sharma</cp:lastModifiedBy>
  <cp:revision>86</cp:revision>
  <dcterms:created xsi:type="dcterms:W3CDTF">2025-06-25T04:25:00Z</dcterms:created>
  <dcterms:modified xsi:type="dcterms:W3CDTF">2026-08-13T04:13:30Z</dcterms:modified>
</cp:coreProperties>
</file>