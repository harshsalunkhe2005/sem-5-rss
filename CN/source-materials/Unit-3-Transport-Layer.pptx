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46" r:id="rId4"/>
    <p:sldId id="259" r:id="rId5"/>
    <p:sldId id="260" r:id="rId6"/>
    <p:sldId id="261" r:id="rId7"/>
    <p:sldId id="347" r:id="rId8"/>
    <p:sldId id="348" r:id="rId9"/>
    <p:sldId id="349" r:id="rId10"/>
    <p:sldId id="263" r:id="rId11"/>
    <p:sldId id="264" r:id="rId12"/>
    <p:sldId id="265" r:id="rId13"/>
    <p:sldId id="266" r:id="rId14"/>
    <p:sldId id="267" r:id="rId15"/>
    <p:sldId id="269" r:id="rId16"/>
    <p:sldId id="270" r:id="rId17"/>
    <p:sldId id="271" r:id="rId18"/>
    <p:sldId id="272" r:id="rId19"/>
    <p:sldId id="273" r:id="rId20"/>
    <p:sldId id="268" r:id="rId21"/>
    <p:sldId id="274" r:id="rId22"/>
    <p:sldId id="275" r:id="rId23"/>
    <p:sldId id="276" r:id="rId24"/>
    <p:sldId id="277" r:id="rId25"/>
    <p:sldId id="278" r:id="rId26"/>
    <p:sldId id="279" r:id="rId27"/>
    <p:sldId id="280" r:id="rId28"/>
    <p:sldId id="281" r:id="rId29"/>
    <p:sldId id="284" r:id="rId30"/>
    <p:sldId id="285" r:id="rId31"/>
    <p:sldId id="286" r:id="rId32"/>
    <p:sldId id="287" r:id="rId33"/>
    <p:sldId id="288" r:id="rId34"/>
    <p:sldId id="289" r:id="rId35"/>
    <p:sldId id="290" r:id="rId36"/>
    <p:sldId id="292" r:id="rId37"/>
    <p:sldId id="291" r:id="rId38"/>
    <p:sldId id="293" r:id="rId39"/>
    <p:sldId id="294" r:id="rId40"/>
    <p:sldId id="295" r:id="rId41"/>
    <p:sldId id="296" r:id="rId42"/>
    <p:sldId id="311" r:id="rId43"/>
    <p:sldId id="313" r:id="rId44"/>
    <p:sldId id="314" r:id="rId45"/>
    <p:sldId id="315" r:id="rId46"/>
    <p:sldId id="316" r:id="rId47"/>
    <p:sldId id="317"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42" r:id="rId80"/>
    <p:sldId id="343" r:id="rId81"/>
    <p:sldId id="350" r:id="rId82"/>
    <p:sldId id="344" r:id="rId83"/>
    <p:sldId id="345"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72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aai5_601" initials="s" lastIdx="3" clrIdx="0">
    <p:extLst>
      <p:ext uri="{19B8F6BF-5375-455C-9EA6-DF929625EA0E}">
        <p15:presenceInfo xmlns:p15="http://schemas.microsoft.com/office/powerpoint/2012/main" userId="S-1-5-21-124776335-4071173408-210990899-88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79" autoAdjust="0"/>
  </p:normalViewPr>
  <p:slideViewPr>
    <p:cSldViewPr snapToGrid="0">
      <p:cViewPr varScale="1">
        <p:scale>
          <a:sx n="106" d="100"/>
          <a:sy n="106" d="100"/>
        </p:scale>
        <p:origin x="756" y="114"/>
      </p:cViewPr>
      <p:guideLst>
        <p:guide orient="horz" pos="3748"/>
        <p:guide pos="72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14T12:02:32.556" idx="3">
    <p:pos x="146" y="146"/>
    <p:text/>
    <p:extLst>
      <p:ext uri="{C676402C-5697-4E1C-873F-D02D1690AC5C}">
        <p15:threadingInfo xmlns:p15="http://schemas.microsoft.com/office/powerpoint/2012/main" timeZoneBias="-330"/>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280CAE-41BE-48CD-801D-C1889866749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IN"/>
        </a:p>
      </dgm:t>
    </dgm:pt>
    <dgm:pt modelId="{C9AD026B-E340-4C4A-9196-822A204291E0}">
      <dgm:prSet/>
      <dgm:spPr/>
      <dgm:t>
        <a:bodyPr/>
        <a:lstStyle/>
        <a:p>
          <a:r>
            <a:rPr lang="en-US"/>
            <a:t>TCP congestion control is a method used by the TCP protocol to manage data flow over a network and prevent congestion.</a:t>
          </a:r>
          <a:endParaRPr lang="en-IN"/>
        </a:p>
      </dgm:t>
    </dgm:pt>
    <dgm:pt modelId="{97BF06F4-AF04-4F8B-B598-8622143BFDD6}" type="parTrans" cxnId="{DC5F4E32-1DEA-4C47-A55B-F2A5DAFBC381}">
      <dgm:prSet/>
      <dgm:spPr/>
      <dgm:t>
        <a:bodyPr/>
        <a:lstStyle/>
        <a:p>
          <a:endParaRPr lang="en-IN"/>
        </a:p>
      </dgm:t>
    </dgm:pt>
    <dgm:pt modelId="{FFFB889C-130F-48E0-806F-AB13F7010EC3}" type="sibTrans" cxnId="{DC5F4E32-1DEA-4C47-A55B-F2A5DAFBC381}">
      <dgm:prSet/>
      <dgm:spPr/>
      <dgm:t>
        <a:bodyPr/>
        <a:lstStyle/>
        <a:p>
          <a:endParaRPr lang="en-IN"/>
        </a:p>
      </dgm:t>
    </dgm:pt>
    <dgm:pt modelId="{478FA5A4-FB4D-490A-BD8E-AEF4D1F369C0}">
      <dgm:prSet/>
      <dgm:spPr/>
      <dgm:t>
        <a:bodyPr/>
        <a:lstStyle/>
        <a:p>
          <a:r>
            <a:rPr lang="en-US"/>
            <a:t>TCP uses a congestion window and congestion policy that avoids congestion.</a:t>
          </a:r>
          <a:endParaRPr lang="en-IN"/>
        </a:p>
      </dgm:t>
    </dgm:pt>
    <dgm:pt modelId="{F0A6128A-0F8A-4A1F-860E-4F00AF444750}" type="parTrans" cxnId="{CBB3FD9B-4013-4F32-B0E1-B202A81ED8AF}">
      <dgm:prSet/>
      <dgm:spPr/>
      <dgm:t>
        <a:bodyPr/>
        <a:lstStyle/>
        <a:p>
          <a:endParaRPr lang="en-IN"/>
        </a:p>
      </dgm:t>
    </dgm:pt>
    <dgm:pt modelId="{D6486C23-390A-446D-B3EB-B1AC026E207B}" type="sibTrans" cxnId="{CBB3FD9B-4013-4F32-B0E1-B202A81ED8AF}">
      <dgm:prSet/>
      <dgm:spPr/>
      <dgm:t>
        <a:bodyPr/>
        <a:lstStyle/>
        <a:p>
          <a:endParaRPr lang="en-IN"/>
        </a:p>
      </dgm:t>
    </dgm:pt>
    <dgm:pt modelId="{B8D4CAA2-BB1F-415C-BB84-334A18406093}">
      <dgm:prSet/>
      <dgm:spPr/>
      <dgm:t>
        <a:bodyPr/>
        <a:lstStyle/>
        <a:p>
          <a:r>
            <a:rPr lang="en-US"/>
            <a:t>Previously, we assumed that only the receiver could dictate the sender’s window size. </a:t>
          </a:r>
          <a:endParaRPr lang="en-IN"/>
        </a:p>
      </dgm:t>
    </dgm:pt>
    <dgm:pt modelId="{66F2879D-4FF5-427C-9C2D-F2AEBA7C008E}" type="parTrans" cxnId="{B633C8CE-1458-4FE6-8C45-F78FB5080B22}">
      <dgm:prSet/>
      <dgm:spPr/>
      <dgm:t>
        <a:bodyPr/>
        <a:lstStyle/>
        <a:p>
          <a:endParaRPr lang="en-IN"/>
        </a:p>
      </dgm:t>
    </dgm:pt>
    <dgm:pt modelId="{36F42CD9-7AB0-4945-A828-5441B4294C7D}" type="sibTrans" cxnId="{B633C8CE-1458-4FE6-8C45-F78FB5080B22}">
      <dgm:prSet/>
      <dgm:spPr/>
      <dgm:t>
        <a:bodyPr/>
        <a:lstStyle/>
        <a:p>
          <a:endParaRPr lang="en-IN"/>
        </a:p>
      </dgm:t>
    </dgm:pt>
    <dgm:pt modelId="{B369557D-0E06-4DBA-89D3-0AA9F4219BEF}">
      <dgm:prSet/>
      <dgm:spPr/>
      <dgm:t>
        <a:bodyPr/>
        <a:lstStyle/>
        <a:p>
          <a:r>
            <a:rPr lang="en-US"/>
            <a:t>We ignored another entity here, the network. </a:t>
          </a:r>
          <a:endParaRPr lang="en-IN"/>
        </a:p>
      </dgm:t>
    </dgm:pt>
    <dgm:pt modelId="{9CA48991-413A-4BA7-9391-9D67D1DB3C4B}" type="parTrans" cxnId="{66E9518D-F475-41D5-8056-9A3730BB1B6F}">
      <dgm:prSet/>
      <dgm:spPr/>
      <dgm:t>
        <a:bodyPr/>
        <a:lstStyle/>
        <a:p>
          <a:endParaRPr lang="en-IN"/>
        </a:p>
      </dgm:t>
    </dgm:pt>
    <dgm:pt modelId="{5EA0A92B-8893-4821-84FB-D6FC5515AE15}" type="sibTrans" cxnId="{66E9518D-F475-41D5-8056-9A3730BB1B6F}">
      <dgm:prSet/>
      <dgm:spPr/>
      <dgm:t>
        <a:bodyPr/>
        <a:lstStyle/>
        <a:p>
          <a:endParaRPr lang="en-IN"/>
        </a:p>
      </dgm:t>
    </dgm:pt>
    <dgm:pt modelId="{7AD591FA-01C6-4463-B64A-9C305170B9A2}">
      <dgm:prSet/>
      <dgm:spPr/>
      <dgm:t>
        <a:bodyPr/>
        <a:lstStyle/>
        <a:p>
          <a:r>
            <a:rPr lang="en-US"/>
            <a:t>If the network cannot deliver the data as fast as it is created by the sender, it must tell the sender to slow down.</a:t>
          </a:r>
          <a:endParaRPr lang="en-IN"/>
        </a:p>
      </dgm:t>
    </dgm:pt>
    <dgm:pt modelId="{93413E50-4744-4303-88AA-3C40BE3C92E0}" type="parTrans" cxnId="{B3636DFA-E866-42DE-BEDC-18F17DD47DEE}">
      <dgm:prSet/>
      <dgm:spPr/>
      <dgm:t>
        <a:bodyPr/>
        <a:lstStyle/>
        <a:p>
          <a:endParaRPr lang="en-IN"/>
        </a:p>
      </dgm:t>
    </dgm:pt>
    <dgm:pt modelId="{6BDF8BD8-D3D8-45AE-8343-EEB13C2BE203}" type="sibTrans" cxnId="{B3636DFA-E866-42DE-BEDC-18F17DD47DEE}">
      <dgm:prSet/>
      <dgm:spPr/>
      <dgm:t>
        <a:bodyPr/>
        <a:lstStyle/>
        <a:p>
          <a:endParaRPr lang="en-IN"/>
        </a:p>
      </dgm:t>
    </dgm:pt>
    <dgm:pt modelId="{12A22B13-D131-4019-9480-C4493518494D}">
      <dgm:prSet/>
      <dgm:spPr/>
      <dgm:t>
        <a:bodyPr/>
        <a:lstStyle/>
        <a:p>
          <a:r>
            <a:rPr lang="en-US"/>
            <a:t>In other words, in addition to the receiver, the network is a second entity that determines the size of the sender’s window.</a:t>
          </a:r>
          <a:endParaRPr lang="en-IN"/>
        </a:p>
      </dgm:t>
    </dgm:pt>
    <dgm:pt modelId="{F7BC6F9B-14E7-4A35-812A-0BEB04191515}" type="parTrans" cxnId="{ADA73520-69F9-4B31-90A9-CFCE3D7DF060}">
      <dgm:prSet/>
      <dgm:spPr/>
      <dgm:t>
        <a:bodyPr/>
        <a:lstStyle/>
        <a:p>
          <a:endParaRPr lang="en-IN"/>
        </a:p>
      </dgm:t>
    </dgm:pt>
    <dgm:pt modelId="{B1707C48-60CE-46D1-AF4D-3AA134325031}" type="sibTrans" cxnId="{ADA73520-69F9-4B31-90A9-CFCE3D7DF060}">
      <dgm:prSet/>
      <dgm:spPr/>
      <dgm:t>
        <a:bodyPr/>
        <a:lstStyle/>
        <a:p>
          <a:endParaRPr lang="en-IN"/>
        </a:p>
      </dgm:t>
    </dgm:pt>
    <dgm:pt modelId="{372AF66D-6A32-4B77-9D89-164756790F02}" type="pres">
      <dgm:prSet presAssocID="{92280CAE-41BE-48CD-801D-C1889866749F}" presName="linearFlow" presStyleCnt="0">
        <dgm:presLayoutVars>
          <dgm:dir/>
          <dgm:resizeHandles val="exact"/>
        </dgm:presLayoutVars>
      </dgm:prSet>
      <dgm:spPr/>
    </dgm:pt>
    <dgm:pt modelId="{C5D94A9A-BAB9-46AD-924C-F283F00D1601}" type="pres">
      <dgm:prSet presAssocID="{C9AD026B-E340-4C4A-9196-822A204291E0}" presName="composite" presStyleCnt="0"/>
      <dgm:spPr/>
    </dgm:pt>
    <dgm:pt modelId="{752F53A8-8EE8-436B-8EC5-143BBC10D7E9}" type="pres">
      <dgm:prSet presAssocID="{C9AD026B-E340-4C4A-9196-822A204291E0}" presName="imgShp" presStyleLbl="fgImgPlace1" presStyleIdx="0" presStyleCnt="6"/>
      <dgm:spPr/>
    </dgm:pt>
    <dgm:pt modelId="{80A0B1FB-AB1F-4F91-8AFD-A9315B8EF7A8}" type="pres">
      <dgm:prSet presAssocID="{C9AD026B-E340-4C4A-9196-822A204291E0}" presName="txShp" presStyleLbl="node1" presStyleIdx="0" presStyleCnt="6">
        <dgm:presLayoutVars>
          <dgm:bulletEnabled val="1"/>
        </dgm:presLayoutVars>
      </dgm:prSet>
      <dgm:spPr/>
    </dgm:pt>
    <dgm:pt modelId="{E2F05AD9-EF0D-4432-9564-0AB501E0F181}" type="pres">
      <dgm:prSet presAssocID="{FFFB889C-130F-48E0-806F-AB13F7010EC3}" presName="spacing" presStyleCnt="0"/>
      <dgm:spPr/>
    </dgm:pt>
    <dgm:pt modelId="{ED151BCE-ABCF-405B-A111-D9203A99A6C1}" type="pres">
      <dgm:prSet presAssocID="{478FA5A4-FB4D-490A-BD8E-AEF4D1F369C0}" presName="composite" presStyleCnt="0"/>
      <dgm:spPr/>
    </dgm:pt>
    <dgm:pt modelId="{23BCEBD7-A733-41EF-82A4-BD5088626C18}" type="pres">
      <dgm:prSet presAssocID="{478FA5A4-FB4D-490A-BD8E-AEF4D1F369C0}" presName="imgShp" presStyleLbl="fgImgPlace1" presStyleIdx="1" presStyleCnt="6"/>
      <dgm:spPr/>
    </dgm:pt>
    <dgm:pt modelId="{9A3A4169-6FE3-4B7B-995B-063DCCDD436F}" type="pres">
      <dgm:prSet presAssocID="{478FA5A4-FB4D-490A-BD8E-AEF4D1F369C0}" presName="txShp" presStyleLbl="node1" presStyleIdx="1" presStyleCnt="6">
        <dgm:presLayoutVars>
          <dgm:bulletEnabled val="1"/>
        </dgm:presLayoutVars>
      </dgm:prSet>
      <dgm:spPr/>
    </dgm:pt>
    <dgm:pt modelId="{2B558AA5-5362-41DE-A1A7-583D1EA93B98}" type="pres">
      <dgm:prSet presAssocID="{D6486C23-390A-446D-B3EB-B1AC026E207B}" presName="spacing" presStyleCnt="0"/>
      <dgm:spPr/>
    </dgm:pt>
    <dgm:pt modelId="{F9782B43-FE95-4424-83AB-D4C7DF0DB10D}" type="pres">
      <dgm:prSet presAssocID="{B8D4CAA2-BB1F-415C-BB84-334A18406093}" presName="composite" presStyleCnt="0"/>
      <dgm:spPr/>
    </dgm:pt>
    <dgm:pt modelId="{94EF26B9-E7EA-4BC9-86A8-8D96FC7A695E}" type="pres">
      <dgm:prSet presAssocID="{B8D4CAA2-BB1F-415C-BB84-334A18406093}" presName="imgShp" presStyleLbl="fgImgPlace1" presStyleIdx="2" presStyleCnt="6"/>
      <dgm:spPr/>
    </dgm:pt>
    <dgm:pt modelId="{2F66EF0E-8132-4B6A-BF0B-38830C025E35}" type="pres">
      <dgm:prSet presAssocID="{B8D4CAA2-BB1F-415C-BB84-334A18406093}" presName="txShp" presStyleLbl="node1" presStyleIdx="2" presStyleCnt="6">
        <dgm:presLayoutVars>
          <dgm:bulletEnabled val="1"/>
        </dgm:presLayoutVars>
      </dgm:prSet>
      <dgm:spPr/>
    </dgm:pt>
    <dgm:pt modelId="{EB0F3B32-CBD0-4BAF-B99D-979A12E4B4FA}" type="pres">
      <dgm:prSet presAssocID="{36F42CD9-7AB0-4945-A828-5441B4294C7D}" presName="spacing" presStyleCnt="0"/>
      <dgm:spPr/>
    </dgm:pt>
    <dgm:pt modelId="{03CA8C6B-05F8-4D8A-A845-58895A49F2E5}" type="pres">
      <dgm:prSet presAssocID="{B369557D-0E06-4DBA-89D3-0AA9F4219BEF}" presName="composite" presStyleCnt="0"/>
      <dgm:spPr/>
    </dgm:pt>
    <dgm:pt modelId="{52068D2B-638E-4076-8200-5CA0F954B1DD}" type="pres">
      <dgm:prSet presAssocID="{B369557D-0E06-4DBA-89D3-0AA9F4219BEF}" presName="imgShp" presStyleLbl="fgImgPlace1" presStyleIdx="3" presStyleCnt="6"/>
      <dgm:spPr/>
    </dgm:pt>
    <dgm:pt modelId="{03622A8E-B86E-4CC4-80C2-5FED7A58E474}" type="pres">
      <dgm:prSet presAssocID="{B369557D-0E06-4DBA-89D3-0AA9F4219BEF}" presName="txShp" presStyleLbl="node1" presStyleIdx="3" presStyleCnt="6">
        <dgm:presLayoutVars>
          <dgm:bulletEnabled val="1"/>
        </dgm:presLayoutVars>
      </dgm:prSet>
      <dgm:spPr/>
    </dgm:pt>
    <dgm:pt modelId="{AA0CF1CE-011D-4BFC-B294-FFE2B492A2B7}" type="pres">
      <dgm:prSet presAssocID="{5EA0A92B-8893-4821-84FB-D6FC5515AE15}" presName="spacing" presStyleCnt="0"/>
      <dgm:spPr/>
    </dgm:pt>
    <dgm:pt modelId="{2FDA48FF-2069-4F4B-A726-420777D851D2}" type="pres">
      <dgm:prSet presAssocID="{7AD591FA-01C6-4463-B64A-9C305170B9A2}" presName="composite" presStyleCnt="0"/>
      <dgm:spPr/>
    </dgm:pt>
    <dgm:pt modelId="{4C5B079B-26CE-4BC5-A6DE-CB7050166DA4}" type="pres">
      <dgm:prSet presAssocID="{7AD591FA-01C6-4463-B64A-9C305170B9A2}" presName="imgShp" presStyleLbl="fgImgPlace1" presStyleIdx="4" presStyleCnt="6"/>
      <dgm:spPr/>
    </dgm:pt>
    <dgm:pt modelId="{34FBDCF9-6CDF-4C81-8201-4EA675D9354D}" type="pres">
      <dgm:prSet presAssocID="{7AD591FA-01C6-4463-B64A-9C305170B9A2}" presName="txShp" presStyleLbl="node1" presStyleIdx="4" presStyleCnt="6">
        <dgm:presLayoutVars>
          <dgm:bulletEnabled val="1"/>
        </dgm:presLayoutVars>
      </dgm:prSet>
      <dgm:spPr/>
    </dgm:pt>
    <dgm:pt modelId="{070025C9-B93D-4BD2-B16F-8BFAEF9534B5}" type="pres">
      <dgm:prSet presAssocID="{6BDF8BD8-D3D8-45AE-8343-EEB13C2BE203}" presName="spacing" presStyleCnt="0"/>
      <dgm:spPr/>
    </dgm:pt>
    <dgm:pt modelId="{A0A9DD2D-4273-4712-888E-97E4C8CE51AA}" type="pres">
      <dgm:prSet presAssocID="{12A22B13-D131-4019-9480-C4493518494D}" presName="composite" presStyleCnt="0"/>
      <dgm:spPr/>
    </dgm:pt>
    <dgm:pt modelId="{28BBE809-C878-40DF-8CAF-419CBF5D8D6B}" type="pres">
      <dgm:prSet presAssocID="{12A22B13-D131-4019-9480-C4493518494D}" presName="imgShp" presStyleLbl="fgImgPlace1" presStyleIdx="5" presStyleCnt="6"/>
      <dgm:spPr/>
    </dgm:pt>
    <dgm:pt modelId="{48AB5416-DC60-4791-9C52-1FB2997BEC89}" type="pres">
      <dgm:prSet presAssocID="{12A22B13-D131-4019-9480-C4493518494D}" presName="txShp" presStyleLbl="node1" presStyleIdx="5" presStyleCnt="6">
        <dgm:presLayoutVars>
          <dgm:bulletEnabled val="1"/>
        </dgm:presLayoutVars>
      </dgm:prSet>
      <dgm:spPr/>
    </dgm:pt>
  </dgm:ptLst>
  <dgm:cxnLst>
    <dgm:cxn modelId="{3D9CCE03-909B-497E-8593-8BB93D7DD6D7}" type="presOf" srcId="{B8D4CAA2-BB1F-415C-BB84-334A18406093}" destId="{2F66EF0E-8132-4B6A-BF0B-38830C025E35}" srcOrd="0" destOrd="0" presId="urn:microsoft.com/office/officeart/2005/8/layout/vList3"/>
    <dgm:cxn modelId="{ADA73520-69F9-4B31-90A9-CFCE3D7DF060}" srcId="{92280CAE-41BE-48CD-801D-C1889866749F}" destId="{12A22B13-D131-4019-9480-C4493518494D}" srcOrd="5" destOrd="0" parTransId="{F7BC6F9B-14E7-4A35-812A-0BEB04191515}" sibTransId="{B1707C48-60CE-46D1-AF4D-3AA134325031}"/>
    <dgm:cxn modelId="{DC5F4E32-1DEA-4C47-A55B-F2A5DAFBC381}" srcId="{92280CAE-41BE-48CD-801D-C1889866749F}" destId="{C9AD026B-E340-4C4A-9196-822A204291E0}" srcOrd="0" destOrd="0" parTransId="{97BF06F4-AF04-4F8B-B598-8622143BFDD6}" sibTransId="{FFFB889C-130F-48E0-806F-AB13F7010EC3}"/>
    <dgm:cxn modelId="{D1327840-AEBB-4B76-9664-FC805DF9B876}" type="presOf" srcId="{B369557D-0E06-4DBA-89D3-0AA9F4219BEF}" destId="{03622A8E-B86E-4CC4-80C2-5FED7A58E474}" srcOrd="0" destOrd="0" presId="urn:microsoft.com/office/officeart/2005/8/layout/vList3"/>
    <dgm:cxn modelId="{DE6A1561-81C8-4E5D-A1AF-89CC17888E93}" type="presOf" srcId="{478FA5A4-FB4D-490A-BD8E-AEF4D1F369C0}" destId="{9A3A4169-6FE3-4B7B-995B-063DCCDD436F}" srcOrd="0" destOrd="0" presId="urn:microsoft.com/office/officeart/2005/8/layout/vList3"/>
    <dgm:cxn modelId="{06464761-48B1-4D99-AE8C-AD5AFD58D402}" type="presOf" srcId="{7AD591FA-01C6-4463-B64A-9C305170B9A2}" destId="{34FBDCF9-6CDF-4C81-8201-4EA675D9354D}" srcOrd="0" destOrd="0" presId="urn:microsoft.com/office/officeart/2005/8/layout/vList3"/>
    <dgm:cxn modelId="{66E9518D-F475-41D5-8056-9A3730BB1B6F}" srcId="{92280CAE-41BE-48CD-801D-C1889866749F}" destId="{B369557D-0E06-4DBA-89D3-0AA9F4219BEF}" srcOrd="3" destOrd="0" parTransId="{9CA48991-413A-4BA7-9391-9D67D1DB3C4B}" sibTransId="{5EA0A92B-8893-4821-84FB-D6FC5515AE15}"/>
    <dgm:cxn modelId="{CBB3FD9B-4013-4F32-B0E1-B202A81ED8AF}" srcId="{92280CAE-41BE-48CD-801D-C1889866749F}" destId="{478FA5A4-FB4D-490A-BD8E-AEF4D1F369C0}" srcOrd="1" destOrd="0" parTransId="{F0A6128A-0F8A-4A1F-860E-4F00AF444750}" sibTransId="{D6486C23-390A-446D-B3EB-B1AC026E207B}"/>
    <dgm:cxn modelId="{5A7B81AE-BE5D-40B2-8567-538D95FED4C1}" type="presOf" srcId="{12A22B13-D131-4019-9480-C4493518494D}" destId="{48AB5416-DC60-4791-9C52-1FB2997BEC89}" srcOrd="0" destOrd="0" presId="urn:microsoft.com/office/officeart/2005/8/layout/vList3"/>
    <dgm:cxn modelId="{B633C8CE-1458-4FE6-8C45-F78FB5080B22}" srcId="{92280CAE-41BE-48CD-801D-C1889866749F}" destId="{B8D4CAA2-BB1F-415C-BB84-334A18406093}" srcOrd="2" destOrd="0" parTransId="{66F2879D-4FF5-427C-9C2D-F2AEBA7C008E}" sibTransId="{36F42CD9-7AB0-4945-A828-5441B4294C7D}"/>
    <dgm:cxn modelId="{ABD6D7D7-BE73-40E8-9EE2-FADE6908E7E4}" type="presOf" srcId="{C9AD026B-E340-4C4A-9196-822A204291E0}" destId="{80A0B1FB-AB1F-4F91-8AFD-A9315B8EF7A8}" srcOrd="0" destOrd="0" presId="urn:microsoft.com/office/officeart/2005/8/layout/vList3"/>
    <dgm:cxn modelId="{BF3E0EE3-804B-46AD-B409-5D6E427D2ECD}" type="presOf" srcId="{92280CAE-41BE-48CD-801D-C1889866749F}" destId="{372AF66D-6A32-4B77-9D89-164756790F02}" srcOrd="0" destOrd="0" presId="urn:microsoft.com/office/officeart/2005/8/layout/vList3"/>
    <dgm:cxn modelId="{B3636DFA-E866-42DE-BEDC-18F17DD47DEE}" srcId="{92280CAE-41BE-48CD-801D-C1889866749F}" destId="{7AD591FA-01C6-4463-B64A-9C305170B9A2}" srcOrd="4" destOrd="0" parTransId="{93413E50-4744-4303-88AA-3C40BE3C92E0}" sibTransId="{6BDF8BD8-D3D8-45AE-8343-EEB13C2BE203}"/>
    <dgm:cxn modelId="{B3EA2FC9-C451-4BC1-9BE7-38EFD82D75E4}" type="presParOf" srcId="{372AF66D-6A32-4B77-9D89-164756790F02}" destId="{C5D94A9A-BAB9-46AD-924C-F283F00D1601}" srcOrd="0" destOrd="0" presId="urn:microsoft.com/office/officeart/2005/8/layout/vList3"/>
    <dgm:cxn modelId="{3B1AD091-0DBB-4356-8E26-D38AE774D766}" type="presParOf" srcId="{C5D94A9A-BAB9-46AD-924C-F283F00D1601}" destId="{752F53A8-8EE8-436B-8EC5-143BBC10D7E9}" srcOrd="0" destOrd="0" presId="urn:microsoft.com/office/officeart/2005/8/layout/vList3"/>
    <dgm:cxn modelId="{1743A89E-5E07-4683-B621-A17CAE2221DF}" type="presParOf" srcId="{C5D94A9A-BAB9-46AD-924C-F283F00D1601}" destId="{80A0B1FB-AB1F-4F91-8AFD-A9315B8EF7A8}" srcOrd="1" destOrd="0" presId="urn:microsoft.com/office/officeart/2005/8/layout/vList3"/>
    <dgm:cxn modelId="{341993BF-C185-4FCD-A0D9-E36D49C74758}" type="presParOf" srcId="{372AF66D-6A32-4B77-9D89-164756790F02}" destId="{E2F05AD9-EF0D-4432-9564-0AB501E0F181}" srcOrd="1" destOrd="0" presId="urn:microsoft.com/office/officeart/2005/8/layout/vList3"/>
    <dgm:cxn modelId="{D83F149E-327E-4191-BF9F-BBB1C20D79D2}" type="presParOf" srcId="{372AF66D-6A32-4B77-9D89-164756790F02}" destId="{ED151BCE-ABCF-405B-A111-D9203A99A6C1}" srcOrd="2" destOrd="0" presId="urn:microsoft.com/office/officeart/2005/8/layout/vList3"/>
    <dgm:cxn modelId="{70C3644B-099A-4599-91B0-A2B6E8C2FC5C}" type="presParOf" srcId="{ED151BCE-ABCF-405B-A111-D9203A99A6C1}" destId="{23BCEBD7-A733-41EF-82A4-BD5088626C18}" srcOrd="0" destOrd="0" presId="urn:microsoft.com/office/officeart/2005/8/layout/vList3"/>
    <dgm:cxn modelId="{EB447B01-731B-4D78-9221-9EA6DB0FC758}" type="presParOf" srcId="{ED151BCE-ABCF-405B-A111-D9203A99A6C1}" destId="{9A3A4169-6FE3-4B7B-995B-063DCCDD436F}" srcOrd="1" destOrd="0" presId="urn:microsoft.com/office/officeart/2005/8/layout/vList3"/>
    <dgm:cxn modelId="{0C66920E-5B7E-4C34-A70C-AB4956E763B4}" type="presParOf" srcId="{372AF66D-6A32-4B77-9D89-164756790F02}" destId="{2B558AA5-5362-41DE-A1A7-583D1EA93B98}" srcOrd="3" destOrd="0" presId="urn:microsoft.com/office/officeart/2005/8/layout/vList3"/>
    <dgm:cxn modelId="{89F10F3A-B79F-4E84-A9D1-86466B25BFA8}" type="presParOf" srcId="{372AF66D-6A32-4B77-9D89-164756790F02}" destId="{F9782B43-FE95-4424-83AB-D4C7DF0DB10D}" srcOrd="4" destOrd="0" presId="urn:microsoft.com/office/officeart/2005/8/layout/vList3"/>
    <dgm:cxn modelId="{E9B8410C-4772-418A-B599-1288A181492F}" type="presParOf" srcId="{F9782B43-FE95-4424-83AB-D4C7DF0DB10D}" destId="{94EF26B9-E7EA-4BC9-86A8-8D96FC7A695E}" srcOrd="0" destOrd="0" presId="urn:microsoft.com/office/officeart/2005/8/layout/vList3"/>
    <dgm:cxn modelId="{33322330-DC96-4F55-A912-1D1F72B4F80C}" type="presParOf" srcId="{F9782B43-FE95-4424-83AB-D4C7DF0DB10D}" destId="{2F66EF0E-8132-4B6A-BF0B-38830C025E35}" srcOrd="1" destOrd="0" presId="urn:microsoft.com/office/officeart/2005/8/layout/vList3"/>
    <dgm:cxn modelId="{773D342F-7E56-422E-B89B-5CB2468A7636}" type="presParOf" srcId="{372AF66D-6A32-4B77-9D89-164756790F02}" destId="{EB0F3B32-CBD0-4BAF-B99D-979A12E4B4FA}" srcOrd="5" destOrd="0" presId="urn:microsoft.com/office/officeart/2005/8/layout/vList3"/>
    <dgm:cxn modelId="{C15A5A8F-8716-4925-82B3-7E1EDBBA18D7}" type="presParOf" srcId="{372AF66D-6A32-4B77-9D89-164756790F02}" destId="{03CA8C6B-05F8-4D8A-A845-58895A49F2E5}" srcOrd="6" destOrd="0" presId="urn:microsoft.com/office/officeart/2005/8/layout/vList3"/>
    <dgm:cxn modelId="{B063F388-69E9-4BC6-8845-50431645E0EC}" type="presParOf" srcId="{03CA8C6B-05F8-4D8A-A845-58895A49F2E5}" destId="{52068D2B-638E-4076-8200-5CA0F954B1DD}" srcOrd="0" destOrd="0" presId="urn:microsoft.com/office/officeart/2005/8/layout/vList3"/>
    <dgm:cxn modelId="{0C558653-B242-4FE0-97C4-6374BFC9E44C}" type="presParOf" srcId="{03CA8C6B-05F8-4D8A-A845-58895A49F2E5}" destId="{03622A8E-B86E-4CC4-80C2-5FED7A58E474}" srcOrd="1" destOrd="0" presId="urn:microsoft.com/office/officeart/2005/8/layout/vList3"/>
    <dgm:cxn modelId="{A6DCD60C-73DA-44B7-AA70-B0F990CFF9BB}" type="presParOf" srcId="{372AF66D-6A32-4B77-9D89-164756790F02}" destId="{AA0CF1CE-011D-4BFC-B294-FFE2B492A2B7}" srcOrd="7" destOrd="0" presId="urn:microsoft.com/office/officeart/2005/8/layout/vList3"/>
    <dgm:cxn modelId="{4315C19D-D2FE-4348-87B0-6DA602398557}" type="presParOf" srcId="{372AF66D-6A32-4B77-9D89-164756790F02}" destId="{2FDA48FF-2069-4F4B-A726-420777D851D2}" srcOrd="8" destOrd="0" presId="urn:microsoft.com/office/officeart/2005/8/layout/vList3"/>
    <dgm:cxn modelId="{5EF907A2-84FB-4771-ABB9-85A9B9604EA3}" type="presParOf" srcId="{2FDA48FF-2069-4F4B-A726-420777D851D2}" destId="{4C5B079B-26CE-4BC5-A6DE-CB7050166DA4}" srcOrd="0" destOrd="0" presId="urn:microsoft.com/office/officeart/2005/8/layout/vList3"/>
    <dgm:cxn modelId="{B6FB50B3-D69B-4583-84C9-BF5023408C86}" type="presParOf" srcId="{2FDA48FF-2069-4F4B-A726-420777D851D2}" destId="{34FBDCF9-6CDF-4C81-8201-4EA675D9354D}" srcOrd="1" destOrd="0" presId="urn:microsoft.com/office/officeart/2005/8/layout/vList3"/>
    <dgm:cxn modelId="{1F5A2237-75A2-4510-BCB3-0E0E3C17AC19}" type="presParOf" srcId="{372AF66D-6A32-4B77-9D89-164756790F02}" destId="{070025C9-B93D-4BD2-B16F-8BFAEF9534B5}" srcOrd="9" destOrd="0" presId="urn:microsoft.com/office/officeart/2005/8/layout/vList3"/>
    <dgm:cxn modelId="{432618E8-3DA3-4547-8E61-57A09BE5D68C}" type="presParOf" srcId="{372AF66D-6A32-4B77-9D89-164756790F02}" destId="{A0A9DD2D-4273-4712-888E-97E4C8CE51AA}" srcOrd="10" destOrd="0" presId="urn:microsoft.com/office/officeart/2005/8/layout/vList3"/>
    <dgm:cxn modelId="{0481474F-54AA-4210-A6F7-B051BE077E69}" type="presParOf" srcId="{A0A9DD2D-4273-4712-888E-97E4C8CE51AA}" destId="{28BBE809-C878-40DF-8CAF-419CBF5D8D6B}" srcOrd="0" destOrd="0" presId="urn:microsoft.com/office/officeart/2005/8/layout/vList3"/>
    <dgm:cxn modelId="{A1495C43-AC87-4904-9011-D8BB2BE9FF42}" type="presParOf" srcId="{A0A9DD2D-4273-4712-888E-97E4C8CE51AA}" destId="{48AB5416-DC60-4791-9C52-1FB2997BEC8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A0B1FB-AB1F-4F91-8AFD-A9315B8EF7A8}">
      <dsp:nvSpPr>
        <dsp:cNvPr id="0" name=""/>
        <dsp:cNvSpPr/>
      </dsp:nvSpPr>
      <dsp:spPr>
        <a:xfrm rot="10800000">
          <a:off x="1925737" y="305"/>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TCP congestion control is a method used by the TCP protocol to manage data flow over a network and prevent congestion.</a:t>
          </a:r>
          <a:endParaRPr lang="en-IN" sz="1800" kern="1200"/>
        </a:p>
      </dsp:txBody>
      <dsp:txXfrm rot="10800000">
        <a:off x="2089227" y="305"/>
        <a:ext cx="6832895" cy="653959"/>
      </dsp:txXfrm>
    </dsp:sp>
    <dsp:sp modelId="{752F53A8-8EE8-436B-8EC5-143BBC10D7E9}">
      <dsp:nvSpPr>
        <dsp:cNvPr id="0" name=""/>
        <dsp:cNvSpPr/>
      </dsp:nvSpPr>
      <dsp:spPr>
        <a:xfrm>
          <a:off x="1598757" y="305"/>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3A4169-6FE3-4B7B-995B-063DCCDD436F}">
      <dsp:nvSpPr>
        <dsp:cNvPr id="0" name=""/>
        <dsp:cNvSpPr/>
      </dsp:nvSpPr>
      <dsp:spPr>
        <a:xfrm rot="10800000">
          <a:off x="1925737" y="849476"/>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TCP uses a congestion window and congestion policy that avoids congestion.</a:t>
          </a:r>
          <a:endParaRPr lang="en-IN" sz="1800" kern="1200"/>
        </a:p>
      </dsp:txBody>
      <dsp:txXfrm rot="10800000">
        <a:off x="2089227" y="849476"/>
        <a:ext cx="6832895" cy="653959"/>
      </dsp:txXfrm>
    </dsp:sp>
    <dsp:sp modelId="{23BCEBD7-A733-41EF-82A4-BD5088626C18}">
      <dsp:nvSpPr>
        <dsp:cNvPr id="0" name=""/>
        <dsp:cNvSpPr/>
      </dsp:nvSpPr>
      <dsp:spPr>
        <a:xfrm>
          <a:off x="1598757" y="849476"/>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66EF0E-8132-4B6A-BF0B-38830C025E35}">
      <dsp:nvSpPr>
        <dsp:cNvPr id="0" name=""/>
        <dsp:cNvSpPr/>
      </dsp:nvSpPr>
      <dsp:spPr>
        <a:xfrm rot="10800000">
          <a:off x="1925737" y="1698647"/>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Previously, we assumed that only the receiver could dictate the sender’s window size. </a:t>
          </a:r>
          <a:endParaRPr lang="en-IN" sz="1800" kern="1200"/>
        </a:p>
      </dsp:txBody>
      <dsp:txXfrm rot="10800000">
        <a:off x="2089227" y="1698647"/>
        <a:ext cx="6832895" cy="653959"/>
      </dsp:txXfrm>
    </dsp:sp>
    <dsp:sp modelId="{94EF26B9-E7EA-4BC9-86A8-8D96FC7A695E}">
      <dsp:nvSpPr>
        <dsp:cNvPr id="0" name=""/>
        <dsp:cNvSpPr/>
      </dsp:nvSpPr>
      <dsp:spPr>
        <a:xfrm>
          <a:off x="1598757" y="1698647"/>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622A8E-B86E-4CC4-80C2-5FED7A58E474}">
      <dsp:nvSpPr>
        <dsp:cNvPr id="0" name=""/>
        <dsp:cNvSpPr/>
      </dsp:nvSpPr>
      <dsp:spPr>
        <a:xfrm rot="10800000">
          <a:off x="1925737" y="2547817"/>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We ignored another entity here, the network. </a:t>
          </a:r>
          <a:endParaRPr lang="en-IN" sz="1800" kern="1200"/>
        </a:p>
      </dsp:txBody>
      <dsp:txXfrm rot="10800000">
        <a:off x="2089227" y="2547817"/>
        <a:ext cx="6832895" cy="653959"/>
      </dsp:txXfrm>
    </dsp:sp>
    <dsp:sp modelId="{52068D2B-638E-4076-8200-5CA0F954B1DD}">
      <dsp:nvSpPr>
        <dsp:cNvPr id="0" name=""/>
        <dsp:cNvSpPr/>
      </dsp:nvSpPr>
      <dsp:spPr>
        <a:xfrm>
          <a:off x="1598757" y="2547817"/>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FBDCF9-6CDF-4C81-8201-4EA675D9354D}">
      <dsp:nvSpPr>
        <dsp:cNvPr id="0" name=""/>
        <dsp:cNvSpPr/>
      </dsp:nvSpPr>
      <dsp:spPr>
        <a:xfrm rot="10800000">
          <a:off x="1925737" y="3396988"/>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If the network cannot deliver the data as fast as it is created by the sender, it must tell the sender to slow down.</a:t>
          </a:r>
          <a:endParaRPr lang="en-IN" sz="1800" kern="1200"/>
        </a:p>
      </dsp:txBody>
      <dsp:txXfrm rot="10800000">
        <a:off x="2089227" y="3396988"/>
        <a:ext cx="6832895" cy="653959"/>
      </dsp:txXfrm>
    </dsp:sp>
    <dsp:sp modelId="{4C5B079B-26CE-4BC5-A6DE-CB7050166DA4}">
      <dsp:nvSpPr>
        <dsp:cNvPr id="0" name=""/>
        <dsp:cNvSpPr/>
      </dsp:nvSpPr>
      <dsp:spPr>
        <a:xfrm>
          <a:off x="1598757" y="3396988"/>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AB5416-DC60-4791-9C52-1FB2997BEC89}">
      <dsp:nvSpPr>
        <dsp:cNvPr id="0" name=""/>
        <dsp:cNvSpPr/>
      </dsp:nvSpPr>
      <dsp:spPr>
        <a:xfrm rot="10800000">
          <a:off x="1925737" y="4246159"/>
          <a:ext cx="6996385" cy="65395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378"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In other words, in addition to the receiver, the network is a second entity that determines the size of the sender’s window.</a:t>
          </a:r>
          <a:endParaRPr lang="en-IN" sz="1800" kern="1200"/>
        </a:p>
      </dsp:txBody>
      <dsp:txXfrm rot="10800000">
        <a:off x="2089227" y="4246159"/>
        <a:ext cx="6832895" cy="653959"/>
      </dsp:txXfrm>
    </dsp:sp>
    <dsp:sp modelId="{28BBE809-C878-40DF-8CAF-419CBF5D8D6B}">
      <dsp:nvSpPr>
        <dsp:cNvPr id="0" name=""/>
        <dsp:cNvSpPr/>
      </dsp:nvSpPr>
      <dsp:spPr>
        <a:xfrm>
          <a:off x="1598757" y="4246159"/>
          <a:ext cx="653959" cy="65395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30944-9200-4053-99C8-1462DCDFC0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C5E92-49F3-4023-9FE5-28CCA9FDED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8D8115-044D-4C78-8104-92F6D02224C4}"/>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69C3DCC0-B3D0-48D2-AD96-0B2FE52628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FD8B94-3A44-423B-AA8D-3A478D579B53}"/>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2026671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491F-02DF-44A1-AA3A-955682E652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12C969-D8C6-44DC-8299-CD5EC09822B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407E9-F46C-4697-B522-EE7FB01518EE}"/>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065DBCC6-5494-482E-AA77-D45307FD89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0952A6-7032-4121-9A10-728418965263}"/>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138113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8881-B9B6-4B82-A835-B74E776E5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69D2E6-1DCE-499F-8FC9-08AC14173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8784E17-9906-49B8-A614-1CA97DF6AD09}"/>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268C68E4-F3DB-4876-8EA2-1F5DC500D0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EB673A-306D-4A14-8498-35CB982A27B7}"/>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3055793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9EEC-3A0C-4BF7-8981-B0C1E3FA19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619556-A951-484E-B6DC-BE8F17944B3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B738C20-D78A-4517-869B-7B2A56EBA73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B927347-D5CD-43B0-8EA5-769EF303D809}"/>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6" name="Footer Placeholder 5">
            <a:extLst>
              <a:ext uri="{FF2B5EF4-FFF2-40B4-BE49-F238E27FC236}">
                <a16:creationId xmlns:a16="http://schemas.microsoft.com/office/drawing/2014/main" id="{B984DCBA-1E7B-40CB-A222-60351FCD5D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4A7738-ACC3-4070-8AFB-6C0F42A6B33B}"/>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2967692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54765-88AF-425C-9E70-9DE6165B61B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820884-5316-4F58-9EE9-A041DA5D32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3EF1036-A808-4E3B-AF52-AA88A599012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169872-7BA1-4E82-B6DA-2F349164AD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AB9EEA2-D742-4195-80D8-38917D2693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D4CEAD-7A3C-4852-96F9-2AF07C06C6D2}"/>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8" name="Footer Placeholder 7">
            <a:extLst>
              <a:ext uri="{FF2B5EF4-FFF2-40B4-BE49-F238E27FC236}">
                <a16:creationId xmlns:a16="http://schemas.microsoft.com/office/drawing/2014/main" id="{155E6703-5F13-4CD0-A43F-E30195C2E1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0D9DDA-48E4-4696-AFBC-1854965ACA9B}"/>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3110216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4AE6D-39A4-45A7-A4E4-C0AB8F207F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E872235-36A2-40EC-9262-0A019BB6ECD7}"/>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4" name="Footer Placeholder 3">
            <a:extLst>
              <a:ext uri="{FF2B5EF4-FFF2-40B4-BE49-F238E27FC236}">
                <a16:creationId xmlns:a16="http://schemas.microsoft.com/office/drawing/2014/main" id="{302F3D1C-425D-434D-BCBA-E40F4E61DA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C51A02-5A15-42E1-BD64-75CD435070B6}"/>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1606658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ED8AD4-581F-4645-BF52-ABAEA36B07C3}"/>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3" name="Footer Placeholder 2">
            <a:extLst>
              <a:ext uri="{FF2B5EF4-FFF2-40B4-BE49-F238E27FC236}">
                <a16:creationId xmlns:a16="http://schemas.microsoft.com/office/drawing/2014/main" id="{B8A6A295-701D-4970-9C9C-5B860B2467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FB48CC-E902-42E1-AF98-9D9BD1BDFB72}"/>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856893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05C90-1F1C-40E9-8D80-92BBE40F10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FD6DED-C32A-49D3-A29F-4335225444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F575AE-5156-4A20-935B-37EB29C71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F92FD8E-59D2-4916-9A8A-505ED239A737}"/>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6" name="Footer Placeholder 5">
            <a:extLst>
              <a:ext uri="{FF2B5EF4-FFF2-40B4-BE49-F238E27FC236}">
                <a16:creationId xmlns:a16="http://schemas.microsoft.com/office/drawing/2014/main" id="{B57EBAE8-432F-4BE8-A321-F1727303A9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CFAF18-8C75-45F7-8377-1985CAB07520}"/>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215358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F6F6B-384F-4B92-9AB1-1805CE3342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6734A-917B-4DA0-BC7D-14C1B611BD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917796-7780-4AF2-8CCD-8167D65BBD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C64CAA1-7307-4315-A2F8-117B6F9A76B9}"/>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6" name="Footer Placeholder 5">
            <a:extLst>
              <a:ext uri="{FF2B5EF4-FFF2-40B4-BE49-F238E27FC236}">
                <a16:creationId xmlns:a16="http://schemas.microsoft.com/office/drawing/2014/main" id="{F0F0AE99-33ED-4646-9B15-A37C7132CA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9428DF-7613-46C3-AE5B-3DE557C1B732}"/>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4229804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AC1B2-8735-484F-A9A5-5B9A4119F39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FA753D-CD23-4997-821C-7179F8CF480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126AF6-9153-49AA-91FC-4B0CC747219E}"/>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E6F6B189-43C7-4993-A031-1292F1B42E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9A943A-65A2-4A82-9CEF-01BF149C0142}"/>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4185312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2F4E5D-42CF-4390-AB97-BFCB09D984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732647-7131-443E-8AA5-DBD5646C037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AEB0EB-103D-44B7-AEE0-D344272D45E6}"/>
              </a:ext>
            </a:extLst>
          </p:cNvPr>
          <p:cNvSpPr>
            <a:spLocks noGrp="1"/>
          </p:cNvSpPr>
          <p:nvPr>
            <p:ph type="dt" sz="half" idx="10"/>
          </p:nvPr>
        </p:nvSpPr>
        <p:spPr/>
        <p:txBody>
          <a:body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B590B3A8-FFF3-4A98-8E94-3F7DEBA4C2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9AF149-2E5F-40C6-BAEA-1F10858B8C80}"/>
              </a:ext>
            </a:extLst>
          </p:cNvPr>
          <p:cNvSpPr>
            <a:spLocks noGrp="1"/>
          </p:cNvSpPr>
          <p:nvPr>
            <p:ph type="sldNum" sz="quarter" idx="12"/>
          </p:nvPr>
        </p:nvSpPr>
        <p:spPr/>
        <p:txBody>
          <a:bodyPr/>
          <a:lstStyle/>
          <a:p>
            <a:fld id="{78287165-E79B-44DE-A121-9C71DA01A75B}" type="slidenum">
              <a:rPr lang="en-IN" smtClean="0"/>
              <a:t>‹#›</a:t>
            </a:fld>
            <a:endParaRPr lang="en-IN"/>
          </a:p>
        </p:txBody>
      </p:sp>
    </p:spTree>
    <p:extLst>
      <p:ext uri="{BB962C8B-B14F-4D97-AF65-F5344CB8AC3E}">
        <p14:creationId xmlns:p14="http://schemas.microsoft.com/office/powerpoint/2010/main" val="3613437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C10A58-9B91-48B4-9210-B8BBA764A2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051ABE-E96E-4CB3-A9A2-C52F4F7330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995C2-CEE8-49D2-8BDF-ECCFA82035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051829-6340-478C-A0FE-0F63C09C84A7}" type="datetimeFigureOut">
              <a:rPr lang="en-IN" smtClean="0"/>
              <a:t>27-08-2026</a:t>
            </a:fld>
            <a:endParaRPr lang="en-IN"/>
          </a:p>
        </p:txBody>
      </p:sp>
      <p:sp>
        <p:nvSpPr>
          <p:cNvPr id="5" name="Footer Placeholder 4">
            <a:extLst>
              <a:ext uri="{FF2B5EF4-FFF2-40B4-BE49-F238E27FC236}">
                <a16:creationId xmlns:a16="http://schemas.microsoft.com/office/drawing/2014/main" id="{906622E1-3C5E-4F96-9060-B8F9A377D1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0D688D-0F42-4C4D-BE6E-BB7C4194F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287165-E79B-44DE-A121-9C71DA01A75B}" type="slidenum">
              <a:rPr lang="en-IN" smtClean="0"/>
              <a:t>‹#›</a:t>
            </a:fld>
            <a:endParaRPr lang="en-IN"/>
          </a:p>
        </p:txBody>
      </p:sp>
    </p:spTree>
    <p:extLst>
      <p:ext uri="{BB962C8B-B14F-4D97-AF65-F5344CB8AC3E}">
        <p14:creationId xmlns:p14="http://schemas.microsoft.com/office/powerpoint/2010/main" val="731257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geeksforgeeks.org/computer-networks/leaky-bucket-algorithm/" TargetMode="External"/><Relationship Id="rId2" Type="http://schemas.openxmlformats.org/officeDocument/2006/relationships/hyperlink" Target="https://www.geeksforgeeks.org/computer-networks/congestion-control-in-computer-network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EED4-D71A-4DED-9935-6E5D9871ACB9}"/>
              </a:ext>
            </a:extLst>
          </p:cNvPr>
          <p:cNvSpPr>
            <a:spLocks noGrp="1"/>
          </p:cNvSpPr>
          <p:nvPr>
            <p:ph type="title"/>
          </p:nvPr>
        </p:nvSpPr>
        <p:spPr>
          <a:xfrm>
            <a:off x="851647" y="365125"/>
            <a:ext cx="10515600" cy="1325563"/>
          </a:xfrm>
        </p:spPr>
        <p:txBody>
          <a:bodyPr/>
          <a:lstStyle/>
          <a:p>
            <a:pPr algn="ctr"/>
            <a:r>
              <a:rPr lang="en-US" dirty="0"/>
              <a:t>UNIT 3</a:t>
            </a:r>
            <a:endParaRPr lang="en-IN" dirty="0"/>
          </a:p>
        </p:txBody>
      </p:sp>
      <p:sp>
        <p:nvSpPr>
          <p:cNvPr id="3" name="Content Placeholder 2">
            <a:extLst>
              <a:ext uri="{FF2B5EF4-FFF2-40B4-BE49-F238E27FC236}">
                <a16:creationId xmlns:a16="http://schemas.microsoft.com/office/drawing/2014/main" id="{2673D011-AAFD-411A-8F1D-9D2832BDCBD4}"/>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4000" dirty="0">
                <a:solidFill>
                  <a:schemeClr val="accent1"/>
                </a:solidFill>
              </a:rPr>
              <a:t>TRANSPORT LAYER</a:t>
            </a:r>
            <a:endParaRPr lang="en-IN" sz="4000" dirty="0">
              <a:solidFill>
                <a:schemeClr val="accent1"/>
              </a:solidFill>
            </a:endParaRPr>
          </a:p>
        </p:txBody>
      </p:sp>
    </p:spTree>
    <p:extLst>
      <p:ext uri="{BB962C8B-B14F-4D97-AF65-F5344CB8AC3E}">
        <p14:creationId xmlns:p14="http://schemas.microsoft.com/office/powerpoint/2010/main" val="1944261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42CB-700C-4A78-A463-3C2E2747BD25}"/>
              </a:ext>
            </a:extLst>
          </p:cNvPr>
          <p:cNvSpPr>
            <a:spLocks noGrp="1"/>
          </p:cNvSpPr>
          <p:nvPr>
            <p:ph type="title"/>
          </p:nvPr>
        </p:nvSpPr>
        <p:spPr>
          <a:xfrm>
            <a:off x="838200" y="365126"/>
            <a:ext cx="10515600" cy="513416"/>
          </a:xfrm>
        </p:spPr>
        <p:txBody>
          <a:bodyPr>
            <a:noAutofit/>
          </a:bodyPr>
          <a:lstStyle/>
          <a:p>
            <a:r>
              <a:rPr lang="en-US" sz="3200" dirty="0"/>
              <a:t>Overview of Transport Layer in the Internet</a:t>
            </a:r>
            <a:endParaRPr lang="en-IN" sz="3200" dirty="0"/>
          </a:p>
        </p:txBody>
      </p:sp>
      <p:sp>
        <p:nvSpPr>
          <p:cNvPr id="3" name="Content Placeholder 2">
            <a:extLst>
              <a:ext uri="{FF2B5EF4-FFF2-40B4-BE49-F238E27FC236}">
                <a16:creationId xmlns:a16="http://schemas.microsoft.com/office/drawing/2014/main" id="{191CE4A3-23E2-4C2C-950F-D4E983C6304C}"/>
              </a:ext>
            </a:extLst>
          </p:cNvPr>
          <p:cNvSpPr>
            <a:spLocks noGrp="1"/>
          </p:cNvSpPr>
          <p:nvPr>
            <p:ph idx="1"/>
          </p:nvPr>
        </p:nvSpPr>
        <p:spPr>
          <a:xfrm>
            <a:off x="838200" y="950259"/>
            <a:ext cx="10515600" cy="5226704"/>
          </a:xfrm>
        </p:spPr>
        <p:txBody>
          <a:bodyPr/>
          <a:lstStyle/>
          <a:p>
            <a:endParaRPr lang="en-US" sz="2000" dirty="0"/>
          </a:p>
          <a:p>
            <a:r>
              <a:rPr lang="en-US" sz="2000" dirty="0"/>
              <a:t>The transport Layer is the fourth layer in the OSI model. </a:t>
            </a:r>
          </a:p>
          <a:p>
            <a:r>
              <a:rPr lang="en-US" sz="2000" dirty="0"/>
              <a:t>It is an end-to-end layer used to deliver messages to a host. </a:t>
            </a:r>
          </a:p>
          <a:p>
            <a:r>
              <a:rPr lang="en-US" sz="2000" dirty="0"/>
              <a:t>It is termed an end-to-end layer because it provides a point-to-point connection rather than hop-to-hop, between the source host and destination host to deliver the services reliably. </a:t>
            </a:r>
          </a:p>
          <a:p>
            <a:r>
              <a:rPr lang="en-US" sz="2000" dirty="0"/>
              <a:t>The unit of data encapsulation in the Transport Layer is a segment</a:t>
            </a:r>
            <a:r>
              <a:rPr lang="en-US" dirty="0"/>
              <a:t>.</a:t>
            </a:r>
            <a:endParaRPr lang="en-IN" dirty="0"/>
          </a:p>
        </p:txBody>
      </p:sp>
    </p:spTree>
    <p:extLst>
      <p:ext uri="{BB962C8B-B14F-4D97-AF65-F5344CB8AC3E}">
        <p14:creationId xmlns:p14="http://schemas.microsoft.com/office/powerpoint/2010/main" val="1228601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67477DE-4ADA-4F00-AFA5-FD8039CABBA6}"/>
              </a:ext>
            </a:extLst>
          </p:cNvPr>
          <p:cNvPicPr>
            <a:picLocks noChangeAspect="1"/>
          </p:cNvPicPr>
          <p:nvPr/>
        </p:nvPicPr>
        <p:blipFill>
          <a:blip r:embed="rId2"/>
          <a:stretch>
            <a:fillRect/>
          </a:stretch>
        </p:blipFill>
        <p:spPr>
          <a:xfrm>
            <a:off x="4672012" y="1619250"/>
            <a:ext cx="2847975" cy="3619500"/>
          </a:xfrm>
          <a:prstGeom prst="rect">
            <a:avLst/>
          </a:prstGeom>
        </p:spPr>
      </p:pic>
    </p:spTree>
    <p:extLst>
      <p:ext uri="{BB962C8B-B14F-4D97-AF65-F5344CB8AC3E}">
        <p14:creationId xmlns:p14="http://schemas.microsoft.com/office/powerpoint/2010/main" val="1005683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7AA8-C256-4AB1-B47A-5B64CEECC70B}"/>
              </a:ext>
            </a:extLst>
          </p:cNvPr>
          <p:cNvSpPr>
            <a:spLocks noGrp="1"/>
          </p:cNvSpPr>
          <p:nvPr>
            <p:ph type="title"/>
          </p:nvPr>
        </p:nvSpPr>
        <p:spPr>
          <a:xfrm>
            <a:off x="735106" y="365125"/>
            <a:ext cx="10618694" cy="495487"/>
          </a:xfrm>
        </p:spPr>
        <p:txBody>
          <a:bodyPr>
            <a:normAutofit fontScale="90000"/>
          </a:bodyPr>
          <a:lstStyle/>
          <a:p>
            <a:br>
              <a:rPr lang="en-IN" b="1" dirty="0"/>
            </a:br>
            <a:r>
              <a:rPr lang="en-IN" sz="3600" b="1" dirty="0"/>
              <a:t>Working of Transport Layer</a:t>
            </a:r>
            <a:br>
              <a:rPr lang="en-IN" b="1" dirty="0"/>
            </a:br>
            <a:endParaRPr lang="en-IN" dirty="0"/>
          </a:p>
        </p:txBody>
      </p:sp>
      <p:sp>
        <p:nvSpPr>
          <p:cNvPr id="3" name="Content Placeholder 2">
            <a:extLst>
              <a:ext uri="{FF2B5EF4-FFF2-40B4-BE49-F238E27FC236}">
                <a16:creationId xmlns:a16="http://schemas.microsoft.com/office/drawing/2014/main" id="{E5B2E5C4-86DA-47B4-8592-DFAD15093058}"/>
              </a:ext>
            </a:extLst>
          </p:cNvPr>
          <p:cNvSpPr>
            <a:spLocks noGrp="1"/>
          </p:cNvSpPr>
          <p:nvPr>
            <p:ph idx="1"/>
          </p:nvPr>
        </p:nvSpPr>
        <p:spPr>
          <a:xfrm>
            <a:off x="735106" y="1048871"/>
            <a:ext cx="10618694" cy="5128092"/>
          </a:xfrm>
        </p:spPr>
        <p:txBody>
          <a:bodyPr/>
          <a:lstStyle/>
          <a:p>
            <a:endParaRPr lang="en-US" sz="2000" b="1" dirty="0"/>
          </a:p>
          <a:p>
            <a:endParaRPr lang="en-US" sz="2000" b="1" dirty="0"/>
          </a:p>
          <a:p>
            <a:r>
              <a:rPr lang="en-US" sz="2000" b="1" dirty="0"/>
              <a:t>The transport layer ensures the reliable transmission of data between systems.</a:t>
            </a:r>
          </a:p>
          <a:p>
            <a:pPr fontAlgn="base"/>
            <a:endParaRPr lang="en-US" sz="2000" b="1" dirty="0"/>
          </a:p>
          <a:p>
            <a:pPr fontAlgn="base"/>
            <a:r>
              <a:rPr lang="en-US" sz="2000" b="1" dirty="0"/>
              <a:t>At the sender's side: </a:t>
            </a:r>
          </a:p>
          <a:p>
            <a:pPr fontAlgn="base">
              <a:buFont typeface="Wingdings" panose="05000000000000000000" pitchFamily="2" charset="2"/>
              <a:buChar char="Ø"/>
            </a:pPr>
            <a:r>
              <a:rPr lang="en-US" sz="2000" b="1" dirty="0"/>
              <a:t>	</a:t>
            </a:r>
            <a:r>
              <a:rPr lang="en-US" sz="2000" dirty="0"/>
              <a:t>The transport layer receives data (message) from the Application layer and then performs 	Segmentation, divides the actual message into segments, adds the source and destination’s 	port numbers into the header of the segment, and transfers the message to the Network 	layer. </a:t>
            </a:r>
          </a:p>
          <a:p>
            <a:pPr fontAlgn="base"/>
            <a:r>
              <a:rPr lang="en-US" sz="2000" b="1" dirty="0"/>
              <a:t>At the receiver's side: </a:t>
            </a:r>
          </a:p>
          <a:p>
            <a:pPr fontAlgn="base">
              <a:buFont typeface="Wingdings" panose="05000000000000000000" pitchFamily="2" charset="2"/>
              <a:buChar char="Ø"/>
            </a:pPr>
            <a:r>
              <a:rPr lang="en-US" sz="2000" b="1" dirty="0"/>
              <a:t>	</a:t>
            </a:r>
            <a:r>
              <a:rPr lang="en-US" sz="2000" dirty="0"/>
              <a:t>The transport layer receives data from the Network layer, reassembles the segmented data, 	reads its header, identifies the port number, and forwards the message to the appropriate 	port in the Application layer</a:t>
            </a:r>
          </a:p>
          <a:p>
            <a:endParaRPr lang="en-IN" dirty="0"/>
          </a:p>
        </p:txBody>
      </p:sp>
    </p:spTree>
    <p:extLst>
      <p:ext uri="{BB962C8B-B14F-4D97-AF65-F5344CB8AC3E}">
        <p14:creationId xmlns:p14="http://schemas.microsoft.com/office/powerpoint/2010/main" val="1822279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5741-4F39-4D68-A73B-ED934D33D6B4}"/>
              </a:ext>
            </a:extLst>
          </p:cNvPr>
          <p:cNvSpPr>
            <a:spLocks noGrp="1"/>
          </p:cNvSpPr>
          <p:nvPr>
            <p:ph type="title"/>
          </p:nvPr>
        </p:nvSpPr>
        <p:spPr>
          <a:xfrm>
            <a:off x="838200" y="365126"/>
            <a:ext cx="10515600" cy="486522"/>
          </a:xfrm>
        </p:spPr>
        <p:txBody>
          <a:bodyPr>
            <a:normAutofit fontScale="90000"/>
          </a:bodyPr>
          <a:lstStyle/>
          <a:p>
            <a:br>
              <a:rPr lang="en-US" b="1" dirty="0"/>
            </a:br>
            <a:r>
              <a:rPr lang="en-US" sz="3600" b="1" dirty="0"/>
              <a:t>Responsibilities of a Transport Layer</a:t>
            </a:r>
            <a:br>
              <a:rPr lang="en-US" sz="3600" b="1" dirty="0"/>
            </a:br>
            <a:endParaRPr lang="en-IN" sz="3600" dirty="0"/>
          </a:p>
        </p:txBody>
      </p:sp>
      <p:sp>
        <p:nvSpPr>
          <p:cNvPr id="3" name="Content Placeholder 2">
            <a:extLst>
              <a:ext uri="{FF2B5EF4-FFF2-40B4-BE49-F238E27FC236}">
                <a16:creationId xmlns:a16="http://schemas.microsoft.com/office/drawing/2014/main" id="{51665A30-AD06-463A-9023-90A06B8F232E}"/>
              </a:ext>
            </a:extLst>
          </p:cNvPr>
          <p:cNvSpPr>
            <a:spLocks noGrp="1"/>
          </p:cNvSpPr>
          <p:nvPr>
            <p:ph idx="1"/>
          </p:nvPr>
        </p:nvSpPr>
        <p:spPr>
          <a:xfrm>
            <a:off x="838200" y="1120588"/>
            <a:ext cx="10515600" cy="5056375"/>
          </a:xfrm>
        </p:spPr>
        <p:txBody>
          <a:bodyPr/>
          <a:lstStyle/>
          <a:p>
            <a:pPr fontAlgn="base"/>
            <a:endParaRPr lang="en-US" sz="2000" dirty="0"/>
          </a:p>
          <a:p>
            <a:pPr fontAlgn="base"/>
            <a:r>
              <a:rPr lang="en-US" sz="2000" dirty="0"/>
              <a:t>The Process to Process Delivery</a:t>
            </a:r>
          </a:p>
          <a:p>
            <a:pPr fontAlgn="base"/>
            <a:r>
              <a:rPr lang="en-US" sz="2000" dirty="0"/>
              <a:t>End-to-End Connection between Hosts</a:t>
            </a:r>
          </a:p>
          <a:p>
            <a:pPr fontAlgn="base"/>
            <a:r>
              <a:rPr lang="en-US" sz="2000" dirty="0"/>
              <a:t>Multiplexing and Demultiplexing</a:t>
            </a:r>
          </a:p>
          <a:p>
            <a:pPr fontAlgn="base"/>
            <a:r>
              <a:rPr lang="en-US" sz="2000" dirty="0"/>
              <a:t>Congestion Control</a:t>
            </a:r>
          </a:p>
          <a:p>
            <a:pPr fontAlgn="base"/>
            <a:r>
              <a:rPr lang="en-US" sz="2000" dirty="0"/>
              <a:t>Data integrity and Error correction</a:t>
            </a:r>
          </a:p>
          <a:p>
            <a:pPr fontAlgn="base"/>
            <a:r>
              <a:rPr lang="en-US" sz="2000" dirty="0"/>
              <a:t>Flow control</a:t>
            </a:r>
          </a:p>
          <a:p>
            <a:endParaRPr lang="en-IN" dirty="0"/>
          </a:p>
        </p:txBody>
      </p:sp>
    </p:spTree>
    <p:extLst>
      <p:ext uri="{BB962C8B-B14F-4D97-AF65-F5344CB8AC3E}">
        <p14:creationId xmlns:p14="http://schemas.microsoft.com/office/powerpoint/2010/main" val="448273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757F9-1227-40F1-ABA7-ABF419D7783D}"/>
              </a:ext>
            </a:extLst>
          </p:cNvPr>
          <p:cNvSpPr>
            <a:spLocks noGrp="1"/>
          </p:cNvSpPr>
          <p:nvPr>
            <p:ph type="title"/>
          </p:nvPr>
        </p:nvSpPr>
        <p:spPr>
          <a:xfrm>
            <a:off x="932328" y="365126"/>
            <a:ext cx="10421471" cy="862806"/>
          </a:xfrm>
        </p:spPr>
        <p:txBody>
          <a:bodyPr>
            <a:normAutofit fontScale="90000"/>
          </a:bodyPr>
          <a:lstStyle/>
          <a:p>
            <a:br>
              <a:rPr lang="en-US" b="1" dirty="0"/>
            </a:br>
            <a:r>
              <a:rPr lang="en-US" sz="3600" b="1" dirty="0"/>
              <a:t>1. The Process to Process Delivery</a:t>
            </a:r>
            <a:br>
              <a:rPr lang="en-US" b="1" dirty="0"/>
            </a:br>
            <a:endParaRPr lang="en-IN" dirty="0"/>
          </a:p>
        </p:txBody>
      </p:sp>
      <p:pic>
        <p:nvPicPr>
          <p:cNvPr id="1026" name="Picture 2" descr="https://media.geeksforgeeks.org/wp-content/uploads/20230502004748/image-289.png">
            <a:extLst>
              <a:ext uri="{FF2B5EF4-FFF2-40B4-BE49-F238E27FC236}">
                <a16:creationId xmlns:a16="http://schemas.microsoft.com/office/drawing/2014/main" id="{DE223A45-0C76-4C05-A2B8-2C7EF3B29D5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60494" y="2372519"/>
            <a:ext cx="6916831" cy="3257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3657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A7CC-E0C8-4E31-82C3-FF9CB9942FE0}"/>
              </a:ext>
            </a:extLst>
          </p:cNvPr>
          <p:cNvSpPr>
            <a:spLocks noGrp="1"/>
          </p:cNvSpPr>
          <p:nvPr>
            <p:ph type="title"/>
          </p:nvPr>
        </p:nvSpPr>
        <p:spPr>
          <a:xfrm>
            <a:off x="760491" y="365125"/>
            <a:ext cx="10593309" cy="576435"/>
          </a:xfrm>
        </p:spPr>
        <p:txBody>
          <a:bodyPr>
            <a:normAutofit/>
          </a:bodyPr>
          <a:lstStyle/>
          <a:p>
            <a:r>
              <a:rPr lang="en-IN" sz="2400" b="1" dirty="0">
                <a:latin typeface="Times New Roman" panose="02020603050405020304" pitchFamily="18" charset="0"/>
                <a:cs typeface="Times New Roman" panose="02020603050405020304" pitchFamily="18" charset="0"/>
              </a:rPr>
              <a:t>What is Process-to-Process Delivery?</a:t>
            </a:r>
          </a:p>
        </p:txBody>
      </p:sp>
      <p:sp>
        <p:nvSpPr>
          <p:cNvPr id="3" name="Content Placeholder 2">
            <a:extLst>
              <a:ext uri="{FF2B5EF4-FFF2-40B4-BE49-F238E27FC236}">
                <a16:creationId xmlns:a16="http://schemas.microsoft.com/office/drawing/2014/main" id="{36F9AABC-1AD0-4226-AF13-93ED974D3D32}"/>
              </a:ext>
            </a:extLst>
          </p:cNvPr>
          <p:cNvSpPr>
            <a:spLocks noGrp="1"/>
          </p:cNvSpPr>
          <p:nvPr>
            <p:ph idx="1"/>
          </p:nvPr>
        </p:nvSpPr>
        <p:spPr>
          <a:xfrm>
            <a:off x="760491" y="1068309"/>
            <a:ext cx="10593309" cy="5108654"/>
          </a:xfrm>
        </p:spPr>
        <p:txBody>
          <a:bodyPr>
            <a:normAutofit fontScale="85000" lnSpcReduction="20000"/>
          </a:bodyPr>
          <a:lstStyle/>
          <a:p>
            <a:r>
              <a:rPr lang="en-US" sz="2600" dirty="0">
                <a:latin typeface="Times New Roman" panose="02020603050405020304" pitchFamily="18" charset="0"/>
                <a:cs typeface="Times New Roman" panose="02020603050405020304" pitchFamily="18" charset="0"/>
              </a:rPr>
              <a:t>When data is sent from one computer to another, it is not enough to deliver it only to the destination computer.</a:t>
            </a:r>
          </a:p>
          <a:p>
            <a:r>
              <a:rPr lang="en-US" sz="2600" dirty="0">
                <a:latin typeface="Times New Roman" panose="02020603050405020304" pitchFamily="18" charset="0"/>
                <a:cs typeface="Times New Roman" panose="02020603050405020304" pitchFamily="18" charset="0"/>
              </a:rPr>
              <a:t>The data must reach the </a:t>
            </a:r>
            <a:r>
              <a:rPr lang="en-US" sz="2600" b="1" dirty="0">
                <a:latin typeface="Times New Roman" panose="02020603050405020304" pitchFamily="18" charset="0"/>
                <a:cs typeface="Times New Roman" panose="02020603050405020304" pitchFamily="18" charset="0"/>
              </a:rPr>
              <a:t>correct application/process</a:t>
            </a:r>
            <a:r>
              <a:rPr lang="en-US" sz="2600" dirty="0">
                <a:latin typeface="Times New Roman" panose="02020603050405020304" pitchFamily="18" charset="0"/>
                <a:cs typeface="Times New Roman" panose="02020603050405020304" pitchFamily="18" charset="0"/>
              </a:rPr>
              <a:t> running on that computer.</a:t>
            </a:r>
          </a:p>
          <a:p>
            <a:pPr marL="0" indent="0">
              <a:buNone/>
            </a:pPr>
            <a:r>
              <a:rPr lang="en-US" sz="2600" dirty="0">
                <a:latin typeface="Times New Roman" panose="02020603050405020304" pitchFamily="18" charset="0"/>
                <a:cs typeface="Times New Roman" panose="02020603050405020304" pitchFamily="18" charset="0"/>
              </a:rPr>
              <a:t>For example:</a:t>
            </a:r>
          </a:p>
          <a:p>
            <a:pPr marL="0" indent="0">
              <a:buNone/>
            </a:pPr>
            <a:r>
              <a:rPr lang="en-US" sz="2600" b="1" dirty="0">
                <a:latin typeface="Times New Roman" panose="02020603050405020304" pitchFamily="18" charset="0"/>
                <a:cs typeface="Times New Roman" panose="02020603050405020304" pitchFamily="18" charset="0"/>
              </a:rPr>
              <a:t>Computer A</a:t>
            </a: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Browser </a:t>
            </a: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Email application </a:t>
            </a: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YouTube </a:t>
            </a:r>
          </a:p>
          <a:p>
            <a:pPr marL="0" indent="0">
              <a:buNone/>
            </a:pPr>
            <a:r>
              <a:rPr lang="en-US" sz="2600" dirty="0">
                <a:latin typeface="Times New Roman" panose="02020603050405020304" pitchFamily="18" charset="0"/>
                <a:cs typeface="Times New Roman" panose="02020603050405020304" pitchFamily="18" charset="0"/>
              </a:rPr>
              <a:t>sends data to</a:t>
            </a:r>
          </a:p>
          <a:p>
            <a:pPr marL="0" indent="0">
              <a:buNone/>
            </a:pPr>
            <a:r>
              <a:rPr lang="en-US" sz="2600" b="1" dirty="0">
                <a:latin typeface="Times New Roman" panose="02020603050405020304" pitchFamily="18" charset="0"/>
                <a:cs typeface="Times New Roman" panose="02020603050405020304" pitchFamily="18" charset="0"/>
              </a:rPr>
              <a:t>Computer B</a:t>
            </a:r>
            <a:endParaRPr lang="en-US" sz="2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Web server </a:t>
            </a: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Email server </a:t>
            </a: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Other applications </a:t>
            </a:r>
          </a:p>
          <a:p>
            <a:r>
              <a:rPr lang="en-US" sz="2600" dirty="0">
                <a:latin typeface="Times New Roman" panose="02020603050405020304" pitchFamily="18" charset="0"/>
                <a:cs typeface="Times New Roman" panose="02020603050405020304" pitchFamily="18" charset="0"/>
              </a:rPr>
              <a:t>The Transport Layer ensures that data reaches the </a:t>
            </a:r>
            <a:r>
              <a:rPr lang="en-US" sz="2600" b="1" dirty="0">
                <a:latin typeface="Times New Roman" panose="02020603050405020304" pitchFamily="18" charset="0"/>
                <a:cs typeface="Times New Roman" panose="02020603050405020304" pitchFamily="18" charset="0"/>
              </a:rPr>
              <a:t>correct process/application</a:t>
            </a:r>
            <a:r>
              <a:rPr lang="en-US" sz="2600" dirty="0">
                <a:latin typeface="Times New Roman" panose="02020603050405020304" pitchFamily="18" charset="0"/>
                <a:cs typeface="Times New Roman" panose="02020603050405020304" pitchFamily="18" charset="0"/>
              </a:rPr>
              <a:t>.</a:t>
            </a:r>
          </a:p>
          <a:p>
            <a:pPr marL="0" indent="0">
              <a:buNone/>
            </a:pPr>
            <a:endParaRPr lang="en-IN" dirty="0"/>
          </a:p>
        </p:txBody>
      </p:sp>
    </p:spTree>
    <p:extLst>
      <p:ext uri="{BB962C8B-B14F-4D97-AF65-F5344CB8AC3E}">
        <p14:creationId xmlns:p14="http://schemas.microsoft.com/office/powerpoint/2010/main" val="989571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BBFF-2404-4B89-A385-CF08C1E94162}"/>
              </a:ext>
            </a:extLst>
          </p:cNvPr>
          <p:cNvSpPr>
            <a:spLocks noGrp="1"/>
          </p:cNvSpPr>
          <p:nvPr>
            <p:ph type="title"/>
          </p:nvPr>
        </p:nvSpPr>
        <p:spPr>
          <a:xfrm>
            <a:off x="838200" y="365125"/>
            <a:ext cx="10515600" cy="522115"/>
          </a:xfrm>
        </p:spPr>
        <p:txBody>
          <a:bodyPr>
            <a:normAutofit/>
          </a:bodyPr>
          <a:lstStyle/>
          <a:p>
            <a:r>
              <a:rPr lang="en-IN" sz="2400" b="1" dirty="0"/>
              <a:t>Sender side – Multiplexing</a:t>
            </a:r>
          </a:p>
        </p:txBody>
      </p:sp>
      <p:sp>
        <p:nvSpPr>
          <p:cNvPr id="4" name="Rectangle 1">
            <a:extLst>
              <a:ext uri="{FF2B5EF4-FFF2-40B4-BE49-F238E27FC236}">
                <a16:creationId xmlns:a16="http://schemas.microsoft.com/office/drawing/2014/main" id="{EB15FAB4-DEBB-4F72-B48B-6ED12EB03F64}"/>
              </a:ext>
            </a:extLst>
          </p:cNvPr>
          <p:cNvSpPr>
            <a:spLocks noGrp="1" noChangeArrowheads="1"/>
          </p:cNvSpPr>
          <p:nvPr>
            <p:ph idx="1"/>
          </p:nvPr>
        </p:nvSpPr>
        <p:spPr bwMode="auto">
          <a:xfrm>
            <a:off x="769938" y="1408579"/>
            <a:ext cx="1023626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are several processes sending data: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3 ──┼──&gt; Multiplexer ──&gt; IP ──&gt; Network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4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Multiplexer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collects data from multiple processes.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Browser →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WhatsApp →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YouTube → data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Transport Layer combines these data streams and sends them toward the Network Layer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is called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multiplexing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9060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BD4E4-4816-4D1A-A910-0B62D40E9601}"/>
              </a:ext>
            </a:extLst>
          </p:cNvPr>
          <p:cNvSpPr>
            <a:spLocks noGrp="1"/>
          </p:cNvSpPr>
          <p:nvPr>
            <p:ph type="title"/>
          </p:nvPr>
        </p:nvSpPr>
        <p:spPr>
          <a:xfrm>
            <a:off x="838200" y="365126"/>
            <a:ext cx="10515600" cy="603596"/>
          </a:xfrm>
        </p:spPr>
        <p:txBody>
          <a:bodyPr>
            <a:normAutofit/>
          </a:bodyPr>
          <a:lstStyle/>
          <a:p>
            <a:r>
              <a:rPr lang="en-IN" sz="2400" b="1" dirty="0">
                <a:latin typeface="Times New Roman" panose="02020603050405020304" pitchFamily="18" charset="0"/>
                <a:cs typeface="Times New Roman" panose="02020603050405020304" pitchFamily="18" charset="0"/>
              </a:rPr>
              <a:t>Receiver side – Demultiplexing</a:t>
            </a:r>
          </a:p>
        </p:txBody>
      </p:sp>
      <p:sp>
        <p:nvSpPr>
          <p:cNvPr id="4" name="Rectangle 1">
            <a:extLst>
              <a:ext uri="{FF2B5EF4-FFF2-40B4-BE49-F238E27FC236}">
                <a16:creationId xmlns:a16="http://schemas.microsoft.com/office/drawing/2014/main" id="{275F8D6B-37C1-462E-9B8A-C76025D6FD41}"/>
              </a:ext>
            </a:extLst>
          </p:cNvPr>
          <p:cNvSpPr>
            <a:spLocks noGrp="1" noChangeArrowheads="1"/>
          </p:cNvSpPr>
          <p:nvPr>
            <p:ph idx="1"/>
          </p:nvPr>
        </p:nvSpPr>
        <p:spPr bwMode="auto">
          <a:xfrm>
            <a:off x="711200" y="1293092"/>
            <a:ext cx="11385210" cy="465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IP layer receives packets from the network and passes them to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Demultiplexer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Demultiplexer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P1 P2 P3 P4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Demultiplexer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examines information in the transport-layer header, especially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 number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delivers the data to the correct process.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 80/443 → Web application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 25 → Email service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Port 53 → DNS service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 if a packet arrives with the appropriate destination port, the transport layer sends it to the corresponding application.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process is called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demultiplexing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70597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C2A8E-F0A0-477E-9BE6-4B1CEAEDA9CB}"/>
              </a:ext>
            </a:extLst>
          </p:cNvPr>
          <p:cNvSpPr>
            <a:spLocks noGrp="1"/>
          </p:cNvSpPr>
          <p:nvPr>
            <p:ph type="title"/>
          </p:nvPr>
        </p:nvSpPr>
        <p:spPr>
          <a:xfrm>
            <a:off x="762000" y="365126"/>
            <a:ext cx="10591800" cy="710640"/>
          </a:xfrm>
        </p:spPr>
        <p:txBody>
          <a:bodyPr>
            <a:normAutofit fontScale="90000"/>
          </a:bodyPr>
          <a:lstStyle/>
          <a:p>
            <a:br>
              <a:rPr lang="en-US" b="1" dirty="0"/>
            </a:br>
            <a:r>
              <a:rPr lang="en-US" sz="3600" b="1" dirty="0"/>
              <a:t>2. End-to-end Connection between Hosts</a:t>
            </a:r>
            <a:br>
              <a:rPr lang="en-US" b="1" dirty="0"/>
            </a:br>
            <a:endParaRPr lang="en-IN" dirty="0"/>
          </a:p>
        </p:txBody>
      </p:sp>
      <p:pic>
        <p:nvPicPr>
          <p:cNvPr id="6" name="Content Placeholder 5">
            <a:extLst>
              <a:ext uri="{FF2B5EF4-FFF2-40B4-BE49-F238E27FC236}">
                <a16:creationId xmlns:a16="http://schemas.microsoft.com/office/drawing/2014/main" id="{1A91B16E-FA5C-4E14-B5B8-24FC7BDC7317}"/>
              </a:ext>
            </a:extLst>
          </p:cNvPr>
          <p:cNvPicPr>
            <a:picLocks noGrp="1" noChangeAspect="1"/>
          </p:cNvPicPr>
          <p:nvPr>
            <p:ph idx="1"/>
          </p:nvPr>
        </p:nvPicPr>
        <p:blipFill>
          <a:blip r:embed="rId2"/>
          <a:stretch>
            <a:fillRect/>
          </a:stretch>
        </p:blipFill>
        <p:spPr>
          <a:xfrm>
            <a:off x="2701271" y="2303929"/>
            <a:ext cx="6449089" cy="3224545"/>
          </a:xfrm>
          <a:prstGeom prst="rect">
            <a:avLst/>
          </a:prstGeom>
        </p:spPr>
      </p:pic>
    </p:spTree>
    <p:extLst>
      <p:ext uri="{BB962C8B-B14F-4D97-AF65-F5344CB8AC3E}">
        <p14:creationId xmlns:p14="http://schemas.microsoft.com/office/powerpoint/2010/main" val="185438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071D9-F97B-4FDF-8998-E493D9A6079C}"/>
              </a:ext>
            </a:extLst>
          </p:cNvPr>
          <p:cNvSpPr>
            <a:spLocks noGrp="1"/>
          </p:cNvSpPr>
          <p:nvPr>
            <p:ph type="title"/>
          </p:nvPr>
        </p:nvSpPr>
        <p:spPr>
          <a:xfrm>
            <a:off x="838200" y="365126"/>
            <a:ext cx="10515600" cy="405840"/>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448929E7-F9E9-485B-A998-87E490C5296E}"/>
              </a:ext>
            </a:extLst>
          </p:cNvPr>
          <p:cNvSpPr>
            <a:spLocks noGrp="1"/>
          </p:cNvSpPr>
          <p:nvPr>
            <p:ph idx="1"/>
          </p:nvPr>
        </p:nvSpPr>
        <p:spPr>
          <a:xfrm>
            <a:off x="838200" y="914400"/>
            <a:ext cx="10515600" cy="5262563"/>
          </a:xfrm>
        </p:spPr>
        <p:txBody>
          <a:bodyPr>
            <a:normAutofit/>
          </a:bodyPr>
          <a:lstStyle/>
          <a:p>
            <a:endParaRPr lang="en-US" sz="2000" dirty="0"/>
          </a:p>
          <a:p>
            <a:r>
              <a:rPr lang="en-US" sz="2000" dirty="0"/>
              <a:t>The transport layer is also responsible for creating the end-to-end connection between hosts for which it mainly uses TCP and UDP. </a:t>
            </a:r>
          </a:p>
          <a:p>
            <a:r>
              <a:rPr lang="en-US" sz="2000" dirty="0"/>
              <a:t>TCP is a secure, connection-orientated protocol that uses a handshake protocol to establish a robust connection between two end hosts. </a:t>
            </a:r>
          </a:p>
          <a:p>
            <a:r>
              <a:rPr lang="en-US" sz="2000" dirty="0"/>
              <a:t>TCP ensures the reliable delivery of messages and is used in various applications.</a:t>
            </a:r>
          </a:p>
          <a:p>
            <a:r>
              <a:rPr lang="en-US" sz="2000" dirty="0"/>
              <a:t> UDP, on the other hand, is a stateless and unreliable protocol that ensures best-effort delivery. </a:t>
            </a:r>
          </a:p>
          <a:p>
            <a:r>
              <a:rPr lang="en-US" sz="2000" dirty="0"/>
              <a:t>It is suitable for applications that have little concern with flow or error control and requires sending the bulk of data like video conferencing.</a:t>
            </a:r>
            <a:endParaRPr lang="en-IN" sz="2000" dirty="0"/>
          </a:p>
        </p:txBody>
      </p:sp>
    </p:spTree>
    <p:extLst>
      <p:ext uri="{BB962C8B-B14F-4D97-AF65-F5344CB8AC3E}">
        <p14:creationId xmlns:p14="http://schemas.microsoft.com/office/powerpoint/2010/main" val="4025204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BBECC-1643-413C-B269-1AAD05815A61}"/>
              </a:ext>
            </a:extLst>
          </p:cNvPr>
          <p:cNvSpPr>
            <a:spLocks noGrp="1"/>
          </p:cNvSpPr>
          <p:nvPr>
            <p:ph type="title"/>
          </p:nvPr>
        </p:nvSpPr>
        <p:spPr>
          <a:xfrm>
            <a:off x="838200" y="365125"/>
            <a:ext cx="10515600" cy="495487"/>
          </a:xfrm>
        </p:spPr>
        <p:txBody>
          <a:bodyPr>
            <a:normAutofit fontScale="90000"/>
          </a:bodyPr>
          <a:lstStyle/>
          <a:p>
            <a:br>
              <a:rPr lang="en-IN" b="1" dirty="0"/>
            </a:br>
            <a:r>
              <a:rPr lang="en-IN" sz="3100" b="1" dirty="0"/>
              <a:t>3. Multiplexing and Demultiplexing</a:t>
            </a:r>
            <a:br>
              <a:rPr lang="en-IN" b="1" dirty="0"/>
            </a:br>
            <a:endParaRPr lang="en-IN" dirty="0"/>
          </a:p>
        </p:txBody>
      </p:sp>
      <p:pic>
        <p:nvPicPr>
          <p:cNvPr id="4" name="Content Placeholder 3">
            <a:extLst>
              <a:ext uri="{FF2B5EF4-FFF2-40B4-BE49-F238E27FC236}">
                <a16:creationId xmlns:a16="http://schemas.microsoft.com/office/drawing/2014/main" id="{15863AE4-FFDD-4B4F-A385-34472AF74E18}"/>
              </a:ext>
            </a:extLst>
          </p:cNvPr>
          <p:cNvPicPr>
            <a:picLocks noGrp="1" noChangeAspect="1"/>
          </p:cNvPicPr>
          <p:nvPr>
            <p:ph idx="1"/>
          </p:nvPr>
        </p:nvPicPr>
        <p:blipFill>
          <a:blip r:embed="rId2"/>
          <a:stretch>
            <a:fillRect/>
          </a:stretch>
        </p:blipFill>
        <p:spPr>
          <a:xfrm>
            <a:off x="1945341" y="1925965"/>
            <a:ext cx="7345240" cy="3672620"/>
          </a:xfrm>
          <a:prstGeom prst="rect">
            <a:avLst/>
          </a:prstGeom>
        </p:spPr>
      </p:pic>
    </p:spTree>
    <p:extLst>
      <p:ext uri="{BB962C8B-B14F-4D97-AF65-F5344CB8AC3E}">
        <p14:creationId xmlns:p14="http://schemas.microsoft.com/office/powerpoint/2010/main" val="3126137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73904-76EC-4DBF-974B-A4751F8078D6}"/>
              </a:ext>
            </a:extLst>
          </p:cNvPr>
          <p:cNvSpPr>
            <a:spLocks noGrp="1"/>
          </p:cNvSpPr>
          <p:nvPr>
            <p:ph type="title"/>
          </p:nvPr>
        </p:nvSpPr>
        <p:spPr>
          <a:xfrm>
            <a:off x="959224" y="266514"/>
            <a:ext cx="10394576" cy="414524"/>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EE5C048B-556E-453C-A316-BF33DB06609A}"/>
              </a:ext>
            </a:extLst>
          </p:cNvPr>
          <p:cNvSpPr>
            <a:spLocks noGrp="1"/>
          </p:cNvSpPr>
          <p:nvPr>
            <p:ph idx="1"/>
          </p:nvPr>
        </p:nvSpPr>
        <p:spPr>
          <a:xfrm>
            <a:off x="833718" y="950259"/>
            <a:ext cx="10520082" cy="5226704"/>
          </a:xfrm>
        </p:spPr>
        <p:txBody>
          <a:bodyPr>
            <a:normAutofit/>
          </a:bodyPr>
          <a:lstStyle/>
          <a:p>
            <a:r>
              <a:rPr lang="en-US" sz="2400" dirty="0"/>
              <a:t>Multiplexing(many to one) is when data is acquired from several processes from the sender and merged into one packet along with headers and sent as a single packet.</a:t>
            </a:r>
          </a:p>
          <a:p>
            <a:r>
              <a:rPr lang="en-US" sz="2400" dirty="0"/>
              <a:t>Multiplexing allows the simultaneous use of different processes over a network that is running on a host.  </a:t>
            </a:r>
          </a:p>
          <a:p>
            <a:r>
              <a:rPr lang="en-US" sz="2400" dirty="0"/>
              <a:t>The processes are differentiated by their port numbers. </a:t>
            </a:r>
          </a:p>
          <a:p>
            <a:r>
              <a:rPr lang="en-US" sz="2400" dirty="0"/>
              <a:t>Similarly, Demultiplexing(one to many) is required at the receiver side when the message is distributed into different processes. </a:t>
            </a:r>
          </a:p>
          <a:p>
            <a:r>
              <a:rPr lang="en-US" sz="2400" dirty="0"/>
              <a:t>Transport receives the segments of data from the network layer distributes and delivers it to the appropriate process running on the receiver's machine</a:t>
            </a:r>
            <a:endParaRPr lang="en-IN" sz="2400" b="1" dirty="0"/>
          </a:p>
        </p:txBody>
      </p:sp>
    </p:spTree>
    <p:extLst>
      <p:ext uri="{BB962C8B-B14F-4D97-AF65-F5344CB8AC3E}">
        <p14:creationId xmlns:p14="http://schemas.microsoft.com/office/powerpoint/2010/main" val="7544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C1EC-7E24-4B5B-82A9-83A72989A7B7}"/>
              </a:ext>
            </a:extLst>
          </p:cNvPr>
          <p:cNvSpPr>
            <a:spLocks noGrp="1"/>
          </p:cNvSpPr>
          <p:nvPr>
            <p:ph type="title"/>
          </p:nvPr>
        </p:nvSpPr>
        <p:spPr>
          <a:xfrm>
            <a:off x="838200" y="365126"/>
            <a:ext cx="10515600" cy="612028"/>
          </a:xfrm>
        </p:spPr>
        <p:txBody>
          <a:bodyPr>
            <a:normAutofit fontScale="90000"/>
          </a:bodyPr>
          <a:lstStyle/>
          <a:p>
            <a:br>
              <a:rPr lang="en-IN" b="1" dirty="0"/>
            </a:br>
            <a:r>
              <a:rPr lang="en-IN" sz="3100" b="1" dirty="0"/>
              <a:t>4. Congestion Control</a:t>
            </a:r>
            <a:br>
              <a:rPr lang="en-IN" b="1" dirty="0"/>
            </a:br>
            <a:endParaRPr lang="en-IN" dirty="0"/>
          </a:p>
        </p:txBody>
      </p:sp>
      <p:sp>
        <p:nvSpPr>
          <p:cNvPr id="8" name="Content Placeholder 7">
            <a:extLst>
              <a:ext uri="{FF2B5EF4-FFF2-40B4-BE49-F238E27FC236}">
                <a16:creationId xmlns:a16="http://schemas.microsoft.com/office/drawing/2014/main" id="{1DD64264-9705-4B14-B7AD-8F0D77561FE5}"/>
              </a:ext>
            </a:extLst>
          </p:cNvPr>
          <p:cNvSpPr>
            <a:spLocks noGrp="1"/>
          </p:cNvSpPr>
          <p:nvPr>
            <p:ph idx="1"/>
          </p:nvPr>
        </p:nvSpPr>
        <p:spPr>
          <a:xfrm>
            <a:off x="838200" y="1470212"/>
            <a:ext cx="10515600" cy="4706751"/>
          </a:xfrm>
        </p:spPr>
        <p:txBody>
          <a:bodyPr>
            <a:normAutofit/>
          </a:bodyPr>
          <a:lstStyle/>
          <a:p>
            <a:endParaRPr lang="en-US" sz="2000" dirty="0"/>
          </a:p>
          <a:p>
            <a:r>
              <a:rPr lang="en-US" sz="2000" dirty="0"/>
              <a:t>Congestion is a situation in which too many sources over a network attempt to send data and the router buffers start overflowing due to which loss of packets occurs.</a:t>
            </a:r>
          </a:p>
          <a:p>
            <a:r>
              <a:rPr lang="en-US" sz="2000" dirty="0"/>
              <a:t> As a result, the retransmission of packets from the sources increases the congestion further. </a:t>
            </a:r>
          </a:p>
          <a:p>
            <a:r>
              <a:rPr lang="en-US" sz="2000" dirty="0"/>
              <a:t>In this situation, the Transport layer provides </a:t>
            </a:r>
            <a:r>
              <a:rPr lang="en-US" sz="2000" u="sng" dirty="0">
                <a:hlinkClick r:id="rId2"/>
              </a:rPr>
              <a:t>Congestion Control</a:t>
            </a:r>
            <a:r>
              <a:rPr lang="en-US" sz="2000" dirty="0"/>
              <a:t> in different ways.</a:t>
            </a:r>
          </a:p>
          <a:p>
            <a:r>
              <a:rPr lang="en-US" sz="2000" dirty="0"/>
              <a:t> It uses open-loop congestion control to prevent congestion and closed-loop congestion control to remove the congestion in a network once it occurred. </a:t>
            </a:r>
          </a:p>
          <a:p>
            <a:r>
              <a:rPr lang="en-US" sz="2000" dirty="0"/>
              <a:t>TCP provides  </a:t>
            </a:r>
            <a:r>
              <a:rPr lang="en-US" sz="2000" u="sng" dirty="0">
                <a:hlinkClick r:id="rId3"/>
              </a:rPr>
              <a:t>leaky bucket technique</a:t>
            </a:r>
            <a:r>
              <a:rPr lang="en-US" sz="2000" dirty="0"/>
              <a:t> for congestion control.</a:t>
            </a:r>
            <a:endParaRPr lang="en-IN" sz="2000" dirty="0"/>
          </a:p>
        </p:txBody>
      </p:sp>
    </p:spTree>
    <p:extLst>
      <p:ext uri="{BB962C8B-B14F-4D97-AF65-F5344CB8AC3E}">
        <p14:creationId xmlns:p14="http://schemas.microsoft.com/office/powerpoint/2010/main" val="3328218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2178-D91B-4AE7-AD40-7D7A3FC2F500}"/>
              </a:ext>
            </a:extLst>
          </p:cNvPr>
          <p:cNvSpPr>
            <a:spLocks noGrp="1"/>
          </p:cNvSpPr>
          <p:nvPr>
            <p:ph type="title"/>
          </p:nvPr>
        </p:nvSpPr>
        <p:spPr>
          <a:xfrm>
            <a:off x="699247" y="365125"/>
            <a:ext cx="10645588" cy="647887"/>
          </a:xfrm>
        </p:spPr>
        <p:txBody>
          <a:bodyPr>
            <a:normAutofit fontScale="90000"/>
          </a:bodyPr>
          <a:lstStyle/>
          <a:p>
            <a:br>
              <a:rPr lang="en-US" b="1" dirty="0"/>
            </a:br>
            <a:r>
              <a:rPr lang="en-US" sz="3100" b="1" dirty="0"/>
              <a:t>5. Data integrity and Error Correction</a:t>
            </a:r>
            <a:br>
              <a:rPr lang="en-US" sz="3100" b="1" dirty="0"/>
            </a:br>
            <a:endParaRPr lang="en-IN" sz="3100" dirty="0"/>
          </a:p>
        </p:txBody>
      </p:sp>
      <p:sp>
        <p:nvSpPr>
          <p:cNvPr id="3" name="Content Placeholder 2">
            <a:extLst>
              <a:ext uri="{FF2B5EF4-FFF2-40B4-BE49-F238E27FC236}">
                <a16:creationId xmlns:a16="http://schemas.microsoft.com/office/drawing/2014/main" id="{A2488395-A5A5-4350-AD65-3D006344B887}"/>
              </a:ext>
            </a:extLst>
          </p:cNvPr>
          <p:cNvSpPr>
            <a:spLocks noGrp="1"/>
          </p:cNvSpPr>
          <p:nvPr>
            <p:ph idx="1"/>
          </p:nvPr>
        </p:nvSpPr>
        <p:spPr>
          <a:xfrm>
            <a:off x="708212" y="1237129"/>
            <a:ext cx="10645588" cy="4939834"/>
          </a:xfrm>
        </p:spPr>
        <p:txBody>
          <a:bodyPr>
            <a:normAutofit/>
          </a:bodyPr>
          <a:lstStyle/>
          <a:p>
            <a:endParaRPr lang="en-US" sz="2400" dirty="0"/>
          </a:p>
          <a:p>
            <a:r>
              <a:rPr lang="en-US" sz="2400" dirty="0"/>
              <a:t>The transport layer checks for errors in the messages coming from the application layer by using error detection codes, and computing checksums, it checks whether the received data is not corrupted and uses the ACK and NACK services to inform the sender if the data has arrived or not and checks for the integrity of data.</a:t>
            </a:r>
            <a:endParaRPr lang="en-IN" sz="2400" dirty="0"/>
          </a:p>
        </p:txBody>
      </p:sp>
    </p:spTree>
    <p:extLst>
      <p:ext uri="{BB962C8B-B14F-4D97-AF65-F5344CB8AC3E}">
        <p14:creationId xmlns:p14="http://schemas.microsoft.com/office/powerpoint/2010/main" val="683975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rror Correction using Checksum">
            <a:extLst>
              <a:ext uri="{FF2B5EF4-FFF2-40B4-BE49-F238E27FC236}">
                <a16:creationId xmlns:a16="http://schemas.microsoft.com/office/drawing/2014/main" id="{C7040427-5182-4FA8-88FB-BA93AB91E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3244" y="1048871"/>
            <a:ext cx="8853770" cy="46185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4019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61F9-F083-4CC3-8681-A2FA65F3DE9A}"/>
              </a:ext>
            </a:extLst>
          </p:cNvPr>
          <p:cNvSpPr>
            <a:spLocks noGrp="1"/>
          </p:cNvSpPr>
          <p:nvPr>
            <p:ph type="title"/>
          </p:nvPr>
        </p:nvSpPr>
        <p:spPr>
          <a:xfrm>
            <a:off x="923364" y="365126"/>
            <a:ext cx="10430436" cy="629956"/>
          </a:xfrm>
        </p:spPr>
        <p:txBody>
          <a:bodyPr>
            <a:normAutofit/>
          </a:bodyPr>
          <a:lstStyle/>
          <a:p>
            <a:r>
              <a:rPr lang="en-IN" sz="2800" dirty="0"/>
              <a:t>How Checksums Are Computed</a:t>
            </a:r>
          </a:p>
        </p:txBody>
      </p:sp>
      <p:sp>
        <p:nvSpPr>
          <p:cNvPr id="4" name="Rectangle 1">
            <a:extLst>
              <a:ext uri="{FF2B5EF4-FFF2-40B4-BE49-F238E27FC236}">
                <a16:creationId xmlns:a16="http://schemas.microsoft.com/office/drawing/2014/main" id="{984D1FCE-A0DE-4BD0-94FB-321B9C93FAD2}"/>
              </a:ext>
            </a:extLst>
          </p:cNvPr>
          <p:cNvSpPr>
            <a:spLocks noGrp="1" noChangeArrowheads="1"/>
          </p:cNvSpPr>
          <p:nvPr>
            <p:ph idx="1"/>
          </p:nvPr>
        </p:nvSpPr>
        <p:spPr bwMode="auto">
          <a:xfrm>
            <a:off x="923365" y="1223071"/>
            <a:ext cx="12442942" cy="420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sender splits the data into </a:t>
            </a:r>
            <a:r>
              <a:rPr kumimoji="0" lang="en-US" altLang="en-US" sz="1800" b="0" i="1" u="none" strike="noStrike" cap="none" normalizeH="0" baseline="0" dirty="0">
                <a:ln>
                  <a:noFill/>
                </a:ln>
                <a:solidFill>
                  <a:schemeClr val="tx1"/>
                </a:solidFill>
                <a:effectLst/>
                <a:latin typeface="Arial" panose="020B0604020202020204" pitchFamily="34" charset="0"/>
              </a:rPr>
              <a:t>k</a:t>
            </a:r>
            <a:r>
              <a:rPr kumimoji="0" lang="en-US" altLang="en-US" sz="1800" b="0" i="0" u="none" strike="noStrike" cap="none" normalizeH="0" baseline="0" dirty="0">
                <a:ln>
                  <a:noFill/>
                </a:ln>
                <a:solidFill>
                  <a:schemeClr val="tx1"/>
                </a:solidFill>
                <a:effectLst/>
                <a:latin typeface="Arial" panose="020B0604020202020204" pitchFamily="34" charset="0"/>
              </a:rPr>
              <a:t> segments of length </a:t>
            </a:r>
            <a:r>
              <a:rPr kumimoji="0" lang="en-US" altLang="en-US" sz="1800" b="0" i="1" u="none" strike="noStrike" cap="none" normalizeH="0" baseline="0" dirty="0">
                <a:ln>
                  <a:noFill/>
                </a:ln>
                <a:solidFill>
                  <a:schemeClr val="tx1"/>
                </a:solidFill>
                <a:effectLst/>
                <a:latin typeface="Arial" panose="020B0604020202020204" pitchFamily="34" charset="0"/>
              </a:rPr>
              <a:t>n</a:t>
            </a:r>
            <a:r>
              <a:rPr kumimoji="0" lang="en-US" altLang="en-US" sz="1800" b="0" i="0" u="none" strike="noStrike" cap="none" normalizeH="0" baseline="0" dirty="0">
                <a:ln>
                  <a:noFill/>
                </a:ln>
                <a:solidFill>
                  <a:schemeClr val="tx1"/>
                </a:solidFill>
                <a:effectLst/>
                <a:latin typeface="Arial" panose="020B0604020202020204" pitchFamily="34" charset="0"/>
              </a:rPr>
              <a:t> bits (often 16 bits).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All segments are summed using one's‑complement arithmetic.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resulting sum (modulo </a:t>
            </a:r>
            <a:r>
              <a:rPr kumimoji="0" lang="en-US" altLang="en-US" sz="1800" b="0" i="1" u="none" strike="noStrike" cap="none" normalizeH="0" baseline="0" dirty="0">
                <a:ln>
                  <a:noFill/>
                </a:ln>
                <a:solidFill>
                  <a:schemeClr val="tx1"/>
                </a:solidFill>
                <a:effectLst/>
                <a:latin typeface="Arial" panose="020B0604020202020204" pitchFamily="34" charset="0"/>
              </a:rPr>
              <a:t>n</a:t>
            </a:r>
            <a:r>
              <a:rPr kumimoji="0" lang="en-US" altLang="en-US" sz="1800" b="0" i="0" u="none" strike="noStrike" cap="none" normalizeH="0" baseline="0" dirty="0">
                <a:ln>
                  <a:noFill/>
                </a:ln>
                <a:solidFill>
                  <a:schemeClr val="tx1"/>
                </a:solidFill>
                <a:effectLst/>
                <a:latin typeface="Arial" panose="020B0604020202020204" pitchFamily="34" charset="0"/>
              </a:rPr>
              <a:t> bits) is inverted (one's complement) — this is the checksum.</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checksum value is appended to the message before sending </a:t>
            </a:r>
          </a:p>
          <a:p>
            <a:pPr>
              <a:lnSpc>
                <a:spcPct val="150000"/>
              </a:lnSpc>
            </a:pPr>
            <a:r>
              <a:rPr lang="en-US" sz="1800" dirty="0"/>
              <a:t>On the receiver side:</a:t>
            </a:r>
          </a:p>
          <a:p>
            <a:pPr>
              <a:lnSpc>
                <a:spcPct val="150000"/>
              </a:lnSpc>
            </a:pPr>
            <a:r>
              <a:rPr lang="en-US" sz="1800" dirty="0"/>
              <a:t>The receiver adds all segments </a:t>
            </a:r>
            <a:r>
              <a:rPr lang="en-US" sz="1800" b="1" dirty="0"/>
              <a:t>plus</a:t>
            </a:r>
            <a:r>
              <a:rPr lang="en-US" sz="1800" dirty="0"/>
              <a:t> the checksum itself, again using one's‑complement.</a:t>
            </a:r>
          </a:p>
          <a:p>
            <a:pPr>
              <a:lnSpc>
                <a:spcPct val="150000"/>
              </a:lnSpc>
            </a:pPr>
            <a:r>
              <a:rPr lang="en-US" sz="1800" dirty="0"/>
              <a:t>If the final result equals all zeros, the data is accepted; otherwise, errors are detected and the packet is </a:t>
            </a:r>
          </a:p>
          <a:p>
            <a:pPr marL="0" indent="0">
              <a:lnSpc>
                <a:spcPct val="150000"/>
              </a:lnSpc>
              <a:buNone/>
            </a:pPr>
            <a:r>
              <a:rPr lang="en-US" sz="1800" dirty="0"/>
              <a:t>      rejected or re-requested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6752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02431-A0C0-4D59-A8F2-52663141B525}"/>
              </a:ext>
            </a:extLst>
          </p:cNvPr>
          <p:cNvSpPr>
            <a:spLocks noGrp="1"/>
          </p:cNvSpPr>
          <p:nvPr>
            <p:ph type="title"/>
          </p:nvPr>
        </p:nvSpPr>
        <p:spPr>
          <a:xfrm>
            <a:off x="838200" y="365125"/>
            <a:ext cx="10515600" cy="594099"/>
          </a:xfrm>
        </p:spPr>
        <p:txBody>
          <a:bodyPr>
            <a:normAutofit fontScale="90000"/>
          </a:bodyPr>
          <a:lstStyle/>
          <a:p>
            <a:br>
              <a:rPr lang="en-IN" b="1" dirty="0"/>
            </a:br>
            <a:r>
              <a:rPr lang="en-IN" sz="3100" b="1" dirty="0"/>
              <a:t>6. Flow Control</a:t>
            </a:r>
            <a:br>
              <a:rPr lang="en-IN" b="1" dirty="0"/>
            </a:br>
            <a:endParaRPr lang="en-IN" dirty="0"/>
          </a:p>
        </p:txBody>
      </p:sp>
      <p:pic>
        <p:nvPicPr>
          <p:cNvPr id="4" name="Content Placeholder 3">
            <a:extLst>
              <a:ext uri="{FF2B5EF4-FFF2-40B4-BE49-F238E27FC236}">
                <a16:creationId xmlns:a16="http://schemas.microsoft.com/office/drawing/2014/main" id="{37752943-CADE-4BE6-809C-00F348CCB19B}"/>
              </a:ext>
            </a:extLst>
          </p:cNvPr>
          <p:cNvPicPr>
            <a:picLocks noGrp="1" noChangeAspect="1"/>
          </p:cNvPicPr>
          <p:nvPr>
            <p:ph idx="1"/>
          </p:nvPr>
        </p:nvPicPr>
        <p:blipFill>
          <a:blip r:embed="rId2"/>
          <a:stretch>
            <a:fillRect/>
          </a:stretch>
        </p:blipFill>
        <p:spPr>
          <a:xfrm>
            <a:off x="2420472" y="2260628"/>
            <a:ext cx="6693310" cy="3346656"/>
          </a:xfrm>
          <a:prstGeom prst="rect">
            <a:avLst/>
          </a:prstGeom>
        </p:spPr>
      </p:pic>
    </p:spTree>
    <p:extLst>
      <p:ext uri="{BB962C8B-B14F-4D97-AF65-F5344CB8AC3E}">
        <p14:creationId xmlns:p14="http://schemas.microsoft.com/office/powerpoint/2010/main" val="67527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C361-536B-4D47-A194-743653FF11F1}"/>
              </a:ext>
            </a:extLst>
          </p:cNvPr>
          <p:cNvSpPr>
            <a:spLocks noGrp="1"/>
          </p:cNvSpPr>
          <p:nvPr>
            <p:ph type="title"/>
          </p:nvPr>
        </p:nvSpPr>
        <p:spPr>
          <a:xfrm>
            <a:off x="838200" y="365125"/>
            <a:ext cx="10515600" cy="961651"/>
          </a:xfrm>
        </p:spPr>
        <p:txBody>
          <a:bodyPr/>
          <a:lstStyle/>
          <a:p>
            <a:endParaRPr lang="en-IN" dirty="0"/>
          </a:p>
        </p:txBody>
      </p:sp>
      <p:sp>
        <p:nvSpPr>
          <p:cNvPr id="3" name="Content Placeholder 2">
            <a:extLst>
              <a:ext uri="{FF2B5EF4-FFF2-40B4-BE49-F238E27FC236}">
                <a16:creationId xmlns:a16="http://schemas.microsoft.com/office/drawing/2014/main" id="{36F58224-1EB1-4F88-BFD0-FB1C8DB0E12D}"/>
              </a:ext>
            </a:extLst>
          </p:cNvPr>
          <p:cNvSpPr>
            <a:spLocks noGrp="1"/>
          </p:cNvSpPr>
          <p:nvPr>
            <p:ph idx="1"/>
          </p:nvPr>
        </p:nvSpPr>
        <p:spPr>
          <a:xfrm>
            <a:off x="838200" y="1515035"/>
            <a:ext cx="10515600" cy="4661928"/>
          </a:xfrm>
        </p:spPr>
        <p:txBody>
          <a:bodyPr>
            <a:normAutofit/>
          </a:bodyPr>
          <a:lstStyle/>
          <a:p>
            <a:r>
              <a:rPr lang="en-US" sz="2400" dirty="0"/>
              <a:t>The transport layer provides a flow control mechanism between the adjacent layers of the TCP/IP model. </a:t>
            </a:r>
          </a:p>
          <a:p>
            <a:r>
              <a:rPr lang="en-US" sz="2400" dirty="0"/>
              <a:t>TCP also prevents data loss due to a fast sender and slow receiver by imposing some flow control techniques. </a:t>
            </a:r>
          </a:p>
          <a:p>
            <a:r>
              <a:rPr lang="en-US" sz="2400" dirty="0"/>
              <a:t>It uses the method of sliding window protocol which is accomplished by the receiver by sending a window back to the sender informing the size of data it can receive.</a:t>
            </a:r>
            <a:endParaRPr lang="en-IN" sz="2400" dirty="0"/>
          </a:p>
        </p:txBody>
      </p:sp>
    </p:spTree>
    <p:extLst>
      <p:ext uri="{BB962C8B-B14F-4D97-AF65-F5344CB8AC3E}">
        <p14:creationId xmlns:p14="http://schemas.microsoft.com/office/powerpoint/2010/main" val="590904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D60C5B-3F95-4C90-9424-FFAAF55177B1}"/>
              </a:ext>
            </a:extLst>
          </p:cNvPr>
          <p:cNvPicPr>
            <a:picLocks noChangeAspect="1"/>
          </p:cNvPicPr>
          <p:nvPr/>
        </p:nvPicPr>
        <p:blipFill>
          <a:blip r:embed="rId2"/>
          <a:stretch>
            <a:fillRect/>
          </a:stretch>
        </p:blipFill>
        <p:spPr>
          <a:xfrm>
            <a:off x="3245224" y="1819516"/>
            <a:ext cx="5200987" cy="3561766"/>
          </a:xfrm>
          <a:prstGeom prst="rect">
            <a:avLst/>
          </a:prstGeom>
        </p:spPr>
      </p:pic>
      <p:sp>
        <p:nvSpPr>
          <p:cNvPr id="3" name="Rectangle 2">
            <a:extLst>
              <a:ext uri="{FF2B5EF4-FFF2-40B4-BE49-F238E27FC236}">
                <a16:creationId xmlns:a16="http://schemas.microsoft.com/office/drawing/2014/main" id="{C5EBDCDD-61A8-4696-97C9-C584C7F2AA1E}"/>
              </a:ext>
            </a:extLst>
          </p:cNvPr>
          <p:cNvSpPr/>
          <p:nvPr/>
        </p:nvSpPr>
        <p:spPr>
          <a:xfrm>
            <a:off x="3379695" y="627529"/>
            <a:ext cx="4848748" cy="369332"/>
          </a:xfrm>
          <a:prstGeom prst="rect">
            <a:avLst/>
          </a:prstGeom>
        </p:spPr>
        <p:txBody>
          <a:bodyPr wrap="square">
            <a:spAutoFit/>
          </a:bodyPr>
          <a:lstStyle/>
          <a:p>
            <a:r>
              <a:rPr lang="en-IN" dirty="0"/>
              <a:t>Leaky Bucket Congestion Control Technique</a:t>
            </a:r>
          </a:p>
        </p:txBody>
      </p:sp>
    </p:spTree>
    <p:extLst>
      <p:ext uri="{BB962C8B-B14F-4D97-AF65-F5344CB8AC3E}">
        <p14:creationId xmlns:p14="http://schemas.microsoft.com/office/powerpoint/2010/main" val="221974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7CBAF-1E3C-4761-99CE-EB41BED4E69D}"/>
              </a:ext>
            </a:extLst>
          </p:cNvPr>
          <p:cNvSpPr>
            <a:spLocks noGrp="1"/>
          </p:cNvSpPr>
          <p:nvPr>
            <p:ph type="title"/>
          </p:nvPr>
        </p:nvSpPr>
        <p:spPr>
          <a:xfrm>
            <a:off x="770965" y="365125"/>
            <a:ext cx="10582835" cy="603063"/>
          </a:xfrm>
        </p:spPr>
        <p:txBody>
          <a:bodyPr>
            <a:normAutofit/>
          </a:bodyPr>
          <a:lstStyle/>
          <a:p>
            <a:r>
              <a:rPr lang="en-IN" sz="2800" b="1" dirty="0"/>
              <a:t>Relation Between Transport Layer And Network Layer</a:t>
            </a:r>
          </a:p>
        </p:txBody>
      </p:sp>
      <p:sp>
        <p:nvSpPr>
          <p:cNvPr id="3" name="Content Placeholder 2">
            <a:extLst>
              <a:ext uri="{FF2B5EF4-FFF2-40B4-BE49-F238E27FC236}">
                <a16:creationId xmlns:a16="http://schemas.microsoft.com/office/drawing/2014/main" id="{91C20BE7-557C-4B88-AEC4-ADB326F0B54D}"/>
              </a:ext>
            </a:extLst>
          </p:cNvPr>
          <p:cNvSpPr>
            <a:spLocks noGrp="1"/>
          </p:cNvSpPr>
          <p:nvPr>
            <p:ph idx="1"/>
          </p:nvPr>
        </p:nvSpPr>
        <p:spPr>
          <a:xfrm>
            <a:off x="860612" y="1210235"/>
            <a:ext cx="10493188" cy="4966728"/>
          </a:xfrm>
        </p:spPr>
        <p:txBody>
          <a:bodyPr/>
          <a:lstStyle/>
          <a:p>
            <a:endParaRPr lang="en-IN" sz="2000" dirty="0"/>
          </a:p>
          <a:p>
            <a:r>
              <a:rPr lang="en-IN" sz="2000" dirty="0"/>
              <a:t>In the vast realm of computer networks, two critical layers play distinct roles in ensuring data transmission: the Transport Layer and the Network Layer. </a:t>
            </a:r>
          </a:p>
          <a:p>
            <a:r>
              <a:rPr lang="en-IN" sz="2000" dirty="0"/>
              <a:t>These are essential components of the OSI (Open Systems Interconnection) model, which helps understand how different network functions interact. </a:t>
            </a:r>
            <a:endParaRPr lang="en-IN" dirty="0"/>
          </a:p>
        </p:txBody>
      </p:sp>
    </p:spTree>
    <p:extLst>
      <p:ext uri="{BB962C8B-B14F-4D97-AF65-F5344CB8AC3E}">
        <p14:creationId xmlns:p14="http://schemas.microsoft.com/office/powerpoint/2010/main" val="225002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3917F-9B0B-4311-9E81-87D2116B4271}"/>
              </a:ext>
            </a:extLst>
          </p:cNvPr>
          <p:cNvSpPr>
            <a:spLocks noGrp="1"/>
          </p:cNvSpPr>
          <p:nvPr>
            <p:ph type="title"/>
          </p:nvPr>
        </p:nvSpPr>
        <p:spPr>
          <a:xfrm>
            <a:off x="815788" y="352611"/>
            <a:ext cx="10515600" cy="656851"/>
          </a:xfrm>
        </p:spPr>
        <p:txBody>
          <a:bodyPr>
            <a:normAutofit fontScale="90000"/>
          </a:bodyPr>
          <a:lstStyle/>
          <a:p>
            <a:br>
              <a:rPr lang="en-IN" dirty="0"/>
            </a:br>
            <a:r>
              <a:rPr lang="en-IN" sz="3600" dirty="0"/>
              <a:t>Introduction to Network Layer</a:t>
            </a:r>
            <a:br>
              <a:rPr lang="en-IN" b="1" dirty="0"/>
            </a:br>
            <a:endParaRPr lang="en-IN" dirty="0"/>
          </a:p>
        </p:txBody>
      </p:sp>
      <p:sp>
        <p:nvSpPr>
          <p:cNvPr id="3" name="Content Placeholder 2">
            <a:extLst>
              <a:ext uri="{FF2B5EF4-FFF2-40B4-BE49-F238E27FC236}">
                <a16:creationId xmlns:a16="http://schemas.microsoft.com/office/drawing/2014/main" id="{0E69C367-38AE-4CDA-A029-5DD35EF352D6}"/>
              </a:ext>
            </a:extLst>
          </p:cNvPr>
          <p:cNvSpPr>
            <a:spLocks noGrp="1"/>
          </p:cNvSpPr>
          <p:nvPr>
            <p:ph idx="1"/>
          </p:nvPr>
        </p:nvSpPr>
        <p:spPr>
          <a:xfrm>
            <a:off x="838200" y="1237129"/>
            <a:ext cx="10515600" cy="4939834"/>
          </a:xfrm>
        </p:spPr>
        <p:txBody>
          <a:bodyPr>
            <a:normAutofit/>
          </a:bodyPr>
          <a:lstStyle/>
          <a:p>
            <a:endParaRPr lang="en-IN" sz="2400" dirty="0"/>
          </a:p>
          <a:p>
            <a:r>
              <a:rPr lang="en-IN" sz="2400" dirty="0"/>
              <a:t>Host-to-host delivery is the responsibility of network layer. </a:t>
            </a:r>
          </a:p>
          <a:p>
            <a:r>
              <a:rPr lang="en-IN" sz="2400" dirty="0"/>
              <a:t>Being the third layer in the OSI model, it handles the logical addressing and routing of data packets across networks. </a:t>
            </a:r>
          </a:p>
          <a:p>
            <a:r>
              <a:rPr lang="en-IN" sz="2400" dirty="0"/>
              <a:t>It selects the most efficient path for data transmission and forwards packets accordingly</a:t>
            </a:r>
          </a:p>
        </p:txBody>
      </p:sp>
    </p:spTree>
    <p:extLst>
      <p:ext uri="{BB962C8B-B14F-4D97-AF65-F5344CB8AC3E}">
        <p14:creationId xmlns:p14="http://schemas.microsoft.com/office/powerpoint/2010/main" val="1728692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5623B-09CE-4938-BE67-94E2A71A605E}"/>
              </a:ext>
            </a:extLst>
          </p:cNvPr>
          <p:cNvSpPr>
            <a:spLocks noGrp="1"/>
          </p:cNvSpPr>
          <p:nvPr>
            <p:ph type="title"/>
          </p:nvPr>
        </p:nvSpPr>
        <p:spPr>
          <a:xfrm>
            <a:off x="838200" y="365126"/>
            <a:ext cx="10515600" cy="683746"/>
          </a:xfrm>
        </p:spPr>
        <p:txBody>
          <a:bodyPr>
            <a:normAutofit fontScale="90000"/>
          </a:bodyPr>
          <a:lstStyle/>
          <a:p>
            <a:br>
              <a:rPr lang="en-IN" dirty="0"/>
            </a:br>
            <a:r>
              <a:rPr lang="en-IN" sz="3600" dirty="0"/>
              <a:t>Network Layer Protocols</a:t>
            </a:r>
            <a:br>
              <a:rPr lang="en-IN" sz="3600" b="1" dirty="0"/>
            </a:br>
            <a:endParaRPr lang="en-IN" sz="3600" dirty="0"/>
          </a:p>
        </p:txBody>
      </p:sp>
      <p:sp>
        <p:nvSpPr>
          <p:cNvPr id="3" name="Content Placeholder 2">
            <a:extLst>
              <a:ext uri="{FF2B5EF4-FFF2-40B4-BE49-F238E27FC236}">
                <a16:creationId xmlns:a16="http://schemas.microsoft.com/office/drawing/2014/main" id="{11D71A0D-5805-40AD-9832-D91FA03718DC}"/>
              </a:ext>
            </a:extLst>
          </p:cNvPr>
          <p:cNvSpPr>
            <a:spLocks noGrp="1"/>
          </p:cNvSpPr>
          <p:nvPr>
            <p:ph idx="1"/>
          </p:nvPr>
        </p:nvSpPr>
        <p:spPr>
          <a:xfrm>
            <a:off x="838200" y="1299882"/>
            <a:ext cx="10515600" cy="4877081"/>
          </a:xfrm>
        </p:spPr>
        <p:txBody>
          <a:bodyPr/>
          <a:lstStyle/>
          <a:p>
            <a:pPr marL="0" indent="0">
              <a:buNone/>
            </a:pPr>
            <a:r>
              <a:rPr lang="en-IN" sz="2000" b="1" dirty="0"/>
              <a:t>Internet Protocol (IP): </a:t>
            </a:r>
          </a:p>
          <a:p>
            <a:pPr>
              <a:buFont typeface="Wingdings" panose="05000000000000000000" pitchFamily="2" charset="2"/>
              <a:buChar char="Ø"/>
            </a:pPr>
            <a:r>
              <a:rPr lang="en-IN" sz="2000" dirty="0"/>
              <a:t>The Internet Protocol (IP) is the cornerstone of the network layer.</a:t>
            </a:r>
          </a:p>
          <a:p>
            <a:pPr>
              <a:buFont typeface="Wingdings" panose="05000000000000000000" pitchFamily="2" charset="2"/>
              <a:buChar char="Ø"/>
            </a:pPr>
            <a:r>
              <a:rPr lang="en-IN" sz="2000" dirty="0"/>
              <a:t> It provides logical addressing through IP addresses, enabling devices to identify each other on the internet or any IP-based network.</a:t>
            </a:r>
          </a:p>
          <a:p>
            <a:pPr>
              <a:buFont typeface="Wingdings" panose="05000000000000000000" pitchFamily="2" charset="2"/>
              <a:buChar char="Ø"/>
            </a:pPr>
            <a:r>
              <a:rPr lang="en-IN" sz="2000" dirty="0"/>
              <a:t> IPv4 and IPv6 are the two most widely used versions</a:t>
            </a:r>
            <a:r>
              <a:rPr lang="en-IN" dirty="0"/>
              <a:t>.</a:t>
            </a:r>
          </a:p>
          <a:p>
            <a:pPr marL="0" indent="0">
              <a:buNone/>
            </a:pPr>
            <a:r>
              <a:rPr lang="en-IN" sz="2000" b="1" dirty="0"/>
              <a:t>Internet Control Message Protocol (ICMP): </a:t>
            </a:r>
          </a:p>
          <a:p>
            <a:pPr>
              <a:buFont typeface="Wingdings" panose="05000000000000000000" pitchFamily="2" charset="2"/>
              <a:buChar char="Ø"/>
            </a:pPr>
            <a:r>
              <a:rPr lang="en-IN" sz="2000" dirty="0"/>
              <a:t>ICMP works in conjunction with IP to manage error messages and provide network diagnostic functions.</a:t>
            </a:r>
          </a:p>
          <a:p>
            <a:pPr>
              <a:buFont typeface="Wingdings" panose="05000000000000000000" pitchFamily="2" charset="2"/>
              <a:buChar char="Ø"/>
            </a:pPr>
            <a:r>
              <a:rPr lang="en-IN" sz="2000" dirty="0"/>
              <a:t> It allows devices to communicate error conditions, such as unreachable hosts or time-exceeded packets, facilitating efficient troubleshooting</a:t>
            </a:r>
            <a:r>
              <a:rPr lang="en-IN" dirty="0"/>
              <a:t>.</a:t>
            </a:r>
          </a:p>
          <a:p>
            <a:pPr marL="0" indent="0">
              <a:buNone/>
            </a:pPr>
            <a:endParaRPr lang="en-IN" dirty="0"/>
          </a:p>
        </p:txBody>
      </p:sp>
    </p:spTree>
    <p:extLst>
      <p:ext uri="{BB962C8B-B14F-4D97-AF65-F5344CB8AC3E}">
        <p14:creationId xmlns:p14="http://schemas.microsoft.com/office/powerpoint/2010/main" val="758628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56503-F952-4006-84A6-421F3A41FD15}"/>
              </a:ext>
            </a:extLst>
          </p:cNvPr>
          <p:cNvSpPr>
            <a:spLocks noGrp="1"/>
          </p:cNvSpPr>
          <p:nvPr>
            <p:ph type="title"/>
          </p:nvPr>
        </p:nvSpPr>
        <p:spPr>
          <a:xfrm>
            <a:off x="838200" y="365126"/>
            <a:ext cx="10515600" cy="315912"/>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10444835-0B25-49C5-8007-2BCA9A6AEE5C}"/>
              </a:ext>
            </a:extLst>
          </p:cNvPr>
          <p:cNvSpPr>
            <a:spLocks noGrp="1"/>
          </p:cNvSpPr>
          <p:nvPr>
            <p:ph idx="1"/>
          </p:nvPr>
        </p:nvSpPr>
        <p:spPr>
          <a:xfrm>
            <a:off x="645459" y="681038"/>
            <a:ext cx="10708341" cy="5495925"/>
          </a:xfrm>
        </p:spPr>
        <p:txBody>
          <a:bodyPr/>
          <a:lstStyle/>
          <a:p>
            <a:pPr marL="0" indent="0">
              <a:buNone/>
            </a:pPr>
            <a:r>
              <a:rPr lang="en-IN" sz="2000" b="1" dirty="0"/>
              <a:t>Routing Information Protocol (RIP):</a:t>
            </a:r>
            <a:r>
              <a:rPr lang="en-IN" sz="2000" dirty="0"/>
              <a:t> </a:t>
            </a:r>
          </a:p>
          <a:p>
            <a:pPr>
              <a:buFont typeface="Wingdings" panose="05000000000000000000" pitchFamily="2" charset="2"/>
              <a:buChar char="Ø"/>
            </a:pPr>
            <a:r>
              <a:rPr lang="en-IN" sz="2000" dirty="0"/>
              <a:t>RIP is a dynamic routing protocol used in small to medium-sized networks. </a:t>
            </a:r>
          </a:p>
          <a:p>
            <a:pPr>
              <a:buFont typeface="Wingdings" panose="05000000000000000000" pitchFamily="2" charset="2"/>
              <a:buChar char="Ø"/>
            </a:pPr>
            <a:r>
              <a:rPr lang="en-IN" sz="2000" dirty="0"/>
              <a:t>It employs distance-vector algorithms to determine the best path for data packets. </a:t>
            </a:r>
          </a:p>
          <a:p>
            <a:pPr marL="0" indent="0">
              <a:buNone/>
            </a:pPr>
            <a:endParaRPr lang="en-IN" sz="2000" dirty="0"/>
          </a:p>
          <a:p>
            <a:pPr marL="0" indent="0">
              <a:buNone/>
            </a:pPr>
            <a:r>
              <a:rPr lang="en-IN" sz="2000" b="1" dirty="0"/>
              <a:t>Open Shortest Path First (OSPF):</a:t>
            </a:r>
            <a:r>
              <a:rPr lang="en-IN" sz="2000" dirty="0"/>
              <a:t> </a:t>
            </a:r>
          </a:p>
          <a:p>
            <a:pPr>
              <a:buFont typeface="Wingdings" panose="05000000000000000000" pitchFamily="2" charset="2"/>
              <a:buChar char="Ø"/>
            </a:pPr>
            <a:r>
              <a:rPr lang="en-IN" sz="2000" dirty="0"/>
              <a:t>OSPF is a popular Interior Gateway Protocol (IGP) used in larger networks. </a:t>
            </a:r>
          </a:p>
          <a:p>
            <a:pPr>
              <a:buFont typeface="Wingdings" panose="05000000000000000000" pitchFamily="2" charset="2"/>
              <a:buChar char="Ø"/>
            </a:pPr>
            <a:r>
              <a:rPr lang="en-IN" sz="2000" dirty="0"/>
              <a:t>It employs a link-state algorithm to determine the shortest path for data packets, ensuring efficient routing and scalability.</a:t>
            </a:r>
          </a:p>
          <a:p>
            <a:pPr marL="0" indent="0">
              <a:buNone/>
            </a:pPr>
            <a:endParaRPr lang="en-IN" sz="2000" dirty="0"/>
          </a:p>
          <a:p>
            <a:pPr marL="0" indent="0">
              <a:buNone/>
            </a:pPr>
            <a:r>
              <a:rPr lang="en-IN" sz="2000" b="1" dirty="0"/>
              <a:t>Border Gateway Protocol (BGP): </a:t>
            </a:r>
          </a:p>
          <a:p>
            <a:pPr>
              <a:buFont typeface="Wingdings" panose="05000000000000000000" pitchFamily="2" charset="2"/>
              <a:buChar char="Ø"/>
            </a:pPr>
            <a:r>
              <a:rPr lang="en-IN" sz="2000" dirty="0"/>
              <a:t>BGP is an Exterior Gateway Protocol (EGP) designed for inter-domain routing on the internet.</a:t>
            </a:r>
          </a:p>
          <a:p>
            <a:pPr>
              <a:buFont typeface="Wingdings" panose="05000000000000000000" pitchFamily="2" charset="2"/>
              <a:buChar char="Ø"/>
            </a:pPr>
            <a:r>
              <a:rPr lang="en-IN" sz="2000" dirty="0"/>
              <a:t> It enables autonomous systems (AS) to exchange routing information, allowing data to traverse different networks.</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737464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4D0F9-D305-4B48-AA44-87641E54FE46}"/>
              </a:ext>
            </a:extLst>
          </p:cNvPr>
          <p:cNvSpPr>
            <a:spLocks noGrp="1"/>
          </p:cNvSpPr>
          <p:nvPr>
            <p:ph type="title"/>
          </p:nvPr>
        </p:nvSpPr>
        <p:spPr>
          <a:xfrm>
            <a:off x="838200" y="365125"/>
            <a:ext cx="10515600" cy="441699"/>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5847F307-26BC-4BC9-80F6-7C06EC957F9D}"/>
              </a:ext>
            </a:extLst>
          </p:cNvPr>
          <p:cNvSpPr>
            <a:spLocks noGrp="1"/>
          </p:cNvSpPr>
          <p:nvPr>
            <p:ph idx="1"/>
          </p:nvPr>
        </p:nvSpPr>
        <p:spPr>
          <a:xfrm>
            <a:off x="838200" y="806824"/>
            <a:ext cx="10515600" cy="5370139"/>
          </a:xfrm>
        </p:spPr>
        <p:txBody>
          <a:bodyPr>
            <a:normAutofit/>
          </a:bodyPr>
          <a:lstStyle/>
          <a:p>
            <a:pPr marL="0" indent="0">
              <a:buNone/>
            </a:pPr>
            <a:r>
              <a:rPr lang="en-IN" sz="2000" b="1" dirty="0"/>
              <a:t>Internet Group Management Protocol (IGMP):</a:t>
            </a:r>
            <a:r>
              <a:rPr lang="en-IN" sz="2000" dirty="0"/>
              <a:t> </a:t>
            </a:r>
          </a:p>
          <a:p>
            <a:pPr>
              <a:buFont typeface="Wingdings" panose="05000000000000000000" pitchFamily="2" charset="2"/>
              <a:buChar char="Ø"/>
            </a:pPr>
            <a:r>
              <a:rPr lang="en-IN" sz="2000" dirty="0"/>
              <a:t>IGMP is essential for managing multicast group memberships. </a:t>
            </a:r>
          </a:p>
          <a:p>
            <a:pPr>
              <a:buFont typeface="Wingdings" panose="05000000000000000000" pitchFamily="2" charset="2"/>
              <a:buChar char="Ø"/>
            </a:pPr>
            <a:r>
              <a:rPr lang="en-IN" sz="2000" dirty="0"/>
              <a:t>It allows devices to join or leave multicast groups, ensuring efficient delivery of multicast traffic within a network.</a:t>
            </a:r>
          </a:p>
          <a:p>
            <a:pPr marL="0" indent="0">
              <a:buNone/>
            </a:pPr>
            <a:endParaRPr lang="en-IN" sz="2000" dirty="0"/>
          </a:p>
          <a:p>
            <a:pPr marL="0" indent="0">
              <a:buNone/>
            </a:pPr>
            <a:r>
              <a:rPr lang="en-IN" sz="2000" b="1" dirty="0"/>
              <a:t>Address Resolution Protocol (ARP): </a:t>
            </a:r>
          </a:p>
          <a:p>
            <a:pPr>
              <a:buFont typeface="Wingdings" panose="05000000000000000000" pitchFamily="2" charset="2"/>
              <a:buChar char="Ø"/>
            </a:pPr>
            <a:r>
              <a:rPr lang="en-IN" sz="2000" dirty="0"/>
              <a:t>ARP facilitates the translation of IP addresses to MAC (Media Access Control) addresses.</a:t>
            </a:r>
          </a:p>
          <a:p>
            <a:pPr>
              <a:buFont typeface="Wingdings" panose="05000000000000000000" pitchFamily="2" charset="2"/>
              <a:buChar char="Ø"/>
            </a:pPr>
            <a:r>
              <a:rPr lang="en-IN" sz="2000" dirty="0"/>
              <a:t> It plays a crucial role in local area networks (LANs), enabling devices to communicate with each other at the data link layer.</a:t>
            </a:r>
          </a:p>
          <a:p>
            <a:pPr marL="0" indent="0">
              <a:buNone/>
            </a:pPr>
            <a:endParaRPr lang="en-IN" sz="2000" dirty="0"/>
          </a:p>
          <a:p>
            <a:pPr marL="0" indent="0">
              <a:buNone/>
            </a:pPr>
            <a:r>
              <a:rPr lang="en-IN" sz="2000" b="1" dirty="0"/>
              <a:t>Reverse Address Resolution Protocol (RARP):</a:t>
            </a:r>
            <a:r>
              <a:rPr lang="en-IN" sz="2000" dirty="0"/>
              <a:t> </a:t>
            </a:r>
          </a:p>
          <a:p>
            <a:pPr>
              <a:buFont typeface="Wingdings" panose="05000000000000000000" pitchFamily="2" charset="2"/>
              <a:buChar char="Ø"/>
            </a:pPr>
            <a:r>
              <a:rPr lang="en-IN" sz="2000" dirty="0"/>
              <a:t>RARP performs the reverse function of ARP by translating MAC addresses into IP addresses. </a:t>
            </a:r>
          </a:p>
          <a:p>
            <a:pPr>
              <a:buFont typeface="Wingdings" panose="05000000000000000000" pitchFamily="2" charset="2"/>
              <a:buChar char="Ø"/>
            </a:pPr>
            <a:r>
              <a:rPr lang="en-IN" sz="2000" dirty="0"/>
              <a:t>It was widely used in older systems but has become less relevant in modern networks</a:t>
            </a:r>
            <a:r>
              <a:rPr lang="en-IN" dirty="0"/>
              <a:t>.</a:t>
            </a:r>
            <a:endParaRPr lang="en-IN" sz="2000" dirty="0"/>
          </a:p>
        </p:txBody>
      </p:sp>
    </p:spTree>
    <p:extLst>
      <p:ext uri="{BB962C8B-B14F-4D97-AF65-F5344CB8AC3E}">
        <p14:creationId xmlns:p14="http://schemas.microsoft.com/office/powerpoint/2010/main" val="750133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7E1A1-2329-41BA-BC41-AD78734D3EF4}"/>
              </a:ext>
            </a:extLst>
          </p:cNvPr>
          <p:cNvSpPr>
            <a:spLocks noGrp="1"/>
          </p:cNvSpPr>
          <p:nvPr>
            <p:ph type="title"/>
          </p:nvPr>
        </p:nvSpPr>
        <p:spPr>
          <a:xfrm>
            <a:off x="838200" y="365126"/>
            <a:ext cx="10515600" cy="405840"/>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0D63462A-2C55-4D67-B3AF-10CDFFA4821E}"/>
              </a:ext>
            </a:extLst>
          </p:cNvPr>
          <p:cNvSpPr>
            <a:spLocks noGrp="1"/>
          </p:cNvSpPr>
          <p:nvPr>
            <p:ph idx="1"/>
          </p:nvPr>
        </p:nvSpPr>
        <p:spPr>
          <a:xfrm>
            <a:off x="838200" y="1075765"/>
            <a:ext cx="10515600" cy="5101198"/>
          </a:xfrm>
        </p:spPr>
        <p:txBody>
          <a:bodyPr/>
          <a:lstStyle/>
          <a:p>
            <a:pPr marL="0" indent="0">
              <a:buNone/>
            </a:pPr>
            <a:r>
              <a:rPr lang="en-IN" sz="2400" b="1" dirty="0"/>
              <a:t>Internet Group Management Protocol version 3 (IGMPv3):</a:t>
            </a:r>
            <a:r>
              <a:rPr lang="en-IN" sz="2400" dirty="0"/>
              <a:t> </a:t>
            </a:r>
          </a:p>
          <a:p>
            <a:pPr>
              <a:buFont typeface="Wingdings" panose="05000000000000000000" pitchFamily="2" charset="2"/>
              <a:buChar char="Ø"/>
            </a:pPr>
            <a:r>
              <a:rPr lang="en-IN" sz="2400" dirty="0"/>
              <a:t>IGMPv3 is an enhanced version of IGMP, which allows hosts to send queries specifying the multicast sources they are interested in, optimizing multicast traffic management.</a:t>
            </a:r>
          </a:p>
          <a:p>
            <a:pPr>
              <a:buFont typeface="Wingdings" panose="05000000000000000000" pitchFamily="2" charset="2"/>
              <a:buChar char="Ø"/>
            </a:pPr>
            <a:endParaRPr lang="en-US" sz="2400" dirty="0"/>
          </a:p>
          <a:p>
            <a:pPr marL="0" indent="0">
              <a:buNone/>
            </a:pPr>
            <a:r>
              <a:rPr lang="en-IN" sz="2400" b="1" dirty="0"/>
              <a:t>Virtual Router Redundancy Protocol (VRRP):</a:t>
            </a:r>
            <a:r>
              <a:rPr lang="en-IN" sz="2400" dirty="0"/>
              <a:t> </a:t>
            </a:r>
          </a:p>
          <a:p>
            <a:pPr>
              <a:buFont typeface="Wingdings" panose="05000000000000000000" pitchFamily="2" charset="2"/>
              <a:buChar char="Ø"/>
            </a:pPr>
            <a:r>
              <a:rPr lang="en-IN" sz="2400" dirty="0"/>
              <a:t>VRRP provides high availability in network environments by allowing multiple routers to act as a single virtual router. </a:t>
            </a:r>
          </a:p>
          <a:p>
            <a:pPr>
              <a:buFont typeface="Wingdings" panose="05000000000000000000" pitchFamily="2" charset="2"/>
              <a:buChar char="Ø"/>
            </a:pPr>
            <a:r>
              <a:rPr lang="en-IN" sz="2400" dirty="0"/>
              <a:t>It ensures seamless routing even if one of the routers fails.</a:t>
            </a:r>
          </a:p>
          <a:p>
            <a:pPr marL="0" indent="0">
              <a:buNone/>
            </a:pPr>
            <a:endParaRPr lang="en-IN" sz="2400" dirty="0"/>
          </a:p>
          <a:p>
            <a:pPr marL="0" indent="0">
              <a:buNone/>
            </a:pPr>
            <a:endParaRPr lang="en-IN" dirty="0"/>
          </a:p>
        </p:txBody>
      </p:sp>
    </p:spTree>
    <p:extLst>
      <p:ext uri="{BB962C8B-B14F-4D97-AF65-F5344CB8AC3E}">
        <p14:creationId xmlns:p14="http://schemas.microsoft.com/office/powerpoint/2010/main" val="26769167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939D7-C6B8-4F66-861B-EE9E267EB01D}"/>
              </a:ext>
            </a:extLst>
          </p:cNvPr>
          <p:cNvSpPr>
            <a:spLocks noGrp="1"/>
          </p:cNvSpPr>
          <p:nvPr>
            <p:ph type="title"/>
          </p:nvPr>
        </p:nvSpPr>
        <p:spPr>
          <a:xfrm>
            <a:off x="838200" y="365125"/>
            <a:ext cx="10515600" cy="594099"/>
          </a:xfrm>
        </p:spPr>
        <p:txBody>
          <a:bodyPr>
            <a:normAutofit fontScale="90000"/>
          </a:bodyPr>
          <a:lstStyle/>
          <a:p>
            <a:br>
              <a:rPr lang="en-IN" dirty="0"/>
            </a:br>
            <a:r>
              <a:rPr lang="en-IN" sz="3100" b="1" dirty="0"/>
              <a:t>Introduction to Transport Layer</a:t>
            </a:r>
            <a:br>
              <a:rPr lang="en-IN" b="1" dirty="0"/>
            </a:br>
            <a:endParaRPr lang="en-IN" dirty="0"/>
          </a:p>
        </p:txBody>
      </p:sp>
      <p:sp>
        <p:nvSpPr>
          <p:cNvPr id="3" name="Content Placeholder 2">
            <a:extLst>
              <a:ext uri="{FF2B5EF4-FFF2-40B4-BE49-F238E27FC236}">
                <a16:creationId xmlns:a16="http://schemas.microsoft.com/office/drawing/2014/main" id="{9A6B7B2F-C3BA-4942-8BD9-86DDF1828AD5}"/>
              </a:ext>
            </a:extLst>
          </p:cNvPr>
          <p:cNvSpPr>
            <a:spLocks noGrp="1"/>
          </p:cNvSpPr>
          <p:nvPr>
            <p:ph idx="1"/>
          </p:nvPr>
        </p:nvSpPr>
        <p:spPr>
          <a:xfrm>
            <a:off x="838200" y="1156447"/>
            <a:ext cx="10515600" cy="5020516"/>
          </a:xfrm>
        </p:spPr>
        <p:txBody>
          <a:bodyPr>
            <a:normAutofit/>
          </a:bodyPr>
          <a:lstStyle/>
          <a:p>
            <a:r>
              <a:rPr lang="en-IN" sz="2000" dirty="0"/>
              <a:t>The Transport Layer is responsible for segmenting and reassembling data received from the upper layers into manageable chunks called "segments" before transmitting them to the network layer for further routing and delivery.</a:t>
            </a:r>
          </a:p>
          <a:p>
            <a:r>
              <a:rPr lang="en-IN" sz="2000" dirty="0"/>
              <a:t> Two prominent transport layer protocols are:</a:t>
            </a:r>
          </a:p>
          <a:p>
            <a:pPr marL="514350" indent="-514350">
              <a:buAutoNum type="alphaLcParenR"/>
            </a:pPr>
            <a:r>
              <a:rPr lang="en-IN" sz="2000" dirty="0"/>
              <a:t>Transmission Control Protocol (TCP)</a:t>
            </a:r>
          </a:p>
          <a:p>
            <a:pPr marL="514350" indent="-514350">
              <a:buAutoNum type="alphaLcParenR"/>
            </a:pPr>
            <a:r>
              <a:rPr lang="en-IN" sz="2000" dirty="0"/>
              <a:t>User Datagram Protocol (UDP)</a:t>
            </a:r>
          </a:p>
          <a:p>
            <a:pPr marL="0" indent="0">
              <a:buNone/>
            </a:pPr>
            <a:r>
              <a:rPr lang="en-IN" sz="2000" b="1" dirty="0"/>
              <a:t>Services Provided by the Transport Layer</a:t>
            </a:r>
            <a:endParaRPr lang="en-IN" sz="2000" dirty="0"/>
          </a:p>
          <a:p>
            <a:pPr>
              <a:buFont typeface="Wingdings" panose="05000000000000000000" pitchFamily="2" charset="2"/>
              <a:buChar char="ü"/>
            </a:pPr>
            <a:r>
              <a:rPr lang="en-IN" sz="2000" dirty="0"/>
              <a:t>Reliable Delivery</a:t>
            </a:r>
          </a:p>
          <a:p>
            <a:pPr>
              <a:buFont typeface="Wingdings" panose="05000000000000000000" pitchFamily="2" charset="2"/>
              <a:buChar char="ü"/>
            </a:pPr>
            <a:r>
              <a:rPr lang="en-IN" sz="2000" dirty="0"/>
              <a:t>Error Control</a:t>
            </a:r>
          </a:p>
          <a:p>
            <a:pPr>
              <a:buFont typeface="Wingdings" panose="05000000000000000000" pitchFamily="2" charset="2"/>
              <a:buChar char="ü"/>
            </a:pPr>
            <a:r>
              <a:rPr lang="en-IN" sz="2000" dirty="0"/>
              <a:t>Sequence Control</a:t>
            </a:r>
          </a:p>
          <a:p>
            <a:pPr>
              <a:buFont typeface="Wingdings" panose="05000000000000000000" pitchFamily="2" charset="2"/>
              <a:buChar char="ü"/>
            </a:pPr>
            <a:r>
              <a:rPr lang="en-IN" sz="2000" dirty="0"/>
              <a:t>Flow Control</a:t>
            </a:r>
          </a:p>
          <a:p>
            <a:pPr>
              <a:buFont typeface="Wingdings" panose="05000000000000000000" pitchFamily="2" charset="2"/>
              <a:buChar char="ü"/>
            </a:pPr>
            <a:r>
              <a:rPr lang="en-IN" sz="2000" dirty="0"/>
              <a:t>Congestion Control</a:t>
            </a:r>
          </a:p>
          <a:p>
            <a:pPr>
              <a:buFont typeface="Wingdings" panose="05000000000000000000" pitchFamily="2" charset="2"/>
              <a:buChar char="ü"/>
            </a:pPr>
            <a:r>
              <a:rPr lang="en-IN" sz="2000" dirty="0"/>
              <a:t>Multiplexing</a:t>
            </a:r>
          </a:p>
        </p:txBody>
      </p:sp>
    </p:spTree>
    <p:extLst>
      <p:ext uri="{BB962C8B-B14F-4D97-AF65-F5344CB8AC3E}">
        <p14:creationId xmlns:p14="http://schemas.microsoft.com/office/powerpoint/2010/main" val="628863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EB6F-37D1-480C-96FF-FCD3A05504B4}"/>
              </a:ext>
            </a:extLst>
          </p:cNvPr>
          <p:cNvSpPr>
            <a:spLocks noGrp="1"/>
          </p:cNvSpPr>
          <p:nvPr>
            <p:ph type="title"/>
          </p:nvPr>
        </p:nvSpPr>
        <p:spPr>
          <a:xfrm>
            <a:off x="838200" y="365125"/>
            <a:ext cx="10515600" cy="504451"/>
          </a:xfrm>
        </p:spPr>
        <p:txBody>
          <a:bodyPr>
            <a:normAutofit fontScale="90000"/>
          </a:bodyPr>
          <a:lstStyle/>
          <a:p>
            <a:br>
              <a:rPr lang="en-IN" dirty="0"/>
            </a:br>
            <a:r>
              <a:rPr lang="en-IN" sz="3100" dirty="0"/>
              <a:t>Relation Between Transport and Network Layer</a:t>
            </a:r>
            <a:br>
              <a:rPr lang="en-IN" b="1" dirty="0"/>
            </a:br>
            <a:endParaRPr lang="en-IN" dirty="0"/>
          </a:p>
        </p:txBody>
      </p:sp>
      <p:sp>
        <p:nvSpPr>
          <p:cNvPr id="3" name="Content Placeholder 2">
            <a:extLst>
              <a:ext uri="{FF2B5EF4-FFF2-40B4-BE49-F238E27FC236}">
                <a16:creationId xmlns:a16="http://schemas.microsoft.com/office/drawing/2014/main" id="{22C686D5-71B3-4FAF-9E2D-8659A86A47DC}"/>
              </a:ext>
            </a:extLst>
          </p:cNvPr>
          <p:cNvSpPr>
            <a:spLocks noGrp="1"/>
          </p:cNvSpPr>
          <p:nvPr>
            <p:ph idx="1"/>
          </p:nvPr>
        </p:nvSpPr>
        <p:spPr>
          <a:xfrm>
            <a:off x="838200" y="1129553"/>
            <a:ext cx="10515600" cy="5047410"/>
          </a:xfrm>
        </p:spPr>
        <p:txBody>
          <a:bodyPr>
            <a:normAutofit/>
          </a:bodyPr>
          <a:lstStyle/>
          <a:p>
            <a:pPr marL="0" indent="0">
              <a:buNone/>
            </a:pPr>
            <a:r>
              <a:rPr lang="en-IN" sz="2000" dirty="0"/>
              <a:t>The transport and network layers work hand in hand to ensure smooth data delivery. The transport layer utilizes the services of the network layer to route packets to their destination based on logical addressing.</a:t>
            </a:r>
          </a:p>
          <a:p>
            <a:pPr marL="0" indent="0">
              <a:buNone/>
            </a:pPr>
            <a:endParaRPr lang="en-IN" sz="2000" dirty="0"/>
          </a:p>
        </p:txBody>
      </p:sp>
      <p:graphicFrame>
        <p:nvGraphicFramePr>
          <p:cNvPr id="4" name="Table 3">
            <a:extLst>
              <a:ext uri="{FF2B5EF4-FFF2-40B4-BE49-F238E27FC236}">
                <a16:creationId xmlns:a16="http://schemas.microsoft.com/office/drawing/2014/main" id="{49736A2E-4E82-4CAD-B280-1DED3436DADB}"/>
              </a:ext>
            </a:extLst>
          </p:cNvPr>
          <p:cNvGraphicFramePr>
            <a:graphicFrameLocks noGrp="1"/>
          </p:cNvGraphicFramePr>
          <p:nvPr>
            <p:extLst>
              <p:ext uri="{D42A27DB-BD31-4B8C-83A1-F6EECF244321}">
                <p14:modId xmlns:p14="http://schemas.microsoft.com/office/powerpoint/2010/main" val="1106890392"/>
              </p:ext>
            </p:extLst>
          </p:nvPr>
        </p:nvGraphicFramePr>
        <p:xfrm>
          <a:off x="1237129" y="2286000"/>
          <a:ext cx="9206754" cy="3558987"/>
        </p:xfrm>
        <a:graphic>
          <a:graphicData uri="http://schemas.openxmlformats.org/drawingml/2006/table">
            <a:tbl>
              <a:tblPr firstRow="1" firstCol="1" bandRow="1">
                <a:tableStyleId>{5C22544A-7EE6-4342-B048-85BDC9FD1C3A}</a:tableStyleId>
              </a:tblPr>
              <a:tblGrid>
                <a:gridCol w="2751335">
                  <a:extLst>
                    <a:ext uri="{9D8B030D-6E8A-4147-A177-3AD203B41FA5}">
                      <a16:colId xmlns:a16="http://schemas.microsoft.com/office/drawing/2014/main" val="2936775472"/>
                    </a:ext>
                  </a:extLst>
                </a:gridCol>
                <a:gridCol w="3241073">
                  <a:extLst>
                    <a:ext uri="{9D8B030D-6E8A-4147-A177-3AD203B41FA5}">
                      <a16:colId xmlns:a16="http://schemas.microsoft.com/office/drawing/2014/main" val="2914733104"/>
                    </a:ext>
                  </a:extLst>
                </a:gridCol>
                <a:gridCol w="3214346">
                  <a:extLst>
                    <a:ext uri="{9D8B030D-6E8A-4147-A177-3AD203B41FA5}">
                      <a16:colId xmlns:a16="http://schemas.microsoft.com/office/drawing/2014/main" val="1299189339"/>
                    </a:ext>
                  </a:extLst>
                </a:gridCol>
              </a:tblGrid>
              <a:tr h="454759">
                <a:tc>
                  <a:txBody>
                    <a:bodyPr/>
                    <a:lstStyle/>
                    <a:p>
                      <a:pPr algn="ctr">
                        <a:lnSpc>
                          <a:spcPts val="1350"/>
                        </a:lnSpc>
                        <a:spcAft>
                          <a:spcPts val="0"/>
                        </a:spcAft>
                      </a:pPr>
                      <a:r>
                        <a:rPr lang="en-IN" sz="1200" spc="-15">
                          <a:effectLst/>
                        </a:rPr>
                        <a:t>Aspect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a:effectLst/>
                        </a:rPr>
                        <a:t>Transport Layer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ctr">
                        <a:lnSpc>
                          <a:spcPts val="1350"/>
                        </a:lnSpc>
                        <a:spcAft>
                          <a:spcPts val="0"/>
                        </a:spcAft>
                      </a:pPr>
                      <a:r>
                        <a:rPr lang="en-IN" sz="1200" spc="-15">
                          <a:effectLst/>
                        </a:rPr>
                        <a:t>Network Layer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1464563143"/>
                  </a:ext>
                </a:extLst>
              </a:tr>
              <a:tr h="731570">
                <a:tc>
                  <a:txBody>
                    <a:bodyPr/>
                    <a:lstStyle/>
                    <a:p>
                      <a:pPr algn="ctr">
                        <a:lnSpc>
                          <a:spcPts val="1350"/>
                        </a:lnSpc>
                        <a:spcAft>
                          <a:spcPts val="0"/>
                        </a:spcAft>
                      </a:pPr>
                      <a:r>
                        <a:rPr lang="en-IN" sz="1200" spc="-15">
                          <a:effectLst/>
                        </a:rPr>
                        <a:t>Primary Function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a:effectLst/>
                        </a:rPr>
                        <a:t>End-to-end delivery of data packets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ctr">
                        <a:lnSpc>
                          <a:spcPts val="1350"/>
                        </a:lnSpc>
                        <a:spcAft>
                          <a:spcPts val="0"/>
                        </a:spcAft>
                      </a:pPr>
                      <a:r>
                        <a:rPr lang="en-IN" sz="1200" spc="-15">
                          <a:effectLst/>
                        </a:rPr>
                        <a:t>Logical addressing and routing of packets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962178735"/>
                  </a:ext>
                </a:extLst>
              </a:tr>
              <a:tr h="454759">
                <a:tc>
                  <a:txBody>
                    <a:bodyPr/>
                    <a:lstStyle/>
                    <a:p>
                      <a:pPr algn="ctr">
                        <a:lnSpc>
                          <a:spcPts val="1350"/>
                        </a:lnSpc>
                        <a:spcAft>
                          <a:spcPts val="0"/>
                        </a:spcAft>
                      </a:pPr>
                      <a:r>
                        <a:rPr lang="en-IN" sz="1200" spc="-15">
                          <a:effectLst/>
                        </a:rPr>
                        <a:t>Layer Location in OSI Model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a:effectLst/>
                        </a:rPr>
                        <a:t>Fourth layer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ctr">
                        <a:lnSpc>
                          <a:spcPts val="1350"/>
                        </a:lnSpc>
                        <a:spcAft>
                          <a:spcPts val="0"/>
                        </a:spcAft>
                      </a:pPr>
                      <a:r>
                        <a:rPr lang="en-IN" sz="1200" spc="-15">
                          <a:effectLst/>
                        </a:rPr>
                        <a:t>Third layer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580449258"/>
                  </a:ext>
                </a:extLst>
              </a:tr>
              <a:tr h="454759">
                <a:tc>
                  <a:txBody>
                    <a:bodyPr/>
                    <a:lstStyle/>
                    <a:p>
                      <a:pPr algn="ctr">
                        <a:lnSpc>
                          <a:spcPts val="1350"/>
                        </a:lnSpc>
                        <a:spcAft>
                          <a:spcPts val="0"/>
                        </a:spcAft>
                      </a:pPr>
                      <a:r>
                        <a:rPr lang="en-IN" sz="1200" spc="-15">
                          <a:effectLst/>
                        </a:rPr>
                        <a:t>Protocol Examples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a:effectLst/>
                        </a:rPr>
                        <a:t>TCP, UDP</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ctr">
                        <a:lnSpc>
                          <a:spcPts val="1350"/>
                        </a:lnSpc>
                        <a:spcAft>
                          <a:spcPts val="0"/>
                        </a:spcAft>
                      </a:pPr>
                      <a:r>
                        <a:rPr lang="en-IN" sz="1200" spc="-15">
                          <a:effectLst/>
                        </a:rPr>
                        <a:t>IP, ICMP</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265727343"/>
                  </a:ext>
                </a:extLst>
              </a:tr>
              <a:tr h="731570">
                <a:tc>
                  <a:txBody>
                    <a:bodyPr/>
                    <a:lstStyle/>
                    <a:p>
                      <a:pPr algn="ctr">
                        <a:lnSpc>
                          <a:spcPts val="1350"/>
                        </a:lnSpc>
                        <a:spcAft>
                          <a:spcPts val="0"/>
                        </a:spcAft>
                      </a:pPr>
                      <a:r>
                        <a:rPr lang="en-IN" sz="1200" spc="-15">
                          <a:effectLst/>
                        </a:rPr>
                        <a:t>Services Provided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l">
                        <a:lnSpc>
                          <a:spcPts val="1350"/>
                        </a:lnSpc>
                        <a:spcAft>
                          <a:spcPts val="0"/>
                        </a:spcAft>
                      </a:pPr>
                      <a:r>
                        <a:rPr lang="en-IN" sz="1200" spc="-15" dirty="0">
                          <a:effectLst/>
                        </a:rPr>
                        <a:t>Reliable delivery, error control, flow control</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a:effectLst/>
                        </a:rPr>
                        <a:t>Logical addressing, routing, packet forwarding</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1943652853"/>
                  </a:ext>
                </a:extLst>
              </a:tr>
              <a:tr h="731570">
                <a:tc>
                  <a:txBody>
                    <a:bodyPr/>
                    <a:lstStyle/>
                    <a:p>
                      <a:pPr algn="ctr">
                        <a:lnSpc>
                          <a:spcPts val="1350"/>
                        </a:lnSpc>
                        <a:spcAft>
                          <a:spcPts val="0"/>
                        </a:spcAft>
                      </a:pPr>
                      <a:r>
                        <a:rPr lang="en-IN" sz="1200" spc="-15" dirty="0">
                          <a:effectLst/>
                        </a:rPr>
                        <a:t>Responsibility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gn="l">
                        <a:lnSpc>
                          <a:spcPts val="1350"/>
                        </a:lnSpc>
                        <a:spcAft>
                          <a:spcPts val="0"/>
                        </a:spcAft>
                      </a:pPr>
                      <a:r>
                        <a:rPr lang="en-IN" sz="1200" spc="-15" dirty="0">
                          <a:effectLst/>
                        </a:rPr>
                        <a:t>Ensures data delivery between applications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tc>
                  <a:txBody>
                    <a:bodyPr/>
                    <a:lstStyle/>
                    <a:p>
                      <a:pPr>
                        <a:lnSpc>
                          <a:spcPts val="1350"/>
                        </a:lnSpc>
                        <a:spcAft>
                          <a:spcPts val="0"/>
                        </a:spcAft>
                      </a:pPr>
                      <a:r>
                        <a:rPr lang="en-IN" sz="1200" spc="-15" dirty="0">
                          <a:effectLst/>
                        </a:rPr>
                        <a:t>Manages data transmission between networks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57150" marB="57150"/>
                </a:tc>
                <a:extLst>
                  <a:ext uri="{0D108BD9-81ED-4DB2-BD59-A6C34878D82A}">
                    <a16:rowId xmlns:a16="http://schemas.microsoft.com/office/drawing/2014/main" val="4099874573"/>
                  </a:ext>
                </a:extLst>
              </a:tr>
            </a:tbl>
          </a:graphicData>
        </a:graphic>
      </p:graphicFrame>
    </p:spTree>
    <p:extLst>
      <p:ext uri="{BB962C8B-B14F-4D97-AF65-F5344CB8AC3E}">
        <p14:creationId xmlns:p14="http://schemas.microsoft.com/office/powerpoint/2010/main" val="2456058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64E4E-2655-4FA4-8919-17EE9CD64A11}"/>
              </a:ext>
            </a:extLst>
          </p:cNvPr>
          <p:cNvSpPr>
            <a:spLocks noGrp="1"/>
          </p:cNvSpPr>
          <p:nvPr>
            <p:ph type="title"/>
          </p:nvPr>
        </p:nvSpPr>
        <p:spPr>
          <a:xfrm>
            <a:off x="838200" y="365125"/>
            <a:ext cx="10515600" cy="629957"/>
          </a:xfrm>
        </p:spPr>
        <p:txBody>
          <a:bodyPr>
            <a:normAutofit fontScale="90000"/>
          </a:bodyPr>
          <a:lstStyle/>
          <a:p>
            <a:br>
              <a:rPr lang="en-IN" b="1" dirty="0"/>
            </a:br>
            <a:r>
              <a:rPr lang="en-IN" sz="3100" b="1" dirty="0"/>
              <a:t>User Datagram Protocol (UDP)</a:t>
            </a:r>
            <a:br>
              <a:rPr lang="en-IN" sz="3100" b="1" dirty="0"/>
            </a:br>
            <a:endParaRPr lang="en-IN" sz="3100" dirty="0"/>
          </a:p>
        </p:txBody>
      </p:sp>
      <p:sp>
        <p:nvSpPr>
          <p:cNvPr id="3" name="Content Placeholder 2">
            <a:extLst>
              <a:ext uri="{FF2B5EF4-FFF2-40B4-BE49-F238E27FC236}">
                <a16:creationId xmlns:a16="http://schemas.microsoft.com/office/drawing/2014/main" id="{27EE71EE-B3B8-4A40-8649-1331BB78749F}"/>
              </a:ext>
            </a:extLst>
          </p:cNvPr>
          <p:cNvSpPr>
            <a:spLocks noGrp="1"/>
          </p:cNvSpPr>
          <p:nvPr>
            <p:ph idx="1"/>
          </p:nvPr>
        </p:nvSpPr>
        <p:spPr>
          <a:xfrm>
            <a:off x="838200" y="1201271"/>
            <a:ext cx="10515600" cy="4975692"/>
          </a:xfrm>
        </p:spPr>
        <p:txBody>
          <a:bodyPr>
            <a:normAutofit/>
          </a:bodyPr>
          <a:lstStyle/>
          <a:p>
            <a:r>
              <a:rPr lang="en-IN" sz="2000" b="1" dirty="0"/>
              <a:t>User Datagram Protocol (UDP) </a:t>
            </a:r>
            <a:r>
              <a:rPr lang="en-IN" sz="2000" dirty="0"/>
              <a:t>is a Transport Layer protocol.</a:t>
            </a:r>
          </a:p>
          <a:p>
            <a:r>
              <a:rPr lang="en-IN" sz="2000" dirty="0"/>
              <a:t>Unlike TCP, it is an </a:t>
            </a:r>
            <a:r>
              <a:rPr lang="en-IN" sz="2000" b="1" dirty="0"/>
              <a:t>unreliable and connectionless protocol. </a:t>
            </a:r>
          </a:p>
          <a:p>
            <a:r>
              <a:rPr lang="en-IN" sz="2000" dirty="0"/>
              <a:t>So, there is no need to establish a connection before data transfer. </a:t>
            </a:r>
          </a:p>
          <a:p>
            <a:r>
              <a:rPr lang="en-IN" sz="2000" dirty="0"/>
              <a:t>The UDP helps to establish low-latency and loss-tolerating connections over the network. The UDP enables process-to-process communication.</a:t>
            </a:r>
          </a:p>
          <a:p>
            <a:pPr marL="0" indent="0">
              <a:buNone/>
            </a:pPr>
            <a:endParaRPr lang="en-US" sz="2000" dirty="0"/>
          </a:p>
          <a:p>
            <a:pPr marL="0" indent="0">
              <a:buNone/>
            </a:pPr>
            <a:endParaRPr lang="en-IN" sz="2000" dirty="0"/>
          </a:p>
        </p:txBody>
      </p:sp>
      <p:pic>
        <p:nvPicPr>
          <p:cNvPr id="5" name="Picture 4">
            <a:extLst>
              <a:ext uri="{FF2B5EF4-FFF2-40B4-BE49-F238E27FC236}">
                <a16:creationId xmlns:a16="http://schemas.microsoft.com/office/drawing/2014/main" id="{A2757BEE-A637-41C0-843B-5A6CB8F72C1C}"/>
              </a:ext>
            </a:extLst>
          </p:cNvPr>
          <p:cNvPicPr>
            <a:picLocks noChangeAspect="1"/>
          </p:cNvPicPr>
          <p:nvPr/>
        </p:nvPicPr>
        <p:blipFill>
          <a:blip r:embed="rId2"/>
          <a:stretch>
            <a:fillRect/>
          </a:stretch>
        </p:blipFill>
        <p:spPr>
          <a:xfrm>
            <a:off x="3415553" y="3239799"/>
            <a:ext cx="4572000" cy="2650211"/>
          </a:xfrm>
          <a:prstGeom prst="rect">
            <a:avLst/>
          </a:prstGeom>
        </p:spPr>
      </p:pic>
    </p:spTree>
    <p:extLst>
      <p:ext uri="{BB962C8B-B14F-4D97-AF65-F5344CB8AC3E}">
        <p14:creationId xmlns:p14="http://schemas.microsoft.com/office/powerpoint/2010/main" val="3118348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253AF-9A9E-4A66-8098-4C9EF90CEFF6}"/>
              </a:ext>
            </a:extLst>
          </p:cNvPr>
          <p:cNvSpPr>
            <a:spLocks noGrp="1"/>
          </p:cNvSpPr>
          <p:nvPr>
            <p:ph type="title"/>
          </p:nvPr>
        </p:nvSpPr>
        <p:spPr>
          <a:xfrm>
            <a:off x="838200" y="365126"/>
            <a:ext cx="10515600" cy="612028"/>
          </a:xfrm>
        </p:spPr>
        <p:txBody>
          <a:bodyPr>
            <a:normAutofit fontScale="90000"/>
          </a:bodyPr>
          <a:lstStyle/>
          <a:p>
            <a:br>
              <a:rPr lang="en-IN" b="1" dirty="0"/>
            </a:br>
            <a:r>
              <a:rPr lang="en-IN" sz="3100" b="1" dirty="0"/>
              <a:t>How does it work?</a:t>
            </a:r>
            <a:br>
              <a:rPr lang="en-IN" sz="3100" b="1" dirty="0"/>
            </a:br>
            <a:endParaRPr lang="en-IN" sz="3100" dirty="0"/>
          </a:p>
        </p:txBody>
      </p:sp>
      <p:sp>
        <p:nvSpPr>
          <p:cNvPr id="3" name="Content Placeholder 2">
            <a:extLst>
              <a:ext uri="{FF2B5EF4-FFF2-40B4-BE49-F238E27FC236}">
                <a16:creationId xmlns:a16="http://schemas.microsoft.com/office/drawing/2014/main" id="{37FC1252-D014-4D53-A8A1-DFD055D573CE}"/>
              </a:ext>
            </a:extLst>
          </p:cNvPr>
          <p:cNvSpPr>
            <a:spLocks noGrp="1"/>
          </p:cNvSpPr>
          <p:nvPr>
            <p:ph idx="1"/>
          </p:nvPr>
        </p:nvSpPr>
        <p:spPr>
          <a:xfrm>
            <a:off x="838200" y="1228165"/>
            <a:ext cx="10515600" cy="4948798"/>
          </a:xfrm>
        </p:spPr>
        <p:txBody>
          <a:bodyPr>
            <a:normAutofit/>
          </a:bodyPr>
          <a:lstStyle/>
          <a:p>
            <a:r>
              <a:rPr lang="en-US" sz="2000" dirty="0"/>
              <a:t>UDP (User Datagram Protocol) acts in a simple way by transferring data between two devices in a network. </a:t>
            </a:r>
          </a:p>
          <a:p>
            <a:r>
              <a:rPr lang="en-US" sz="2000" dirty="0"/>
              <a:t>It transmits packets (datagrams) straight to the target device without setting a connection, specifying the packets’ order, or examining if they are delivered as arranged.</a:t>
            </a:r>
          </a:p>
          <a:p>
            <a:r>
              <a:rPr lang="en-US" sz="2000" dirty="0"/>
              <a:t>TCP communication involves a process known as a “handshake,” which establishes the connection. In addition, only when it is completed the transfer of data packets could happen.</a:t>
            </a:r>
          </a:p>
          <a:p>
            <a:r>
              <a:rPr lang="en-US" sz="2000" dirty="0"/>
              <a:t>On the other hand, the UDP connection is not including this “handshake” process which means one device simply starts sending the information to the receiving one.</a:t>
            </a:r>
          </a:p>
          <a:p>
            <a:r>
              <a:rPr lang="en-US" sz="2000" dirty="0"/>
              <a:t> Additionally, UDP communications do not include details about the order or confirmation for the arrival of the data. It is exactly the opposite when it comes to TCP.</a:t>
            </a:r>
          </a:p>
          <a:p>
            <a:r>
              <a:rPr lang="en-US" sz="2000" dirty="0"/>
              <a:t>Based on these characteristics, UDP has the ability to transfer data packets a lot faster than TCP.</a:t>
            </a:r>
          </a:p>
          <a:p>
            <a:r>
              <a:rPr lang="en-US" sz="2000" dirty="0"/>
              <a:t>The downside of a UDP connection is the loss of packets during the transit, which is not going to be resent as they are in TCP connections. Therefore, when applications implement UDP, they should be able to tolerate losses, duplications, or errors.</a:t>
            </a:r>
          </a:p>
          <a:p>
            <a:endParaRPr lang="en-IN" sz="2000" dirty="0"/>
          </a:p>
        </p:txBody>
      </p:sp>
    </p:spTree>
    <p:extLst>
      <p:ext uri="{BB962C8B-B14F-4D97-AF65-F5344CB8AC3E}">
        <p14:creationId xmlns:p14="http://schemas.microsoft.com/office/powerpoint/2010/main" val="2564573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358E8CA-05E4-4EB0-85C9-10FD1667E45B}"/>
              </a:ext>
            </a:extLst>
          </p:cNvPr>
          <p:cNvPicPr>
            <a:picLocks noChangeAspect="1"/>
          </p:cNvPicPr>
          <p:nvPr/>
        </p:nvPicPr>
        <p:blipFill>
          <a:blip r:embed="rId2"/>
          <a:stretch>
            <a:fillRect/>
          </a:stretch>
        </p:blipFill>
        <p:spPr>
          <a:xfrm>
            <a:off x="914653" y="1004047"/>
            <a:ext cx="10058147" cy="4347882"/>
          </a:xfrm>
          <a:prstGeom prst="rect">
            <a:avLst/>
          </a:prstGeom>
        </p:spPr>
      </p:pic>
    </p:spTree>
    <p:extLst>
      <p:ext uri="{BB962C8B-B14F-4D97-AF65-F5344CB8AC3E}">
        <p14:creationId xmlns:p14="http://schemas.microsoft.com/office/powerpoint/2010/main" val="1333635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3F44A-2C35-4664-BE8B-7C9E5EA2F362}"/>
              </a:ext>
            </a:extLst>
          </p:cNvPr>
          <p:cNvSpPr>
            <a:spLocks noGrp="1"/>
          </p:cNvSpPr>
          <p:nvPr>
            <p:ph type="title"/>
          </p:nvPr>
        </p:nvSpPr>
        <p:spPr>
          <a:xfrm>
            <a:off x="838200" y="365125"/>
            <a:ext cx="10515600" cy="629957"/>
          </a:xfrm>
        </p:spPr>
        <p:txBody>
          <a:bodyPr>
            <a:normAutofit fontScale="90000"/>
          </a:bodyPr>
          <a:lstStyle/>
          <a:p>
            <a:br>
              <a:rPr lang="en-IN" dirty="0"/>
            </a:br>
            <a:r>
              <a:rPr lang="en-IN" sz="3100" dirty="0"/>
              <a:t>UDP Header</a:t>
            </a:r>
            <a:br>
              <a:rPr lang="en-IN" b="1" dirty="0"/>
            </a:br>
            <a:endParaRPr lang="en-IN" dirty="0"/>
          </a:p>
        </p:txBody>
      </p:sp>
      <p:sp>
        <p:nvSpPr>
          <p:cNvPr id="3" name="Content Placeholder 2">
            <a:extLst>
              <a:ext uri="{FF2B5EF4-FFF2-40B4-BE49-F238E27FC236}">
                <a16:creationId xmlns:a16="http://schemas.microsoft.com/office/drawing/2014/main" id="{7598A282-9474-479B-A059-F5F652D0BD24}"/>
              </a:ext>
            </a:extLst>
          </p:cNvPr>
          <p:cNvSpPr>
            <a:spLocks noGrp="1"/>
          </p:cNvSpPr>
          <p:nvPr>
            <p:ph idx="1"/>
          </p:nvPr>
        </p:nvSpPr>
        <p:spPr>
          <a:xfrm>
            <a:off x="838200" y="1219200"/>
            <a:ext cx="10515600" cy="4957763"/>
          </a:xfrm>
        </p:spPr>
        <p:txBody>
          <a:bodyPr>
            <a:normAutofit/>
          </a:bodyPr>
          <a:lstStyle/>
          <a:p>
            <a:endParaRPr lang="en-IN" sz="2000" dirty="0"/>
          </a:p>
          <a:p>
            <a:r>
              <a:rPr lang="en-IN" sz="2000" dirty="0"/>
              <a:t>UDP header is an </a:t>
            </a:r>
            <a:r>
              <a:rPr lang="en-IN" sz="2000" b="1" dirty="0"/>
              <a:t>8-byte </a:t>
            </a:r>
            <a:r>
              <a:rPr lang="en-IN" sz="2000" dirty="0"/>
              <a:t>fixed and simple header, while for TCP it may vary from 20 bytes to 60 bytes. </a:t>
            </a:r>
          </a:p>
          <a:p>
            <a:r>
              <a:rPr lang="en-IN" sz="2000" dirty="0"/>
              <a:t>The first 8 Bytes contain all necessary header information and the remaining part consists of data.</a:t>
            </a:r>
          </a:p>
          <a:p>
            <a:r>
              <a:rPr lang="en-IN" sz="2000" dirty="0"/>
              <a:t> UDP port number fields are each 16 bits long, therefore the range for port numbers is defined from 0 to 65535; port number 0 is reserved. </a:t>
            </a:r>
          </a:p>
          <a:p>
            <a:r>
              <a:rPr lang="en-IN" sz="2000" dirty="0"/>
              <a:t>Port numbers help to distinguish different user requests or processes</a:t>
            </a:r>
          </a:p>
        </p:txBody>
      </p:sp>
    </p:spTree>
    <p:extLst>
      <p:ext uri="{BB962C8B-B14F-4D97-AF65-F5344CB8AC3E}">
        <p14:creationId xmlns:p14="http://schemas.microsoft.com/office/powerpoint/2010/main" val="2671018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F72F18-BDCE-47A3-A6CB-C40B0F48788B}"/>
              </a:ext>
            </a:extLst>
          </p:cNvPr>
          <p:cNvPicPr>
            <a:picLocks noChangeAspect="1"/>
          </p:cNvPicPr>
          <p:nvPr/>
        </p:nvPicPr>
        <p:blipFill>
          <a:blip r:embed="rId2"/>
          <a:stretch>
            <a:fillRect/>
          </a:stretch>
        </p:blipFill>
        <p:spPr>
          <a:xfrm>
            <a:off x="2967318" y="1337183"/>
            <a:ext cx="5558117" cy="3716121"/>
          </a:xfrm>
          <a:prstGeom prst="rect">
            <a:avLst/>
          </a:prstGeom>
        </p:spPr>
      </p:pic>
    </p:spTree>
    <p:extLst>
      <p:ext uri="{BB962C8B-B14F-4D97-AF65-F5344CB8AC3E}">
        <p14:creationId xmlns:p14="http://schemas.microsoft.com/office/powerpoint/2010/main" val="3239403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42089-49C5-4ECC-B89F-D7A6CDE1FF22}"/>
              </a:ext>
            </a:extLst>
          </p:cNvPr>
          <p:cNvSpPr>
            <a:spLocks noGrp="1"/>
          </p:cNvSpPr>
          <p:nvPr>
            <p:ph type="title"/>
          </p:nvPr>
        </p:nvSpPr>
        <p:spPr>
          <a:xfrm>
            <a:off x="838200" y="365126"/>
            <a:ext cx="10515600" cy="612028"/>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B1B9C239-9204-4E67-8D49-F54009414BFC}"/>
              </a:ext>
            </a:extLst>
          </p:cNvPr>
          <p:cNvSpPr>
            <a:spLocks noGrp="1"/>
          </p:cNvSpPr>
          <p:nvPr>
            <p:ph idx="1"/>
          </p:nvPr>
        </p:nvSpPr>
        <p:spPr>
          <a:xfrm>
            <a:off x="838200" y="1183341"/>
            <a:ext cx="10515600" cy="4993622"/>
          </a:xfrm>
        </p:spPr>
        <p:txBody>
          <a:bodyPr/>
          <a:lstStyle/>
          <a:p>
            <a:pPr lvl="0" fontAlgn="base"/>
            <a:r>
              <a:rPr lang="en-IN" sz="2000" b="1" dirty="0"/>
              <a:t>Source Port:</a:t>
            </a:r>
            <a:r>
              <a:rPr lang="en-IN" sz="2000" dirty="0"/>
              <a:t> Source Port is a 2 Byte long field used to identify the port number of the source.</a:t>
            </a:r>
          </a:p>
          <a:p>
            <a:pPr lvl="0" fontAlgn="base"/>
            <a:r>
              <a:rPr lang="en-IN" sz="2000" b="1" dirty="0"/>
              <a:t>Destination Port:</a:t>
            </a:r>
            <a:r>
              <a:rPr lang="en-IN" sz="2000" dirty="0"/>
              <a:t> It is a 2 Byte long field, used to identify the port of the destined packet.</a:t>
            </a:r>
          </a:p>
          <a:p>
            <a:pPr lvl="0" fontAlgn="base"/>
            <a:r>
              <a:rPr lang="en-IN" sz="2000" b="1" dirty="0"/>
              <a:t>Length:</a:t>
            </a:r>
            <a:r>
              <a:rPr lang="en-IN" sz="2000" dirty="0"/>
              <a:t> Length is the length of UDP including the header and the data. It is a 16-bits field.</a:t>
            </a:r>
          </a:p>
          <a:p>
            <a:pPr lvl="0" fontAlgn="base"/>
            <a:r>
              <a:rPr lang="en-IN" sz="2000" b="1" dirty="0"/>
              <a:t>Checksum:</a:t>
            </a:r>
            <a:r>
              <a:rPr lang="en-IN" sz="2000" dirty="0"/>
              <a:t> Checksum is 2 Bytes long field. It is the 16-bit one's complement of the one's complement sum of the UDP header, the pseudo-header of information from the IP header, and the data, padded with zero octets at the end (if necessary) to make a multiple of two octets.</a:t>
            </a:r>
          </a:p>
          <a:p>
            <a:pPr marL="0" indent="0">
              <a:buNone/>
            </a:pPr>
            <a:endParaRPr lang="en-US" dirty="0"/>
          </a:p>
          <a:p>
            <a:pPr marL="0" indent="0">
              <a:buNone/>
            </a:pPr>
            <a:endParaRPr lang="en-US" dirty="0"/>
          </a:p>
          <a:p>
            <a:pPr marL="0" indent="0">
              <a:buNone/>
            </a:pPr>
            <a:r>
              <a:rPr lang="en-IN" sz="1800" dirty="0"/>
              <a:t>Unlike TCP, the Checksum calculation is not mandatory in UDP. No Error control or flow control is provided by UDP. Hence UDP depends on IP and ICMP for error reporting. Also UDP provides port numbers so that is can differentiate between users requests.</a:t>
            </a:r>
          </a:p>
        </p:txBody>
      </p:sp>
    </p:spTree>
    <p:extLst>
      <p:ext uri="{BB962C8B-B14F-4D97-AF65-F5344CB8AC3E}">
        <p14:creationId xmlns:p14="http://schemas.microsoft.com/office/powerpoint/2010/main" val="754972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E771-549C-4C34-960B-5AE7572776C7}"/>
              </a:ext>
            </a:extLst>
          </p:cNvPr>
          <p:cNvSpPr>
            <a:spLocks noGrp="1"/>
          </p:cNvSpPr>
          <p:nvPr>
            <p:ph type="title"/>
          </p:nvPr>
        </p:nvSpPr>
        <p:spPr>
          <a:xfrm>
            <a:off x="838200" y="365126"/>
            <a:ext cx="10515600" cy="692710"/>
          </a:xfrm>
        </p:spPr>
        <p:txBody>
          <a:bodyPr>
            <a:normAutofit fontScale="90000"/>
          </a:bodyPr>
          <a:lstStyle/>
          <a:p>
            <a:br>
              <a:rPr lang="en-IN" dirty="0"/>
            </a:br>
            <a:r>
              <a:rPr lang="en-IN" sz="3100" b="1" dirty="0"/>
              <a:t>Applications of UDP</a:t>
            </a:r>
            <a:br>
              <a:rPr lang="en-IN" b="1" dirty="0"/>
            </a:br>
            <a:endParaRPr lang="en-IN" b="1" dirty="0"/>
          </a:p>
        </p:txBody>
      </p:sp>
      <p:sp>
        <p:nvSpPr>
          <p:cNvPr id="3" name="Content Placeholder 2">
            <a:extLst>
              <a:ext uri="{FF2B5EF4-FFF2-40B4-BE49-F238E27FC236}">
                <a16:creationId xmlns:a16="http://schemas.microsoft.com/office/drawing/2014/main" id="{77A10C2B-6739-4344-96D1-AD983C923289}"/>
              </a:ext>
            </a:extLst>
          </p:cNvPr>
          <p:cNvSpPr>
            <a:spLocks noGrp="1"/>
          </p:cNvSpPr>
          <p:nvPr>
            <p:ph idx="1"/>
          </p:nvPr>
        </p:nvSpPr>
        <p:spPr>
          <a:xfrm>
            <a:off x="838200" y="1389529"/>
            <a:ext cx="10515600" cy="4787434"/>
          </a:xfrm>
        </p:spPr>
        <p:txBody>
          <a:bodyPr>
            <a:normAutofit/>
          </a:bodyPr>
          <a:lstStyle/>
          <a:p>
            <a:pPr lvl="0" fontAlgn="base">
              <a:buFont typeface="Wingdings" panose="05000000000000000000" pitchFamily="2" charset="2"/>
              <a:buChar char="Ø"/>
            </a:pPr>
            <a:r>
              <a:rPr lang="en-IN" sz="2000" dirty="0"/>
              <a:t>Used for simple request-response communication when the size of data is less and hence there is lesser concern about flow and error control.</a:t>
            </a:r>
          </a:p>
          <a:p>
            <a:pPr lvl="0" fontAlgn="base">
              <a:buFont typeface="Wingdings" panose="05000000000000000000" pitchFamily="2" charset="2"/>
              <a:buChar char="Ø"/>
            </a:pPr>
            <a:r>
              <a:rPr lang="en-IN" sz="2000" dirty="0"/>
              <a:t>It is a suitable protocol for multicasting as UDP supports packet switching.</a:t>
            </a:r>
          </a:p>
          <a:p>
            <a:pPr lvl="0" fontAlgn="base">
              <a:buFont typeface="Wingdings" panose="05000000000000000000" pitchFamily="2" charset="2"/>
              <a:buChar char="Ø"/>
            </a:pPr>
            <a:r>
              <a:rPr lang="en-IN" sz="2000" dirty="0"/>
              <a:t>UDP is used for some routing update protocols like RIP(Routing Information protocol).</a:t>
            </a:r>
          </a:p>
          <a:p>
            <a:pPr fontAlgn="base">
              <a:buFont typeface="Wingdings" panose="05000000000000000000" pitchFamily="2" charset="2"/>
              <a:buChar char="Ø"/>
            </a:pPr>
            <a:r>
              <a:rPr lang="en-IN" sz="2000" dirty="0"/>
              <a:t>VOIP(Voice Over Internet Protocol) services, such as Skype and WhatsApp, use UDP for real-time voice communication. The delay in voice communication can be noticeable if packets are delayed due to congestion control, so UDP is used to ensure fast and efficient data transmission.</a:t>
            </a:r>
          </a:p>
          <a:p>
            <a:pPr fontAlgn="base">
              <a:buFont typeface="Wingdings" panose="05000000000000000000" pitchFamily="2" charset="2"/>
              <a:buChar char="Ø"/>
            </a:pPr>
            <a:r>
              <a:rPr lang="en-IN" sz="2000" dirty="0"/>
              <a:t>DNS(Domain Name System) also uses UDP for its query/response messages. DNS queries are typically small and require a quick response time, making UDP a suitable protocol for this application.</a:t>
            </a:r>
          </a:p>
          <a:p>
            <a:pPr fontAlgn="base">
              <a:buFont typeface="Wingdings" panose="05000000000000000000" pitchFamily="2" charset="2"/>
              <a:buChar char="Ø"/>
            </a:pPr>
            <a:r>
              <a:rPr lang="en-IN" sz="2000" dirty="0"/>
              <a:t>DHCP(Dynamic Host Configuration Protocol) uses UDP to dynamically assign IP addresses to devices on a network. DHCP messages are typically small, and the delay caused by packet loss or retransmission is generally not critical for this application.</a:t>
            </a:r>
          </a:p>
          <a:p>
            <a:pPr fontAlgn="base">
              <a:buFont typeface="Wingdings" panose="05000000000000000000" pitchFamily="2" charset="2"/>
              <a:buChar char="Ø"/>
            </a:pPr>
            <a:endParaRPr lang="en-IN" sz="2000" dirty="0"/>
          </a:p>
          <a:p>
            <a:pPr fontAlgn="base">
              <a:buFont typeface="Wingdings" panose="05000000000000000000" pitchFamily="2" charset="2"/>
              <a:buChar char="Ø"/>
            </a:pPr>
            <a:endParaRPr lang="en-IN" sz="2000" dirty="0"/>
          </a:p>
          <a:p>
            <a:pPr lvl="0" fontAlgn="base">
              <a:buFont typeface="Wingdings" panose="05000000000000000000" pitchFamily="2" charset="2"/>
              <a:buChar char="Ø"/>
            </a:pPr>
            <a:endParaRPr lang="en-IN" sz="2000" dirty="0"/>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337112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D40BB-F151-4461-B50F-4DDAB006C509}"/>
              </a:ext>
            </a:extLst>
          </p:cNvPr>
          <p:cNvSpPr>
            <a:spLocks noGrp="1"/>
          </p:cNvSpPr>
          <p:nvPr>
            <p:ph type="title"/>
          </p:nvPr>
        </p:nvSpPr>
        <p:spPr>
          <a:xfrm>
            <a:off x="914400" y="365125"/>
            <a:ext cx="10439400" cy="629957"/>
          </a:xfrm>
        </p:spPr>
        <p:txBody>
          <a:bodyPr>
            <a:normAutofit/>
          </a:bodyPr>
          <a:lstStyle/>
          <a:p>
            <a:r>
              <a:rPr lang="en-US" sz="3200" dirty="0"/>
              <a:t>UDP Segment -Header</a:t>
            </a:r>
            <a:endParaRPr lang="en-IN" sz="3200" dirty="0"/>
          </a:p>
        </p:txBody>
      </p:sp>
      <p:sp>
        <p:nvSpPr>
          <p:cNvPr id="3" name="Content Placeholder 2">
            <a:extLst>
              <a:ext uri="{FF2B5EF4-FFF2-40B4-BE49-F238E27FC236}">
                <a16:creationId xmlns:a16="http://schemas.microsoft.com/office/drawing/2014/main" id="{AC7EF82B-2376-4648-BFE6-81B541CDFE76}"/>
              </a:ext>
            </a:extLst>
          </p:cNvPr>
          <p:cNvSpPr>
            <a:spLocks noGrp="1"/>
          </p:cNvSpPr>
          <p:nvPr>
            <p:ph idx="1"/>
          </p:nvPr>
        </p:nvSpPr>
        <p:spPr>
          <a:xfrm>
            <a:off x="914398" y="1353671"/>
            <a:ext cx="10439401" cy="4823292"/>
          </a:xfrm>
        </p:spPr>
        <p:txBody>
          <a:bodyPr/>
          <a:lstStyle/>
          <a:p>
            <a:pPr marL="0" indent="0">
              <a:buNone/>
            </a:pPr>
            <a:r>
              <a:rPr lang="en-US" dirty="0"/>
              <a:t>     </a:t>
            </a:r>
          </a:p>
          <a:p>
            <a:pPr marL="0" indent="0">
              <a:buNone/>
            </a:pPr>
            <a:r>
              <a:rPr lang="en-US" dirty="0"/>
              <a:t>			32 bits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UDP segmented header</a:t>
            </a:r>
            <a:endParaRPr lang="en-IN" dirty="0"/>
          </a:p>
        </p:txBody>
      </p:sp>
      <p:graphicFrame>
        <p:nvGraphicFramePr>
          <p:cNvPr id="4" name="Table 3">
            <a:extLst>
              <a:ext uri="{FF2B5EF4-FFF2-40B4-BE49-F238E27FC236}">
                <a16:creationId xmlns:a16="http://schemas.microsoft.com/office/drawing/2014/main" id="{CD0CA16C-0A78-42EA-9E2C-8FD9C1C9CA2B}"/>
              </a:ext>
            </a:extLst>
          </p:cNvPr>
          <p:cNvGraphicFramePr>
            <a:graphicFrameLocks noGrp="1"/>
          </p:cNvGraphicFramePr>
          <p:nvPr>
            <p:extLst>
              <p:ext uri="{D42A27DB-BD31-4B8C-83A1-F6EECF244321}">
                <p14:modId xmlns:p14="http://schemas.microsoft.com/office/powerpoint/2010/main" val="1728733573"/>
              </p:ext>
            </p:extLst>
          </p:nvPr>
        </p:nvGraphicFramePr>
        <p:xfrm>
          <a:off x="1237129" y="2294965"/>
          <a:ext cx="7754472" cy="2173258"/>
        </p:xfrm>
        <a:graphic>
          <a:graphicData uri="http://schemas.openxmlformats.org/drawingml/2006/table">
            <a:tbl>
              <a:tblPr firstRow="1" bandRow="1">
                <a:tableStyleId>{5C22544A-7EE6-4342-B048-85BDC9FD1C3A}</a:tableStyleId>
              </a:tblPr>
              <a:tblGrid>
                <a:gridCol w="3877236">
                  <a:extLst>
                    <a:ext uri="{9D8B030D-6E8A-4147-A177-3AD203B41FA5}">
                      <a16:colId xmlns:a16="http://schemas.microsoft.com/office/drawing/2014/main" val="4146846113"/>
                    </a:ext>
                  </a:extLst>
                </a:gridCol>
                <a:gridCol w="3877236">
                  <a:extLst>
                    <a:ext uri="{9D8B030D-6E8A-4147-A177-3AD203B41FA5}">
                      <a16:colId xmlns:a16="http://schemas.microsoft.com/office/drawing/2014/main" val="293802972"/>
                    </a:ext>
                  </a:extLst>
                </a:gridCol>
              </a:tblGrid>
              <a:tr h="59193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Source port</a:t>
                      </a:r>
                      <a:endParaRPr lang="en-IN" dirty="0"/>
                    </a:p>
                    <a:p>
                      <a:pPr algn="ct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Destination port</a:t>
                      </a:r>
                      <a:endParaRPr lang="en-IN" dirty="0"/>
                    </a:p>
                    <a:p>
                      <a:endParaRPr lang="en-IN" dirty="0"/>
                    </a:p>
                  </a:txBody>
                  <a:tcPr/>
                </a:tc>
                <a:extLst>
                  <a:ext uri="{0D108BD9-81ED-4DB2-BD59-A6C34878D82A}">
                    <a16:rowId xmlns:a16="http://schemas.microsoft.com/office/drawing/2014/main" val="1347539925"/>
                  </a:ext>
                </a:extLst>
              </a:tr>
              <a:tr h="5196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length</a:t>
                      </a:r>
                      <a:endParaRPr lang="en-IN" dirty="0"/>
                    </a:p>
                    <a:p>
                      <a:pPr algn="ct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checksum</a:t>
                      </a:r>
                      <a:endParaRPr lang="en-IN" dirty="0"/>
                    </a:p>
                    <a:p>
                      <a:endParaRPr lang="en-IN" dirty="0"/>
                    </a:p>
                  </a:txBody>
                  <a:tcPr/>
                </a:tc>
                <a:extLst>
                  <a:ext uri="{0D108BD9-81ED-4DB2-BD59-A6C34878D82A}">
                    <a16:rowId xmlns:a16="http://schemas.microsoft.com/office/drawing/2014/main" val="2909339942"/>
                  </a:ext>
                </a:extLst>
              </a:tr>
              <a:tr h="89309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Application data(payload)</a:t>
                      </a:r>
                      <a:endParaRPr lang="en-IN" dirty="0"/>
                    </a:p>
                    <a:p>
                      <a:pPr algn="ctr"/>
                      <a:endParaRPr lang="en-IN" dirty="0"/>
                    </a:p>
                  </a:txBody>
                  <a:tcPr/>
                </a:tc>
                <a:tc hMerge="1">
                  <a:txBody>
                    <a:bodyPr/>
                    <a:lstStyle/>
                    <a:p>
                      <a:endParaRPr lang="en-IN" dirty="0"/>
                    </a:p>
                  </a:txBody>
                  <a:tcPr/>
                </a:tc>
                <a:extLst>
                  <a:ext uri="{0D108BD9-81ED-4DB2-BD59-A6C34878D82A}">
                    <a16:rowId xmlns:a16="http://schemas.microsoft.com/office/drawing/2014/main" val="1196430794"/>
                  </a:ext>
                </a:extLst>
              </a:tr>
            </a:tbl>
          </a:graphicData>
        </a:graphic>
      </p:graphicFrame>
      <p:cxnSp>
        <p:nvCxnSpPr>
          <p:cNvPr id="6" name="Straight Arrow Connector 5">
            <a:extLst>
              <a:ext uri="{FF2B5EF4-FFF2-40B4-BE49-F238E27FC236}">
                <a16:creationId xmlns:a16="http://schemas.microsoft.com/office/drawing/2014/main" id="{0DC2162A-3C09-4344-B897-619921D9A8DE}"/>
              </a:ext>
            </a:extLst>
          </p:cNvPr>
          <p:cNvCxnSpPr/>
          <p:nvPr/>
        </p:nvCxnSpPr>
        <p:spPr>
          <a:xfrm>
            <a:off x="1272988" y="1721224"/>
            <a:ext cx="756621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0219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B361-984F-4306-9F26-9D6392661F44}"/>
              </a:ext>
            </a:extLst>
          </p:cNvPr>
          <p:cNvSpPr>
            <a:spLocks noGrp="1"/>
          </p:cNvSpPr>
          <p:nvPr>
            <p:ph type="title"/>
          </p:nvPr>
        </p:nvSpPr>
        <p:spPr>
          <a:xfrm>
            <a:off x="838200" y="365125"/>
            <a:ext cx="10515600" cy="782357"/>
          </a:xfrm>
        </p:spPr>
        <p:txBody>
          <a:bodyPr>
            <a:normAutofit/>
          </a:bodyPr>
          <a:lstStyle/>
          <a:p>
            <a:r>
              <a:rPr lang="en-US" sz="3200" dirty="0"/>
              <a:t>UDP Checksum</a:t>
            </a:r>
            <a:endParaRPr lang="en-IN" sz="3200" dirty="0"/>
          </a:p>
        </p:txBody>
      </p:sp>
      <p:sp>
        <p:nvSpPr>
          <p:cNvPr id="8" name="Content Placeholder 7">
            <a:extLst>
              <a:ext uri="{FF2B5EF4-FFF2-40B4-BE49-F238E27FC236}">
                <a16:creationId xmlns:a16="http://schemas.microsoft.com/office/drawing/2014/main" id="{CCBD4DEB-0C5E-4DA4-A3B5-92396C4F09C3}"/>
              </a:ext>
            </a:extLst>
          </p:cNvPr>
          <p:cNvSpPr>
            <a:spLocks noGrp="1"/>
          </p:cNvSpPr>
          <p:nvPr>
            <p:ph idx="1"/>
          </p:nvPr>
        </p:nvSpPr>
        <p:spPr>
          <a:xfrm>
            <a:off x="838200" y="1461247"/>
            <a:ext cx="10515600" cy="4715716"/>
          </a:xfrm>
        </p:spPr>
        <p:txBody>
          <a:bodyPr>
            <a:normAutofit fontScale="70000" lnSpcReduction="20000"/>
          </a:bodyPr>
          <a:lstStyle/>
          <a:p>
            <a:pPr marL="0" indent="0">
              <a:buNone/>
            </a:pPr>
            <a:r>
              <a:rPr lang="en-US" b="1" dirty="0"/>
              <a:t>Checksum Calculation:</a:t>
            </a:r>
            <a:endParaRPr lang="en-US" dirty="0"/>
          </a:p>
          <a:p>
            <a:r>
              <a:rPr lang="en-US" dirty="0"/>
              <a:t>UDP Checksum calculation is similar to TCP Checksum computation. It’s also a 16-bit field of one’s complement of one’s complement sum of a pseudo UDP header + UDP datagram.</a:t>
            </a:r>
          </a:p>
          <a:p>
            <a:pPr marL="0" indent="0">
              <a:buNone/>
            </a:pPr>
            <a:r>
              <a:rPr lang="en-US" b="1" dirty="0"/>
              <a:t>Sender side:</a:t>
            </a:r>
            <a:endParaRPr lang="en-US" dirty="0"/>
          </a:p>
          <a:p>
            <a:r>
              <a:rPr lang="en-US" dirty="0"/>
              <a:t>It treats segment contents as sequence of 16-bit integers.</a:t>
            </a:r>
          </a:p>
          <a:p>
            <a:r>
              <a:rPr lang="en-US" dirty="0"/>
              <a:t>All segments are added. Let's call it sum.</a:t>
            </a:r>
          </a:p>
          <a:p>
            <a:r>
              <a:rPr lang="en-US" dirty="0"/>
              <a:t>Checksum: 1's complement of sum.(In 1's complement all 0s are converted into 1s and all 1s are converted into 0s).</a:t>
            </a:r>
          </a:p>
          <a:p>
            <a:r>
              <a:rPr lang="en-US" dirty="0"/>
              <a:t>Sender puts this checksum value in UDP checksum field.</a:t>
            </a:r>
          </a:p>
          <a:p>
            <a:pPr marL="0" indent="0">
              <a:buNone/>
            </a:pPr>
            <a:r>
              <a:rPr lang="en-US" b="1" dirty="0"/>
              <a:t>Receiver side:</a:t>
            </a:r>
            <a:endParaRPr lang="en-US" dirty="0"/>
          </a:p>
          <a:p>
            <a:r>
              <a:rPr lang="en-US" dirty="0"/>
              <a:t>Calculate checksum</a:t>
            </a:r>
          </a:p>
          <a:p>
            <a:r>
              <a:rPr lang="en-US" dirty="0"/>
              <a:t>All segments are added and then sum is added with sender's checksum.</a:t>
            </a:r>
          </a:p>
          <a:p>
            <a:r>
              <a:rPr lang="en-US" dirty="0"/>
              <a:t>Check that any 0 bit is presented in checksum. If receiver side checksum contains any 0 then error is detected. So the packet is discarded by receiver.</a:t>
            </a:r>
          </a:p>
          <a:p>
            <a:pPr>
              <a:buFont typeface="Wingdings" panose="05000000000000000000" pitchFamily="2" charset="2"/>
              <a:buChar char="ü"/>
            </a:pPr>
            <a:endParaRPr lang="en-IN" sz="2000" dirty="0"/>
          </a:p>
        </p:txBody>
      </p:sp>
    </p:spTree>
    <p:extLst>
      <p:ext uri="{BB962C8B-B14F-4D97-AF65-F5344CB8AC3E}">
        <p14:creationId xmlns:p14="http://schemas.microsoft.com/office/powerpoint/2010/main" val="3176230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8A728A-9B1E-4DAA-85FB-3138C372382A}"/>
              </a:ext>
            </a:extLst>
          </p:cNvPr>
          <p:cNvSpPr>
            <a:spLocks noGrp="1"/>
          </p:cNvSpPr>
          <p:nvPr>
            <p:ph idx="1"/>
          </p:nvPr>
        </p:nvSpPr>
        <p:spPr>
          <a:xfrm>
            <a:off x="869576" y="1156447"/>
            <a:ext cx="10484224" cy="5020516"/>
          </a:xfrm>
        </p:spPr>
        <p:txBody>
          <a:bodyPr/>
          <a:lstStyle/>
          <a:p>
            <a:endParaRPr lang="en-IN" sz="2400" dirty="0"/>
          </a:p>
          <a:p>
            <a:r>
              <a:rPr lang="en-IN" sz="2400" dirty="0"/>
              <a:t>Reliable Data Transfer (RDT) in the transport layer is a fundamental concept in computer networking, ensuring that data is transmitted accurately and in order across potentially unreliable networks.</a:t>
            </a:r>
          </a:p>
          <a:p>
            <a:r>
              <a:rPr lang="en-IN" sz="2400" dirty="0"/>
              <a:t> This is crucial because the underlying network layers, like the Internet Protocol (IP), do not guarantee reliable delivery.</a:t>
            </a:r>
          </a:p>
          <a:p>
            <a:endParaRPr lang="en-IN" dirty="0"/>
          </a:p>
        </p:txBody>
      </p:sp>
      <p:sp>
        <p:nvSpPr>
          <p:cNvPr id="4" name="Title 1">
            <a:extLst>
              <a:ext uri="{FF2B5EF4-FFF2-40B4-BE49-F238E27FC236}">
                <a16:creationId xmlns:a16="http://schemas.microsoft.com/office/drawing/2014/main" id="{A08494C7-68C5-4552-994F-61E6873165AF}"/>
              </a:ext>
            </a:extLst>
          </p:cNvPr>
          <p:cNvSpPr>
            <a:spLocks noGrp="1"/>
          </p:cNvSpPr>
          <p:nvPr>
            <p:ph type="title"/>
          </p:nvPr>
        </p:nvSpPr>
        <p:spPr>
          <a:xfrm>
            <a:off x="753035" y="365125"/>
            <a:ext cx="10600765" cy="656851"/>
          </a:xfrm>
        </p:spPr>
        <p:txBody>
          <a:bodyPr>
            <a:normAutofit/>
          </a:bodyPr>
          <a:lstStyle/>
          <a:p>
            <a:r>
              <a:rPr lang="en-IN" sz="3200" b="1" dirty="0"/>
              <a:t>Concept of Reliable Data Transfer</a:t>
            </a:r>
            <a:endParaRPr lang="en-IN" sz="3200" dirty="0"/>
          </a:p>
        </p:txBody>
      </p:sp>
    </p:spTree>
    <p:extLst>
      <p:ext uri="{BB962C8B-B14F-4D97-AF65-F5344CB8AC3E}">
        <p14:creationId xmlns:p14="http://schemas.microsoft.com/office/powerpoint/2010/main" val="1638076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45C64-28F5-4420-9D35-BD2C80BAEED2}"/>
              </a:ext>
            </a:extLst>
          </p:cNvPr>
          <p:cNvSpPr>
            <a:spLocks noGrp="1"/>
          </p:cNvSpPr>
          <p:nvPr>
            <p:ph type="title"/>
          </p:nvPr>
        </p:nvSpPr>
        <p:spPr>
          <a:xfrm>
            <a:off x="838200" y="365125"/>
            <a:ext cx="10515600" cy="656851"/>
          </a:xfrm>
        </p:spPr>
        <p:txBody>
          <a:bodyPr>
            <a:normAutofit fontScale="90000"/>
          </a:bodyPr>
          <a:lstStyle/>
          <a:p>
            <a:br>
              <a:rPr lang="en-IN" b="1" dirty="0"/>
            </a:br>
            <a:r>
              <a:rPr lang="en-IN" sz="3600" b="1" dirty="0"/>
              <a:t>Key Concepts of Reliable Data Transfer</a:t>
            </a:r>
            <a:br>
              <a:rPr lang="en-IN" b="1" dirty="0"/>
            </a:br>
            <a:endParaRPr lang="en-IN" dirty="0"/>
          </a:p>
        </p:txBody>
      </p:sp>
      <p:sp>
        <p:nvSpPr>
          <p:cNvPr id="3" name="Content Placeholder 2">
            <a:extLst>
              <a:ext uri="{FF2B5EF4-FFF2-40B4-BE49-F238E27FC236}">
                <a16:creationId xmlns:a16="http://schemas.microsoft.com/office/drawing/2014/main" id="{76EE664E-83B1-49C7-8D5B-BCBF6CC2DA7F}"/>
              </a:ext>
            </a:extLst>
          </p:cNvPr>
          <p:cNvSpPr>
            <a:spLocks noGrp="1"/>
          </p:cNvSpPr>
          <p:nvPr>
            <p:ph idx="1"/>
          </p:nvPr>
        </p:nvSpPr>
        <p:spPr>
          <a:xfrm>
            <a:off x="838200" y="1398494"/>
            <a:ext cx="10515600" cy="4778469"/>
          </a:xfrm>
        </p:spPr>
        <p:txBody>
          <a:bodyPr/>
          <a:lstStyle/>
          <a:p>
            <a:pPr marL="0" lvl="0" indent="0">
              <a:buNone/>
            </a:pPr>
            <a:r>
              <a:rPr lang="en-IN" sz="2400" b="1" dirty="0"/>
              <a:t>1. Error Detection and Correction</a:t>
            </a:r>
            <a:r>
              <a:rPr lang="en-IN" sz="2400" dirty="0"/>
              <a:t>: To identify and correct errors that may occur during transmission, protocols use mechanisms like checksums. If a packet is found to be corrupted, it can be retransmitted to ensure data integrity.  </a:t>
            </a:r>
          </a:p>
          <a:p>
            <a:pPr marL="0" lvl="0" indent="0">
              <a:buNone/>
            </a:pPr>
            <a:r>
              <a:rPr lang="en-IN" sz="2400" b="1" dirty="0"/>
              <a:t>2. Acknowledgments (ACKs) and Negative Acknowledgments (NAKs)</a:t>
            </a:r>
            <a:r>
              <a:rPr lang="en-IN" sz="2400" dirty="0"/>
              <a:t>: The receiver sends an ACK to confirm successful receipt of a packet or a NAK to indicate an error, prompting the sender to retransmit the affected packet.</a:t>
            </a:r>
          </a:p>
          <a:p>
            <a:pPr marL="0" lvl="0" indent="0">
              <a:buNone/>
            </a:pPr>
            <a:r>
              <a:rPr lang="en-IN" sz="2400" b="1" dirty="0"/>
              <a:t>3. Sequence Numbers</a:t>
            </a:r>
            <a:r>
              <a:rPr lang="en-IN" sz="2400" dirty="0"/>
              <a:t>: Assigning sequence numbers to packets helps in maintaining the correct order of data and detecting duplicates. This ensures that the data is reassembled correctly at the destination</a:t>
            </a:r>
          </a:p>
          <a:p>
            <a:pPr marL="0" indent="0">
              <a:buNone/>
            </a:pPr>
            <a:endParaRPr lang="en-IN" dirty="0"/>
          </a:p>
        </p:txBody>
      </p:sp>
    </p:spTree>
    <p:extLst>
      <p:ext uri="{BB962C8B-B14F-4D97-AF65-F5344CB8AC3E}">
        <p14:creationId xmlns:p14="http://schemas.microsoft.com/office/powerpoint/2010/main" val="2614556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29BDA-D2E8-446F-8F18-677F95D58027}"/>
              </a:ext>
            </a:extLst>
          </p:cNvPr>
          <p:cNvSpPr>
            <a:spLocks noGrp="1"/>
          </p:cNvSpPr>
          <p:nvPr>
            <p:ph type="title"/>
          </p:nvPr>
        </p:nvSpPr>
        <p:spPr>
          <a:xfrm>
            <a:off x="770965" y="365126"/>
            <a:ext cx="10582835" cy="315912"/>
          </a:xfrm>
        </p:spPr>
        <p:txBody>
          <a:bodyPr>
            <a:normAutofit/>
          </a:bodyPr>
          <a:lstStyle/>
          <a:p>
            <a:r>
              <a:rPr lang="en-IN" sz="1400" dirty="0"/>
              <a:t>Continued…</a:t>
            </a:r>
          </a:p>
        </p:txBody>
      </p:sp>
      <p:sp>
        <p:nvSpPr>
          <p:cNvPr id="3" name="Content Placeholder 2">
            <a:extLst>
              <a:ext uri="{FF2B5EF4-FFF2-40B4-BE49-F238E27FC236}">
                <a16:creationId xmlns:a16="http://schemas.microsoft.com/office/drawing/2014/main" id="{ACD52228-7CD4-441A-AD55-9C7DFC1B3E79}"/>
              </a:ext>
            </a:extLst>
          </p:cNvPr>
          <p:cNvSpPr>
            <a:spLocks noGrp="1"/>
          </p:cNvSpPr>
          <p:nvPr>
            <p:ph idx="1"/>
          </p:nvPr>
        </p:nvSpPr>
        <p:spPr>
          <a:xfrm>
            <a:off x="770965" y="1048871"/>
            <a:ext cx="10582835" cy="5128092"/>
          </a:xfrm>
        </p:spPr>
        <p:txBody>
          <a:bodyPr/>
          <a:lstStyle/>
          <a:p>
            <a:pPr marL="0" indent="0">
              <a:buNone/>
            </a:pPr>
            <a:endParaRPr lang="en-IN" sz="2400" dirty="0"/>
          </a:p>
          <a:p>
            <a:pPr marL="0" indent="0">
              <a:buNone/>
            </a:pPr>
            <a:r>
              <a:rPr lang="en-IN" sz="2400" dirty="0"/>
              <a:t>4. </a:t>
            </a:r>
            <a:r>
              <a:rPr lang="en-IN" sz="2400" b="1" dirty="0"/>
              <a:t>Retransmission Strategies</a:t>
            </a:r>
            <a:r>
              <a:rPr lang="en-IN" sz="2400" dirty="0"/>
              <a:t>: If an acknowledgment is not received within a certain timeframe, the sender assumes the packet was lost and retransmits it. This is managed through timers and retransmission protocols. </a:t>
            </a:r>
          </a:p>
          <a:p>
            <a:pPr marL="0" indent="0">
              <a:buNone/>
            </a:pPr>
            <a:endParaRPr lang="en-IN" sz="2400" dirty="0"/>
          </a:p>
          <a:p>
            <a:pPr marL="0" indent="0">
              <a:buNone/>
            </a:pPr>
            <a:r>
              <a:rPr lang="en-IN" sz="2400" dirty="0"/>
              <a:t>5. </a:t>
            </a:r>
            <a:r>
              <a:rPr lang="en-IN" sz="2400" b="1" dirty="0"/>
              <a:t>Flow Control</a:t>
            </a:r>
            <a:r>
              <a:rPr lang="en-IN" sz="2400" dirty="0"/>
              <a:t>: To prevent overwhelming the receiver, flow control mechanisms regulate the rate of data transmission based on the receiver's capacity to process incoming data.  </a:t>
            </a:r>
          </a:p>
          <a:p>
            <a:pPr marL="0" indent="0">
              <a:buNone/>
            </a:pPr>
            <a:endParaRPr lang="en-IN" sz="2400" dirty="0"/>
          </a:p>
          <a:p>
            <a:pPr marL="0" indent="0">
              <a:buNone/>
            </a:pPr>
            <a:r>
              <a:rPr lang="en-IN" sz="2400" dirty="0"/>
              <a:t>6. </a:t>
            </a:r>
            <a:r>
              <a:rPr lang="en-IN" sz="2400" b="1" dirty="0"/>
              <a:t>Congestion Control</a:t>
            </a:r>
            <a:r>
              <a:rPr lang="en-IN" sz="2400" dirty="0"/>
              <a:t>: Protocols like TCP implement congestion control to adjust the rate of data transmission based on network traffic conditions, preventing packet loss due to congestion</a:t>
            </a:r>
          </a:p>
        </p:txBody>
      </p:sp>
    </p:spTree>
    <p:extLst>
      <p:ext uri="{BB962C8B-B14F-4D97-AF65-F5344CB8AC3E}">
        <p14:creationId xmlns:p14="http://schemas.microsoft.com/office/powerpoint/2010/main" val="75572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E222-B535-491B-BBDD-7770641B4336}"/>
              </a:ext>
            </a:extLst>
          </p:cNvPr>
          <p:cNvSpPr>
            <a:spLocks noGrp="1"/>
          </p:cNvSpPr>
          <p:nvPr>
            <p:ph type="title"/>
          </p:nvPr>
        </p:nvSpPr>
        <p:spPr>
          <a:xfrm>
            <a:off x="838200" y="365126"/>
            <a:ext cx="10515600" cy="665816"/>
          </a:xfrm>
        </p:spPr>
        <p:txBody>
          <a:bodyPr>
            <a:normAutofit/>
          </a:bodyPr>
          <a:lstStyle/>
          <a:p>
            <a:r>
              <a:rPr lang="en-IN" sz="3200" dirty="0"/>
              <a:t>Protocols Implementing Reliable Data Transfer</a:t>
            </a:r>
          </a:p>
        </p:txBody>
      </p:sp>
      <p:sp>
        <p:nvSpPr>
          <p:cNvPr id="3" name="Content Placeholder 2">
            <a:extLst>
              <a:ext uri="{FF2B5EF4-FFF2-40B4-BE49-F238E27FC236}">
                <a16:creationId xmlns:a16="http://schemas.microsoft.com/office/drawing/2014/main" id="{A50CFF3D-ABBA-4D3D-8419-AEB095979E00}"/>
              </a:ext>
            </a:extLst>
          </p:cNvPr>
          <p:cNvSpPr>
            <a:spLocks noGrp="1"/>
          </p:cNvSpPr>
          <p:nvPr>
            <p:ph idx="1"/>
          </p:nvPr>
        </p:nvSpPr>
        <p:spPr/>
        <p:txBody>
          <a:bodyPr>
            <a:normAutofit/>
          </a:bodyPr>
          <a:lstStyle/>
          <a:p>
            <a:r>
              <a:rPr lang="en-US" sz="2400" b="1" dirty="0"/>
              <a:t>Transmission Control Protocol (TCP)</a:t>
            </a:r>
            <a:r>
              <a:rPr lang="en-US" sz="2400" dirty="0"/>
              <a:t>: TCP is a widely used transport layer protocol that provides reliable, ordered, and error-checked delivery of data between applications. It incorporates all the above mechanisms to ensure data integrity and efficient transmission.</a:t>
            </a:r>
          </a:p>
          <a:p>
            <a:pPr marL="0" indent="0">
              <a:buNone/>
            </a:pPr>
            <a:endParaRPr lang="en-US" sz="2400" dirty="0"/>
          </a:p>
          <a:p>
            <a:r>
              <a:rPr lang="en-US" sz="2400" b="1" dirty="0"/>
              <a:t>Automatic Repeat </a:t>
            </a:r>
            <a:r>
              <a:rPr lang="en-US" sz="2400" b="1" dirty="0" err="1"/>
              <a:t>reQuest</a:t>
            </a:r>
            <a:r>
              <a:rPr lang="en-US" sz="2400" b="1" dirty="0"/>
              <a:t> (ARQ)</a:t>
            </a:r>
            <a:r>
              <a:rPr lang="en-US" sz="2400" dirty="0"/>
              <a:t>: ARQ protocols, such as Stop-and-Wait, Go-Back-N, and Selective Repeat, are used to ensure reliable data transmission by retransmitting lost or corrupted packets based on acknowledgments received.</a:t>
            </a:r>
            <a:endParaRPr lang="en-IN" sz="2400" dirty="0"/>
          </a:p>
        </p:txBody>
      </p:sp>
    </p:spTree>
    <p:extLst>
      <p:ext uri="{BB962C8B-B14F-4D97-AF65-F5344CB8AC3E}">
        <p14:creationId xmlns:p14="http://schemas.microsoft.com/office/powerpoint/2010/main" val="36603511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4053-3D3E-4428-84B1-1944907DAD4D}"/>
              </a:ext>
            </a:extLst>
          </p:cNvPr>
          <p:cNvSpPr>
            <a:spLocks noGrp="1"/>
          </p:cNvSpPr>
          <p:nvPr>
            <p:ph type="title"/>
          </p:nvPr>
        </p:nvSpPr>
        <p:spPr>
          <a:xfrm>
            <a:off x="753035" y="365125"/>
            <a:ext cx="10600765" cy="549275"/>
          </a:xfrm>
        </p:spPr>
        <p:txBody>
          <a:bodyPr>
            <a:normAutofit fontScale="90000"/>
          </a:bodyPr>
          <a:lstStyle/>
          <a:p>
            <a:br>
              <a:rPr lang="en-IN" b="1" dirty="0"/>
            </a:br>
            <a:r>
              <a:rPr lang="en-IN" b="1" dirty="0"/>
              <a:t>TCP Flow Control</a:t>
            </a:r>
            <a:br>
              <a:rPr lang="en-IN" b="1" dirty="0"/>
            </a:br>
            <a:endParaRPr lang="en-IN" dirty="0"/>
          </a:p>
        </p:txBody>
      </p:sp>
      <p:sp>
        <p:nvSpPr>
          <p:cNvPr id="3" name="Content Placeholder 2">
            <a:extLst>
              <a:ext uri="{FF2B5EF4-FFF2-40B4-BE49-F238E27FC236}">
                <a16:creationId xmlns:a16="http://schemas.microsoft.com/office/drawing/2014/main" id="{4F96DE98-56CF-45F1-83B5-8AA118FB11A8}"/>
              </a:ext>
            </a:extLst>
          </p:cNvPr>
          <p:cNvSpPr>
            <a:spLocks noGrp="1"/>
          </p:cNvSpPr>
          <p:nvPr>
            <p:ph idx="1"/>
          </p:nvPr>
        </p:nvSpPr>
        <p:spPr>
          <a:xfrm>
            <a:off x="753035" y="1290918"/>
            <a:ext cx="10600765" cy="4886045"/>
          </a:xfrm>
        </p:spPr>
        <p:txBody>
          <a:bodyPr/>
          <a:lstStyle/>
          <a:p>
            <a:r>
              <a:rPr lang="en-US" sz="2000" dirty="0"/>
              <a:t>TCP is the protocol that guarantees we can have a reliable communication channel over an unreliable network.</a:t>
            </a:r>
          </a:p>
          <a:p>
            <a:r>
              <a:rPr lang="en-US" sz="2000" dirty="0"/>
              <a:t>When we send data from a node to another, packets can be lost, they can arrive out of order, the network can be congested or the receiver node can be overloaded. </a:t>
            </a:r>
          </a:p>
          <a:p>
            <a:r>
              <a:rPr lang="en-US" altLang="en-US" sz="2000" dirty="0">
                <a:solidFill>
                  <a:srgbClr val="3A4145"/>
                </a:solidFill>
                <a:latin typeface="Noto Serif"/>
              </a:rPr>
              <a:t>So, the important service that </a:t>
            </a:r>
            <a:r>
              <a:rPr lang="en-US" altLang="en-US" sz="2000" dirty="0">
                <a:solidFill>
                  <a:srgbClr val="3A4145"/>
                </a:solidFill>
                <a:latin typeface="Inconsolata"/>
              </a:rPr>
              <a:t>TCP</a:t>
            </a:r>
            <a:r>
              <a:rPr lang="en-US" altLang="en-US" sz="2000" dirty="0">
                <a:solidFill>
                  <a:srgbClr val="3A4145"/>
                </a:solidFill>
                <a:latin typeface="Noto Serif"/>
              </a:rPr>
              <a:t> provides is what is called </a:t>
            </a:r>
            <a:r>
              <a:rPr lang="en-US" altLang="en-US" sz="2000" i="1" dirty="0">
                <a:solidFill>
                  <a:srgbClr val="3A4145"/>
                </a:solidFill>
                <a:latin typeface="Noto Serif"/>
              </a:rPr>
              <a:t>Flow Control</a:t>
            </a:r>
            <a:r>
              <a:rPr lang="en-US" altLang="en-US" sz="2000" dirty="0">
                <a:solidFill>
                  <a:srgbClr val="3A4145"/>
                </a:solidFill>
                <a:latin typeface="Noto Serif"/>
              </a:rPr>
              <a:t>. </a:t>
            </a:r>
            <a:r>
              <a:rPr lang="en-US" altLang="en-US" sz="2000" dirty="0"/>
              <a:t> </a:t>
            </a:r>
          </a:p>
          <a:p>
            <a:r>
              <a:rPr lang="en-US" altLang="en-US" sz="2000" dirty="0">
                <a:solidFill>
                  <a:srgbClr val="3A4145"/>
                </a:solidFill>
                <a:latin typeface="Noto Serif"/>
              </a:rPr>
              <a:t>Flow Control basically means that </a:t>
            </a:r>
            <a:r>
              <a:rPr lang="en-US" altLang="en-US" sz="2000" dirty="0">
                <a:solidFill>
                  <a:srgbClr val="3A4145"/>
                </a:solidFill>
                <a:latin typeface="Inconsolata"/>
              </a:rPr>
              <a:t>TCP</a:t>
            </a:r>
            <a:r>
              <a:rPr lang="en-US" altLang="en-US" sz="2000" dirty="0">
                <a:solidFill>
                  <a:srgbClr val="3A4145"/>
                </a:solidFill>
                <a:latin typeface="Noto Serif"/>
              </a:rPr>
              <a:t> will ensure that a sender is not overwhelming a receiver by sending packets faster than it can consume.</a:t>
            </a:r>
            <a:r>
              <a:rPr lang="en-US" altLang="en-US" sz="2000" dirty="0"/>
              <a:t> </a:t>
            </a:r>
            <a:endParaRPr lang="en-US" altLang="en-US" sz="2000" dirty="0">
              <a:latin typeface="Arial" panose="020B0604020202020204" pitchFamily="34" charset="0"/>
            </a:endParaRPr>
          </a:p>
          <a:p>
            <a:pPr marL="0" indent="0">
              <a:buNone/>
            </a:pPr>
            <a:endParaRPr lang="en-US" altLang="en-US" sz="2000" dirty="0">
              <a:latin typeface="Arial" panose="020B0604020202020204" pitchFamily="34" charset="0"/>
            </a:endParaRPr>
          </a:p>
          <a:p>
            <a:endParaRPr lang="en-US" altLang="en-US" sz="2000" dirty="0">
              <a:latin typeface="Arial" panose="020B0604020202020204" pitchFamily="34" charset="0"/>
            </a:endParaRPr>
          </a:p>
          <a:p>
            <a:endParaRPr lang="en-IN" dirty="0"/>
          </a:p>
        </p:txBody>
      </p:sp>
      <p:sp>
        <p:nvSpPr>
          <p:cNvPr id="8" name="Rectangle 5">
            <a:extLst>
              <a:ext uri="{FF2B5EF4-FFF2-40B4-BE49-F238E27FC236}">
                <a16:creationId xmlns:a16="http://schemas.microsoft.com/office/drawing/2014/main" id="{AD50E5DE-78F5-4A31-87DE-6FD7B83FF764}"/>
              </a:ext>
            </a:extLst>
          </p:cNvPr>
          <p:cNvSpPr>
            <a:spLocks noChangeArrowheads="1"/>
          </p:cNvSpPr>
          <p:nvPr/>
        </p:nvSpPr>
        <p:spPr bwMode="auto">
          <a:xfrm>
            <a:off x="0" y="-184666"/>
            <a:ext cx="184731" cy="369332"/>
          </a:xfrm>
          <a:prstGeom prst="rect">
            <a:avLst/>
          </a:prstGeom>
          <a:solidFill>
            <a:srgbClr val="F7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Rectangle 6">
            <a:extLst>
              <a:ext uri="{FF2B5EF4-FFF2-40B4-BE49-F238E27FC236}">
                <a16:creationId xmlns:a16="http://schemas.microsoft.com/office/drawing/2014/main" id="{51F895B2-E339-401E-8410-600128B95BF0}"/>
              </a:ext>
            </a:extLst>
          </p:cNvPr>
          <p:cNvSpPr>
            <a:spLocks noChangeArrowheads="1"/>
          </p:cNvSpPr>
          <p:nvPr/>
        </p:nvSpPr>
        <p:spPr bwMode="auto">
          <a:xfrm>
            <a:off x="0" y="-184666"/>
            <a:ext cx="184731" cy="369332"/>
          </a:xfrm>
          <a:prstGeom prst="rect">
            <a:avLst/>
          </a:prstGeom>
          <a:solidFill>
            <a:srgbClr val="F7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154471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041B-E964-4C62-B50A-6B9AD5BEF0A6}"/>
              </a:ext>
            </a:extLst>
          </p:cNvPr>
          <p:cNvSpPr>
            <a:spLocks noGrp="1"/>
          </p:cNvSpPr>
          <p:nvPr>
            <p:ph type="title"/>
          </p:nvPr>
        </p:nvSpPr>
        <p:spPr>
          <a:xfrm>
            <a:off x="838200" y="365125"/>
            <a:ext cx="10515600" cy="396875"/>
          </a:xfrm>
        </p:spPr>
        <p:txBody>
          <a:bodyPr>
            <a:normAutofit fontScale="90000"/>
          </a:bodyPr>
          <a:lstStyle/>
          <a:p>
            <a:br>
              <a:rPr lang="en-IN" sz="3100" b="1" dirty="0"/>
            </a:br>
            <a:r>
              <a:rPr lang="en-IN" sz="3100" b="1" dirty="0"/>
              <a:t>How it works</a:t>
            </a:r>
            <a:br>
              <a:rPr lang="en-IN" b="1" dirty="0"/>
            </a:br>
            <a:endParaRPr lang="en-IN" dirty="0"/>
          </a:p>
        </p:txBody>
      </p:sp>
      <p:sp>
        <p:nvSpPr>
          <p:cNvPr id="3" name="Content Placeholder 2">
            <a:extLst>
              <a:ext uri="{FF2B5EF4-FFF2-40B4-BE49-F238E27FC236}">
                <a16:creationId xmlns:a16="http://schemas.microsoft.com/office/drawing/2014/main" id="{71035F0B-E783-497A-B811-A5D84F4ED994}"/>
              </a:ext>
            </a:extLst>
          </p:cNvPr>
          <p:cNvSpPr>
            <a:spLocks noGrp="1"/>
          </p:cNvSpPr>
          <p:nvPr>
            <p:ph idx="1"/>
          </p:nvPr>
        </p:nvSpPr>
        <p:spPr>
          <a:xfrm>
            <a:off x="744071" y="762000"/>
            <a:ext cx="10609729" cy="5414963"/>
          </a:xfrm>
        </p:spPr>
        <p:txBody>
          <a:bodyPr>
            <a:normAutofit/>
          </a:bodyPr>
          <a:lstStyle/>
          <a:p>
            <a:pPr marL="0" indent="0">
              <a:buNone/>
            </a:pPr>
            <a:r>
              <a:rPr lang="en-US" sz="2000" dirty="0"/>
              <a:t>When we need to send data over a network, this is normally what happens.</a:t>
            </a:r>
            <a:endParaRPr lang="en-IN" sz="2000" dirty="0"/>
          </a:p>
        </p:txBody>
      </p:sp>
      <p:pic>
        <p:nvPicPr>
          <p:cNvPr id="4" name="Picture 3">
            <a:extLst>
              <a:ext uri="{FF2B5EF4-FFF2-40B4-BE49-F238E27FC236}">
                <a16:creationId xmlns:a16="http://schemas.microsoft.com/office/drawing/2014/main" id="{2C915F2F-B982-463E-9EFF-A6E6F3543C82}"/>
              </a:ext>
            </a:extLst>
          </p:cNvPr>
          <p:cNvPicPr>
            <a:picLocks noChangeAspect="1"/>
          </p:cNvPicPr>
          <p:nvPr/>
        </p:nvPicPr>
        <p:blipFill>
          <a:blip r:embed="rId2"/>
          <a:stretch>
            <a:fillRect/>
          </a:stretch>
        </p:blipFill>
        <p:spPr>
          <a:xfrm>
            <a:off x="3764751" y="1389529"/>
            <a:ext cx="5442002" cy="4760883"/>
          </a:xfrm>
          <a:prstGeom prst="rect">
            <a:avLst/>
          </a:prstGeom>
        </p:spPr>
      </p:pic>
    </p:spTree>
    <p:extLst>
      <p:ext uri="{BB962C8B-B14F-4D97-AF65-F5344CB8AC3E}">
        <p14:creationId xmlns:p14="http://schemas.microsoft.com/office/powerpoint/2010/main" val="1664572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0E91C-A479-4953-82FF-9F476621FDBB}"/>
              </a:ext>
            </a:extLst>
          </p:cNvPr>
          <p:cNvSpPr>
            <a:spLocks noGrp="1"/>
          </p:cNvSpPr>
          <p:nvPr>
            <p:ph type="title"/>
          </p:nvPr>
        </p:nvSpPr>
        <p:spPr>
          <a:xfrm>
            <a:off x="838200" y="365126"/>
            <a:ext cx="10515600" cy="459628"/>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FAB4318B-DC8D-4681-BF5F-8B92B8C9562E}"/>
              </a:ext>
            </a:extLst>
          </p:cNvPr>
          <p:cNvSpPr>
            <a:spLocks noGrp="1"/>
          </p:cNvSpPr>
          <p:nvPr>
            <p:ph idx="1"/>
          </p:nvPr>
        </p:nvSpPr>
        <p:spPr>
          <a:xfrm>
            <a:off x="838200" y="986118"/>
            <a:ext cx="10515600" cy="5190845"/>
          </a:xfrm>
        </p:spPr>
        <p:txBody>
          <a:bodyPr/>
          <a:lstStyle/>
          <a:p>
            <a:endParaRPr lang="en-US" sz="2000" dirty="0"/>
          </a:p>
          <a:p>
            <a:r>
              <a:rPr lang="en-US" sz="2000" dirty="0"/>
              <a:t>The sender application writes data to</a:t>
            </a:r>
            <a:r>
              <a:rPr lang="en-US" altLang="en-US" sz="2000" dirty="0">
                <a:solidFill>
                  <a:srgbClr val="3A4145"/>
                </a:solidFill>
                <a:latin typeface="Noto Serif"/>
              </a:rPr>
              <a:t> a socket, the transport layer (in our case, </a:t>
            </a:r>
            <a:r>
              <a:rPr lang="en-US" altLang="en-US" sz="2000" dirty="0">
                <a:solidFill>
                  <a:srgbClr val="3A4145"/>
                </a:solidFill>
                <a:latin typeface="Inconsolata"/>
              </a:rPr>
              <a:t>TCP</a:t>
            </a:r>
            <a:r>
              <a:rPr lang="en-US" altLang="en-US" sz="2000" dirty="0">
                <a:solidFill>
                  <a:srgbClr val="3A4145"/>
                </a:solidFill>
                <a:latin typeface="Noto Serif"/>
              </a:rPr>
              <a:t>) will wrap this data in a segment and hand it to the network layer (e.g. </a:t>
            </a:r>
            <a:r>
              <a:rPr lang="en-US" altLang="en-US" sz="2000" dirty="0">
                <a:solidFill>
                  <a:srgbClr val="3A4145"/>
                </a:solidFill>
                <a:latin typeface="Inconsolata"/>
              </a:rPr>
              <a:t>IP</a:t>
            </a:r>
            <a:r>
              <a:rPr lang="en-US" altLang="en-US" sz="2000" dirty="0">
                <a:solidFill>
                  <a:srgbClr val="3A4145"/>
                </a:solidFill>
                <a:latin typeface="Noto Serif"/>
              </a:rPr>
              <a:t>), that will somehow route this packet to the receiving node.</a:t>
            </a:r>
            <a:r>
              <a:rPr lang="en-US" altLang="en-US" sz="2000" dirty="0"/>
              <a:t> </a:t>
            </a:r>
          </a:p>
          <a:p>
            <a:r>
              <a:rPr lang="en-US" sz="2000" dirty="0"/>
              <a:t>On the other side of this communication, the network layer will deliver this piece of data to TCP, that will make it available to the receiver application as an exact copy of the data sent, meaning if will not deliver packets out of order, and will wait for a retransmission in case it notices a gap in the byte stream</a:t>
            </a:r>
            <a:r>
              <a:rPr lang="en-US" dirty="0"/>
              <a:t>.</a:t>
            </a:r>
            <a:endParaRPr lang="en-US" altLang="en-US" sz="2000" dirty="0">
              <a:latin typeface="Arial" panose="020B0604020202020204" pitchFamily="34" charset="0"/>
            </a:endParaRPr>
          </a:p>
          <a:p>
            <a:endParaRPr lang="en-IN" dirty="0"/>
          </a:p>
        </p:txBody>
      </p:sp>
      <p:sp>
        <p:nvSpPr>
          <p:cNvPr id="6" name="Rectangle 3">
            <a:extLst>
              <a:ext uri="{FF2B5EF4-FFF2-40B4-BE49-F238E27FC236}">
                <a16:creationId xmlns:a16="http://schemas.microsoft.com/office/drawing/2014/main" id="{2ACEA426-30BD-43CD-972B-05D1A8F5D9E3}"/>
              </a:ext>
            </a:extLst>
          </p:cNvPr>
          <p:cNvSpPr>
            <a:spLocks noChangeArrowheads="1"/>
          </p:cNvSpPr>
          <p:nvPr/>
        </p:nvSpPr>
        <p:spPr bwMode="auto">
          <a:xfrm>
            <a:off x="0" y="-184666"/>
            <a:ext cx="184731" cy="369332"/>
          </a:xfrm>
          <a:prstGeom prst="rect">
            <a:avLst/>
          </a:prstGeom>
          <a:solidFill>
            <a:srgbClr val="F7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560922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5528-7C26-4A0A-A531-3C963D47BAD9}"/>
              </a:ext>
            </a:extLst>
          </p:cNvPr>
          <p:cNvSpPr>
            <a:spLocks noGrp="1"/>
          </p:cNvSpPr>
          <p:nvPr>
            <p:ph type="title"/>
          </p:nvPr>
        </p:nvSpPr>
        <p:spPr>
          <a:xfrm>
            <a:off x="838200" y="365125"/>
            <a:ext cx="10515600" cy="674781"/>
          </a:xfrm>
        </p:spPr>
        <p:txBody>
          <a:bodyPr>
            <a:normAutofit/>
          </a:bodyPr>
          <a:lstStyle/>
          <a:p>
            <a:r>
              <a:rPr lang="en-US" sz="2400" dirty="0"/>
              <a:t>If we zoom in, we will see something like this.</a:t>
            </a:r>
            <a:endParaRPr lang="en-IN" sz="2400" dirty="0"/>
          </a:p>
        </p:txBody>
      </p:sp>
      <p:pic>
        <p:nvPicPr>
          <p:cNvPr id="4" name="Content Placeholder 3">
            <a:extLst>
              <a:ext uri="{FF2B5EF4-FFF2-40B4-BE49-F238E27FC236}">
                <a16:creationId xmlns:a16="http://schemas.microsoft.com/office/drawing/2014/main" id="{4205DB13-5939-44D9-90EC-091A12DF3532}"/>
              </a:ext>
            </a:extLst>
          </p:cNvPr>
          <p:cNvPicPr>
            <a:picLocks noGrp="1" noChangeAspect="1"/>
          </p:cNvPicPr>
          <p:nvPr>
            <p:ph idx="1"/>
          </p:nvPr>
        </p:nvPicPr>
        <p:blipFill>
          <a:blip r:embed="rId2"/>
          <a:stretch>
            <a:fillRect/>
          </a:stretch>
        </p:blipFill>
        <p:spPr>
          <a:xfrm>
            <a:off x="2028825" y="1397795"/>
            <a:ext cx="7787528" cy="4550324"/>
          </a:xfrm>
          <a:prstGeom prst="rect">
            <a:avLst/>
          </a:prstGeom>
        </p:spPr>
      </p:pic>
    </p:spTree>
    <p:extLst>
      <p:ext uri="{BB962C8B-B14F-4D97-AF65-F5344CB8AC3E}">
        <p14:creationId xmlns:p14="http://schemas.microsoft.com/office/powerpoint/2010/main" val="4096889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EFD62-C7CF-4790-8A7E-107359034168}"/>
              </a:ext>
            </a:extLst>
          </p:cNvPr>
          <p:cNvSpPr>
            <a:spLocks noGrp="1"/>
          </p:cNvSpPr>
          <p:nvPr>
            <p:ph type="title"/>
          </p:nvPr>
        </p:nvSpPr>
        <p:spPr>
          <a:xfrm>
            <a:off x="838200" y="365125"/>
            <a:ext cx="10515600" cy="620993"/>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DF084F5A-E7B6-45CB-A001-1C294D484076}"/>
              </a:ext>
            </a:extLst>
          </p:cNvPr>
          <p:cNvSpPr>
            <a:spLocks noGrp="1"/>
          </p:cNvSpPr>
          <p:nvPr>
            <p:ph idx="1"/>
          </p:nvPr>
        </p:nvSpPr>
        <p:spPr>
          <a:xfrm>
            <a:off x="838200" y="1281953"/>
            <a:ext cx="10515600" cy="4895010"/>
          </a:xfrm>
        </p:spPr>
        <p:txBody>
          <a:bodyPr>
            <a:normAutofit/>
          </a:bodyPr>
          <a:lstStyle/>
          <a:p>
            <a:pPr algn="just"/>
            <a:r>
              <a:rPr lang="en-US" sz="2000" dirty="0"/>
              <a:t>TCP stores the data it needs to send in the </a:t>
            </a:r>
            <a:r>
              <a:rPr lang="en-US" sz="2000" i="1" dirty="0"/>
              <a:t>send buffer</a:t>
            </a:r>
            <a:r>
              <a:rPr lang="en-US" sz="2000" dirty="0"/>
              <a:t>, and the data it receives in the </a:t>
            </a:r>
            <a:r>
              <a:rPr lang="en-US" sz="2000" i="1" dirty="0"/>
              <a:t>receive buffer</a:t>
            </a:r>
            <a:r>
              <a:rPr lang="en-US" sz="2000" dirty="0"/>
              <a:t>. When the application is ready, it will then read data from the receive buffer.</a:t>
            </a:r>
          </a:p>
          <a:p>
            <a:pPr algn="just"/>
            <a:r>
              <a:rPr lang="en-US" sz="2000" dirty="0"/>
              <a:t>Flow Control is all about making sure we don’t send more packets when the receive buffer is already full, as the receiver wouldn’t be able to handle them and would need to drop these packets.</a:t>
            </a:r>
          </a:p>
          <a:p>
            <a:pPr algn="just"/>
            <a:r>
              <a:rPr lang="en-US" sz="2000" dirty="0"/>
              <a:t>To control the amount of data that TCP can send, the receiver will advertise its </a:t>
            </a:r>
            <a:r>
              <a:rPr lang="en-US" sz="2000" i="1" dirty="0"/>
              <a:t>Receive Window (</a:t>
            </a:r>
            <a:r>
              <a:rPr lang="en-US" sz="2000" i="1" dirty="0" err="1"/>
              <a:t>rwnd</a:t>
            </a:r>
            <a:r>
              <a:rPr lang="en-US" sz="2000" i="1" dirty="0"/>
              <a:t>)</a:t>
            </a:r>
            <a:r>
              <a:rPr lang="en-US" sz="2000" dirty="0"/>
              <a:t>, that is, the spare room in the receive buffer.</a:t>
            </a:r>
          </a:p>
          <a:p>
            <a:pPr algn="just"/>
            <a:r>
              <a:rPr lang="en-IN" sz="2000" dirty="0"/>
              <a:t>Every time TCP </a:t>
            </a:r>
            <a:r>
              <a:rPr lang="en-US" altLang="en-US" sz="2000" dirty="0">
                <a:solidFill>
                  <a:srgbClr val="3A4145"/>
                </a:solidFill>
                <a:latin typeface="Noto Serif"/>
              </a:rPr>
              <a:t>receives a packet, it needs to send an </a:t>
            </a:r>
            <a:r>
              <a:rPr lang="en-US" altLang="en-US" sz="2000" dirty="0">
                <a:solidFill>
                  <a:srgbClr val="3A4145"/>
                </a:solidFill>
                <a:latin typeface="Inconsolata"/>
              </a:rPr>
              <a:t>ack</a:t>
            </a:r>
            <a:r>
              <a:rPr lang="en-US" altLang="en-US" sz="2000" dirty="0">
                <a:solidFill>
                  <a:srgbClr val="3A4145"/>
                </a:solidFill>
                <a:latin typeface="Noto Serif"/>
              </a:rPr>
              <a:t> message to the sender, acknowledging it received that packet correctly, and with this </a:t>
            </a:r>
            <a:r>
              <a:rPr lang="en-US" altLang="en-US" sz="2000" dirty="0">
                <a:solidFill>
                  <a:srgbClr val="3A4145"/>
                </a:solidFill>
                <a:latin typeface="Inconsolata"/>
              </a:rPr>
              <a:t>ack</a:t>
            </a:r>
            <a:r>
              <a:rPr lang="en-US" altLang="en-US" sz="2000" dirty="0">
                <a:solidFill>
                  <a:srgbClr val="3A4145"/>
                </a:solidFill>
                <a:latin typeface="Noto Serif"/>
              </a:rPr>
              <a:t> message it sends the value of the current receive window, so the sender knows if it can keep sending data.</a:t>
            </a:r>
            <a:r>
              <a:rPr lang="en-US" altLang="en-US" sz="2000" dirty="0"/>
              <a:t> </a:t>
            </a:r>
            <a:endParaRPr lang="en-US" altLang="en-US" sz="2000" dirty="0">
              <a:latin typeface="Arial" panose="020B0604020202020204" pitchFamily="34" charset="0"/>
            </a:endParaRPr>
          </a:p>
          <a:p>
            <a:endParaRPr lang="en-IN" sz="2400" dirty="0"/>
          </a:p>
        </p:txBody>
      </p:sp>
      <p:sp>
        <p:nvSpPr>
          <p:cNvPr id="4" name="Rectangle 1">
            <a:extLst>
              <a:ext uri="{FF2B5EF4-FFF2-40B4-BE49-F238E27FC236}">
                <a16:creationId xmlns:a16="http://schemas.microsoft.com/office/drawing/2014/main" id="{492F1E50-DF4A-46C9-A1A3-78FA46C515BB}"/>
              </a:ext>
            </a:extLst>
          </p:cNvPr>
          <p:cNvSpPr>
            <a:spLocks noChangeArrowheads="1"/>
          </p:cNvSpPr>
          <p:nvPr/>
        </p:nvSpPr>
        <p:spPr bwMode="auto">
          <a:xfrm>
            <a:off x="0" y="-184666"/>
            <a:ext cx="184731" cy="369332"/>
          </a:xfrm>
          <a:prstGeom prst="rect">
            <a:avLst/>
          </a:prstGeom>
          <a:solidFill>
            <a:srgbClr val="F7FAF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270942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D6126F-DF58-4660-A642-F037A68D4288}"/>
              </a:ext>
            </a:extLst>
          </p:cNvPr>
          <p:cNvSpPr/>
          <p:nvPr/>
        </p:nvSpPr>
        <p:spPr>
          <a:xfrm>
            <a:off x="4007224" y="950259"/>
            <a:ext cx="2554941" cy="8426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TCP flow Control</a:t>
            </a:r>
            <a:endParaRPr lang="en-IN" dirty="0"/>
          </a:p>
        </p:txBody>
      </p:sp>
      <p:sp>
        <p:nvSpPr>
          <p:cNvPr id="3" name="Rectangle: Rounded Corners 2">
            <a:extLst>
              <a:ext uri="{FF2B5EF4-FFF2-40B4-BE49-F238E27FC236}">
                <a16:creationId xmlns:a16="http://schemas.microsoft.com/office/drawing/2014/main" id="{D8D890E1-734B-419E-80DF-F2887AA466AD}"/>
              </a:ext>
            </a:extLst>
          </p:cNvPr>
          <p:cNvSpPr/>
          <p:nvPr/>
        </p:nvSpPr>
        <p:spPr>
          <a:xfrm>
            <a:off x="1990165" y="3191436"/>
            <a:ext cx="1828797" cy="811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Stop and Wait</a:t>
            </a:r>
            <a:endParaRPr lang="en-IN" dirty="0"/>
          </a:p>
        </p:txBody>
      </p:sp>
      <p:sp>
        <p:nvSpPr>
          <p:cNvPr id="4" name="Rectangle: Rounded Corners 3">
            <a:extLst>
              <a:ext uri="{FF2B5EF4-FFF2-40B4-BE49-F238E27FC236}">
                <a16:creationId xmlns:a16="http://schemas.microsoft.com/office/drawing/2014/main" id="{A74393C1-5225-40A7-9C7A-2BF0B78329B3}"/>
              </a:ext>
            </a:extLst>
          </p:cNvPr>
          <p:cNvSpPr/>
          <p:nvPr/>
        </p:nvSpPr>
        <p:spPr>
          <a:xfrm>
            <a:off x="6230471" y="3191436"/>
            <a:ext cx="2070847" cy="811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Sliding Window</a:t>
            </a:r>
            <a:endParaRPr lang="en-IN" dirty="0"/>
          </a:p>
        </p:txBody>
      </p:sp>
      <p:cxnSp>
        <p:nvCxnSpPr>
          <p:cNvPr id="8" name="Straight Connector 7">
            <a:extLst>
              <a:ext uri="{FF2B5EF4-FFF2-40B4-BE49-F238E27FC236}">
                <a16:creationId xmlns:a16="http://schemas.microsoft.com/office/drawing/2014/main" id="{CD913FD9-EB2D-4073-8F74-E49A27883B0E}"/>
              </a:ext>
            </a:extLst>
          </p:cNvPr>
          <p:cNvCxnSpPr>
            <a:cxnSpLocks/>
            <a:stCxn id="2" idx="2"/>
          </p:cNvCxnSpPr>
          <p:nvPr/>
        </p:nvCxnSpPr>
        <p:spPr>
          <a:xfrm>
            <a:off x="5284695" y="1792941"/>
            <a:ext cx="0" cy="84268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3CAD0E3-F222-4701-9ECF-49860D5F597C}"/>
              </a:ext>
            </a:extLst>
          </p:cNvPr>
          <p:cNvCxnSpPr>
            <a:cxnSpLocks/>
          </p:cNvCxnSpPr>
          <p:nvPr/>
        </p:nvCxnSpPr>
        <p:spPr>
          <a:xfrm>
            <a:off x="3110753" y="2635623"/>
            <a:ext cx="397136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4867160-3EC2-4995-83D3-5EB523D5EB0F}"/>
              </a:ext>
            </a:extLst>
          </p:cNvPr>
          <p:cNvCxnSpPr/>
          <p:nvPr/>
        </p:nvCxnSpPr>
        <p:spPr>
          <a:xfrm>
            <a:off x="3128682" y="2635623"/>
            <a:ext cx="0" cy="555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5DFCB16-28C0-455C-B35D-0BC4CB3AA769}"/>
              </a:ext>
            </a:extLst>
          </p:cNvPr>
          <p:cNvCxnSpPr/>
          <p:nvPr/>
        </p:nvCxnSpPr>
        <p:spPr>
          <a:xfrm>
            <a:off x="7082118" y="2635623"/>
            <a:ext cx="0" cy="5558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3846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B3C0-9DE1-4EF2-8382-EAADCB43DF50}"/>
              </a:ext>
            </a:extLst>
          </p:cNvPr>
          <p:cNvSpPr>
            <a:spLocks noGrp="1"/>
          </p:cNvSpPr>
          <p:nvPr>
            <p:ph type="title"/>
          </p:nvPr>
        </p:nvSpPr>
        <p:spPr>
          <a:xfrm>
            <a:off x="838200" y="365125"/>
            <a:ext cx="10515600" cy="603063"/>
          </a:xfrm>
        </p:spPr>
        <p:txBody>
          <a:bodyPr>
            <a:normAutofit fontScale="90000"/>
          </a:bodyPr>
          <a:lstStyle/>
          <a:p>
            <a:br>
              <a:rPr lang="en-US" b="1" dirty="0"/>
            </a:br>
            <a:r>
              <a:rPr lang="en-US" sz="3600" b="1" dirty="0"/>
              <a:t>Sliding Window Protocol - Go Back N (GBN)</a:t>
            </a:r>
            <a:br>
              <a:rPr lang="en-US" sz="3600" b="1" dirty="0"/>
            </a:br>
            <a:endParaRPr lang="en-IN" sz="3600" dirty="0"/>
          </a:p>
        </p:txBody>
      </p:sp>
      <p:sp>
        <p:nvSpPr>
          <p:cNvPr id="3" name="Content Placeholder 2">
            <a:extLst>
              <a:ext uri="{FF2B5EF4-FFF2-40B4-BE49-F238E27FC236}">
                <a16:creationId xmlns:a16="http://schemas.microsoft.com/office/drawing/2014/main" id="{B2793794-F5D2-4EF4-9537-D5D338A41CF3}"/>
              </a:ext>
            </a:extLst>
          </p:cNvPr>
          <p:cNvSpPr>
            <a:spLocks noGrp="1"/>
          </p:cNvSpPr>
          <p:nvPr>
            <p:ph idx="1"/>
          </p:nvPr>
        </p:nvSpPr>
        <p:spPr>
          <a:xfrm>
            <a:off x="905434" y="1290918"/>
            <a:ext cx="10448365" cy="4886045"/>
          </a:xfrm>
        </p:spPr>
        <p:txBody>
          <a:bodyPr/>
          <a:lstStyle/>
          <a:p>
            <a:pPr fontAlgn="base">
              <a:buFont typeface="Wingdings" panose="05000000000000000000" pitchFamily="2" charset="2"/>
              <a:buChar char="q"/>
            </a:pPr>
            <a:r>
              <a:rPr lang="en-US" sz="2000" dirty="0"/>
              <a:t>The </a:t>
            </a:r>
            <a:r>
              <a:rPr lang="en-US" sz="2000" b="1" dirty="0"/>
              <a:t>Sliding Window Protocol</a:t>
            </a:r>
            <a:r>
              <a:rPr lang="en-US" sz="2000" dirty="0"/>
              <a:t> is a method used in computer networks to manage the flow of data between two devices, ensuring that data is sent and received in the correct order.</a:t>
            </a:r>
          </a:p>
          <a:p>
            <a:pPr fontAlgn="base">
              <a:buFont typeface="Wingdings" panose="05000000000000000000" pitchFamily="2" charset="2"/>
              <a:buChar char="q"/>
            </a:pPr>
            <a:r>
              <a:rPr lang="en-US" sz="2000" dirty="0"/>
              <a:t> It works by allowing the sender to transmit multiple packets before needing an acknowledgment for each one which helps to keep the communication channel busy and improves overall data throughput.</a:t>
            </a:r>
          </a:p>
          <a:p>
            <a:pPr fontAlgn="base">
              <a:buFont typeface="Wingdings" panose="05000000000000000000" pitchFamily="2" charset="2"/>
              <a:buChar char="q"/>
            </a:pPr>
            <a:r>
              <a:rPr lang="en-US" sz="2000" dirty="0"/>
              <a:t>There are two types of sliding window protocol :</a:t>
            </a:r>
          </a:p>
          <a:p>
            <a:pPr fontAlgn="base">
              <a:buFont typeface="Wingdings" panose="05000000000000000000" pitchFamily="2" charset="2"/>
              <a:buChar char="q"/>
            </a:pPr>
            <a:endParaRPr lang="en-US" sz="2000" dirty="0"/>
          </a:p>
          <a:p>
            <a:pPr fontAlgn="base"/>
            <a:r>
              <a:rPr lang="en-US" sz="2000" b="1" dirty="0"/>
              <a:t>Go-Back-N (GBN)</a:t>
            </a:r>
            <a:endParaRPr lang="en-US" sz="2000" dirty="0"/>
          </a:p>
          <a:p>
            <a:pPr fontAlgn="base"/>
            <a:r>
              <a:rPr lang="en-US" sz="2000" dirty="0"/>
              <a:t>Selective Repeat (SR)</a:t>
            </a:r>
          </a:p>
          <a:p>
            <a:pPr marL="0" indent="0">
              <a:buNone/>
            </a:pPr>
            <a:endParaRPr lang="en-IN" dirty="0"/>
          </a:p>
        </p:txBody>
      </p:sp>
    </p:spTree>
    <p:extLst>
      <p:ext uri="{BB962C8B-B14F-4D97-AF65-F5344CB8AC3E}">
        <p14:creationId xmlns:p14="http://schemas.microsoft.com/office/powerpoint/2010/main" val="3091383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3F6B-7116-475F-B439-96ED415B8387}"/>
              </a:ext>
            </a:extLst>
          </p:cNvPr>
          <p:cNvSpPr>
            <a:spLocks noGrp="1"/>
          </p:cNvSpPr>
          <p:nvPr>
            <p:ph type="title"/>
          </p:nvPr>
        </p:nvSpPr>
        <p:spPr>
          <a:xfrm>
            <a:off x="838200" y="365125"/>
            <a:ext cx="10515600" cy="441699"/>
          </a:xfrm>
        </p:spPr>
        <p:txBody>
          <a:bodyPr>
            <a:normAutofit/>
          </a:bodyPr>
          <a:lstStyle/>
          <a:p>
            <a:r>
              <a:rPr lang="en-IN" sz="1200" dirty="0"/>
              <a:t>Continued…</a:t>
            </a:r>
          </a:p>
        </p:txBody>
      </p:sp>
      <p:sp>
        <p:nvSpPr>
          <p:cNvPr id="3" name="Content Placeholder 2">
            <a:extLst>
              <a:ext uri="{FF2B5EF4-FFF2-40B4-BE49-F238E27FC236}">
                <a16:creationId xmlns:a16="http://schemas.microsoft.com/office/drawing/2014/main" id="{E7DB623B-E5E5-4B4D-9B4D-D3BA95383E39}"/>
              </a:ext>
            </a:extLst>
          </p:cNvPr>
          <p:cNvSpPr>
            <a:spLocks noGrp="1"/>
          </p:cNvSpPr>
          <p:nvPr>
            <p:ph idx="1"/>
          </p:nvPr>
        </p:nvSpPr>
        <p:spPr>
          <a:xfrm>
            <a:off x="838200" y="1004047"/>
            <a:ext cx="10515600" cy="5172916"/>
          </a:xfrm>
        </p:spPr>
        <p:txBody>
          <a:bodyPr>
            <a:normAutofit/>
          </a:bodyPr>
          <a:lstStyle/>
          <a:p>
            <a:r>
              <a:rPr lang="en-US" sz="2400" dirty="0"/>
              <a:t>In </a:t>
            </a:r>
            <a:r>
              <a:rPr lang="en-US" sz="2400" b="1" dirty="0"/>
              <a:t>Go-Back-N</a:t>
            </a:r>
            <a:r>
              <a:rPr lang="en-US" sz="2400" dirty="0"/>
              <a:t>, the sender can send multiple data packets without waiting for an acknowledgement for each one. </a:t>
            </a:r>
          </a:p>
          <a:p>
            <a:r>
              <a:rPr lang="en-US" sz="2400" dirty="0"/>
              <a:t>However, it can only send a certain number of packets (this is called the "window size"). </a:t>
            </a:r>
          </a:p>
          <a:p>
            <a:r>
              <a:rPr lang="en-US" sz="2400" dirty="0"/>
              <a:t>If one packet is lost or not acknowledged, the sender must go back and resend that packet and all the packets that followed it, even if they were received correctly.</a:t>
            </a:r>
          </a:p>
          <a:p>
            <a:r>
              <a:rPr lang="en-US" sz="2400" dirty="0"/>
              <a:t> While </a:t>
            </a:r>
            <a:r>
              <a:rPr lang="en-US" sz="2400" b="1" dirty="0"/>
              <a:t>Selective Repeat </a:t>
            </a:r>
            <a:r>
              <a:rPr lang="en-US" sz="2400" dirty="0"/>
              <a:t>only retransmits the specific packets that were lost or corrupted.</a:t>
            </a:r>
            <a:endParaRPr lang="en-IN" sz="2400" dirty="0"/>
          </a:p>
        </p:txBody>
      </p:sp>
    </p:spTree>
    <p:extLst>
      <p:ext uri="{BB962C8B-B14F-4D97-AF65-F5344CB8AC3E}">
        <p14:creationId xmlns:p14="http://schemas.microsoft.com/office/powerpoint/2010/main" val="14860613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7C55-95F5-49BF-AF36-354C9A4B231E}"/>
              </a:ext>
            </a:extLst>
          </p:cNvPr>
          <p:cNvSpPr>
            <a:spLocks noGrp="1"/>
          </p:cNvSpPr>
          <p:nvPr>
            <p:ph type="title"/>
          </p:nvPr>
        </p:nvSpPr>
        <p:spPr>
          <a:xfrm>
            <a:off x="838200" y="365125"/>
            <a:ext cx="10515600" cy="576169"/>
          </a:xfrm>
        </p:spPr>
        <p:txBody>
          <a:bodyPr>
            <a:normAutofit fontScale="90000"/>
          </a:bodyPr>
          <a:lstStyle/>
          <a:p>
            <a:br>
              <a:rPr lang="en-IN" b="1" dirty="0"/>
            </a:br>
            <a:r>
              <a:rPr lang="en-IN" sz="3100" b="1" dirty="0"/>
              <a:t>Go-Back-N (GBN) Protocol</a:t>
            </a:r>
            <a:br>
              <a:rPr lang="en-IN" b="1" dirty="0"/>
            </a:br>
            <a:endParaRPr lang="en-IN" dirty="0"/>
          </a:p>
        </p:txBody>
      </p:sp>
      <p:sp>
        <p:nvSpPr>
          <p:cNvPr id="3" name="Content Placeholder 2">
            <a:extLst>
              <a:ext uri="{FF2B5EF4-FFF2-40B4-BE49-F238E27FC236}">
                <a16:creationId xmlns:a16="http://schemas.microsoft.com/office/drawing/2014/main" id="{0A0CA104-6797-4EDA-9D02-C7018AFD1DA4}"/>
              </a:ext>
            </a:extLst>
          </p:cNvPr>
          <p:cNvSpPr>
            <a:spLocks noGrp="1"/>
          </p:cNvSpPr>
          <p:nvPr>
            <p:ph idx="1"/>
          </p:nvPr>
        </p:nvSpPr>
        <p:spPr>
          <a:xfrm>
            <a:off x="950258" y="1246094"/>
            <a:ext cx="10403541" cy="4930869"/>
          </a:xfrm>
        </p:spPr>
        <p:txBody>
          <a:bodyPr/>
          <a:lstStyle/>
          <a:p>
            <a:pPr fontAlgn="base"/>
            <a:r>
              <a:rPr lang="en-US" sz="2400" dirty="0"/>
              <a:t>The Go-Back-N (GBN) protocol is a sliding window protocol used in networking for reliable data transmission. </a:t>
            </a:r>
          </a:p>
          <a:p>
            <a:pPr fontAlgn="base"/>
            <a:r>
              <a:rPr lang="en-US" sz="2400" dirty="0"/>
              <a:t>It is part of the Automatic Repeat </a:t>
            </a:r>
            <a:r>
              <a:rPr lang="en-US" sz="2400" dirty="0" err="1"/>
              <a:t>reQuest</a:t>
            </a:r>
            <a:r>
              <a:rPr lang="en-US" sz="2400" dirty="0"/>
              <a:t> (ARQ) protocols, which ensure that data is correctly received and that any lost or corrupted packets are retransmitted.</a:t>
            </a:r>
          </a:p>
          <a:p>
            <a:pPr fontAlgn="base"/>
            <a:r>
              <a:rPr lang="en-US" sz="2400" dirty="0"/>
              <a:t>For example, if packets 1, 2, 3, 4, and 5 are sent and packet 3 gets lost, the sender will have to resend packets 3, 4, and 5, even if 4 and 5 were received.</a:t>
            </a:r>
          </a:p>
          <a:p>
            <a:endParaRPr lang="en-IN" dirty="0"/>
          </a:p>
        </p:txBody>
      </p:sp>
    </p:spTree>
    <p:extLst>
      <p:ext uri="{BB962C8B-B14F-4D97-AF65-F5344CB8AC3E}">
        <p14:creationId xmlns:p14="http://schemas.microsoft.com/office/powerpoint/2010/main" val="1314055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AB75-D9D9-4369-8983-572CC93FAD3A}"/>
              </a:ext>
            </a:extLst>
          </p:cNvPr>
          <p:cNvSpPr>
            <a:spLocks noGrp="1"/>
          </p:cNvSpPr>
          <p:nvPr>
            <p:ph type="title"/>
          </p:nvPr>
        </p:nvSpPr>
        <p:spPr>
          <a:xfrm>
            <a:off x="762000" y="365125"/>
            <a:ext cx="10591800" cy="522381"/>
          </a:xfrm>
        </p:spPr>
        <p:txBody>
          <a:bodyPr>
            <a:normAutofit/>
          </a:bodyPr>
          <a:lstStyle/>
          <a:p>
            <a:r>
              <a:rPr lang="en-US" sz="2800" b="1" dirty="0"/>
              <a:t>The three main characteristic features of GBN are:</a:t>
            </a:r>
            <a:endParaRPr lang="en-IN" sz="2800" dirty="0"/>
          </a:p>
        </p:txBody>
      </p:sp>
      <p:sp>
        <p:nvSpPr>
          <p:cNvPr id="3" name="Content Placeholder 2">
            <a:extLst>
              <a:ext uri="{FF2B5EF4-FFF2-40B4-BE49-F238E27FC236}">
                <a16:creationId xmlns:a16="http://schemas.microsoft.com/office/drawing/2014/main" id="{F57D6B63-7B16-446A-B5E4-1911C55B3353}"/>
              </a:ext>
            </a:extLst>
          </p:cNvPr>
          <p:cNvSpPr>
            <a:spLocks noGrp="1"/>
          </p:cNvSpPr>
          <p:nvPr>
            <p:ph idx="1"/>
          </p:nvPr>
        </p:nvSpPr>
        <p:spPr>
          <a:xfrm>
            <a:off x="896470" y="1246094"/>
            <a:ext cx="10457329" cy="4930869"/>
          </a:xfrm>
        </p:spPr>
        <p:txBody>
          <a:bodyPr/>
          <a:lstStyle/>
          <a:p>
            <a:pPr marL="457200" indent="-457200">
              <a:buAutoNum type="arabicPeriod"/>
            </a:pPr>
            <a:r>
              <a:rPr lang="en-US" sz="2000" b="1" dirty="0"/>
              <a:t>Sender Window Size (W</a:t>
            </a:r>
            <a:r>
              <a:rPr lang="en-US" sz="2000" b="1" baseline="-25000" dirty="0"/>
              <a:t>R</a:t>
            </a:r>
            <a:r>
              <a:rPr lang="en-US" sz="2000" b="1" dirty="0"/>
              <a:t>)</a:t>
            </a:r>
          </a:p>
          <a:p>
            <a:r>
              <a:rPr lang="en-US" sz="2000" dirty="0"/>
              <a:t>It is N itself. If we say the protocol is GB10, then </a:t>
            </a:r>
            <a:r>
              <a:rPr lang="en-US" sz="2000" dirty="0" err="1"/>
              <a:t>Ws</a:t>
            </a:r>
            <a:r>
              <a:rPr lang="en-US" sz="2000" dirty="0"/>
              <a:t> = 10. N should be always greater than 1 in order to implement pipelining. For N = 1, it reduces to the stop and wait protocol.</a:t>
            </a:r>
          </a:p>
          <a:p>
            <a:pPr marL="0" indent="0">
              <a:buNone/>
            </a:pPr>
            <a:endParaRPr lang="en-US" sz="2000" b="1" dirty="0"/>
          </a:p>
          <a:p>
            <a:pPr marL="0" lvl="0" indent="0" eaLnBrk="0" fontAlgn="base" hangingPunct="0">
              <a:lnSpc>
                <a:spcPct val="100000"/>
              </a:lnSpc>
              <a:spcBef>
                <a:spcPct val="0"/>
              </a:spcBef>
              <a:spcAft>
                <a:spcPct val="0"/>
              </a:spcAft>
              <a:buNone/>
            </a:pPr>
            <a:r>
              <a:rPr lang="en-US" altLang="en-US" sz="2000" b="1" dirty="0">
                <a:latin typeface="Arial" panose="020B0604020202020204" pitchFamily="34" charset="0"/>
              </a:rPr>
              <a:t>Efficiency Of GBN = N/(1+2a)</a:t>
            </a:r>
            <a:endParaRPr lang="en-US" altLang="en-US" sz="20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2000" dirty="0">
                <a:solidFill>
                  <a:srgbClr val="273239"/>
                </a:solidFill>
                <a:latin typeface="Nunito"/>
              </a:rPr>
              <a:t>where,</a:t>
            </a:r>
            <a:endParaRPr lang="en-US" altLang="en-US" sz="2000" dirty="0"/>
          </a:p>
          <a:p>
            <a:pPr marL="0" lvl="0" indent="0" eaLnBrk="0" fontAlgn="base" hangingPunct="0">
              <a:lnSpc>
                <a:spcPct val="100000"/>
              </a:lnSpc>
              <a:spcBef>
                <a:spcPct val="0"/>
              </a:spcBef>
              <a:spcAft>
                <a:spcPct val="0"/>
              </a:spcAft>
              <a:buNone/>
            </a:pPr>
            <a:r>
              <a:rPr lang="en-US" altLang="en-US" sz="2000" dirty="0">
                <a:solidFill>
                  <a:srgbClr val="273239"/>
                </a:solidFill>
                <a:latin typeface="Nunito"/>
              </a:rPr>
              <a:t>a = </a:t>
            </a:r>
            <a:r>
              <a:rPr lang="en-US" altLang="en-US" sz="2000" dirty="0" err="1">
                <a:solidFill>
                  <a:srgbClr val="273239"/>
                </a:solidFill>
                <a:latin typeface="Nunito"/>
              </a:rPr>
              <a:t>Tp</a:t>
            </a:r>
            <a:r>
              <a:rPr lang="en-US" altLang="en-US" sz="2000" dirty="0">
                <a:solidFill>
                  <a:srgbClr val="273239"/>
                </a:solidFill>
                <a:latin typeface="Nunito"/>
              </a:rPr>
              <a:t>/Tt</a:t>
            </a:r>
            <a:br>
              <a:rPr lang="en-US" altLang="en-US" sz="2000" dirty="0">
                <a:solidFill>
                  <a:srgbClr val="273239"/>
                </a:solidFill>
                <a:latin typeface="Nunito"/>
              </a:rPr>
            </a:br>
            <a:r>
              <a:rPr lang="en-US" altLang="en-US" sz="2000" dirty="0" err="1">
                <a:solidFill>
                  <a:srgbClr val="273239"/>
                </a:solidFill>
                <a:latin typeface="Nunito"/>
              </a:rPr>
              <a:t>Tp</a:t>
            </a:r>
            <a:r>
              <a:rPr lang="en-US" altLang="en-US" sz="2000" dirty="0">
                <a:solidFill>
                  <a:srgbClr val="273239"/>
                </a:solidFill>
                <a:latin typeface="Nunito"/>
              </a:rPr>
              <a:t> = Propagation Delay</a:t>
            </a:r>
            <a:br>
              <a:rPr lang="en-US" altLang="en-US" sz="2000" dirty="0">
                <a:solidFill>
                  <a:srgbClr val="273239"/>
                </a:solidFill>
                <a:latin typeface="Nunito"/>
              </a:rPr>
            </a:br>
            <a:r>
              <a:rPr lang="en-US" altLang="en-US" sz="2000" dirty="0">
                <a:solidFill>
                  <a:srgbClr val="273239"/>
                </a:solidFill>
                <a:latin typeface="Nunito"/>
              </a:rPr>
              <a:t>Tt = Transmission Delay of sender</a:t>
            </a:r>
          </a:p>
          <a:p>
            <a:pPr marL="0" lvl="0" indent="0" eaLnBrk="0" fontAlgn="base" hangingPunct="0">
              <a:lnSpc>
                <a:spcPct val="100000"/>
              </a:lnSpc>
              <a:spcBef>
                <a:spcPct val="0"/>
              </a:spcBef>
              <a:spcAft>
                <a:spcPct val="0"/>
              </a:spcAft>
              <a:buNone/>
            </a:pPr>
            <a:endParaRPr lang="en-US" altLang="en-US" sz="2000" dirty="0">
              <a:solidFill>
                <a:srgbClr val="273239"/>
              </a:solidFill>
              <a:latin typeface="Nunito"/>
            </a:endParaRPr>
          </a:p>
          <a:p>
            <a:pPr marL="0" indent="0" fontAlgn="base">
              <a:buNone/>
            </a:pPr>
            <a:r>
              <a:rPr lang="en-US" sz="2000" b="1" dirty="0"/>
              <a:t>2. Receiver Window Size (W</a:t>
            </a:r>
            <a:r>
              <a:rPr lang="en-US" sz="2000" b="1" baseline="-25000" dirty="0"/>
              <a:t>R</a:t>
            </a:r>
            <a:r>
              <a:rPr lang="en-US" sz="2000" b="1" dirty="0"/>
              <a:t>)</a:t>
            </a:r>
          </a:p>
          <a:p>
            <a:pPr fontAlgn="base"/>
            <a:r>
              <a:rPr lang="en-US" sz="2000" dirty="0"/>
              <a:t>In the GB-N the receiver window size is one always. i.e. W</a:t>
            </a:r>
            <a:r>
              <a:rPr lang="en-US" sz="2000" baseline="-25000" dirty="0"/>
              <a:t>R</a:t>
            </a:r>
            <a:r>
              <a:rPr lang="en-US" sz="2000" dirty="0"/>
              <a:t> is always 1 in GBN.</a:t>
            </a:r>
          </a:p>
          <a:p>
            <a:pPr marL="0" lvl="0" indent="0" eaLnBrk="0" fontAlgn="base" hangingPunct="0">
              <a:lnSpc>
                <a:spcPct val="100000"/>
              </a:lnSpc>
              <a:spcBef>
                <a:spcPct val="0"/>
              </a:spcBef>
              <a:spcAft>
                <a:spcPct val="0"/>
              </a:spcAft>
              <a:buNone/>
            </a:pPr>
            <a:endParaRPr lang="en-US" altLang="en-US" sz="2000" dirty="0">
              <a:latin typeface="Arial" panose="020B0604020202020204" pitchFamily="34" charset="0"/>
            </a:endParaRPr>
          </a:p>
          <a:p>
            <a:pPr marL="0" indent="0">
              <a:buNone/>
            </a:pPr>
            <a:endParaRPr lang="en-IN" dirty="0"/>
          </a:p>
        </p:txBody>
      </p:sp>
      <p:sp>
        <p:nvSpPr>
          <p:cNvPr id="4" name="Rectangle 1">
            <a:extLst>
              <a:ext uri="{FF2B5EF4-FFF2-40B4-BE49-F238E27FC236}">
                <a16:creationId xmlns:a16="http://schemas.microsoft.com/office/drawing/2014/main" id="{DE20C2BE-5478-4ED4-A5E7-BCED560EA614}"/>
              </a:ext>
            </a:extLst>
          </p:cNvPr>
          <p:cNvSpPr>
            <a:spLocks noChangeArrowheads="1"/>
          </p:cNvSpPr>
          <p:nvPr/>
        </p:nvSpPr>
        <p:spPr bwMode="auto">
          <a:xfrm>
            <a:off x="0" y="128572"/>
            <a:ext cx="41678" cy="2000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a:rPr>
              <a:t>.</a:t>
            </a:r>
            <a:endParaRPr kumimoji="0" lang="en-US" altLang="en-US" sz="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59290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891F1-7DC9-4B49-B00C-2C0FD0349ADF}"/>
              </a:ext>
            </a:extLst>
          </p:cNvPr>
          <p:cNvSpPr>
            <a:spLocks noGrp="1"/>
          </p:cNvSpPr>
          <p:nvPr>
            <p:ph type="title"/>
          </p:nvPr>
        </p:nvSpPr>
        <p:spPr>
          <a:xfrm>
            <a:off x="838200" y="365125"/>
            <a:ext cx="10515600" cy="504451"/>
          </a:xfrm>
        </p:spPr>
        <p:txBody>
          <a:bodyPr>
            <a:normAutofit/>
          </a:bodyPr>
          <a:lstStyle/>
          <a:p>
            <a:r>
              <a:rPr lang="en-IN" sz="1200" dirty="0"/>
              <a:t>Continued…</a:t>
            </a:r>
          </a:p>
        </p:txBody>
      </p:sp>
      <p:sp>
        <p:nvSpPr>
          <p:cNvPr id="3" name="Content Placeholder 2">
            <a:extLst>
              <a:ext uri="{FF2B5EF4-FFF2-40B4-BE49-F238E27FC236}">
                <a16:creationId xmlns:a16="http://schemas.microsoft.com/office/drawing/2014/main" id="{21D4B444-F2B6-414C-A024-05E7D7C23AD2}"/>
              </a:ext>
            </a:extLst>
          </p:cNvPr>
          <p:cNvSpPr>
            <a:spLocks noGrp="1"/>
          </p:cNvSpPr>
          <p:nvPr>
            <p:ph idx="1"/>
          </p:nvPr>
        </p:nvSpPr>
        <p:spPr>
          <a:xfrm>
            <a:off x="838200" y="726141"/>
            <a:ext cx="10515600" cy="5450822"/>
          </a:xfrm>
        </p:spPr>
        <p:txBody>
          <a:bodyPr>
            <a:normAutofit/>
          </a:bodyPr>
          <a:lstStyle/>
          <a:p>
            <a:pPr marL="0" indent="0" fontAlgn="base">
              <a:buNone/>
            </a:pPr>
            <a:r>
              <a:rPr lang="en-US" sz="2000" b="1" dirty="0"/>
              <a:t>3. Acknowledgements</a:t>
            </a:r>
          </a:p>
          <a:p>
            <a:pPr fontAlgn="base"/>
            <a:r>
              <a:rPr lang="en-US" sz="2000" dirty="0"/>
              <a:t>In flow control, acknowledgments (ACKs) are signals sent by the receiver to the sender to confirm that data packets have been successfully received. </a:t>
            </a:r>
          </a:p>
          <a:p>
            <a:pPr fontAlgn="base"/>
            <a:r>
              <a:rPr lang="en-US" sz="2000" dirty="0"/>
              <a:t>When the sender transmits data, it waits for an acknowledgment before sending more. </a:t>
            </a:r>
          </a:p>
          <a:p>
            <a:pPr fontAlgn="base"/>
            <a:r>
              <a:rPr lang="en-US" sz="2000" dirty="0"/>
              <a:t>This process helps ensure that data is received correctly. </a:t>
            </a:r>
          </a:p>
          <a:p>
            <a:pPr fontAlgn="base"/>
            <a:r>
              <a:rPr lang="en-US" sz="2000" dirty="0"/>
              <a:t>If an acknowledgment isn't received within a certain time, the sender assumes the packet was lost and retransmits it.</a:t>
            </a:r>
          </a:p>
          <a:p>
            <a:pPr fontAlgn="base"/>
            <a:r>
              <a:rPr lang="en-US" sz="2000" dirty="0"/>
              <a:t>There are 2 kinds of acknowledgements namely:</a:t>
            </a:r>
          </a:p>
          <a:p>
            <a:pPr fontAlgn="base">
              <a:buFont typeface="Wingdings" panose="05000000000000000000" pitchFamily="2" charset="2"/>
              <a:buChar char="Ø"/>
            </a:pPr>
            <a:r>
              <a:rPr lang="en-US" sz="2000" b="1" dirty="0"/>
              <a:t>Cumulative Ack</a:t>
            </a:r>
            <a:r>
              <a:rPr lang="en-US" sz="2000" dirty="0"/>
              <a:t>: One acknowledgement is used for many packets. The main advantage is traffic is less. A disadvantage is less reliability as if one ack is the loss that would mean that all the packets sent are lost.</a:t>
            </a:r>
          </a:p>
          <a:p>
            <a:pPr fontAlgn="base">
              <a:buFont typeface="Wingdings" panose="05000000000000000000" pitchFamily="2" charset="2"/>
              <a:buChar char="Ø"/>
            </a:pPr>
            <a:r>
              <a:rPr lang="en-US" sz="2000" b="1" dirty="0"/>
              <a:t>Independent Ack</a:t>
            </a:r>
            <a:r>
              <a:rPr lang="en-US" sz="2000" dirty="0"/>
              <a:t>: If every packet is going to get acknowledgement independently then the reliability is high here but a disadvantage is that traffic is also high since for every packet we are receiving independent ack.</a:t>
            </a:r>
          </a:p>
          <a:p>
            <a:pPr fontAlgn="base"/>
            <a:endParaRPr lang="en-US" sz="2000" dirty="0"/>
          </a:p>
          <a:p>
            <a:pPr marL="0" indent="0">
              <a:buNone/>
            </a:pPr>
            <a:endParaRPr lang="en-IN" dirty="0"/>
          </a:p>
        </p:txBody>
      </p:sp>
    </p:spTree>
    <p:extLst>
      <p:ext uri="{BB962C8B-B14F-4D97-AF65-F5344CB8AC3E}">
        <p14:creationId xmlns:p14="http://schemas.microsoft.com/office/powerpoint/2010/main" val="10267105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024E-BAF4-494A-B1E9-09A8D636F830}"/>
              </a:ext>
            </a:extLst>
          </p:cNvPr>
          <p:cNvSpPr>
            <a:spLocks noGrp="1"/>
          </p:cNvSpPr>
          <p:nvPr>
            <p:ph type="title"/>
          </p:nvPr>
        </p:nvSpPr>
        <p:spPr>
          <a:xfrm>
            <a:off x="838200" y="365125"/>
            <a:ext cx="10515600" cy="603063"/>
          </a:xfrm>
        </p:spPr>
        <p:txBody>
          <a:bodyPr>
            <a:normAutofit fontScale="90000"/>
          </a:bodyPr>
          <a:lstStyle/>
          <a:p>
            <a:br>
              <a:rPr lang="en-IN" b="1" dirty="0"/>
            </a:br>
            <a:r>
              <a:rPr lang="en-IN" sz="3100" b="1" dirty="0"/>
              <a:t>Working of GB-N Protocol</a:t>
            </a:r>
            <a:br>
              <a:rPr lang="en-IN" b="1" dirty="0"/>
            </a:br>
            <a:endParaRPr lang="en-IN" dirty="0"/>
          </a:p>
        </p:txBody>
      </p:sp>
      <p:sp>
        <p:nvSpPr>
          <p:cNvPr id="3" name="Content Placeholder 2">
            <a:extLst>
              <a:ext uri="{FF2B5EF4-FFF2-40B4-BE49-F238E27FC236}">
                <a16:creationId xmlns:a16="http://schemas.microsoft.com/office/drawing/2014/main" id="{0A53ED65-A7BF-4190-817C-BC669F6029F7}"/>
              </a:ext>
            </a:extLst>
          </p:cNvPr>
          <p:cNvSpPr>
            <a:spLocks noGrp="1"/>
          </p:cNvSpPr>
          <p:nvPr>
            <p:ph idx="1"/>
          </p:nvPr>
        </p:nvSpPr>
        <p:spPr>
          <a:xfrm>
            <a:off x="838200" y="1210235"/>
            <a:ext cx="10515600" cy="4966728"/>
          </a:xfrm>
        </p:spPr>
        <p:txBody>
          <a:bodyPr>
            <a:normAutofit fontScale="92500" lnSpcReduction="20000"/>
          </a:bodyPr>
          <a:lstStyle/>
          <a:p>
            <a:pPr fontAlgn="base"/>
            <a:r>
              <a:rPr lang="en-US" sz="2000" dirty="0"/>
              <a:t>Now what exactly happens in GBN, we will explain with a help of example. </a:t>
            </a:r>
          </a:p>
          <a:p>
            <a:pPr fontAlgn="base"/>
            <a:r>
              <a:rPr lang="en-US" sz="2000" dirty="0"/>
              <a:t>We have sender window size of 4. </a:t>
            </a:r>
          </a:p>
          <a:p>
            <a:pPr fontAlgn="base"/>
            <a:r>
              <a:rPr lang="en-US" sz="2000" dirty="0"/>
              <a:t>Assume that we have lots of sequence numbers just for the sake of explanation. </a:t>
            </a:r>
          </a:p>
          <a:p>
            <a:pPr fontAlgn="base"/>
            <a:r>
              <a:rPr lang="en-US" sz="2000" dirty="0"/>
              <a:t>Now the sender has sent the packets 0, 1, 2 and 3. </a:t>
            </a:r>
          </a:p>
          <a:p>
            <a:pPr fontAlgn="base"/>
            <a:r>
              <a:rPr lang="en-US" sz="2000" dirty="0"/>
              <a:t>After acknowledging the packets 0 and 1, receiver is now expecting packet 2 and sender window has also </a:t>
            </a:r>
            <a:r>
              <a:rPr lang="en-US" sz="2000" dirty="0" err="1"/>
              <a:t>slided</a:t>
            </a:r>
            <a:r>
              <a:rPr lang="en-US" sz="2000" dirty="0"/>
              <a:t> to further transmit the packets 4 and 5. </a:t>
            </a:r>
          </a:p>
          <a:p>
            <a:pPr fontAlgn="base"/>
            <a:r>
              <a:rPr lang="en-US" sz="2000" dirty="0"/>
              <a:t>Now suppose the packet 2 is lost in the network, Receiver will discard all the packets which sender has transmitted after packet 2 as it is expecting sequence number of 2.</a:t>
            </a:r>
          </a:p>
          <a:p>
            <a:pPr fontAlgn="base"/>
            <a:r>
              <a:rPr lang="en-US" sz="2000" dirty="0"/>
              <a:t>On the sender side for every packet send there is a time out timer which will expire for packet number 2. </a:t>
            </a:r>
          </a:p>
          <a:p>
            <a:pPr fontAlgn="base"/>
            <a:r>
              <a:rPr lang="en-US" sz="2000" dirty="0"/>
              <a:t>Now from the last transmitted packet 5 sender will go back to the packet number 2 in the current window and transmit all the packets till packet number 5.</a:t>
            </a:r>
          </a:p>
          <a:p>
            <a:pPr fontAlgn="base"/>
            <a:r>
              <a:rPr lang="en-US" sz="2000" dirty="0"/>
              <a:t> That’s why it is called Go Back N. </a:t>
            </a:r>
          </a:p>
          <a:p>
            <a:pPr fontAlgn="base"/>
            <a:r>
              <a:rPr lang="en-US" sz="2000" dirty="0"/>
              <a:t>Go back means sender has to go back N places from the last transmitted packet in the unacknowledged window and not from the point where the packet is lost.</a:t>
            </a:r>
          </a:p>
          <a:p>
            <a:pPr marL="0" indent="0">
              <a:buNone/>
            </a:pPr>
            <a:br>
              <a:rPr lang="en-US" sz="2000" dirty="0"/>
            </a:br>
            <a:endParaRPr lang="en-IN" sz="2000" dirty="0"/>
          </a:p>
        </p:txBody>
      </p:sp>
    </p:spTree>
    <p:extLst>
      <p:ext uri="{BB962C8B-B14F-4D97-AF65-F5344CB8AC3E}">
        <p14:creationId xmlns:p14="http://schemas.microsoft.com/office/powerpoint/2010/main" val="39043567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9C3BBE-CC8C-40BD-91CC-A70555BE96AD}"/>
              </a:ext>
            </a:extLst>
          </p:cNvPr>
          <p:cNvPicPr>
            <a:picLocks noChangeAspect="1"/>
          </p:cNvPicPr>
          <p:nvPr/>
        </p:nvPicPr>
        <p:blipFill>
          <a:blip r:embed="rId2"/>
          <a:stretch>
            <a:fillRect/>
          </a:stretch>
        </p:blipFill>
        <p:spPr>
          <a:xfrm>
            <a:off x="735107" y="336390"/>
            <a:ext cx="9975756" cy="5754848"/>
          </a:xfrm>
          <a:prstGeom prst="rect">
            <a:avLst/>
          </a:prstGeom>
        </p:spPr>
      </p:pic>
    </p:spTree>
    <p:extLst>
      <p:ext uri="{BB962C8B-B14F-4D97-AF65-F5344CB8AC3E}">
        <p14:creationId xmlns:p14="http://schemas.microsoft.com/office/powerpoint/2010/main" val="27952432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08685-AE66-4CC1-9A2F-A7840B8DABEC}"/>
              </a:ext>
            </a:extLst>
          </p:cNvPr>
          <p:cNvSpPr>
            <a:spLocks noGrp="1"/>
          </p:cNvSpPr>
          <p:nvPr>
            <p:ph type="title"/>
          </p:nvPr>
        </p:nvSpPr>
        <p:spPr>
          <a:xfrm>
            <a:off x="838200" y="365125"/>
            <a:ext cx="10515600" cy="504451"/>
          </a:xfrm>
        </p:spPr>
        <p:txBody>
          <a:bodyPr>
            <a:noAutofit/>
          </a:bodyPr>
          <a:lstStyle/>
          <a:p>
            <a:br>
              <a:rPr lang="en-US" sz="2800" b="1" dirty="0"/>
            </a:br>
            <a:r>
              <a:rPr lang="en-US" sz="2800" b="1" dirty="0"/>
              <a:t>Relationship Between Window Size and Sequence Numbers</a:t>
            </a:r>
            <a:br>
              <a:rPr lang="en-US" sz="2800" b="1" dirty="0"/>
            </a:br>
            <a:endParaRPr lang="en-IN" sz="2800" dirty="0"/>
          </a:p>
        </p:txBody>
      </p:sp>
      <p:sp>
        <p:nvSpPr>
          <p:cNvPr id="3" name="Content Placeholder 2">
            <a:extLst>
              <a:ext uri="{FF2B5EF4-FFF2-40B4-BE49-F238E27FC236}">
                <a16:creationId xmlns:a16="http://schemas.microsoft.com/office/drawing/2014/main" id="{9C4D0B4A-DDB3-488B-B8E4-86A02ED1D83B}"/>
              </a:ext>
            </a:extLst>
          </p:cNvPr>
          <p:cNvSpPr>
            <a:spLocks noGrp="1"/>
          </p:cNvSpPr>
          <p:nvPr>
            <p:ph idx="1"/>
          </p:nvPr>
        </p:nvSpPr>
        <p:spPr>
          <a:xfrm>
            <a:off x="838200" y="1290918"/>
            <a:ext cx="10515600" cy="4886045"/>
          </a:xfrm>
        </p:spPr>
        <p:txBody>
          <a:bodyPr>
            <a:normAutofit/>
          </a:bodyPr>
          <a:lstStyle/>
          <a:p>
            <a:pPr fontAlgn="base"/>
            <a:r>
              <a:rPr lang="en-US" sz="2000" dirty="0"/>
              <a:t>The </a:t>
            </a:r>
            <a:r>
              <a:rPr lang="en-US" sz="2000" b="1" dirty="0"/>
              <a:t>window size</a:t>
            </a:r>
            <a:r>
              <a:rPr lang="en-US" sz="2000" dirty="0"/>
              <a:t> and </a:t>
            </a:r>
            <a:r>
              <a:rPr lang="en-US" sz="2000" b="1" dirty="0"/>
              <a:t>sequence numbers</a:t>
            </a:r>
            <a:r>
              <a:rPr lang="en-US" sz="2000" dirty="0"/>
              <a:t> in a sliding window protocol, like Go-Back-N or Selective Repeat, are closely related.</a:t>
            </a:r>
          </a:p>
          <a:p>
            <a:pPr fontAlgn="base"/>
            <a:r>
              <a:rPr lang="en-US" sz="2000" dirty="0"/>
              <a:t>The </a:t>
            </a:r>
            <a:r>
              <a:rPr lang="en-US" sz="2000" b="1" dirty="0"/>
              <a:t>window size</a:t>
            </a:r>
            <a:r>
              <a:rPr lang="en-US" sz="2000" dirty="0"/>
              <a:t> determines how many packets the sender can transmit without needing an acknowledgment. It’s like a limit on how much data can be sent before the sender has to stop and wait for confirmation.</a:t>
            </a:r>
          </a:p>
          <a:p>
            <a:pPr fontAlgn="base"/>
            <a:r>
              <a:rPr lang="en-US" sz="2000" b="1" dirty="0"/>
              <a:t>Sequence numbers</a:t>
            </a:r>
            <a:r>
              <a:rPr lang="en-US" sz="2000" dirty="0"/>
              <a:t> are used to label packets so the receiver knows their order and can detect any missing packets.</a:t>
            </a:r>
          </a:p>
          <a:p>
            <a:r>
              <a:rPr lang="en-US" sz="2000" dirty="0"/>
              <a:t>The </a:t>
            </a:r>
            <a:r>
              <a:rPr lang="en-US" sz="2000" b="1" dirty="0"/>
              <a:t>window size</a:t>
            </a:r>
            <a:r>
              <a:rPr lang="en-US" sz="2000" dirty="0"/>
              <a:t> should be smaller than or equal to the range of available </a:t>
            </a:r>
            <a:r>
              <a:rPr lang="en-US" sz="2000" b="1" dirty="0"/>
              <a:t>sequence numbers</a:t>
            </a:r>
            <a:r>
              <a:rPr lang="en-US" sz="2000" dirty="0"/>
              <a:t>. If the window size is too large compared to the sequence number range, the receiver might get confused because the same sequence number could be reused before the first one is acknowledged.</a:t>
            </a:r>
          </a:p>
          <a:p>
            <a:endParaRPr lang="en-IN" sz="2000" dirty="0"/>
          </a:p>
        </p:txBody>
      </p:sp>
      <p:sp>
        <p:nvSpPr>
          <p:cNvPr id="4" name="Rectangle 1">
            <a:extLst>
              <a:ext uri="{FF2B5EF4-FFF2-40B4-BE49-F238E27FC236}">
                <a16:creationId xmlns:a16="http://schemas.microsoft.com/office/drawing/2014/main" id="{A8334515-9BC4-4463-A043-228BA90C3E02}"/>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55306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85146-7812-4F2F-AE0D-D7AF6B7C682D}"/>
              </a:ext>
            </a:extLst>
          </p:cNvPr>
          <p:cNvSpPr>
            <a:spLocks noGrp="1"/>
          </p:cNvSpPr>
          <p:nvPr>
            <p:ph type="title"/>
          </p:nvPr>
        </p:nvSpPr>
        <p:spPr>
          <a:xfrm>
            <a:off x="838200" y="365126"/>
            <a:ext cx="10515600" cy="405840"/>
          </a:xfrm>
        </p:spPr>
        <p:txBody>
          <a:bodyPr>
            <a:normAutofit/>
          </a:bodyPr>
          <a:lstStyle/>
          <a:p>
            <a:r>
              <a:rPr lang="en-US" sz="1200" dirty="0"/>
              <a:t>Continued…</a:t>
            </a:r>
            <a:endParaRPr lang="en-IN" sz="1200" dirty="0"/>
          </a:p>
        </p:txBody>
      </p:sp>
      <p:sp>
        <p:nvSpPr>
          <p:cNvPr id="3" name="Content Placeholder 2">
            <a:extLst>
              <a:ext uri="{FF2B5EF4-FFF2-40B4-BE49-F238E27FC236}">
                <a16:creationId xmlns:a16="http://schemas.microsoft.com/office/drawing/2014/main" id="{156DB806-D2AB-4340-BB37-EF4E271EE68E}"/>
              </a:ext>
            </a:extLst>
          </p:cNvPr>
          <p:cNvSpPr>
            <a:spLocks noGrp="1"/>
          </p:cNvSpPr>
          <p:nvPr>
            <p:ph idx="1"/>
          </p:nvPr>
        </p:nvSpPr>
        <p:spPr>
          <a:xfrm>
            <a:off x="838200" y="851647"/>
            <a:ext cx="10515600" cy="5325316"/>
          </a:xfrm>
        </p:spPr>
        <p:txBody>
          <a:bodyPr/>
          <a:lstStyle/>
          <a:p>
            <a:pPr eaLnBrk="0" fontAlgn="base" hangingPunct="0">
              <a:lnSpc>
                <a:spcPct val="100000"/>
              </a:lnSpc>
              <a:spcBef>
                <a:spcPct val="0"/>
              </a:spcBef>
              <a:spcAft>
                <a:spcPct val="0"/>
              </a:spcAft>
            </a:pPr>
            <a:r>
              <a:rPr lang="en-US" altLang="en-US" sz="2000" dirty="0">
                <a:solidFill>
                  <a:srgbClr val="273239"/>
                </a:solidFill>
                <a:latin typeface="Nunito"/>
              </a:rPr>
              <a:t>Relation between window size and sequence number is given by the formula:</a:t>
            </a:r>
            <a:endParaRPr lang="en-US" altLang="en-US" sz="2000" dirty="0"/>
          </a:p>
          <a:p>
            <a:pPr marL="0" lvl="0" indent="0" eaLnBrk="0" fontAlgn="base" hangingPunct="0">
              <a:lnSpc>
                <a:spcPct val="100000"/>
              </a:lnSpc>
              <a:spcBef>
                <a:spcPct val="0"/>
              </a:spcBef>
              <a:spcAft>
                <a:spcPct val="0"/>
              </a:spcAft>
              <a:buNone/>
            </a:pPr>
            <a:r>
              <a:rPr lang="en-US" altLang="en-US" sz="2000" dirty="0" err="1">
                <a:latin typeface="Arial" panose="020B0604020202020204" pitchFamily="34" charset="0"/>
              </a:rPr>
              <a:t>W</a:t>
            </a:r>
            <a:r>
              <a:rPr lang="en-US" altLang="en-US" sz="2000" baseline="-30000" dirty="0" err="1">
                <a:latin typeface="Arial" panose="020B0604020202020204" pitchFamily="34" charset="0"/>
              </a:rPr>
              <a:t>s</a:t>
            </a:r>
            <a:r>
              <a:rPr lang="en-US" altLang="en-US" sz="2000" baseline="-30000" dirty="0">
                <a:latin typeface="Arial" panose="020B0604020202020204" pitchFamily="34" charset="0"/>
              </a:rPr>
              <a:t> </a:t>
            </a:r>
            <a:r>
              <a:rPr lang="en-US" altLang="en-US" sz="2000" dirty="0">
                <a:latin typeface="Arial" panose="020B0604020202020204" pitchFamily="34" charset="0"/>
              </a:rPr>
              <a:t>+ W</a:t>
            </a:r>
            <a:r>
              <a:rPr lang="en-US" altLang="en-US" sz="2000" baseline="-30000" dirty="0">
                <a:latin typeface="Arial" panose="020B0604020202020204" pitchFamily="34" charset="0"/>
              </a:rPr>
              <a:t>R </a:t>
            </a:r>
            <a:r>
              <a:rPr lang="en-US" altLang="en-US" sz="2000" dirty="0">
                <a:latin typeface="Arial" panose="020B0604020202020204" pitchFamily="34" charset="0"/>
              </a:rPr>
              <a:t>&lt;= ASN</a:t>
            </a:r>
          </a:p>
          <a:p>
            <a:pPr marL="0" lvl="0" indent="0" eaLnBrk="0" fontAlgn="base" hangingPunct="0">
              <a:lnSpc>
                <a:spcPct val="100000"/>
              </a:lnSpc>
              <a:spcBef>
                <a:spcPct val="0"/>
              </a:spcBef>
              <a:spcAft>
                <a:spcPct val="0"/>
              </a:spcAft>
              <a:buNone/>
            </a:pPr>
            <a:r>
              <a:rPr lang="en-US" altLang="en-US" sz="2000" dirty="0">
                <a:solidFill>
                  <a:srgbClr val="273239"/>
                </a:solidFill>
                <a:latin typeface="Nunito"/>
              </a:rPr>
              <a:t>where,</a:t>
            </a:r>
            <a:endParaRPr lang="en-US" altLang="en-US" sz="2000" dirty="0"/>
          </a:p>
          <a:p>
            <a:pPr marL="0" lvl="0" indent="0" eaLnBrk="0" fontAlgn="base" hangingPunct="0">
              <a:lnSpc>
                <a:spcPct val="100000"/>
              </a:lnSpc>
              <a:spcBef>
                <a:spcPct val="0"/>
              </a:spcBef>
              <a:spcAft>
                <a:spcPct val="0"/>
              </a:spcAft>
              <a:buNone/>
            </a:pPr>
            <a:r>
              <a:rPr lang="en-US" altLang="en-US" sz="2000" dirty="0" err="1">
                <a:solidFill>
                  <a:srgbClr val="273239"/>
                </a:solidFill>
                <a:latin typeface="Nunito"/>
              </a:rPr>
              <a:t>W</a:t>
            </a:r>
            <a:r>
              <a:rPr lang="en-US" altLang="en-US" sz="2000" baseline="-30000" dirty="0" err="1">
                <a:solidFill>
                  <a:srgbClr val="273239"/>
                </a:solidFill>
                <a:latin typeface="Nunito"/>
              </a:rPr>
              <a:t>s</a:t>
            </a:r>
            <a:r>
              <a:rPr lang="en-US" altLang="en-US" sz="2000" dirty="0">
                <a:solidFill>
                  <a:srgbClr val="273239"/>
                </a:solidFill>
                <a:latin typeface="Nunito"/>
              </a:rPr>
              <a:t> is sender window size and W</a:t>
            </a:r>
            <a:r>
              <a:rPr lang="en-US" altLang="en-US" sz="2000" baseline="-30000" dirty="0">
                <a:solidFill>
                  <a:srgbClr val="273239"/>
                </a:solidFill>
                <a:latin typeface="Nunito"/>
              </a:rPr>
              <a:t>R </a:t>
            </a:r>
            <a:r>
              <a:rPr lang="en-US" altLang="en-US" sz="2000" dirty="0">
                <a:solidFill>
                  <a:srgbClr val="273239"/>
                </a:solidFill>
                <a:latin typeface="Nunito"/>
              </a:rPr>
              <a:t>is receiver window size, and ASN is available sequence number.</a:t>
            </a:r>
            <a:endParaRPr lang="en-US" altLang="en-US" sz="2000" dirty="0"/>
          </a:p>
          <a:p>
            <a:pPr marL="0" lvl="0" indent="0" eaLnBrk="0" fontAlgn="base" hangingPunct="0">
              <a:lnSpc>
                <a:spcPct val="100000"/>
              </a:lnSpc>
              <a:spcBef>
                <a:spcPct val="0"/>
              </a:spcBef>
              <a:spcAft>
                <a:spcPct val="0"/>
              </a:spcAft>
              <a:buNone/>
            </a:pPr>
            <a:r>
              <a:rPr lang="en-US" altLang="en-US" sz="2000" dirty="0" err="1">
                <a:latin typeface="Arial" panose="020B0604020202020204" pitchFamily="34" charset="0"/>
              </a:rPr>
              <a:t>W</a:t>
            </a:r>
            <a:r>
              <a:rPr lang="en-US" altLang="en-US" sz="2000" baseline="-30000" dirty="0" err="1">
                <a:latin typeface="Arial" panose="020B0604020202020204" pitchFamily="34" charset="0"/>
              </a:rPr>
              <a:t>s</a:t>
            </a:r>
            <a:r>
              <a:rPr lang="en-US" altLang="en-US" sz="2000" baseline="-30000" dirty="0">
                <a:latin typeface="Arial" panose="020B0604020202020204" pitchFamily="34" charset="0"/>
              </a:rPr>
              <a:t> </a:t>
            </a:r>
            <a:r>
              <a:rPr lang="en-US" altLang="en-US" sz="2000" dirty="0">
                <a:latin typeface="Arial" panose="020B0604020202020204" pitchFamily="34" charset="0"/>
              </a:rPr>
              <a:t>+ 1 &lt;= ASN because W</a:t>
            </a:r>
            <a:r>
              <a:rPr lang="en-US" altLang="en-US" sz="2000" baseline="-30000" dirty="0">
                <a:latin typeface="Arial" panose="020B0604020202020204" pitchFamily="34" charset="0"/>
              </a:rPr>
              <a:t>R </a:t>
            </a:r>
            <a:r>
              <a:rPr lang="en-US" altLang="en-US" sz="2000" dirty="0">
                <a:latin typeface="Arial" panose="020B0604020202020204" pitchFamily="34" charset="0"/>
              </a:rPr>
              <a:t>= 1 in GB-N protocol</a:t>
            </a:r>
          </a:p>
          <a:p>
            <a:endParaRPr lang="en-US" dirty="0"/>
          </a:p>
          <a:p>
            <a:pPr eaLnBrk="0" fontAlgn="base" hangingPunct="0">
              <a:lnSpc>
                <a:spcPct val="100000"/>
              </a:lnSpc>
              <a:spcBef>
                <a:spcPct val="0"/>
              </a:spcBef>
              <a:spcAft>
                <a:spcPct val="0"/>
              </a:spcAft>
            </a:pPr>
            <a:r>
              <a:rPr lang="en-US" altLang="en-US" sz="2400" b="1" dirty="0">
                <a:solidFill>
                  <a:srgbClr val="273239"/>
                </a:solidFill>
                <a:latin typeface="Nunito"/>
              </a:rPr>
              <a:t>So minimum sequence numbers required in GBN = N + 1</a:t>
            </a:r>
            <a:endParaRPr lang="en-US" altLang="en-US" sz="2400" dirty="0"/>
          </a:p>
          <a:p>
            <a:pPr marL="0" lvl="0" indent="0" eaLnBrk="0" fontAlgn="base" hangingPunct="0">
              <a:lnSpc>
                <a:spcPct val="100000"/>
              </a:lnSpc>
              <a:spcBef>
                <a:spcPct val="0"/>
              </a:spcBef>
              <a:spcAft>
                <a:spcPct val="0"/>
              </a:spcAft>
              <a:buNone/>
            </a:pPr>
            <a:r>
              <a:rPr lang="en-US" altLang="en-US" sz="2400" b="1" dirty="0">
                <a:latin typeface="Arial" panose="020B0604020202020204" pitchFamily="34" charset="0"/>
              </a:rPr>
              <a:t>Bits Required in GBN = ⌈ log</a:t>
            </a:r>
            <a:r>
              <a:rPr lang="en-US" altLang="en-US" sz="2400" b="1" baseline="-30000" dirty="0">
                <a:latin typeface="Arial" panose="020B0604020202020204" pitchFamily="34" charset="0"/>
              </a:rPr>
              <a:t>2</a:t>
            </a:r>
            <a:r>
              <a:rPr lang="en-US" altLang="en-US" sz="2400" b="1" dirty="0">
                <a:latin typeface="Arial" panose="020B0604020202020204" pitchFamily="34" charset="0"/>
              </a:rPr>
              <a:t> (N + 1)⌉</a:t>
            </a:r>
            <a:endParaRPr lang="en-US" altLang="en-US" sz="2400" dirty="0">
              <a:latin typeface="Arial" panose="020B0604020202020204" pitchFamily="34" charset="0"/>
            </a:endParaRPr>
          </a:p>
          <a:p>
            <a:endParaRPr lang="en-IN" dirty="0"/>
          </a:p>
        </p:txBody>
      </p:sp>
      <p:sp>
        <p:nvSpPr>
          <p:cNvPr id="4" name="Rectangle 1">
            <a:extLst>
              <a:ext uri="{FF2B5EF4-FFF2-40B4-BE49-F238E27FC236}">
                <a16:creationId xmlns:a16="http://schemas.microsoft.com/office/drawing/2014/main" id="{07DDB505-3CDB-48BC-960C-F811D931417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24348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D355A-455E-432A-99BB-5348070AC520}"/>
              </a:ext>
            </a:extLst>
          </p:cNvPr>
          <p:cNvSpPr>
            <a:spLocks noGrp="1"/>
          </p:cNvSpPr>
          <p:nvPr>
            <p:ph type="title"/>
          </p:nvPr>
        </p:nvSpPr>
        <p:spPr>
          <a:xfrm>
            <a:off x="838200" y="365126"/>
            <a:ext cx="10515600" cy="315912"/>
          </a:xfrm>
        </p:spPr>
        <p:txBody>
          <a:bodyPr>
            <a:normAutofit/>
          </a:bodyPr>
          <a:lstStyle/>
          <a:p>
            <a:r>
              <a:rPr lang="en-US" sz="1400" dirty="0"/>
              <a:t>Continued…</a:t>
            </a:r>
            <a:endParaRPr lang="en-IN" sz="1400" dirty="0"/>
          </a:p>
        </p:txBody>
      </p:sp>
      <p:sp>
        <p:nvSpPr>
          <p:cNvPr id="3" name="Content Placeholder 2">
            <a:extLst>
              <a:ext uri="{FF2B5EF4-FFF2-40B4-BE49-F238E27FC236}">
                <a16:creationId xmlns:a16="http://schemas.microsoft.com/office/drawing/2014/main" id="{40171CC5-D5C3-408E-8956-259D067183F4}"/>
              </a:ext>
            </a:extLst>
          </p:cNvPr>
          <p:cNvSpPr>
            <a:spLocks noGrp="1"/>
          </p:cNvSpPr>
          <p:nvPr>
            <p:ph idx="1"/>
          </p:nvPr>
        </p:nvSpPr>
        <p:spPr>
          <a:xfrm>
            <a:off x="838200" y="788894"/>
            <a:ext cx="10515600" cy="5388069"/>
          </a:xfrm>
        </p:spPr>
        <p:txBody>
          <a:bodyPr/>
          <a:lstStyle/>
          <a:p>
            <a:pPr marL="0" indent="0" fontAlgn="base">
              <a:buNone/>
            </a:pPr>
            <a:r>
              <a:rPr lang="en-US" sz="2400" b="1" dirty="0"/>
              <a:t>Advantages of GBN Protocol</a:t>
            </a:r>
          </a:p>
          <a:p>
            <a:pPr fontAlgn="base"/>
            <a:r>
              <a:rPr lang="en-US" sz="2400" dirty="0"/>
              <a:t>Simple to implement and effective for reliable communication.</a:t>
            </a:r>
          </a:p>
          <a:p>
            <a:pPr fontAlgn="base"/>
            <a:r>
              <a:rPr lang="en-US" sz="2400" dirty="0"/>
              <a:t>Better performance than stop-and-wait protocols for error-free or low-error networks.</a:t>
            </a:r>
          </a:p>
          <a:p>
            <a:pPr marL="0" indent="0" fontAlgn="base">
              <a:buNone/>
            </a:pPr>
            <a:r>
              <a:rPr lang="en-US" sz="2400" b="1" dirty="0"/>
              <a:t>Disadvantages of GBN Protocol</a:t>
            </a:r>
          </a:p>
          <a:p>
            <a:pPr fontAlgn="base"/>
            <a:r>
              <a:rPr lang="en-US" sz="2400" dirty="0"/>
              <a:t>Inefficient if errors are frequent, as multiple frames might need to be retransmitted unnecessarily.</a:t>
            </a:r>
          </a:p>
          <a:p>
            <a:pPr fontAlgn="base"/>
            <a:r>
              <a:rPr lang="en-US" sz="2400" dirty="0"/>
              <a:t>Bandwidth can be wasted due to redundant retransmissions.</a:t>
            </a:r>
          </a:p>
          <a:p>
            <a:endParaRPr lang="en-IN" dirty="0"/>
          </a:p>
        </p:txBody>
      </p:sp>
    </p:spTree>
    <p:extLst>
      <p:ext uri="{BB962C8B-B14F-4D97-AF65-F5344CB8AC3E}">
        <p14:creationId xmlns:p14="http://schemas.microsoft.com/office/powerpoint/2010/main" val="2955737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7137-3E97-47AB-8853-F79AD0F2E789}"/>
              </a:ext>
            </a:extLst>
          </p:cNvPr>
          <p:cNvSpPr>
            <a:spLocks noGrp="1"/>
          </p:cNvSpPr>
          <p:nvPr>
            <p:ph type="title"/>
          </p:nvPr>
        </p:nvSpPr>
        <p:spPr>
          <a:xfrm>
            <a:off x="838200" y="365126"/>
            <a:ext cx="10515600" cy="567204"/>
          </a:xfrm>
        </p:spPr>
        <p:txBody>
          <a:bodyPr>
            <a:normAutofit/>
          </a:bodyPr>
          <a:lstStyle/>
          <a:p>
            <a:r>
              <a:rPr lang="en-IN" sz="3200" b="1" dirty="0"/>
              <a:t>Selective Repeat Protocol (SRP) </a:t>
            </a:r>
            <a:endParaRPr lang="en-IN" sz="3200" dirty="0"/>
          </a:p>
        </p:txBody>
      </p:sp>
      <p:sp>
        <p:nvSpPr>
          <p:cNvPr id="3" name="Content Placeholder 2">
            <a:extLst>
              <a:ext uri="{FF2B5EF4-FFF2-40B4-BE49-F238E27FC236}">
                <a16:creationId xmlns:a16="http://schemas.microsoft.com/office/drawing/2014/main" id="{7523B261-643F-4FBF-B28F-3381E1AE42C8}"/>
              </a:ext>
            </a:extLst>
          </p:cNvPr>
          <p:cNvSpPr>
            <a:spLocks noGrp="1"/>
          </p:cNvSpPr>
          <p:nvPr>
            <p:ph idx="1"/>
          </p:nvPr>
        </p:nvSpPr>
        <p:spPr>
          <a:xfrm>
            <a:off x="838200" y="1147482"/>
            <a:ext cx="10515600" cy="5029481"/>
          </a:xfrm>
        </p:spPr>
        <p:txBody>
          <a:bodyPr>
            <a:normAutofit/>
          </a:bodyPr>
          <a:lstStyle/>
          <a:p>
            <a:r>
              <a:rPr lang="en-US" sz="2000" dirty="0"/>
              <a:t>It is also known as Sliding Window Protocol and used for error detection and control in the data link layer.</a:t>
            </a:r>
          </a:p>
          <a:p>
            <a:r>
              <a:rPr lang="en-US" sz="2000" dirty="0"/>
              <a:t>In the selective repeat, the sender sends several frames specified by a window size even without the need to wait for individual acknowledgement from the receiver as in Go-Back-N ARQ. In selective repeat protocol, the retransmitted frame is received out of sequence.</a:t>
            </a:r>
          </a:p>
          <a:p>
            <a:r>
              <a:rPr lang="en-US" sz="2000" dirty="0"/>
              <a:t>In Selective Repeat ARQ only the lost or error frames are retransmitted, whereas correct frames are received and buffered.</a:t>
            </a:r>
          </a:p>
          <a:p>
            <a:r>
              <a:rPr lang="en-US" sz="2000" dirty="0"/>
              <a:t>The receiver while keeping track of sequence numbers buffers the frames in memory and sends NACK for only frames which are missing or damaged. </a:t>
            </a:r>
          </a:p>
          <a:p>
            <a:r>
              <a:rPr lang="en-US" sz="2000" dirty="0"/>
              <a:t>The sender will send/retransmit a packet for which NACK is received</a:t>
            </a:r>
          </a:p>
        </p:txBody>
      </p:sp>
    </p:spTree>
    <p:extLst>
      <p:ext uri="{BB962C8B-B14F-4D97-AF65-F5344CB8AC3E}">
        <p14:creationId xmlns:p14="http://schemas.microsoft.com/office/powerpoint/2010/main" val="23447575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0009C-64FC-4287-82C1-AFED5F5FFCDE}"/>
              </a:ext>
            </a:extLst>
          </p:cNvPr>
          <p:cNvSpPr>
            <a:spLocks noGrp="1"/>
          </p:cNvSpPr>
          <p:nvPr>
            <p:ph type="title"/>
          </p:nvPr>
        </p:nvSpPr>
        <p:spPr>
          <a:xfrm>
            <a:off x="838200" y="0"/>
            <a:ext cx="10515600" cy="537882"/>
          </a:xfrm>
        </p:spPr>
        <p:txBody>
          <a:bodyPr>
            <a:normAutofit fontScale="90000"/>
          </a:bodyPr>
          <a:lstStyle/>
          <a:p>
            <a:br>
              <a:rPr lang="en-IN" dirty="0"/>
            </a:br>
            <a:br>
              <a:rPr lang="en-IN" dirty="0"/>
            </a:br>
            <a:r>
              <a:rPr lang="en-US" sz="2700" dirty="0"/>
              <a:t>Given below is an example of the Selective Repeat ARQ</a:t>
            </a:r>
            <a:br>
              <a:rPr lang="en-IN" sz="3200" dirty="0"/>
            </a:br>
            <a:br>
              <a:rPr lang="en-IN" sz="3100" dirty="0"/>
            </a:br>
            <a:endParaRPr lang="en-IN" sz="3100" dirty="0"/>
          </a:p>
        </p:txBody>
      </p:sp>
      <p:sp>
        <p:nvSpPr>
          <p:cNvPr id="3" name="Content Placeholder 2">
            <a:extLst>
              <a:ext uri="{FF2B5EF4-FFF2-40B4-BE49-F238E27FC236}">
                <a16:creationId xmlns:a16="http://schemas.microsoft.com/office/drawing/2014/main" id="{967B9153-A05F-48F5-A9A1-294C4442D3DA}"/>
              </a:ext>
            </a:extLst>
          </p:cNvPr>
          <p:cNvSpPr>
            <a:spLocks noGrp="1"/>
          </p:cNvSpPr>
          <p:nvPr>
            <p:ph idx="1"/>
          </p:nvPr>
        </p:nvSpPr>
        <p:spPr>
          <a:xfrm>
            <a:off x="838200" y="537882"/>
            <a:ext cx="10515600" cy="5639081"/>
          </a:xfrm>
        </p:spPr>
        <p:txBody>
          <a:bodyPr>
            <a:normAutofit/>
          </a:bodyPr>
          <a:lstStyle/>
          <a:p>
            <a:pPr marL="0" indent="0">
              <a:buNone/>
            </a:pPr>
            <a:endParaRPr lang="en-IN" sz="2000" dirty="0"/>
          </a:p>
        </p:txBody>
      </p:sp>
      <p:pic>
        <p:nvPicPr>
          <p:cNvPr id="4" name="Picture 3">
            <a:extLst>
              <a:ext uri="{FF2B5EF4-FFF2-40B4-BE49-F238E27FC236}">
                <a16:creationId xmlns:a16="http://schemas.microsoft.com/office/drawing/2014/main" id="{C60A59DD-25DF-46E9-AC7C-DA5B84B05163}"/>
              </a:ext>
            </a:extLst>
          </p:cNvPr>
          <p:cNvPicPr>
            <a:picLocks noChangeAspect="1"/>
          </p:cNvPicPr>
          <p:nvPr/>
        </p:nvPicPr>
        <p:blipFill>
          <a:blip r:embed="rId2"/>
          <a:stretch>
            <a:fillRect/>
          </a:stretch>
        </p:blipFill>
        <p:spPr>
          <a:xfrm>
            <a:off x="2123100" y="1371599"/>
            <a:ext cx="7306650" cy="4509247"/>
          </a:xfrm>
          <a:prstGeom prst="rect">
            <a:avLst/>
          </a:prstGeom>
        </p:spPr>
      </p:pic>
    </p:spTree>
    <p:extLst>
      <p:ext uri="{BB962C8B-B14F-4D97-AF65-F5344CB8AC3E}">
        <p14:creationId xmlns:p14="http://schemas.microsoft.com/office/powerpoint/2010/main" val="28330038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4D8BE-61FE-4606-AD57-562148DC2409}"/>
              </a:ext>
            </a:extLst>
          </p:cNvPr>
          <p:cNvSpPr>
            <a:spLocks noGrp="1"/>
          </p:cNvSpPr>
          <p:nvPr>
            <p:ph type="title"/>
          </p:nvPr>
        </p:nvSpPr>
        <p:spPr>
          <a:xfrm>
            <a:off x="950258" y="365125"/>
            <a:ext cx="10403541" cy="594099"/>
          </a:xfrm>
        </p:spPr>
        <p:txBody>
          <a:bodyPr>
            <a:normAutofit fontScale="90000"/>
          </a:bodyPr>
          <a:lstStyle/>
          <a:p>
            <a:br>
              <a:rPr lang="en-IN" dirty="0"/>
            </a:br>
            <a:r>
              <a:rPr lang="en-IN" dirty="0"/>
              <a:t>Explanation</a:t>
            </a:r>
            <a:br>
              <a:rPr lang="en-IN" dirty="0"/>
            </a:br>
            <a:endParaRPr lang="en-IN" dirty="0"/>
          </a:p>
        </p:txBody>
      </p:sp>
      <p:sp>
        <p:nvSpPr>
          <p:cNvPr id="3" name="Content Placeholder 2">
            <a:extLst>
              <a:ext uri="{FF2B5EF4-FFF2-40B4-BE49-F238E27FC236}">
                <a16:creationId xmlns:a16="http://schemas.microsoft.com/office/drawing/2014/main" id="{104840BE-631E-4413-B33B-55630835B0C8}"/>
              </a:ext>
            </a:extLst>
          </p:cNvPr>
          <p:cNvSpPr>
            <a:spLocks noGrp="1"/>
          </p:cNvSpPr>
          <p:nvPr>
            <p:ph idx="1"/>
          </p:nvPr>
        </p:nvSpPr>
        <p:spPr>
          <a:xfrm>
            <a:off x="878540" y="1156447"/>
            <a:ext cx="10475259" cy="5020516"/>
          </a:xfrm>
        </p:spPr>
        <p:txBody>
          <a:bodyPr>
            <a:normAutofit/>
          </a:bodyPr>
          <a:lstStyle/>
          <a:p>
            <a:pPr marL="0" indent="0">
              <a:buNone/>
            </a:pPr>
            <a:r>
              <a:rPr lang="en-US" sz="2200" b="1" dirty="0"/>
              <a:t>Step 1</a:t>
            </a:r>
            <a:r>
              <a:rPr lang="en-US" sz="2200" dirty="0"/>
              <a:t> Frame 0 sends from sender to receiver and set timer.</a:t>
            </a:r>
          </a:p>
          <a:p>
            <a:pPr marL="0" indent="0">
              <a:buNone/>
            </a:pPr>
            <a:r>
              <a:rPr lang="en-US" sz="2200" b="1" dirty="0"/>
              <a:t>Step 2</a:t>
            </a:r>
            <a:r>
              <a:rPr lang="en-US" sz="2200" dirty="0"/>
              <a:t> Without waiting for acknowledgement from the receiver another frame, Frame1 is sent by sender by setting the timer for it.</a:t>
            </a:r>
          </a:p>
          <a:p>
            <a:pPr marL="0" indent="0">
              <a:buNone/>
            </a:pPr>
            <a:r>
              <a:rPr lang="en-US" sz="2200" b="1" dirty="0"/>
              <a:t>Step 3</a:t>
            </a:r>
            <a:r>
              <a:rPr lang="en-US" sz="2200" dirty="0"/>
              <a:t> In the same way frame2 is also sent to the receiver by setting the timer without waiting for previous acknowledgement.</a:t>
            </a:r>
          </a:p>
          <a:p>
            <a:pPr marL="0" indent="0">
              <a:buNone/>
            </a:pPr>
            <a:r>
              <a:rPr lang="en-US" sz="2200" b="1" dirty="0"/>
              <a:t>Step 4</a:t>
            </a:r>
            <a:r>
              <a:rPr lang="en-US" sz="2200" dirty="0"/>
              <a:t> Whenever sender receives the ACK0 from receiver, within the frame 0 timer then it is closed and sent to the next frame, frame 3.</a:t>
            </a:r>
          </a:p>
          <a:p>
            <a:pPr marL="0" indent="0">
              <a:buNone/>
            </a:pPr>
            <a:r>
              <a:rPr lang="en-US" sz="2200" b="1" dirty="0"/>
              <a:t>Step 5</a:t>
            </a:r>
            <a:r>
              <a:rPr lang="en-US" sz="2200" dirty="0"/>
              <a:t> whenever the sender receives the ACK1 from the receiver, within the frame 1 timer then it is closed and sent to the next frame, frame 4.</a:t>
            </a:r>
          </a:p>
          <a:p>
            <a:pPr marL="0" indent="0">
              <a:buNone/>
            </a:pPr>
            <a:r>
              <a:rPr lang="en-US" sz="2200" b="1" dirty="0"/>
              <a:t>Step 6</a:t>
            </a:r>
            <a:r>
              <a:rPr lang="en-US" sz="2200" dirty="0"/>
              <a:t> If the sender </a:t>
            </a:r>
            <a:r>
              <a:rPr lang="en-US" sz="2200" dirty="0" err="1"/>
              <a:t>doesnt</a:t>
            </a:r>
            <a:r>
              <a:rPr lang="en-US" sz="2200" dirty="0"/>
              <a:t> receive the ACK2 from the receiver within the time slot, it declares timeout for frame 2 and resends the frame 2 again, because it thought the frame2 may be lost or damaged.</a:t>
            </a:r>
          </a:p>
          <a:p>
            <a:pPr marL="0" indent="0">
              <a:buNone/>
            </a:pPr>
            <a:endParaRPr lang="en-IN" dirty="0"/>
          </a:p>
        </p:txBody>
      </p:sp>
    </p:spTree>
    <p:extLst>
      <p:ext uri="{BB962C8B-B14F-4D97-AF65-F5344CB8AC3E}">
        <p14:creationId xmlns:p14="http://schemas.microsoft.com/office/powerpoint/2010/main" val="40639034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FFB91-A70C-4659-B8E5-69B02B773390}"/>
              </a:ext>
            </a:extLst>
          </p:cNvPr>
          <p:cNvSpPr>
            <a:spLocks noGrp="1"/>
          </p:cNvSpPr>
          <p:nvPr>
            <p:ph type="title"/>
          </p:nvPr>
        </p:nvSpPr>
        <p:spPr>
          <a:xfrm>
            <a:off x="905434" y="365126"/>
            <a:ext cx="10448365" cy="540310"/>
          </a:xfrm>
        </p:spPr>
        <p:txBody>
          <a:bodyPr>
            <a:noAutofit/>
          </a:bodyPr>
          <a:lstStyle/>
          <a:p>
            <a:br>
              <a:rPr lang="en-US" sz="2800" b="1" dirty="0"/>
            </a:br>
            <a:r>
              <a:rPr lang="en-US" sz="2800" b="1" dirty="0"/>
              <a:t>Difference Between Go-Back-N and Selective Repeat Protocol</a:t>
            </a:r>
            <a:br>
              <a:rPr lang="en-US" sz="2800" b="1" dirty="0"/>
            </a:br>
            <a:endParaRPr lang="en-IN" sz="2800" dirty="0"/>
          </a:p>
        </p:txBody>
      </p:sp>
      <p:graphicFrame>
        <p:nvGraphicFramePr>
          <p:cNvPr id="5" name="Content Placeholder 4">
            <a:extLst>
              <a:ext uri="{FF2B5EF4-FFF2-40B4-BE49-F238E27FC236}">
                <a16:creationId xmlns:a16="http://schemas.microsoft.com/office/drawing/2014/main" id="{A60EE287-21F6-4089-B648-4C1BDE2F905D}"/>
              </a:ext>
            </a:extLst>
          </p:cNvPr>
          <p:cNvGraphicFramePr>
            <a:graphicFrameLocks noGrp="1"/>
          </p:cNvGraphicFramePr>
          <p:nvPr>
            <p:ph idx="1"/>
            <p:extLst>
              <p:ext uri="{D42A27DB-BD31-4B8C-83A1-F6EECF244321}">
                <p14:modId xmlns:p14="http://schemas.microsoft.com/office/powerpoint/2010/main" val="3676813827"/>
              </p:ext>
            </p:extLst>
          </p:nvPr>
        </p:nvGraphicFramePr>
        <p:xfrm>
          <a:off x="904875" y="1220005"/>
          <a:ext cx="10448924" cy="4794228"/>
        </p:xfrm>
        <a:graphic>
          <a:graphicData uri="http://schemas.openxmlformats.org/drawingml/2006/table">
            <a:tbl>
              <a:tblPr/>
              <a:tblGrid>
                <a:gridCol w="5224462">
                  <a:extLst>
                    <a:ext uri="{9D8B030D-6E8A-4147-A177-3AD203B41FA5}">
                      <a16:colId xmlns:a16="http://schemas.microsoft.com/office/drawing/2014/main" val="1774120417"/>
                    </a:ext>
                  </a:extLst>
                </a:gridCol>
                <a:gridCol w="5224462">
                  <a:extLst>
                    <a:ext uri="{9D8B030D-6E8A-4147-A177-3AD203B41FA5}">
                      <a16:colId xmlns:a16="http://schemas.microsoft.com/office/drawing/2014/main" val="1715641519"/>
                    </a:ext>
                  </a:extLst>
                </a:gridCol>
              </a:tblGrid>
              <a:tr h="401299">
                <a:tc>
                  <a:txBody>
                    <a:bodyPr/>
                    <a:lstStyle/>
                    <a:p>
                      <a:pPr algn="ctr" fontAlgn="base"/>
                      <a:r>
                        <a:rPr lang="en-IN" sz="1400" b="1">
                          <a:effectLst/>
                        </a:rPr>
                        <a:t>Go-Back-N Protocol</a:t>
                      </a:r>
                    </a:p>
                  </a:txBody>
                  <a:tcPr marL="37858" marR="37858" marT="94646" marB="9464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400" b="1">
                          <a:effectLst/>
                        </a:rPr>
                        <a:t>Selective Repeat Protocol</a:t>
                      </a:r>
                    </a:p>
                  </a:txBody>
                  <a:tcPr marL="94646" marR="94646" marT="94646" marB="9464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319073322"/>
                  </a:ext>
                </a:extLst>
              </a:tr>
              <a:tr h="643593">
                <a:tc>
                  <a:txBody>
                    <a:bodyPr/>
                    <a:lstStyle/>
                    <a:p>
                      <a:pPr algn="ctr" fontAlgn="ctr"/>
                      <a:r>
                        <a:rPr lang="en-US" sz="1200" b="0" dirty="0">
                          <a:effectLst/>
                        </a:rPr>
                        <a:t>In </a:t>
                      </a:r>
                      <a:r>
                        <a:rPr lang="en-US" sz="1200" b="1" dirty="0">
                          <a:effectLst/>
                        </a:rPr>
                        <a:t>Go-Back N protocol</a:t>
                      </a:r>
                      <a:r>
                        <a:rPr lang="en-US" sz="1200" b="0" dirty="0">
                          <a:effectLst/>
                        </a:rPr>
                        <a:t>, if the sent frame are find suspected then all the frames are re-transmitted from the lost packet to the last packet transmitted.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In </a:t>
                      </a:r>
                      <a:r>
                        <a:rPr lang="en-US" sz="1200" b="1" dirty="0">
                          <a:effectLst/>
                        </a:rPr>
                        <a:t>Selective Repeat protocol</a:t>
                      </a:r>
                      <a:r>
                        <a:rPr lang="en-US" sz="1200" b="0" dirty="0">
                          <a:effectLst/>
                        </a:rPr>
                        <a:t>, only those frames are re-transmitted which are found suspected.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72344114"/>
                  </a:ext>
                </a:extLst>
              </a:tr>
              <a:tr h="454301">
                <a:tc>
                  <a:txBody>
                    <a:bodyPr/>
                    <a:lstStyle/>
                    <a:p>
                      <a:pPr algn="ctr" fontAlgn="ctr"/>
                      <a:r>
                        <a:rPr lang="en-US" sz="1200" b="0">
                          <a:effectLst/>
                        </a:rPr>
                        <a:t>Sender window size of Go-Back-N Protocol is N.</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Sender window size of selective Repeat protocol is also N.</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729250216"/>
                  </a:ext>
                </a:extLst>
              </a:tr>
              <a:tr h="454301">
                <a:tc>
                  <a:txBody>
                    <a:bodyPr/>
                    <a:lstStyle/>
                    <a:p>
                      <a:pPr algn="ctr" fontAlgn="ctr"/>
                      <a:r>
                        <a:rPr lang="en-US" sz="1200" b="0">
                          <a:effectLst/>
                        </a:rPr>
                        <a:t>Receiver window size of Go-Back-N Protocol is 1.</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Receiver window size of selective Repeat protocol is N.</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76934326"/>
                  </a:ext>
                </a:extLst>
              </a:tr>
              <a:tr h="454301">
                <a:tc>
                  <a:txBody>
                    <a:bodyPr/>
                    <a:lstStyle/>
                    <a:p>
                      <a:pPr algn="ctr" fontAlgn="ctr"/>
                      <a:r>
                        <a:rPr lang="en-US" sz="1200" b="0">
                          <a:effectLst/>
                        </a:rPr>
                        <a:t>Go-Back-N Protocol is less complex.</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Selective Repeat protocol is more complex.</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66784591"/>
                  </a:ext>
                </a:extLst>
              </a:tr>
              <a:tr h="454301">
                <a:tc>
                  <a:txBody>
                    <a:bodyPr/>
                    <a:lstStyle/>
                    <a:p>
                      <a:pPr algn="ctr" fontAlgn="ctr"/>
                      <a:r>
                        <a:rPr lang="en-US" sz="1200" b="0">
                          <a:effectLst/>
                        </a:rPr>
                        <a:t>In Go-Back-N Protocol, neither sender nor at receiver need sorting.</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In selective Repeat protocol, receiver side needs sorting to sort the frames.</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60828172"/>
                  </a:ext>
                </a:extLst>
              </a:tr>
              <a:tr h="454301">
                <a:tc>
                  <a:txBody>
                    <a:bodyPr/>
                    <a:lstStyle/>
                    <a:p>
                      <a:pPr algn="ctr" fontAlgn="ctr"/>
                      <a:r>
                        <a:rPr lang="en-US" sz="1200" b="0" dirty="0">
                          <a:effectLst/>
                        </a:rPr>
                        <a:t>In Go-Back N protocol, type of Acknowledgement is cumulative.</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In Selective Repeat protocol, type of Acknowledgement is individual.</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66398767"/>
                  </a:ext>
                </a:extLst>
              </a:tr>
              <a:tr h="643593">
                <a:tc>
                  <a:txBody>
                    <a:bodyPr/>
                    <a:lstStyle/>
                    <a:p>
                      <a:pPr algn="ctr" fontAlgn="ctr"/>
                      <a:r>
                        <a:rPr lang="en-US" sz="1200" b="0">
                          <a:effectLst/>
                        </a:rPr>
                        <a:t>In Go-Back-N Protocol, Out-of-Order packets are NOT Accepted (discarded) and the entire window is re-transmitted.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effectLst/>
                        </a:rPr>
                        <a:t>In selective Repeat protocol, Out-of-Order packets are Accepted.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64401007"/>
                  </a:ext>
                </a:extLst>
              </a:tr>
              <a:tr h="832885">
                <a:tc>
                  <a:txBody>
                    <a:bodyPr/>
                    <a:lstStyle/>
                    <a:p>
                      <a:pPr algn="ctr" fontAlgn="ctr"/>
                      <a:r>
                        <a:rPr lang="en-US" sz="1200" b="0">
                          <a:effectLst/>
                        </a:rPr>
                        <a:t>In Go-Back-N Protocol, if Receives  a corrupt packet, then also, the entire window is re-transmitted.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effectLst/>
                        </a:rPr>
                        <a:t>In selective Repeat protocol, if Receives  a corrupt packet, it immediately sends a negative acknowledgement and hence only the selective packet is retransmitted.</a:t>
                      </a:r>
                    </a:p>
                  </a:txBody>
                  <a:tcPr marL="94646" marR="94646" marT="132504" marB="13250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87042319"/>
                  </a:ext>
                </a:extLst>
              </a:tr>
            </a:tbl>
          </a:graphicData>
        </a:graphic>
      </p:graphicFrame>
    </p:spTree>
    <p:extLst>
      <p:ext uri="{BB962C8B-B14F-4D97-AF65-F5344CB8AC3E}">
        <p14:creationId xmlns:p14="http://schemas.microsoft.com/office/powerpoint/2010/main" val="41495392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6DEED-B2D3-4B2B-9D99-4E04FCEDF033}"/>
              </a:ext>
            </a:extLst>
          </p:cNvPr>
          <p:cNvSpPr>
            <a:spLocks noGrp="1"/>
          </p:cNvSpPr>
          <p:nvPr>
            <p:ph type="title"/>
          </p:nvPr>
        </p:nvSpPr>
        <p:spPr>
          <a:xfrm>
            <a:off x="838200" y="365125"/>
            <a:ext cx="10515600" cy="755463"/>
          </a:xfrm>
        </p:spPr>
        <p:txBody>
          <a:bodyPr>
            <a:normAutofit fontScale="90000"/>
          </a:bodyPr>
          <a:lstStyle/>
          <a:p>
            <a:br>
              <a:rPr lang="en-IN" b="1" dirty="0"/>
            </a:br>
            <a:r>
              <a:rPr lang="en-IN" sz="3100" b="1" dirty="0"/>
              <a:t>Stop and Wait ARQ</a:t>
            </a:r>
            <a:br>
              <a:rPr lang="en-IN" b="1" dirty="0"/>
            </a:br>
            <a:endParaRPr lang="en-IN" dirty="0"/>
          </a:p>
        </p:txBody>
      </p:sp>
      <p:sp>
        <p:nvSpPr>
          <p:cNvPr id="3" name="Content Placeholder 2">
            <a:extLst>
              <a:ext uri="{FF2B5EF4-FFF2-40B4-BE49-F238E27FC236}">
                <a16:creationId xmlns:a16="http://schemas.microsoft.com/office/drawing/2014/main" id="{0E4152D5-6E68-4D24-B6F3-1196553F506F}"/>
              </a:ext>
            </a:extLst>
          </p:cNvPr>
          <p:cNvSpPr>
            <a:spLocks noGrp="1"/>
          </p:cNvSpPr>
          <p:nvPr>
            <p:ph idx="1"/>
          </p:nvPr>
        </p:nvSpPr>
        <p:spPr>
          <a:xfrm>
            <a:off x="726141" y="1281953"/>
            <a:ext cx="10627659" cy="4895010"/>
          </a:xfrm>
        </p:spPr>
        <p:txBody>
          <a:bodyPr/>
          <a:lstStyle/>
          <a:p>
            <a:endParaRPr lang="en-US" dirty="0"/>
          </a:p>
          <a:p>
            <a:r>
              <a:rPr lang="en-US" sz="2400" dirty="0"/>
              <a:t>Stop and Wait ARQ is a Sliding Window Protocol method used for the reliable delivery of data frames. </a:t>
            </a:r>
          </a:p>
          <a:p>
            <a:r>
              <a:rPr lang="en-US" sz="2400" dirty="0"/>
              <a:t>The stop-and-wait ARQ is used for noisy channels or links to handle flow and error control between sender and receiver. </a:t>
            </a:r>
          </a:p>
          <a:p>
            <a:r>
              <a:rPr lang="en-US" sz="2400" dirty="0"/>
              <a:t>The Stop and Wait ARQ protocol sends a data frame and then waits for an acknowledgment (ACK) from the receiver.</a:t>
            </a:r>
            <a:endParaRPr lang="en-IN" sz="2400" dirty="0"/>
          </a:p>
        </p:txBody>
      </p:sp>
    </p:spTree>
    <p:extLst>
      <p:ext uri="{BB962C8B-B14F-4D97-AF65-F5344CB8AC3E}">
        <p14:creationId xmlns:p14="http://schemas.microsoft.com/office/powerpoint/2010/main" val="29947355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AF14-EA2F-4FDA-8C74-4348AB91E0BC}"/>
              </a:ext>
            </a:extLst>
          </p:cNvPr>
          <p:cNvSpPr>
            <a:spLocks noGrp="1"/>
          </p:cNvSpPr>
          <p:nvPr>
            <p:ph type="title"/>
          </p:nvPr>
        </p:nvSpPr>
        <p:spPr>
          <a:xfrm>
            <a:off x="838200" y="365126"/>
            <a:ext cx="10515600" cy="486522"/>
          </a:xfrm>
        </p:spPr>
        <p:txBody>
          <a:bodyPr>
            <a:normAutofit fontScale="90000"/>
          </a:bodyPr>
          <a:lstStyle/>
          <a:p>
            <a:br>
              <a:rPr lang="en-US" b="1" dirty="0"/>
            </a:br>
            <a:r>
              <a:rPr lang="en-US" sz="3100" b="1" dirty="0"/>
              <a:t>What is Stop and Wait ARQ?</a:t>
            </a:r>
            <a:br>
              <a:rPr lang="en-US" sz="3100" b="1" dirty="0"/>
            </a:br>
            <a:endParaRPr lang="en-IN" sz="3100" dirty="0"/>
          </a:p>
        </p:txBody>
      </p:sp>
      <p:sp>
        <p:nvSpPr>
          <p:cNvPr id="3" name="Content Placeholder 2">
            <a:extLst>
              <a:ext uri="{FF2B5EF4-FFF2-40B4-BE49-F238E27FC236}">
                <a16:creationId xmlns:a16="http://schemas.microsoft.com/office/drawing/2014/main" id="{7D776FDE-1EDF-4906-87DF-6FD7523DCB4A}"/>
              </a:ext>
            </a:extLst>
          </p:cNvPr>
          <p:cNvSpPr>
            <a:spLocks noGrp="1"/>
          </p:cNvSpPr>
          <p:nvPr>
            <p:ph idx="1"/>
          </p:nvPr>
        </p:nvSpPr>
        <p:spPr>
          <a:xfrm>
            <a:off x="1004046" y="1264024"/>
            <a:ext cx="10349753" cy="4912939"/>
          </a:xfrm>
        </p:spPr>
        <p:txBody>
          <a:bodyPr>
            <a:normAutofit/>
          </a:bodyPr>
          <a:lstStyle/>
          <a:p>
            <a:r>
              <a:rPr lang="en-US" sz="2400" dirty="0"/>
              <a:t>The Stop and Wait ARQ protocol sends a data frame and then waits for an acknowledgment (ACK) from the receiver. </a:t>
            </a:r>
          </a:p>
          <a:p>
            <a:r>
              <a:rPr lang="en-US" sz="2400" dirty="0"/>
              <a:t>The ACK indicates that the receiver successfully received the data frame. </a:t>
            </a:r>
          </a:p>
          <a:p>
            <a:r>
              <a:rPr lang="en-US" sz="2400" dirty="0"/>
              <a:t>After receiving the ACK from the receiver, the sender delivers the next data frame. </a:t>
            </a:r>
          </a:p>
          <a:p>
            <a:r>
              <a:rPr lang="en-US" sz="2400" dirty="0"/>
              <a:t>So there is a stop before the next data frame is transferred, hence it is known as the Stop and Wait ARQ protocol.</a:t>
            </a:r>
            <a:endParaRPr lang="en-IN" sz="2400" dirty="0"/>
          </a:p>
        </p:txBody>
      </p:sp>
    </p:spTree>
    <p:extLst>
      <p:ext uri="{BB962C8B-B14F-4D97-AF65-F5344CB8AC3E}">
        <p14:creationId xmlns:p14="http://schemas.microsoft.com/office/powerpoint/2010/main" val="41832311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7E25F-6DC7-488D-BEDD-B9CA2EF9AE8C}"/>
              </a:ext>
            </a:extLst>
          </p:cNvPr>
          <p:cNvSpPr>
            <a:spLocks noGrp="1"/>
          </p:cNvSpPr>
          <p:nvPr>
            <p:ph type="title"/>
          </p:nvPr>
        </p:nvSpPr>
        <p:spPr>
          <a:xfrm>
            <a:off x="838200" y="365125"/>
            <a:ext cx="10515600" cy="549275"/>
          </a:xfrm>
        </p:spPr>
        <p:txBody>
          <a:bodyPr>
            <a:normAutofit fontScale="90000"/>
          </a:bodyPr>
          <a:lstStyle/>
          <a:p>
            <a:br>
              <a:rPr lang="en-US" b="1" dirty="0"/>
            </a:br>
            <a:r>
              <a:rPr lang="en-US" sz="3600" b="1" dirty="0"/>
              <a:t>Terms in Stop and Wait Protocol</a:t>
            </a:r>
            <a:br>
              <a:rPr lang="en-US" b="1" dirty="0"/>
            </a:br>
            <a:endParaRPr lang="en-IN" dirty="0"/>
          </a:p>
        </p:txBody>
      </p:sp>
      <p:sp>
        <p:nvSpPr>
          <p:cNvPr id="3" name="Content Placeholder 2">
            <a:extLst>
              <a:ext uri="{FF2B5EF4-FFF2-40B4-BE49-F238E27FC236}">
                <a16:creationId xmlns:a16="http://schemas.microsoft.com/office/drawing/2014/main" id="{C7D2BA90-E154-44DC-A867-594ACDAA14CE}"/>
              </a:ext>
            </a:extLst>
          </p:cNvPr>
          <p:cNvSpPr>
            <a:spLocks noGrp="1"/>
          </p:cNvSpPr>
          <p:nvPr>
            <p:ph idx="1"/>
          </p:nvPr>
        </p:nvSpPr>
        <p:spPr>
          <a:xfrm>
            <a:off x="753035" y="1004047"/>
            <a:ext cx="10600765" cy="5172916"/>
          </a:xfrm>
        </p:spPr>
        <p:txBody>
          <a:bodyPr/>
          <a:lstStyle/>
          <a:p>
            <a:pPr marL="0" lvl="0" indent="0" eaLnBrk="0" fontAlgn="base" hangingPunct="0">
              <a:lnSpc>
                <a:spcPct val="100000"/>
              </a:lnSpc>
              <a:spcBef>
                <a:spcPct val="0"/>
              </a:spcBef>
              <a:spcAft>
                <a:spcPct val="0"/>
              </a:spcAft>
              <a:buNone/>
            </a:pPr>
            <a:r>
              <a:rPr lang="en-US" sz="2000" dirty="0"/>
              <a:t> </a:t>
            </a:r>
          </a:p>
          <a:p>
            <a:pPr marL="0" lvl="0" indent="0" eaLnBrk="0" fontAlgn="base" hangingPunct="0">
              <a:lnSpc>
                <a:spcPct val="100000"/>
              </a:lnSpc>
              <a:spcBef>
                <a:spcPct val="0"/>
              </a:spcBef>
              <a:spcAft>
                <a:spcPct val="0"/>
              </a:spcAft>
              <a:buNone/>
            </a:pPr>
            <a:r>
              <a:rPr lang="en-US" altLang="en-US" sz="2000" dirty="0">
                <a:solidFill>
                  <a:srgbClr val="273239"/>
                </a:solidFill>
                <a:latin typeface="Times New Roman" panose="02020603050405020304" pitchFamily="18" charset="0"/>
                <a:cs typeface="Times New Roman" panose="02020603050405020304" pitchFamily="18" charset="0"/>
              </a:rPr>
              <a:t>1</a:t>
            </a:r>
            <a:r>
              <a:rPr lang="en-US" altLang="en-US" sz="2000" b="1" dirty="0">
                <a:solidFill>
                  <a:srgbClr val="273239"/>
                </a:solidFill>
                <a:latin typeface="Times New Roman" panose="02020603050405020304" pitchFamily="18" charset="0"/>
                <a:cs typeface="Times New Roman" panose="02020603050405020304" pitchFamily="18" charset="0"/>
              </a:rPr>
              <a:t>. Propagation Delay: </a:t>
            </a:r>
            <a:r>
              <a:rPr lang="en-US" altLang="en-US" sz="2000" dirty="0">
                <a:solidFill>
                  <a:srgbClr val="273239"/>
                </a:solidFill>
                <a:latin typeface="Times New Roman" panose="02020603050405020304" pitchFamily="18" charset="0"/>
                <a:cs typeface="Times New Roman" panose="02020603050405020304" pitchFamily="18" charset="0"/>
              </a:rPr>
              <a:t>Amount of time taken by a packet to make a physical journey from one router to another router.</a:t>
            </a:r>
          </a:p>
          <a:p>
            <a:pPr marL="0" lv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Propagation Delay = (Distance between routers) / (Velocity of propagation)</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2. </a:t>
            </a:r>
            <a:r>
              <a:rPr lang="en-US" altLang="en-US" sz="2000" b="1" dirty="0">
                <a:latin typeface="Times New Roman" panose="02020603050405020304" pitchFamily="18" charset="0"/>
                <a:cs typeface="Times New Roman" panose="02020603050405020304" pitchFamily="18" charset="0"/>
              </a:rPr>
              <a:t>Round Trip Time( RTT</a:t>
            </a:r>
            <a:r>
              <a:rPr lang="en-US" altLang="en-US"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Amount of time taken by a packet to reach the receiver + Time taken by the Acknowledgement to reach the sender.</a:t>
            </a:r>
          </a:p>
          <a:p>
            <a:pPr marL="0" indent="0"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3. </a:t>
            </a:r>
            <a:r>
              <a:rPr lang="en-IN" sz="2000" b="1" dirty="0" err="1">
                <a:latin typeface="Times New Roman" panose="02020603050405020304" pitchFamily="18" charset="0"/>
                <a:cs typeface="Times New Roman" panose="02020603050405020304" pitchFamily="18" charset="0"/>
              </a:rPr>
              <a:t>TimeOut</a:t>
            </a:r>
            <a:r>
              <a:rPr lang="en-IN" sz="2000" b="1" dirty="0">
                <a:latin typeface="Times New Roman" panose="02020603050405020304" pitchFamily="18" charset="0"/>
                <a:cs typeface="Times New Roman" panose="02020603050405020304" pitchFamily="18" charset="0"/>
              </a:rPr>
              <a:t> (TO) </a:t>
            </a:r>
            <a:r>
              <a:rPr lang="en-IN" sz="2000" dirty="0">
                <a:latin typeface="Times New Roman" panose="02020603050405020304" pitchFamily="18" charset="0"/>
                <a:cs typeface="Times New Roman" panose="02020603050405020304" pitchFamily="18" charset="0"/>
              </a:rPr>
              <a:t>=  2* RTT</a:t>
            </a:r>
          </a:p>
          <a:p>
            <a:pPr marL="0" indent="0" eaLnBrk="0" fontAlgn="base" hangingPunct="0">
              <a:lnSpc>
                <a:spcPct val="100000"/>
              </a:lnSpc>
              <a:spcBef>
                <a:spcPct val="0"/>
              </a:spcBef>
              <a:spcAft>
                <a:spcPct val="0"/>
              </a:spcAft>
              <a:buNone/>
            </a:pPr>
            <a:endParaRPr lang="en-IN" sz="20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4. </a:t>
            </a:r>
            <a:r>
              <a:rPr lang="en-US" altLang="en-US" sz="2000" b="1" dirty="0">
                <a:latin typeface="Times New Roman" panose="02020603050405020304" pitchFamily="18" charset="0"/>
                <a:cs typeface="Times New Roman" panose="02020603050405020304" pitchFamily="18" charset="0"/>
              </a:rPr>
              <a:t>Time To Live(TTL)</a:t>
            </a:r>
            <a:r>
              <a:rPr lang="en-US" sz="2000" dirty="0">
                <a:latin typeface="Times New Roman" panose="02020603050405020304" pitchFamily="18" charset="0"/>
                <a:cs typeface="Times New Roman" panose="02020603050405020304" pitchFamily="18" charset="0"/>
              </a:rPr>
              <a:t> = 2* </a:t>
            </a:r>
            <a:r>
              <a:rPr lang="en-US" sz="2000" dirty="0" err="1">
                <a:latin typeface="Times New Roman" panose="02020603050405020304" pitchFamily="18" charset="0"/>
                <a:cs typeface="Times New Roman" panose="02020603050405020304" pitchFamily="18" charset="0"/>
              </a:rPr>
              <a:t>TimeOut</a:t>
            </a:r>
            <a:r>
              <a:rPr lang="en-US" sz="2000" dirty="0">
                <a:latin typeface="Times New Roman" panose="02020603050405020304" pitchFamily="18" charset="0"/>
                <a:cs typeface="Times New Roman" panose="02020603050405020304" pitchFamily="18" charset="0"/>
              </a:rPr>
              <a:t>. (Maximum TTL is 255 seconds)</a:t>
            </a:r>
          </a:p>
          <a:p>
            <a:pPr marL="0" lv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Rectangle 2">
            <a:extLst>
              <a:ext uri="{FF2B5EF4-FFF2-40B4-BE49-F238E27FC236}">
                <a16:creationId xmlns:a16="http://schemas.microsoft.com/office/drawing/2014/main" id="{FEC8DE73-A315-47E5-9F9C-E18D1E25ABE1}"/>
              </a:ext>
            </a:extLst>
          </p:cNvPr>
          <p:cNvSpPr>
            <a:spLocks noChangeArrowheads="1"/>
          </p:cNvSpPr>
          <p:nvPr/>
        </p:nvSpPr>
        <p:spPr bwMode="auto">
          <a:xfrm>
            <a:off x="6095967" y="-138499"/>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89708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C623-C29E-4A25-B037-A69FB77DE3E5}"/>
              </a:ext>
            </a:extLst>
          </p:cNvPr>
          <p:cNvSpPr>
            <a:spLocks noGrp="1"/>
          </p:cNvSpPr>
          <p:nvPr>
            <p:ph type="title"/>
          </p:nvPr>
        </p:nvSpPr>
        <p:spPr>
          <a:xfrm>
            <a:off x="838200" y="365126"/>
            <a:ext cx="10515600" cy="594542"/>
          </a:xfrm>
        </p:spPr>
        <p:txBody>
          <a:bodyPr>
            <a:normAutofit fontScale="90000"/>
          </a:bodyPr>
          <a:lstStyle/>
          <a:p>
            <a:br>
              <a:rPr lang="en-IN" b="1" dirty="0"/>
            </a:br>
            <a:r>
              <a:rPr lang="en-IN" sz="3600" b="1" dirty="0"/>
              <a:t>Simple Stop and Wait</a:t>
            </a:r>
            <a:br>
              <a:rPr lang="en-IN" b="1" dirty="0"/>
            </a:br>
            <a:endParaRPr lang="en-IN" dirty="0"/>
          </a:p>
        </p:txBody>
      </p:sp>
      <p:sp>
        <p:nvSpPr>
          <p:cNvPr id="3" name="Content Placeholder 2">
            <a:extLst>
              <a:ext uri="{FF2B5EF4-FFF2-40B4-BE49-F238E27FC236}">
                <a16:creationId xmlns:a16="http://schemas.microsoft.com/office/drawing/2014/main" id="{697F5A38-7AB0-4DC5-9CFC-1C351F246DCA}"/>
              </a:ext>
            </a:extLst>
          </p:cNvPr>
          <p:cNvSpPr>
            <a:spLocks noGrp="1"/>
          </p:cNvSpPr>
          <p:nvPr>
            <p:ph idx="1"/>
          </p:nvPr>
        </p:nvSpPr>
        <p:spPr>
          <a:xfrm>
            <a:off x="838200" y="1186004"/>
            <a:ext cx="10515600" cy="4990959"/>
          </a:xfrm>
        </p:spPr>
        <p:txBody>
          <a:bodyPr/>
          <a:lstStyle/>
          <a:p>
            <a:pPr marL="0" indent="0" fontAlgn="base">
              <a:buNone/>
            </a:pPr>
            <a:r>
              <a:rPr lang="en-US" sz="2400" b="1" dirty="0"/>
              <a:t>At Sender</a:t>
            </a:r>
          </a:p>
          <a:p>
            <a:pPr fontAlgn="base"/>
            <a:r>
              <a:rPr lang="en-US" sz="2400" dirty="0"/>
              <a:t>Rule 1: Send one data packet at a time. </a:t>
            </a:r>
          </a:p>
          <a:p>
            <a:pPr fontAlgn="base"/>
            <a:r>
              <a:rPr lang="en-US" sz="2400" dirty="0"/>
              <a:t>Rule 2: Send the next packet only after receiving acknowledgment for the previous. </a:t>
            </a:r>
          </a:p>
          <a:p>
            <a:pPr marL="0" indent="0" fontAlgn="base">
              <a:buNone/>
            </a:pPr>
            <a:endParaRPr lang="en-US" sz="2400" dirty="0"/>
          </a:p>
          <a:p>
            <a:pPr marL="0" indent="0" fontAlgn="base">
              <a:buNone/>
            </a:pPr>
            <a:r>
              <a:rPr lang="en-US" sz="2400" b="1" dirty="0"/>
              <a:t>At Receiver</a:t>
            </a:r>
          </a:p>
          <a:p>
            <a:pPr fontAlgn="base"/>
            <a:r>
              <a:rPr lang="en-US" sz="2400" dirty="0"/>
              <a:t>Rule 1: Send acknowledgement after receiving and consuming a data packet. </a:t>
            </a:r>
          </a:p>
          <a:p>
            <a:pPr fontAlgn="base"/>
            <a:r>
              <a:rPr lang="en-US" sz="2400" dirty="0"/>
              <a:t>Rule 2: After consuming packet acknowledgement need to be sent .</a:t>
            </a:r>
            <a:endParaRPr lang="en-IN" dirty="0"/>
          </a:p>
        </p:txBody>
      </p:sp>
    </p:spTree>
    <p:extLst>
      <p:ext uri="{BB962C8B-B14F-4D97-AF65-F5344CB8AC3E}">
        <p14:creationId xmlns:p14="http://schemas.microsoft.com/office/powerpoint/2010/main" val="15541216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2954C7-6A96-45B7-802E-991C0B3DBC5F}"/>
              </a:ext>
            </a:extLst>
          </p:cNvPr>
          <p:cNvPicPr>
            <a:picLocks noChangeAspect="1"/>
          </p:cNvPicPr>
          <p:nvPr/>
        </p:nvPicPr>
        <p:blipFill>
          <a:blip r:embed="rId2"/>
          <a:stretch>
            <a:fillRect/>
          </a:stretch>
        </p:blipFill>
        <p:spPr>
          <a:xfrm>
            <a:off x="2943225" y="461963"/>
            <a:ext cx="5748102" cy="5409468"/>
          </a:xfrm>
          <a:prstGeom prst="rect">
            <a:avLst/>
          </a:prstGeom>
        </p:spPr>
      </p:pic>
    </p:spTree>
    <p:extLst>
      <p:ext uri="{BB962C8B-B14F-4D97-AF65-F5344CB8AC3E}">
        <p14:creationId xmlns:p14="http://schemas.microsoft.com/office/powerpoint/2010/main" val="23713373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57F4-AA11-438A-BE97-551CA8A9CA71}"/>
              </a:ext>
            </a:extLst>
          </p:cNvPr>
          <p:cNvSpPr>
            <a:spLocks noGrp="1"/>
          </p:cNvSpPr>
          <p:nvPr>
            <p:ph type="title"/>
          </p:nvPr>
        </p:nvSpPr>
        <p:spPr>
          <a:xfrm>
            <a:off x="838200" y="365125"/>
            <a:ext cx="10515600" cy="648863"/>
          </a:xfrm>
        </p:spPr>
        <p:txBody>
          <a:bodyPr>
            <a:normAutofit fontScale="90000"/>
          </a:bodyPr>
          <a:lstStyle/>
          <a:p>
            <a:br>
              <a:rPr lang="en-US" b="1" dirty="0"/>
            </a:br>
            <a:r>
              <a:rPr lang="en-US" sz="3600" b="1" dirty="0"/>
              <a:t>Problems Associated with Stop and Wait</a:t>
            </a:r>
            <a:br>
              <a:rPr lang="en-US" sz="3600" b="1" dirty="0"/>
            </a:br>
            <a:endParaRPr lang="en-IN" sz="3600" dirty="0"/>
          </a:p>
        </p:txBody>
      </p:sp>
      <p:sp>
        <p:nvSpPr>
          <p:cNvPr id="3" name="Content Placeholder 2">
            <a:extLst>
              <a:ext uri="{FF2B5EF4-FFF2-40B4-BE49-F238E27FC236}">
                <a16:creationId xmlns:a16="http://schemas.microsoft.com/office/drawing/2014/main" id="{2571DCF0-FA6F-43DB-A9DB-6164FA89F0E6}"/>
              </a:ext>
            </a:extLst>
          </p:cNvPr>
          <p:cNvSpPr>
            <a:spLocks noGrp="1"/>
          </p:cNvSpPr>
          <p:nvPr>
            <p:ph idx="1"/>
          </p:nvPr>
        </p:nvSpPr>
        <p:spPr>
          <a:xfrm>
            <a:off x="838200" y="1167897"/>
            <a:ext cx="10515600" cy="5009066"/>
          </a:xfrm>
        </p:spPr>
        <p:txBody>
          <a:bodyPr>
            <a:normAutofit/>
          </a:bodyPr>
          <a:lstStyle/>
          <a:p>
            <a:pPr marL="0" indent="0">
              <a:buNone/>
            </a:pPr>
            <a:r>
              <a:rPr lang="en-IN" sz="2000" b="1" dirty="0"/>
              <a:t>1. Lost Data </a:t>
            </a:r>
          </a:p>
          <a:p>
            <a:pPr marL="0" indent="0">
              <a:buNone/>
            </a:pPr>
            <a:r>
              <a:rPr lang="en-US" sz="2000" dirty="0"/>
              <a:t>Assume the sender transmits the data packet and it is lost. The receiver has been waiting for the data for a long time. Because the data is not received by the receiver, it does not transmit an acknowledgment. The sender does not receive an acknowledgment, it will not send the next packet. This problem is caused by a loss of data.  </a:t>
            </a:r>
            <a:endParaRPr lang="en-IN" sz="2000" dirty="0"/>
          </a:p>
        </p:txBody>
      </p:sp>
      <p:pic>
        <p:nvPicPr>
          <p:cNvPr id="4" name="Picture 3">
            <a:extLst>
              <a:ext uri="{FF2B5EF4-FFF2-40B4-BE49-F238E27FC236}">
                <a16:creationId xmlns:a16="http://schemas.microsoft.com/office/drawing/2014/main" id="{CB1600B1-5D06-45AD-921F-34776BB127D7}"/>
              </a:ext>
            </a:extLst>
          </p:cNvPr>
          <p:cNvPicPr>
            <a:picLocks noChangeAspect="1"/>
          </p:cNvPicPr>
          <p:nvPr/>
        </p:nvPicPr>
        <p:blipFill>
          <a:blip r:embed="rId2"/>
          <a:stretch>
            <a:fillRect/>
          </a:stretch>
        </p:blipFill>
        <p:spPr>
          <a:xfrm>
            <a:off x="3675707" y="2960483"/>
            <a:ext cx="4148644" cy="2729620"/>
          </a:xfrm>
          <a:prstGeom prst="rect">
            <a:avLst/>
          </a:prstGeom>
        </p:spPr>
      </p:pic>
    </p:spTree>
    <p:extLst>
      <p:ext uri="{BB962C8B-B14F-4D97-AF65-F5344CB8AC3E}">
        <p14:creationId xmlns:p14="http://schemas.microsoft.com/office/powerpoint/2010/main" val="40364500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55106-8D48-4A66-B9EB-367FDA066F93}"/>
              </a:ext>
            </a:extLst>
          </p:cNvPr>
          <p:cNvSpPr>
            <a:spLocks noGrp="1"/>
          </p:cNvSpPr>
          <p:nvPr>
            <p:ph type="title"/>
          </p:nvPr>
        </p:nvSpPr>
        <p:spPr>
          <a:xfrm>
            <a:off x="838200" y="365126"/>
            <a:ext cx="10515600" cy="531168"/>
          </a:xfrm>
        </p:spPr>
        <p:txBody>
          <a:bodyPr>
            <a:normAutofit fontScale="90000"/>
          </a:bodyPr>
          <a:lstStyle/>
          <a:p>
            <a:br>
              <a:rPr lang="en-IN" b="1" dirty="0"/>
            </a:br>
            <a:r>
              <a:rPr lang="en-IN" sz="2700" b="1" dirty="0"/>
              <a:t>2. Lost Acknowledgement</a:t>
            </a:r>
            <a:br>
              <a:rPr lang="en-IN" b="1" dirty="0"/>
            </a:br>
            <a:endParaRPr lang="en-IN" dirty="0"/>
          </a:p>
        </p:txBody>
      </p:sp>
      <p:sp>
        <p:nvSpPr>
          <p:cNvPr id="3" name="Content Placeholder 2">
            <a:extLst>
              <a:ext uri="{FF2B5EF4-FFF2-40B4-BE49-F238E27FC236}">
                <a16:creationId xmlns:a16="http://schemas.microsoft.com/office/drawing/2014/main" id="{69978A90-6781-4A2C-8B3C-AD0E6739FB4C}"/>
              </a:ext>
            </a:extLst>
          </p:cNvPr>
          <p:cNvSpPr>
            <a:spLocks noGrp="1"/>
          </p:cNvSpPr>
          <p:nvPr>
            <p:ph idx="1"/>
          </p:nvPr>
        </p:nvSpPr>
        <p:spPr>
          <a:xfrm>
            <a:off x="838200" y="1113576"/>
            <a:ext cx="10515600" cy="5063387"/>
          </a:xfrm>
        </p:spPr>
        <p:txBody>
          <a:bodyPr>
            <a:normAutofit/>
          </a:bodyPr>
          <a:lstStyle/>
          <a:p>
            <a:pPr marL="0" indent="0">
              <a:buNone/>
            </a:pPr>
            <a:r>
              <a:rPr lang="en-US" sz="2000" dirty="0"/>
              <a:t>Assume the sender sends the data, which is also received by the receiver. The receiver sends an acknowledgment after receiving the packet. In this situation, the acknowledgment is lost in the network. The sender does not send the next data packet because it does not receive acknowledgement, under the stop and wait protocol, the next packet cannot be transmitted until the preceding packet's acknowledgment is received.  </a:t>
            </a:r>
            <a:endParaRPr lang="en-IN" sz="2000" dirty="0"/>
          </a:p>
        </p:txBody>
      </p:sp>
      <p:pic>
        <p:nvPicPr>
          <p:cNvPr id="5" name="Picture 4">
            <a:extLst>
              <a:ext uri="{FF2B5EF4-FFF2-40B4-BE49-F238E27FC236}">
                <a16:creationId xmlns:a16="http://schemas.microsoft.com/office/drawing/2014/main" id="{DEE59455-B979-422E-B84C-3D0FF9BD5E92}"/>
              </a:ext>
            </a:extLst>
          </p:cNvPr>
          <p:cNvPicPr>
            <a:picLocks noChangeAspect="1"/>
          </p:cNvPicPr>
          <p:nvPr/>
        </p:nvPicPr>
        <p:blipFill>
          <a:blip r:embed="rId2"/>
          <a:stretch>
            <a:fillRect/>
          </a:stretch>
        </p:blipFill>
        <p:spPr>
          <a:xfrm>
            <a:off x="3920150" y="2676248"/>
            <a:ext cx="3606957" cy="3111180"/>
          </a:xfrm>
          <a:prstGeom prst="rect">
            <a:avLst/>
          </a:prstGeom>
        </p:spPr>
      </p:pic>
    </p:spTree>
    <p:extLst>
      <p:ext uri="{BB962C8B-B14F-4D97-AF65-F5344CB8AC3E}">
        <p14:creationId xmlns:p14="http://schemas.microsoft.com/office/powerpoint/2010/main" val="22919413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02A56-B182-42EE-A687-3AE8D73640B1}"/>
              </a:ext>
            </a:extLst>
          </p:cNvPr>
          <p:cNvSpPr>
            <a:spLocks noGrp="1"/>
          </p:cNvSpPr>
          <p:nvPr>
            <p:ph type="title"/>
          </p:nvPr>
        </p:nvSpPr>
        <p:spPr>
          <a:xfrm>
            <a:off x="838200" y="365126"/>
            <a:ext cx="10515600" cy="567382"/>
          </a:xfrm>
        </p:spPr>
        <p:txBody>
          <a:bodyPr>
            <a:normAutofit fontScale="90000"/>
          </a:bodyPr>
          <a:lstStyle/>
          <a:p>
            <a:r>
              <a:rPr lang="en-IN" b="1" dirty="0"/>
              <a:t> </a:t>
            </a:r>
            <a:br>
              <a:rPr lang="en-IN" b="1" dirty="0"/>
            </a:br>
            <a:r>
              <a:rPr lang="en-IN" sz="3100" b="1" dirty="0"/>
              <a:t>3. Delayed Acknowledgement/Data</a:t>
            </a:r>
            <a:br>
              <a:rPr lang="en-IN" sz="3100" b="1" dirty="0"/>
            </a:br>
            <a:endParaRPr lang="en-IN" sz="3100" dirty="0"/>
          </a:p>
        </p:txBody>
      </p:sp>
      <p:sp>
        <p:nvSpPr>
          <p:cNvPr id="3" name="Content Placeholder 2">
            <a:extLst>
              <a:ext uri="{FF2B5EF4-FFF2-40B4-BE49-F238E27FC236}">
                <a16:creationId xmlns:a16="http://schemas.microsoft.com/office/drawing/2014/main" id="{28A633D1-3C31-4CF5-AB50-CF8E6ECF8784}"/>
              </a:ext>
            </a:extLst>
          </p:cNvPr>
          <p:cNvSpPr>
            <a:spLocks noGrp="1"/>
          </p:cNvSpPr>
          <p:nvPr>
            <p:ph idx="1"/>
          </p:nvPr>
        </p:nvSpPr>
        <p:spPr>
          <a:xfrm>
            <a:off x="838200" y="1493822"/>
            <a:ext cx="10515600" cy="4683141"/>
          </a:xfrm>
        </p:spPr>
        <p:txBody>
          <a:bodyPr/>
          <a:lstStyle/>
          <a:p>
            <a:r>
              <a:rPr lang="en-US" sz="2400" dirty="0"/>
              <a:t>Assume the sender sends the data, which is also received by the receiver. The receiver then transmits the acknowledgment, which is received after the sender's timeout period. After a timeout on the sender side, a long-delayed acknowledgement might be wrongly considered as acknowledgement of some other recent packet</a:t>
            </a:r>
            <a:r>
              <a:rPr lang="en-US" dirty="0"/>
              <a:t>. </a:t>
            </a:r>
            <a:endParaRPr lang="en-IN" dirty="0"/>
          </a:p>
        </p:txBody>
      </p:sp>
    </p:spTree>
    <p:extLst>
      <p:ext uri="{BB962C8B-B14F-4D97-AF65-F5344CB8AC3E}">
        <p14:creationId xmlns:p14="http://schemas.microsoft.com/office/powerpoint/2010/main" val="24869631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475BA-BE84-44EA-A20B-31BD5348EAEB}"/>
              </a:ext>
            </a:extLst>
          </p:cNvPr>
          <p:cNvSpPr>
            <a:spLocks noGrp="1"/>
          </p:cNvSpPr>
          <p:nvPr>
            <p:ph type="title"/>
          </p:nvPr>
        </p:nvSpPr>
        <p:spPr>
          <a:xfrm>
            <a:off x="838200" y="365125"/>
            <a:ext cx="10515600" cy="657917"/>
          </a:xfrm>
        </p:spPr>
        <p:txBody>
          <a:bodyPr>
            <a:normAutofit fontScale="90000"/>
          </a:bodyPr>
          <a:lstStyle/>
          <a:p>
            <a:br>
              <a:rPr lang="en-US" b="1" dirty="0"/>
            </a:br>
            <a:r>
              <a:rPr lang="en-US" sz="3100" b="1" dirty="0"/>
              <a:t>Stop and Wait for ARQ (Automatic Repeat Request)</a:t>
            </a:r>
            <a:br>
              <a:rPr lang="en-US" sz="3100" b="1" dirty="0"/>
            </a:br>
            <a:endParaRPr lang="en-IN" sz="3100" dirty="0"/>
          </a:p>
        </p:txBody>
      </p:sp>
      <p:sp>
        <p:nvSpPr>
          <p:cNvPr id="3" name="Content Placeholder 2">
            <a:extLst>
              <a:ext uri="{FF2B5EF4-FFF2-40B4-BE49-F238E27FC236}">
                <a16:creationId xmlns:a16="http://schemas.microsoft.com/office/drawing/2014/main" id="{CEF24658-9EF5-40DE-B2F3-96A6040B891C}"/>
              </a:ext>
            </a:extLst>
          </p:cNvPr>
          <p:cNvSpPr>
            <a:spLocks noGrp="1"/>
          </p:cNvSpPr>
          <p:nvPr>
            <p:ph idx="1"/>
          </p:nvPr>
        </p:nvSpPr>
        <p:spPr>
          <a:xfrm>
            <a:off x="828094" y="1216710"/>
            <a:ext cx="9802160" cy="5657407"/>
          </a:xfrm>
        </p:spPr>
        <p:txBody>
          <a:bodyPr/>
          <a:lstStyle/>
          <a:p>
            <a:r>
              <a:rPr lang="en-US" sz="2400" dirty="0"/>
              <a:t>The above 3 problems are resolved by Stop and Wait for ARQ (Automatic Repeat Request) that does both error control and flow control. </a:t>
            </a:r>
          </a:p>
          <a:p>
            <a:endParaRPr lang="en-IN" dirty="0"/>
          </a:p>
        </p:txBody>
      </p:sp>
      <p:pic>
        <p:nvPicPr>
          <p:cNvPr id="3076" name="Picture 4" descr="Stop and Wait ARQ">
            <a:extLst>
              <a:ext uri="{FF2B5EF4-FFF2-40B4-BE49-F238E27FC236}">
                <a16:creationId xmlns:a16="http://schemas.microsoft.com/office/drawing/2014/main" id="{039231F8-92DB-403E-8CEC-52BE756A4E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902" y="2362954"/>
            <a:ext cx="7948467" cy="2678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6930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D503E-A444-488B-B305-5E130D7303F6}"/>
              </a:ext>
            </a:extLst>
          </p:cNvPr>
          <p:cNvSpPr>
            <a:spLocks noGrp="1"/>
          </p:cNvSpPr>
          <p:nvPr>
            <p:ph type="title"/>
          </p:nvPr>
        </p:nvSpPr>
        <p:spPr>
          <a:xfrm>
            <a:off x="769545" y="365125"/>
            <a:ext cx="10584255" cy="585489"/>
          </a:xfrm>
        </p:spPr>
        <p:txBody>
          <a:bodyPr>
            <a:normAutofit fontScale="90000"/>
          </a:bodyPr>
          <a:lstStyle/>
          <a:p>
            <a:br>
              <a:rPr lang="en-IN" b="1" dirty="0"/>
            </a:br>
            <a:r>
              <a:rPr lang="en-IN" sz="3600" b="1" dirty="0"/>
              <a:t>1. Time Out</a:t>
            </a:r>
            <a:br>
              <a:rPr lang="en-IN" sz="3600" b="1" dirty="0"/>
            </a:br>
            <a:endParaRPr lang="en-IN" sz="3600" dirty="0"/>
          </a:p>
        </p:txBody>
      </p:sp>
      <p:sp>
        <p:nvSpPr>
          <p:cNvPr id="3" name="Content Placeholder 2">
            <a:extLst>
              <a:ext uri="{FF2B5EF4-FFF2-40B4-BE49-F238E27FC236}">
                <a16:creationId xmlns:a16="http://schemas.microsoft.com/office/drawing/2014/main" id="{D5611B18-6931-4487-BA53-0E274DC27639}"/>
              </a:ext>
            </a:extLst>
          </p:cNvPr>
          <p:cNvSpPr>
            <a:spLocks noGrp="1"/>
          </p:cNvSpPr>
          <p:nvPr>
            <p:ph idx="1"/>
          </p:nvPr>
        </p:nvSpPr>
        <p:spPr>
          <a:xfrm>
            <a:off x="851026" y="1276539"/>
            <a:ext cx="10502774" cy="4900424"/>
          </a:xfrm>
        </p:spPr>
        <p:txBody>
          <a:bodyPr>
            <a:normAutofit/>
          </a:bodyPr>
          <a:lstStyle/>
          <a:p>
            <a:r>
              <a:rPr lang="en-US" sz="2000" dirty="0"/>
              <a:t>Timeout refers to the duration for which the sender waits for an acknowledgment (ACK) from the receiver after transmitting a data packet. If the sender does not receive an ACK within this timeout period, it assumes that the frame was lost or corrupted and retransmits the frame.</a:t>
            </a:r>
          </a:p>
          <a:p>
            <a:endParaRPr lang="en-US" sz="2000" dirty="0"/>
          </a:p>
          <a:p>
            <a:pPr marL="0" indent="0">
              <a:buNone/>
            </a:pPr>
            <a:endParaRPr lang="en-IN" sz="2000" dirty="0"/>
          </a:p>
        </p:txBody>
      </p:sp>
      <p:pic>
        <p:nvPicPr>
          <p:cNvPr id="4" name="Picture 3">
            <a:extLst>
              <a:ext uri="{FF2B5EF4-FFF2-40B4-BE49-F238E27FC236}">
                <a16:creationId xmlns:a16="http://schemas.microsoft.com/office/drawing/2014/main" id="{7B3C6C63-B627-4EF8-B31C-931424533A31}"/>
              </a:ext>
            </a:extLst>
          </p:cNvPr>
          <p:cNvPicPr>
            <a:picLocks noChangeAspect="1"/>
          </p:cNvPicPr>
          <p:nvPr/>
        </p:nvPicPr>
        <p:blipFill>
          <a:blip r:embed="rId2"/>
          <a:stretch>
            <a:fillRect/>
          </a:stretch>
        </p:blipFill>
        <p:spPr>
          <a:xfrm>
            <a:off x="4553893" y="2270913"/>
            <a:ext cx="3467477" cy="3390289"/>
          </a:xfrm>
          <a:prstGeom prst="rect">
            <a:avLst/>
          </a:prstGeom>
        </p:spPr>
      </p:pic>
    </p:spTree>
    <p:extLst>
      <p:ext uri="{BB962C8B-B14F-4D97-AF65-F5344CB8AC3E}">
        <p14:creationId xmlns:p14="http://schemas.microsoft.com/office/powerpoint/2010/main" val="28976418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35E6E-7D96-44BB-98D0-E35C2F6C9094}"/>
              </a:ext>
            </a:extLst>
          </p:cNvPr>
          <p:cNvSpPr>
            <a:spLocks noGrp="1"/>
          </p:cNvSpPr>
          <p:nvPr>
            <p:ph type="title"/>
          </p:nvPr>
        </p:nvSpPr>
        <p:spPr>
          <a:xfrm>
            <a:off x="769545" y="365126"/>
            <a:ext cx="10584255" cy="603596"/>
          </a:xfrm>
        </p:spPr>
        <p:txBody>
          <a:bodyPr>
            <a:normAutofit fontScale="90000"/>
          </a:bodyPr>
          <a:lstStyle/>
          <a:p>
            <a:br>
              <a:rPr lang="en-IN" b="1" dirty="0"/>
            </a:br>
            <a:r>
              <a:rPr lang="en-IN" sz="3100" b="1" dirty="0"/>
              <a:t>2. Sequence Number (Data) </a:t>
            </a:r>
            <a:br>
              <a:rPr lang="en-IN" sz="3100" b="1" dirty="0"/>
            </a:br>
            <a:endParaRPr lang="en-IN" sz="3100" dirty="0"/>
          </a:p>
        </p:txBody>
      </p:sp>
      <p:sp>
        <p:nvSpPr>
          <p:cNvPr id="3" name="Content Placeholder 2">
            <a:extLst>
              <a:ext uri="{FF2B5EF4-FFF2-40B4-BE49-F238E27FC236}">
                <a16:creationId xmlns:a16="http://schemas.microsoft.com/office/drawing/2014/main" id="{8C20759F-9E77-4DD4-A1C7-7F788CF988F8}"/>
              </a:ext>
            </a:extLst>
          </p:cNvPr>
          <p:cNvSpPr>
            <a:spLocks noGrp="1"/>
          </p:cNvSpPr>
          <p:nvPr>
            <p:ph idx="1"/>
          </p:nvPr>
        </p:nvSpPr>
        <p:spPr>
          <a:xfrm>
            <a:off x="769545" y="1249378"/>
            <a:ext cx="10584255" cy="4927585"/>
          </a:xfrm>
        </p:spPr>
        <p:txBody>
          <a:bodyPr>
            <a:normAutofit/>
          </a:bodyPr>
          <a:lstStyle/>
          <a:p>
            <a:pPr fontAlgn="base"/>
            <a:r>
              <a:rPr lang="en-US" sz="2000" dirty="0"/>
              <a:t>In Stop-and-Wait ARQ, the sender assigns sequence numbers to each data frame it sends. This allows the receiver to identify and acknowledge each frame individually, ensuring reliable delivery of data packets. After sending a frame, the sender waits for an acknowledgment before sending the next frame. </a:t>
            </a:r>
          </a:p>
          <a:p>
            <a:br>
              <a:rPr lang="en-US" sz="2000" dirty="0"/>
            </a:br>
            <a:endParaRPr lang="en-IN" sz="2000" dirty="0"/>
          </a:p>
        </p:txBody>
      </p:sp>
      <p:pic>
        <p:nvPicPr>
          <p:cNvPr id="4" name="Picture 3">
            <a:extLst>
              <a:ext uri="{FF2B5EF4-FFF2-40B4-BE49-F238E27FC236}">
                <a16:creationId xmlns:a16="http://schemas.microsoft.com/office/drawing/2014/main" id="{3D170495-B6D6-48A6-B257-E0A9F772C8BA}"/>
              </a:ext>
            </a:extLst>
          </p:cNvPr>
          <p:cNvPicPr>
            <a:picLocks noChangeAspect="1"/>
          </p:cNvPicPr>
          <p:nvPr/>
        </p:nvPicPr>
        <p:blipFill>
          <a:blip r:embed="rId2"/>
          <a:stretch>
            <a:fillRect/>
          </a:stretch>
        </p:blipFill>
        <p:spPr>
          <a:xfrm>
            <a:off x="3865831" y="2432996"/>
            <a:ext cx="4879818" cy="3175626"/>
          </a:xfrm>
          <a:prstGeom prst="rect">
            <a:avLst/>
          </a:prstGeom>
        </p:spPr>
      </p:pic>
    </p:spTree>
    <p:extLst>
      <p:ext uri="{BB962C8B-B14F-4D97-AF65-F5344CB8AC3E}">
        <p14:creationId xmlns:p14="http://schemas.microsoft.com/office/powerpoint/2010/main" val="665338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C8F1C-9F94-4CFA-87F4-4073177D957B}"/>
              </a:ext>
            </a:extLst>
          </p:cNvPr>
          <p:cNvSpPr>
            <a:spLocks noGrp="1"/>
          </p:cNvSpPr>
          <p:nvPr>
            <p:ph type="title"/>
          </p:nvPr>
        </p:nvSpPr>
        <p:spPr>
          <a:xfrm>
            <a:off x="760491" y="365125"/>
            <a:ext cx="10593309" cy="585489"/>
          </a:xfrm>
        </p:spPr>
        <p:txBody>
          <a:bodyPr>
            <a:normAutofit fontScale="90000"/>
          </a:bodyPr>
          <a:lstStyle/>
          <a:p>
            <a:br>
              <a:rPr lang="en-IN" b="1" dirty="0"/>
            </a:br>
            <a:r>
              <a:rPr lang="en-IN" sz="3100" b="1" dirty="0"/>
              <a:t>3. Sequence Number(Acknowledgement</a:t>
            </a:r>
            <a:r>
              <a:rPr lang="en-IN" sz="3600" b="1" dirty="0"/>
              <a:t>)</a:t>
            </a:r>
            <a:br>
              <a:rPr lang="en-IN" sz="3600" b="1" dirty="0"/>
            </a:br>
            <a:endParaRPr lang="en-IN" sz="3600" dirty="0"/>
          </a:p>
        </p:txBody>
      </p:sp>
      <p:sp>
        <p:nvSpPr>
          <p:cNvPr id="3" name="Content Placeholder 2">
            <a:extLst>
              <a:ext uri="{FF2B5EF4-FFF2-40B4-BE49-F238E27FC236}">
                <a16:creationId xmlns:a16="http://schemas.microsoft.com/office/drawing/2014/main" id="{9E301E52-D55E-4031-ACC5-66F3FD16E2FC}"/>
              </a:ext>
            </a:extLst>
          </p:cNvPr>
          <p:cNvSpPr>
            <a:spLocks noGrp="1"/>
          </p:cNvSpPr>
          <p:nvPr>
            <p:ph idx="1"/>
          </p:nvPr>
        </p:nvSpPr>
        <p:spPr/>
        <p:txBody>
          <a:bodyPr>
            <a:normAutofit/>
          </a:bodyPr>
          <a:lstStyle/>
          <a:p>
            <a:r>
              <a:rPr lang="en-US" sz="2400" dirty="0"/>
              <a:t>Similarly, sequence numbers are also used in acknowledgments (ACKs) sent by the receiver to acknowledge received data frames. When the receiver successfully receives a data frame, it sends an ACK back to the sender, indicating the sequence number of the next expected frame. The sender uses this ACK to determine whether the transmission was successful and whether it can proceed to send the next frame. </a:t>
            </a:r>
            <a:endParaRPr lang="en-IN" sz="2400" dirty="0"/>
          </a:p>
        </p:txBody>
      </p:sp>
    </p:spTree>
    <p:extLst>
      <p:ext uri="{BB962C8B-B14F-4D97-AF65-F5344CB8AC3E}">
        <p14:creationId xmlns:p14="http://schemas.microsoft.com/office/powerpoint/2010/main" val="37166966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E6C62-570B-488E-8EA5-3B970D0F836A}"/>
              </a:ext>
            </a:extLst>
          </p:cNvPr>
          <p:cNvSpPr>
            <a:spLocks noGrp="1"/>
          </p:cNvSpPr>
          <p:nvPr>
            <p:ph type="title"/>
          </p:nvPr>
        </p:nvSpPr>
        <p:spPr>
          <a:xfrm>
            <a:off x="838200" y="365125"/>
            <a:ext cx="10515600" cy="585489"/>
          </a:xfrm>
        </p:spPr>
        <p:txBody>
          <a:bodyPr>
            <a:normAutofit fontScale="90000"/>
          </a:bodyPr>
          <a:lstStyle/>
          <a:p>
            <a:br>
              <a:rPr lang="en-US" b="1" dirty="0"/>
            </a:br>
            <a:r>
              <a:rPr lang="en-US" sz="3600" b="1" dirty="0"/>
              <a:t>Working of Stop and Wait for ARQ</a:t>
            </a:r>
            <a:br>
              <a:rPr lang="en-US" sz="3600" b="1" dirty="0"/>
            </a:br>
            <a:endParaRPr lang="en-IN" sz="3600" dirty="0"/>
          </a:p>
        </p:txBody>
      </p:sp>
      <p:sp>
        <p:nvSpPr>
          <p:cNvPr id="3" name="Content Placeholder 2">
            <a:extLst>
              <a:ext uri="{FF2B5EF4-FFF2-40B4-BE49-F238E27FC236}">
                <a16:creationId xmlns:a16="http://schemas.microsoft.com/office/drawing/2014/main" id="{96905439-EFF6-411B-ADF2-0B8CCAA8BE56}"/>
              </a:ext>
            </a:extLst>
          </p:cNvPr>
          <p:cNvSpPr>
            <a:spLocks noGrp="1"/>
          </p:cNvSpPr>
          <p:nvPr>
            <p:ph idx="1"/>
          </p:nvPr>
        </p:nvSpPr>
        <p:spPr>
          <a:xfrm>
            <a:off x="838200" y="1253331"/>
            <a:ext cx="10515600" cy="4351338"/>
          </a:xfrm>
        </p:spPr>
        <p:txBody>
          <a:bodyPr>
            <a:normAutofit/>
          </a:bodyPr>
          <a:lstStyle/>
          <a:p>
            <a:pPr fontAlgn="base"/>
            <a:r>
              <a:rPr lang="en-US" sz="2000" dirty="0"/>
              <a:t>Sender A sends a data frame or packet with sequence number 0. </a:t>
            </a:r>
          </a:p>
          <a:p>
            <a:pPr fontAlgn="base"/>
            <a:r>
              <a:rPr lang="en-US" sz="2000" dirty="0"/>
              <a:t>Receiver B, after receiving the data frame, sends an acknowledgement with sequence number 1 (the sequence number of the next expected data frame or packet) </a:t>
            </a:r>
            <a:br>
              <a:rPr lang="en-US" sz="2000" dirty="0"/>
            </a:br>
            <a:r>
              <a:rPr lang="en-US" sz="2000" dirty="0"/>
              <a:t>There is only a one-bit sequence number that implies that both sender and receiver have a buffer for one frame or packet only. </a:t>
            </a:r>
          </a:p>
          <a:p>
            <a:r>
              <a:rPr lang="en-US" sz="2000" dirty="0"/>
              <a:t>It uses a 1-bit sequence number that alternates 0→1→0… so the receiver can detect duplicates and the sender can recover from loss using </a:t>
            </a:r>
            <a:r>
              <a:rPr lang="en-US" sz="2000" b="1" dirty="0"/>
              <a:t>timeouts + retransmissions</a:t>
            </a:r>
            <a:r>
              <a:rPr lang="en-US" sz="2000" dirty="0"/>
              <a:t>.</a:t>
            </a:r>
          </a:p>
        </p:txBody>
      </p:sp>
    </p:spTree>
    <p:extLst>
      <p:ext uri="{BB962C8B-B14F-4D97-AF65-F5344CB8AC3E}">
        <p14:creationId xmlns:p14="http://schemas.microsoft.com/office/powerpoint/2010/main" val="13226024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94D64A-2C06-4B2A-9EE6-86ED640808C5}"/>
              </a:ext>
            </a:extLst>
          </p:cNvPr>
          <p:cNvPicPr>
            <a:picLocks noChangeAspect="1"/>
          </p:cNvPicPr>
          <p:nvPr/>
        </p:nvPicPr>
        <p:blipFill>
          <a:blip r:embed="rId2"/>
          <a:stretch>
            <a:fillRect/>
          </a:stretch>
        </p:blipFill>
        <p:spPr>
          <a:xfrm>
            <a:off x="3141551" y="365778"/>
            <a:ext cx="4860203" cy="5039141"/>
          </a:xfrm>
          <a:prstGeom prst="rect">
            <a:avLst/>
          </a:prstGeom>
        </p:spPr>
      </p:pic>
    </p:spTree>
    <p:extLst>
      <p:ext uri="{BB962C8B-B14F-4D97-AF65-F5344CB8AC3E}">
        <p14:creationId xmlns:p14="http://schemas.microsoft.com/office/powerpoint/2010/main" val="31130697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A55D5-E8DE-42A0-9A7C-4E38E0F4D4B7}"/>
              </a:ext>
            </a:extLst>
          </p:cNvPr>
          <p:cNvSpPr>
            <a:spLocks noGrp="1"/>
          </p:cNvSpPr>
          <p:nvPr>
            <p:ph type="title"/>
          </p:nvPr>
        </p:nvSpPr>
        <p:spPr>
          <a:xfrm>
            <a:off x="838200" y="365126"/>
            <a:ext cx="10515600" cy="594542"/>
          </a:xfrm>
        </p:spPr>
        <p:txBody>
          <a:bodyPr>
            <a:normAutofit fontScale="90000"/>
          </a:bodyPr>
          <a:lstStyle/>
          <a:p>
            <a:br>
              <a:rPr lang="en-US" b="1" dirty="0"/>
            </a:br>
            <a:r>
              <a:rPr lang="en-US" sz="3100" b="1" dirty="0"/>
              <a:t>Advantages of Stop and Wait ARQ</a:t>
            </a:r>
            <a:br>
              <a:rPr lang="en-US" sz="3100" b="1" dirty="0"/>
            </a:br>
            <a:endParaRPr lang="en-IN" sz="3100" dirty="0"/>
          </a:p>
        </p:txBody>
      </p:sp>
      <p:sp>
        <p:nvSpPr>
          <p:cNvPr id="3" name="Content Placeholder 2">
            <a:extLst>
              <a:ext uri="{FF2B5EF4-FFF2-40B4-BE49-F238E27FC236}">
                <a16:creationId xmlns:a16="http://schemas.microsoft.com/office/drawing/2014/main" id="{D9066C81-FFD5-488B-AABB-2F3C9031C965}"/>
              </a:ext>
            </a:extLst>
          </p:cNvPr>
          <p:cNvSpPr>
            <a:spLocks noGrp="1"/>
          </p:cNvSpPr>
          <p:nvPr>
            <p:ph idx="1"/>
          </p:nvPr>
        </p:nvSpPr>
        <p:spPr>
          <a:xfrm>
            <a:off x="769545" y="959668"/>
            <a:ext cx="10584255" cy="5217295"/>
          </a:xfrm>
        </p:spPr>
        <p:txBody>
          <a:bodyPr>
            <a:normAutofit/>
          </a:bodyPr>
          <a:lstStyle/>
          <a:p>
            <a:pPr fontAlgn="base"/>
            <a:r>
              <a:rPr lang="en-US" sz="2000" b="1" dirty="0"/>
              <a:t>Simple Implementation:</a:t>
            </a:r>
            <a:r>
              <a:rPr lang="en-US" sz="2000" dirty="0"/>
              <a:t> Stop and Wait ARQ is a simple protocol that is easy to implement in both hardware and software. It does not require complex algorithms or hardware components, making it an inexpensive and efficient option.</a:t>
            </a:r>
          </a:p>
          <a:p>
            <a:pPr fontAlgn="base"/>
            <a:r>
              <a:rPr lang="en-US" sz="2000" b="1" dirty="0"/>
              <a:t>Error Detection:</a:t>
            </a:r>
            <a:r>
              <a:rPr lang="en-US" sz="2000" dirty="0"/>
              <a:t> Stop and Wait ARQ detects errors in the transmitted data by using checksums or cyclic redundancy checks(CRC). If an error is detected, the receiver sends a negative acknowledgment (NAK) to the sender, indicating that the data needs to be retransmitted.</a:t>
            </a:r>
          </a:p>
          <a:p>
            <a:pPr fontAlgn="base"/>
            <a:r>
              <a:rPr lang="en-US" sz="2000" b="1" dirty="0"/>
              <a:t>Reliable: </a:t>
            </a:r>
            <a:r>
              <a:rPr lang="en-US" sz="2000" dirty="0"/>
              <a:t>Stop and Wait ARQ ensures that the data is transmitted reliably and in order. The receiver cannot move on to the next data packet until it receives the current one. This ensures that the data is received in the correct order and eliminates the possibility of data corruption.</a:t>
            </a:r>
          </a:p>
          <a:p>
            <a:pPr fontAlgn="base"/>
            <a:r>
              <a:rPr lang="en-US" sz="2000" b="1" dirty="0"/>
              <a:t>Flow Control:</a:t>
            </a:r>
            <a:r>
              <a:rPr lang="en-US" sz="2000" dirty="0"/>
              <a:t> Stop and Wait ARQ can be used for flow control, where the receiver can control the rate at which the sender transmits data. This is useful in situations where the receiver has limited buffer space or processing power.</a:t>
            </a:r>
          </a:p>
          <a:p>
            <a:pPr fontAlgn="base"/>
            <a:r>
              <a:rPr lang="en-US" sz="2000" b="1" dirty="0"/>
              <a:t>Backward Compatibility:</a:t>
            </a:r>
            <a:r>
              <a:rPr lang="en-US" sz="2000" dirty="0"/>
              <a:t> Stop and Wait ARQ is compatible with many existing systems and protocols, making it a popular choice for communication over unreliable channels.</a:t>
            </a:r>
          </a:p>
          <a:p>
            <a:pPr marL="0" indent="0">
              <a:buNone/>
            </a:pPr>
            <a:endParaRPr lang="en-IN" dirty="0"/>
          </a:p>
        </p:txBody>
      </p:sp>
    </p:spTree>
    <p:extLst>
      <p:ext uri="{BB962C8B-B14F-4D97-AF65-F5344CB8AC3E}">
        <p14:creationId xmlns:p14="http://schemas.microsoft.com/office/powerpoint/2010/main" val="24652236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89EE-97B4-4F99-8DD3-309C35A40F0C}"/>
              </a:ext>
            </a:extLst>
          </p:cNvPr>
          <p:cNvSpPr>
            <a:spLocks noGrp="1"/>
          </p:cNvSpPr>
          <p:nvPr>
            <p:ph type="title"/>
          </p:nvPr>
        </p:nvSpPr>
        <p:spPr>
          <a:xfrm>
            <a:off x="838200" y="365125"/>
            <a:ext cx="10515600" cy="485901"/>
          </a:xfrm>
        </p:spPr>
        <p:txBody>
          <a:bodyPr>
            <a:normAutofit fontScale="90000"/>
          </a:bodyPr>
          <a:lstStyle/>
          <a:p>
            <a:br>
              <a:rPr lang="en-US" b="1" dirty="0"/>
            </a:br>
            <a:r>
              <a:rPr lang="en-US" sz="3600" b="1" dirty="0"/>
              <a:t>Disadvantages of Stop and Wait ARQ</a:t>
            </a:r>
            <a:br>
              <a:rPr lang="en-US" b="1" dirty="0"/>
            </a:br>
            <a:endParaRPr lang="en-IN" dirty="0"/>
          </a:p>
        </p:txBody>
      </p:sp>
      <p:sp>
        <p:nvSpPr>
          <p:cNvPr id="3" name="Content Placeholder 2">
            <a:extLst>
              <a:ext uri="{FF2B5EF4-FFF2-40B4-BE49-F238E27FC236}">
                <a16:creationId xmlns:a16="http://schemas.microsoft.com/office/drawing/2014/main" id="{FB7E5423-AA1E-4018-B19F-91F6B0B70F45}"/>
              </a:ext>
            </a:extLst>
          </p:cNvPr>
          <p:cNvSpPr>
            <a:spLocks noGrp="1"/>
          </p:cNvSpPr>
          <p:nvPr>
            <p:ph idx="1"/>
          </p:nvPr>
        </p:nvSpPr>
        <p:spPr>
          <a:xfrm>
            <a:off x="838200" y="1140737"/>
            <a:ext cx="10515600" cy="5036226"/>
          </a:xfrm>
        </p:spPr>
        <p:txBody>
          <a:bodyPr>
            <a:normAutofit fontScale="92500"/>
          </a:bodyPr>
          <a:lstStyle/>
          <a:p>
            <a:pPr fontAlgn="base"/>
            <a:r>
              <a:rPr lang="en-US" sz="2200" b="1" dirty="0"/>
              <a:t>Low Efficiency: </a:t>
            </a:r>
            <a:r>
              <a:rPr lang="en-US" sz="2200" dirty="0"/>
              <a:t>Stop and Wait ARQ has low efficiency as it requires the sender to wait for an acknowledgment from the receiver before sending the next data packet. This results in a low data transmission rate, especially for large data sets.</a:t>
            </a:r>
          </a:p>
          <a:p>
            <a:pPr fontAlgn="base"/>
            <a:r>
              <a:rPr lang="en-US" sz="2200" b="1" dirty="0"/>
              <a:t>High Latency:</a:t>
            </a:r>
            <a:r>
              <a:rPr lang="en-US" sz="2200" dirty="0"/>
              <a:t> Stop and Wait ARQ introduces additional latency in the transmission of data, as the sender must wait for an acknowledgment before sending the next packet. This can be a problem for real-time applications such as video streaming or online gaming.</a:t>
            </a:r>
          </a:p>
          <a:p>
            <a:pPr fontAlgn="base"/>
            <a:r>
              <a:rPr lang="en-US" sz="2200" b="1" dirty="0"/>
              <a:t>Limited Bandwidth Utilization: </a:t>
            </a:r>
            <a:r>
              <a:rPr lang="en-US" sz="2200" dirty="0"/>
              <a:t>Stop and Wait ARQ does not utilize the available bandwidth efficiently, as the sender can transmit only one data packet at a time. This results in underutilization of the channel, which can be a problem in situations where the available bandwidth is limited.</a:t>
            </a:r>
          </a:p>
          <a:p>
            <a:pPr fontAlgn="base"/>
            <a:r>
              <a:rPr lang="en-US" sz="2200" b="1" dirty="0"/>
              <a:t>Limited Error Recovery:</a:t>
            </a:r>
            <a:r>
              <a:rPr lang="en-US" sz="2200" dirty="0"/>
              <a:t> Stop and Wait ARQ has limited error recovery capabilities. If a data packet is lost or corrupted, the sender must retransmit the entire packet, which can be time-consuming and can result in further delays.</a:t>
            </a:r>
          </a:p>
          <a:p>
            <a:pPr fontAlgn="base"/>
            <a:r>
              <a:rPr lang="en-US" sz="2200" b="1" dirty="0"/>
              <a:t>Vulnerable to Channel Noise:</a:t>
            </a:r>
            <a:r>
              <a:rPr lang="en-US" sz="2200" dirty="0"/>
              <a:t> Stop and Wait ARQ is vulnerable to channel noise, which can cause errors in the transmitted data. This can result in frequent retransmissions and can impact the overall efficiency of the protocol.</a:t>
            </a:r>
          </a:p>
          <a:p>
            <a:pPr marL="0" indent="0">
              <a:buNone/>
            </a:pPr>
            <a:endParaRPr lang="en-IN" dirty="0"/>
          </a:p>
        </p:txBody>
      </p:sp>
    </p:spTree>
    <p:extLst>
      <p:ext uri="{BB962C8B-B14F-4D97-AF65-F5344CB8AC3E}">
        <p14:creationId xmlns:p14="http://schemas.microsoft.com/office/powerpoint/2010/main" val="8108487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7FACC-7840-4D28-A349-B1DBF890FFF3}"/>
              </a:ext>
            </a:extLst>
          </p:cNvPr>
          <p:cNvSpPr>
            <a:spLocks noGrp="1"/>
          </p:cNvSpPr>
          <p:nvPr>
            <p:ph type="title"/>
          </p:nvPr>
        </p:nvSpPr>
        <p:spPr>
          <a:xfrm>
            <a:off x="742384" y="365126"/>
            <a:ext cx="10611416" cy="494954"/>
          </a:xfrm>
        </p:spPr>
        <p:txBody>
          <a:bodyPr>
            <a:normAutofit fontScale="90000"/>
          </a:bodyPr>
          <a:lstStyle/>
          <a:p>
            <a:br>
              <a:rPr lang="en-IN" b="1" dirty="0"/>
            </a:br>
            <a:r>
              <a:rPr lang="en-IN" sz="3600" b="1" dirty="0"/>
              <a:t>TCP Congestion Control</a:t>
            </a:r>
            <a:br>
              <a:rPr lang="en-IN" b="1" dirty="0"/>
            </a:br>
            <a:endParaRPr lang="en-IN" dirty="0"/>
          </a:p>
        </p:txBody>
      </p:sp>
      <p:graphicFrame>
        <p:nvGraphicFramePr>
          <p:cNvPr id="4" name="Content Placeholder 3">
            <a:extLst>
              <a:ext uri="{FF2B5EF4-FFF2-40B4-BE49-F238E27FC236}">
                <a16:creationId xmlns:a16="http://schemas.microsoft.com/office/drawing/2014/main" id="{DB44F7E6-2698-47AE-B41E-E422118B8328}"/>
              </a:ext>
            </a:extLst>
          </p:cNvPr>
          <p:cNvGraphicFramePr>
            <a:graphicFrameLocks noGrp="1"/>
          </p:cNvGraphicFramePr>
          <p:nvPr>
            <p:ph idx="1"/>
            <p:extLst>
              <p:ext uri="{D42A27DB-BD31-4B8C-83A1-F6EECF244321}">
                <p14:modId xmlns:p14="http://schemas.microsoft.com/office/powerpoint/2010/main" val="2571002566"/>
              </p:ext>
            </p:extLst>
          </p:nvPr>
        </p:nvGraphicFramePr>
        <p:xfrm>
          <a:off x="832919" y="1276539"/>
          <a:ext cx="10520881" cy="4900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84668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65DE-FFDC-448F-B2ED-A5EBE118205F}"/>
              </a:ext>
            </a:extLst>
          </p:cNvPr>
          <p:cNvSpPr>
            <a:spLocks noGrp="1"/>
          </p:cNvSpPr>
          <p:nvPr>
            <p:ph type="title"/>
          </p:nvPr>
        </p:nvSpPr>
        <p:spPr>
          <a:xfrm>
            <a:off x="816321" y="147843"/>
            <a:ext cx="10292281" cy="825406"/>
          </a:xfrm>
        </p:spPr>
        <p:txBody>
          <a:bodyPr>
            <a:normAutofit fontScale="90000"/>
          </a:bodyPr>
          <a:lstStyle/>
          <a:p>
            <a:br>
              <a:rPr lang="en-IN" b="1" dirty="0"/>
            </a:br>
            <a:r>
              <a:rPr lang="en-IN" sz="3600" b="1" dirty="0"/>
              <a:t>Congestion Policy in TCP</a:t>
            </a:r>
            <a:br>
              <a:rPr lang="en-IN" b="1" dirty="0"/>
            </a:br>
            <a:endParaRPr lang="en-IN" dirty="0"/>
          </a:p>
        </p:txBody>
      </p:sp>
      <p:sp>
        <p:nvSpPr>
          <p:cNvPr id="3" name="Content Placeholder 2">
            <a:extLst>
              <a:ext uri="{FF2B5EF4-FFF2-40B4-BE49-F238E27FC236}">
                <a16:creationId xmlns:a16="http://schemas.microsoft.com/office/drawing/2014/main" id="{FE2DEEFE-D65D-422F-BC46-2A0F295CB20B}"/>
              </a:ext>
            </a:extLst>
          </p:cNvPr>
          <p:cNvSpPr>
            <a:spLocks noGrp="1"/>
          </p:cNvSpPr>
          <p:nvPr>
            <p:ph idx="1"/>
          </p:nvPr>
        </p:nvSpPr>
        <p:spPr>
          <a:xfrm>
            <a:off x="816321" y="1267485"/>
            <a:ext cx="10537479" cy="4617267"/>
          </a:xfrm>
        </p:spPr>
        <p:txBody>
          <a:bodyPr/>
          <a:lstStyle/>
          <a:p>
            <a:pPr marL="0" indent="0" fontAlgn="base">
              <a:buNone/>
            </a:pPr>
            <a:r>
              <a:rPr lang="en-US" b="1" dirty="0"/>
              <a:t>Slow Start Phase: </a:t>
            </a:r>
            <a:r>
              <a:rPr lang="en-US" dirty="0"/>
              <a:t>Starts slow increment is exponential to the threshold.</a:t>
            </a:r>
          </a:p>
          <a:p>
            <a:pPr marL="0" indent="0" fontAlgn="base">
              <a:buNone/>
            </a:pPr>
            <a:r>
              <a:rPr lang="en-US" b="1" dirty="0"/>
              <a:t>Congestion Avoidance Phase: </a:t>
            </a:r>
            <a:r>
              <a:rPr lang="en-US" dirty="0"/>
              <a:t>After reaching the threshold increment is by 1.</a:t>
            </a:r>
          </a:p>
          <a:p>
            <a:pPr marL="0" indent="0" fontAlgn="base">
              <a:buNone/>
            </a:pPr>
            <a:r>
              <a:rPr lang="en-US" b="1" dirty="0"/>
              <a:t>Congestion Detection Phase: </a:t>
            </a:r>
            <a:r>
              <a:rPr lang="en-US" dirty="0"/>
              <a:t>The sender goes back to the Slow start phase or the Congestion avoidance phase.</a:t>
            </a:r>
          </a:p>
          <a:p>
            <a:endParaRPr lang="en-IN" dirty="0"/>
          </a:p>
        </p:txBody>
      </p:sp>
    </p:spTree>
    <p:extLst>
      <p:ext uri="{BB962C8B-B14F-4D97-AF65-F5344CB8AC3E}">
        <p14:creationId xmlns:p14="http://schemas.microsoft.com/office/powerpoint/2010/main" val="33762151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3DB3-8F30-4231-90D9-EB8B60B6E86E}"/>
              </a:ext>
            </a:extLst>
          </p:cNvPr>
          <p:cNvSpPr>
            <a:spLocks noGrp="1"/>
          </p:cNvSpPr>
          <p:nvPr>
            <p:ph type="title"/>
          </p:nvPr>
        </p:nvSpPr>
        <p:spPr>
          <a:xfrm>
            <a:off x="838200" y="365125"/>
            <a:ext cx="10515600" cy="513061"/>
          </a:xfrm>
        </p:spPr>
        <p:txBody>
          <a:bodyPr>
            <a:normAutofit fontScale="90000"/>
          </a:bodyPr>
          <a:lstStyle/>
          <a:p>
            <a:br>
              <a:rPr lang="en-IN" b="1" dirty="0"/>
            </a:br>
            <a:r>
              <a:rPr lang="en-IN" sz="3600" b="1" dirty="0"/>
              <a:t>Slow Start Phase</a:t>
            </a:r>
            <a:br>
              <a:rPr lang="en-IN" sz="3600" b="1" dirty="0"/>
            </a:br>
            <a:endParaRPr lang="en-IN" sz="3600" dirty="0"/>
          </a:p>
        </p:txBody>
      </p:sp>
      <p:sp>
        <p:nvSpPr>
          <p:cNvPr id="3" name="Content Placeholder 2">
            <a:extLst>
              <a:ext uri="{FF2B5EF4-FFF2-40B4-BE49-F238E27FC236}">
                <a16:creationId xmlns:a16="http://schemas.microsoft.com/office/drawing/2014/main" id="{18A2DC20-64D3-495E-A25F-95948425875B}"/>
              </a:ext>
            </a:extLst>
          </p:cNvPr>
          <p:cNvSpPr>
            <a:spLocks noGrp="1"/>
          </p:cNvSpPr>
          <p:nvPr>
            <p:ph idx="1"/>
          </p:nvPr>
        </p:nvSpPr>
        <p:spPr>
          <a:xfrm>
            <a:off x="838200" y="1222218"/>
            <a:ext cx="10515600" cy="4954745"/>
          </a:xfrm>
        </p:spPr>
        <p:txBody>
          <a:bodyPr/>
          <a:lstStyle/>
          <a:p>
            <a:pPr marL="0" indent="0" fontAlgn="base">
              <a:buNone/>
            </a:pPr>
            <a:r>
              <a:rPr lang="en-US" sz="2400" b="1" dirty="0"/>
              <a:t>Exponential Increment</a:t>
            </a:r>
            <a:r>
              <a:rPr lang="en-US" sz="2400" dirty="0"/>
              <a:t>: In this phase after every RTT the congestion window size increments exponentially. </a:t>
            </a:r>
          </a:p>
          <a:p>
            <a:pPr marL="0" indent="0" fontAlgn="base">
              <a:buNone/>
            </a:pPr>
            <a:r>
              <a:rPr lang="en-US" sz="2400" dirty="0"/>
              <a:t>**the </a:t>
            </a:r>
            <a:r>
              <a:rPr lang="en-US" sz="2400" b="1" dirty="0"/>
              <a:t>congestion window (</a:t>
            </a:r>
            <a:r>
              <a:rPr lang="en-US" sz="2400" b="1" dirty="0" err="1"/>
              <a:t>cwnd</a:t>
            </a:r>
            <a:r>
              <a:rPr lang="en-US" sz="2400" b="1" dirty="0"/>
              <a:t>)</a:t>
            </a:r>
            <a:r>
              <a:rPr lang="en-US" sz="2400" dirty="0"/>
              <a:t> controls how much data the sender can send before waiting for acknowledgements (ACKs).</a:t>
            </a:r>
          </a:p>
          <a:p>
            <a:pPr marL="0" indent="0" fontAlgn="base">
              <a:buNone/>
            </a:pPr>
            <a:r>
              <a:rPr lang="en-US" sz="2400" b="1" dirty="0"/>
              <a:t>Example:</a:t>
            </a:r>
            <a:r>
              <a:rPr lang="en-US" sz="2400" dirty="0"/>
              <a:t> If the initial congestion window size is 1 segment, and the first segment is successfully acknowledged, the congestion window size becomes 2 segments. If the next transmission is also acknowledged, the congestion window size doubles to 4 segments. This exponential growth continues as long as all segments are successfully acknowledged.</a:t>
            </a:r>
          </a:p>
          <a:p>
            <a:pPr marL="0" indent="0">
              <a:buNone/>
            </a:pPr>
            <a:endParaRPr lang="en-IN" dirty="0"/>
          </a:p>
        </p:txBody>
      </p:sp>
    </p:spTree>
    <p:extLst>
      <p:ext uri="{BB962C8B-B14F-4D97-AF65-F5344CB8AC3E}">
        <p14:creationId xmlns:p14="http://schemas.microsoft.com/office/powerpoint/2010/main" val="36132329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90521EE-35C7-4FD5-8DBD-7892CEF3654A}"/>
              </a:ext>
            </a:extLst>
          </p:cNvPr>
          <p:cNvPicPr>
            <a:picLocks noChangeAspect="1"/>
          </p:cNvPicPr>
          <p:nvPr/>
        </p:nvPicPr>
        <p:blipFill>
          <a:blip r:embed="rId2"/>
          <a:stretch>
            <a:fillRect/>
          </a:stretch>
        </p:blipFill>
        <p:spPr>
          <a:xfrm>
            <a:off x="2128699" y="1674891"/>
            <a:ext cx="6725174" cy="2973479"/>
          </a:xfrm>
          <a:prstGeom prst="rect">
            <a:avLst/>
          </a:prstGeom>
        </p:spPr>
      </p:pic>
    </p:spTree>
    <p:extLst>
      <p:ext uri="{BB962C8B-B14F-4D97-AF65-F5344CB8AC3E}">
        <p14:creationId xmlns:p14="http://schemas.microsoft.com/office/powerpoint/2010/main" val="19101880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E433-3487-4799-9FD0-478FA48007F7}"/>
              </a:ext>
            </a:extLst>
          </p:cNvPr>
          <p:cNvSpPr>
            <a:spLocks noGrp="1"/>
          </p:cNvSpPr>
          <p:nvPr>
            <p:ph type="title"/>
          </p:nvPr>
        </p:nvSpPr>
        <p:spPr>
          <a:xfrm>
            <a:off x="751438" y="365125"/>
            <a:ext cx="10602362" cy="685077"/>
          </a:xfrm>
        </p:spPr>
        <p:txBody>
          <a:bodyPr>
            <a:normAutofit fontScale="90000"/>
          </a:bodyPr>
          <a:lstStyle/>
          <a:p>
            <a:br>
              <a:rPr lang="en-IN" b="1" dirty="0"/>
            </a:br>
            <a:r>
              <a:rPr lang="en-IN" sz="3600" b="1" dirty="0"/>
              <a:t>Congestion Avoidance Phase</a:t>
            </a:r>
            <a:br>
              <a:rPr lang="en-IN" sz="3600" b="1" dirty="0"/>
            </a:br>
            <a:endParaRPr lang="en-IN" sz="3600" dirty="0"/>
          </a:p>
        </p:txBody>
      </p:sp>
      <p:sp>
        <p:nvSpPr>
          <p:cNvPr id="3" name="Content Placeholder 2">
            <a:extLst>
              <a:ext uri="{FF2B5EF4-FFF2-40B4-BE49-F238E27FC236}">
                <a16:creationId xmlns:a16="http://schemas.microsoft.com/office/drawing/2014/main" id="{2D863964-4F98-4796-8C65-2532112E4CC6}"/>
              </a:ext>
            </a:extLst>
          </p:cNvPr>
          <p:cNvSpPr>
            <a:spLocks noGrp="1"/>
          </p:cNvSpPr>
          <p:nvPr>
            <p:ph idx="1"/>
          </p:nvPr>
        </p:nvSpPr>
        <p:spPr/>
        <p:txBody>
          <a:bodyPr/>
          <a:lstStyle/>
          <a:p>
            <a:pPr marL="0" indent="0" fontAlgn="base">
              <a:buNone/>
            </a:pPr>
            <a:r>
              <a:rPr lang="en-US" sz="2400" b="1" dirty="0"/>
              <a:t>Additive Increment:</a:t>
            </a:r>
            <a:r>
              <a:rPr lang="en-US" sz="2400" dirty="0"/>
              <a:t> This phase starts after the threshold value also denoted as </a:t>
            </a:r>
            <a:r>
              <a:rPr lang="en-US" sz="2400" b="1" dirty="0" err="1"/>
              <a:t>ssthresh</a:t>
            </a:r>
            <a:r>
              <a:rPr lang="en-US" sz="2400" b="1" dirty="0"/>
              <a:t>.</a:t>
            </a:r>
            <a:r>
              <a:rPr lang="en-US" sz="2400" dirty="0"/>
              <a:t> The size of CWND (Congestion Window) increases additive. After each RTT </a:t>
            </a:r>
            <a:r>
              <a:rPr lang="en-US" sz="2400" dirty="0" err="1"/>
              <a:t>cwnd</a:t>
            </a:r>
            <a:r>
              <a:rPr lang="en-US" sz="2400" dirty="0"/>
              <a:t> = </a:t>
            </a:r>
            <a:r>
              <a:rPr lang="en-US" sz="2400" dirty="0" err="1"/>
              <a:t>cwnd</a:t>
            </a:r>
            <a:r>
              <a:rPr lang="en-US" sz="2400" dirty="0"/>
              <a:t> + 1.</a:t>
            </a:r>
          </a:p>
          <a:p>
            <a:pPr marL="0" indent="0" fontAlgn="base">
              <a:buNone/>
            </a:pPr>
            <a:r>
              <a:rPr lang="en-US" sz="2400" b="1" dirty="0"/>
              <a:t>For example:</a:t>
            </a:r>
            <a:r>
              <a:rPr lang="en-US" sz="2400" dirty="0"/>
              <a:t> if the congestion window size is 20 segments and all 20 segments are successfully acknowledged within an RTT, the congestion window size would be increased to 21 segments in the next RTT. If all 21 segments are again successfully acknowledged, the congestion window size will be increased to 22 segments, and so on.</a:t>
            </a:r>
          </a:p>
          <a:p>
            <a:endParaRPr lang="en-IN" dirty="0"/>
          </a:p>
        </p:txBody>
      </p:sp>
    </p:spTree>
    <p:extLst>
      <p:ext uri="{BB962C8B-B14F-4D97-AF65-F5344CB8AC3E}">
        <p14:creationId xmlns:p14="http://schemas.microsoft.com/office/powerpoint/2010/main" val="8471636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54DF5-B14F-4F6D-9F5D-2DE836589F35}"/>
              </a:ext>
            </a:extLst>
          </p:cNvPr>
          <p:cNvSpPr>
            <a:spLocks noGrp="1"/>
          </p:cNvSpPr>
          <p:nvPr>
            <p:ph type="title"/>
          </p:nvPr>
        </p:nvSpPr>
        <p:spPr>
          <a:xfrm>
            <a:off x="838200" y="365125"/>
            <a:ext cx="10515600" cy="612649"/>
          </a:xfrm>
        </p:spPr>
        <p:txBody>
          <a:bodyPr>
            <a:normAutofit fontScale="90000"/>
          </a:bodyPr>
          <a:lstStyle/>
          <a:p>
            <a:br>
              <a:rPr lang="en-IN" b="1" dirty="0"/>
            </a:br>
            <a:r>
              <a:rPr lang="en-IN" sz="3600" b="1" dirty="0"/>
              <a:t>Congestion Detection Phase</a:t>
            </a:r>
            <a:br>
              <a:rPr lang="en-IN" b="1" dirty="0"/>
            </a:br>
            <a:endParaRPr lang="en-IN" dirty="0"/>
          </a:p>
        </p:txBody>
      </p:sp>
      <p:sp>
        <p:nvSpPr>
          <p:cNvPr id="3" name="Content Placeholder 2">
            <a:extLst>
              <a:ext uri="{FF2B5EF4-FFF2-40B4-BE49-F238E27FC236}">
                <a16:creationId xmlns:a16="http://schemas.microsoft.com/office/drawing/2014/main" id="{89C51AC2-AA5F-40A1-B5F4-E4C354476056}"/>
              </a:ext>
            </a:extLst>
          </p:cNvPr>
          <p:cNvSpPr>
            <a:spLocks noGrp="1"/>
          </p:cNvSpPr>
          <p:nvPr>
            <p:ph idx="1"/>
          </p:nvPr>
        </p:nvSpPr>
        <p:spPr/>
        <p:txBody>
          <a:bodyPr>
            <a:normAutofit/>
          </a:bodyPr>
          <a:lstStyle/>
          <a:p>
            <a:r>
              <a:rPr lang="en-US" sz="2400" b="1" dirty="0"/>
              <a:t>Multiplicative Decrement:</a:t>
            </a:r>
          </a:p>
          <a:p>
            <a:pPr>
              <a:buFont typeface="Wingdings" panose="05000000000000000000" pitchFamily="2" charset="2"/>
              <a:buChar char="Ø"/>
            </a:pPr>
            <a:r>
              <a:rPr lang="en-US" sz="2400" dirty="0"/>
              <a:t> If congestion occurs, the congestion window size is decreased. </a:t>
            </a:r>
          </a:p>
          <a:p>
            <a:pPr>
              <a:buFont typeface="Wingdings" panose="05000000000000000000" pitchFamily="2" charset="2"/>
              <a:buChar char="Ø"/>
            </a:pPr>
            <a:r>
              <a:rPr lang="en-US" sz="2400" dirty="0"/>
              <a:t>The only way a sender can guess that congestion has happened is the need to retransmit a segment. </a:t>
            </a:r>
          </a:p>
          <a:p>
            <a:pPr>
              <a:buFont typeface="Wingdings" panose="05000000000000000000" pitchFamily="2" charset="2"/>
              <a:buChar char="Ø"/>
            </a:pPr>
            <a:r>
              <a:rPr lang="en-US" sz="2400" dirty="0"/>
              <a:t>Retransmission is needed to recover a missing packet that is assumed to have been dropped by a router due to congestion. </a:t>
            </a:r>
          </a:p>
          <a:p>
            <a:pPr>
              <a:buFont typeface="Wingdings" panose="05000000000000000000" pitchFamily="2" charset="2"/>
              <a:buChar char="Ø"/>
            </a:pPr>
            <a:r>
              <a:rPr lang="en-US" sz="2400" dirty="0"/>
              <a:t>Retransmission can occur in one of two cases: when the RTO timer times out or when three duplicate ACKs are received.</a:t>
            </a:r>
            <a:endParaRPr lang="en-IN" sz="2400" dirty="0"/>
          </a:p>
        </p:txBody>
      </p:sp>
    </p:spTree>
    <p:extLst>
      <p:ext uri="{BB962C8B-B14F-4D97-AF65-F5344CB8AC3E}">
        <p14:creationId xmlns:p14="http://schemas.microsoft.com/office/powerpoint/2010/main" val="895241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1277</TotalTime>
  <Words>6980</Words>
  <Application>Microsoft Office PowerPoint</Application>
  <PresentationFormat>Widescreen</PresentationFormat>
  <Paragraphs>482</Paragraphs>
  <Slides>83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83</vt:i4>
      </vt:variant>
    </vt:vector>
  </HeadingPairs>
  <TitlesOfParts>
    <vt:vector size="92" baseType="lpstr">
      <vt:lpstr>Arial</vt:lpstr>
      <vt:lpstr>Calibri</vt:lpstr>
      <vt:lpstr>Calibri Light</vt:lpstr>
      <vt:lpstr>Inconsolata</vt:lpstr>
      <vt:lpstr>Noto Serif</vt:lpstr>
      <vt:lpstr>Nunito</vt:lpstr>
      <vt:lpstr>Times New Roman</vt:lpstr>
      <vt:lpstr>Wingdings</vt:lpstr>
      <vt:lpstr>Office Theme</vt:lpstr>
      <vt:lpstr>UNIT 3</vt:lpstr>
      <vt:lpstr>Overview of Transport Layer in the Internet</vt:lpstr>
      <vt:lpstr>PowerPoint Presentation</vt:lpstr>
      <vt:lpstr> Working of Transport Layer </vt:lpstr>
      <vt:lpstr> Responsibilities of a Transport Layer </vt:lpstr>
      <vt:lpstr> 1. The Process to Process Delivery </vt:lpstr>
      <vt:lpstr>What is Process-to-Process Delivery?</vt:lpstr>
      <vt:lpstr>Sender side – Multiplexing</vt:lpstr>
      <vt:lpstr>Receiver side – Demultiplexing</vt:lpstr>
      <vt:lpstr> 2. End-to-end Connection between Hosts </vt:lpstr>
      <vt:lpstr>Continued…</vt:lpstr>
      <vt:lpstr> 3. Multiplexing and Demultiplexing </vt:lpstr>
      <vt:lpstr>Continued…</vt:lpstr>
      <vt:lpstr> 4. Congestion Control </vt:lpstr>
      <vt:lpstr> 5. Data integrity and Error Correction </vt:lpstr>
      <vt:lpstr>PowerPoint Presentation</vt:lpstr>
      <vt:lpstr>How Checksums Are Computed</vt:lpstr>
      <vt:lpstr> 6. Flow Control </vt:lpstr>
      <vt:lpstr>PowerPoint Presentation</vt:lpstr>
      <vt:lpstr>PowerPoint Presentation</vt:lpstr>
      <vt:lpstr>Relation Between Transport Layer And Network Layer</vt:lpstr>
      <vt:lpstr> Introduction to Network Layer </vt:lpstr>
      <vt:lpstr> Network Layer Protocols </vt:lpstr>
      <vt:lpstr>Continued…</vt:lpstr>
      <vt:lpstr>Continued…</vt:lpstr>
      <vt:lpstr>Continued…</vt:lpstr>
      <vt:lpstr> Introduction to Transport Layer </vt:lpstr>
      <vt:lpstr> Relation Between Transport and Network Layer </vt:lpstr>
      <vt:lpstr> User Datagram Protocol (UDP) </vt:lpstr>
      <vt:lpstr> How does it work? </vt:lpstr>
      <vt:lpstr>PowerPoint Presentation</vt:lpstr>
      <vt:lpstr> UDP Header </vt:lpstr>
      <vt:lpstr>PowerPoint Presentation</vt:lpstr>
      <vt:lpstr>Continued…</vt:lpstr>
      <vt:lpstr> Applications of UDP </vt:lpstr>
      <vt:lpstr>UDP Segment -Header</vt:lpstr>
      <vt:lpstr>UDP Checksum</vt:lpstr>
      <vt:lpstr>Concept of Reliable Data Transfer</vt:lpstr>
      <vt:lpstr> Key Concepts of Reliable Data Transfer </vt:lpstr>
      <vt:lpstr>Continued…</vt:lpstr>
      <vt:lpstr>Protocols Implementing Reliable Data Transfer</vt:lpstr>
      <vt:lpstr> TCP Flow Control </vt:lpstr>
      <vt:lpstr> How it works </vt:lpstr>
      <vt:lpstr>Continued…</vt:lpstr>
      <vt:lpstr>If we zoom in, we will see something like this.</vt:lpstr>
      <vt:lpstr>Continued…</vt:lpstr>
      <vt:lpstr>PowerPoint Presentation</vt:lpstr>
      <vt:lpstr> Sliding Window Protocol - Go Back N (GBN) </vt:lpstr>
      <vt:lpstr>Continued…</vt:lpstr>
      <vt:lpstr> Go-Back-N (GBN) Protocol </vt:lpstr>
      <vt:lpstr>The three main characteristic features of GBN are:</vt:lpstr>
      <vt:lpstr>Continued…</vt:lpstr>
      <vt:lpstr> Working of GB-N Protocol </vt:lpstr>
      <vt:lpstr>PowerPoint Presentation</vt:lpstr>
      <vt:lpstr> Relationship Between Window Size and Sequence Numbers </vt:lpstr>
      <vt:lpstr>Continued…</vt:lpstr>
      <vt:lpstr>Continued…</vt:lpstr>
      <vt:lpstr>Selective Repeat Protocol (SRP) </vt:lpstr>
      <vt:lpstr>  Given below is an example of the Selective Repeat ARQ  </vt:lpstr>
      <vt:lpstr> Explanation </vt:lpstr>
      <vt:lpstr> Difference Between Go-Back-N and Selective Repeat Protocol </vt:lpstr>
      <vt:lpstr> Stop and Wait ARQ </vt:lpstr>
      <vt:lpstr> What is Stop and Wait ARQ? </vt:lpstr>
      <vt:lpstr> Terms in Stop and Wait Protocol </vt:lpstr>
      <vt:lpstr> Simple Stop and Wait </vt:lpstr>
      <vt:lpstr>PowerPoint Presentation</vt:lpstr>
      <vt:lpstr> Problems Associated with Stop and Wait </vt:lpstr>
      <vt:lpstr> 2. Lost Acknowledgement </vt:lpstr>
      <vt:lpstr>  3. Delayed Acknowledgement/Data </vt:lpstr>
      <vt:lpstr> Stop and Wait for ARQ (Automatic Repeat Request) </vt:lpstr>
      <vt:lpstr> 1. Time Out </vt:lpstr>
      <vt:lpstr> 2. Sequence Number (Data)  </vt:lpstr>
      <vt:lpstr> 3. Sequence Number(Acknowledgement) </vt:lpstr>
      <vt:lpstr> Working of Stop and Wait for ARQ </vt:lpstr>
      <vt:lpstr>PowerPoint Presentation</vt:lpstr>
      <vt:lpstr> Advantages of Stop and Wait ARQ </vt:lpstr>
      <vt:lpstr> Disadvantages of Stop and Wait ARQ </vt:lpstr>
      <vt:lpstr> TCP Congestion Control </vt:lpstr>
      <vt:lpstr> Congestion Policy in TCP </vt:lpstr>
      <vt:lpstr> Slow Start Phase </vt:lpstr>
      <vt:lpstr>PowerPoint Presentation</vt:lpstr>
      <vt:lpstr> Congestion Avoidance Phase </vt:lpstr>
      <vt:lpstr> Congestion Detection Phase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dc:title>
  <dc:creator>scaai5_601</dc:creator>
  <cp:lastModifiedBy>Geetanjali Sharma</cp:lastModifiedBy>
  <cp:revision>57</cp:revision>
  <dcterms:created xsi:type="dcterms:W3CDTF">2025-07-29T05:30:37Z</dcterms:created>
  <dcterms:modified xsi:type="dcterms:W3CDTF">2026-08-27T04:05:44Z</dcterms:modified>
</cp:coreProperties>
</file>